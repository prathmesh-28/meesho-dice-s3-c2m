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alibri (MS) Bold" charset="1" panose="020F0702030404030204"/>
      <p:regular r:id="rId13"/>
    </p:embeddedFont>
    <p:embeddedFont>
      <p:font typeface="Calibri (MS) Italics" charset="1" panose="020F05020202040A0204"/>
      <p:regular r:id="rId14"/>
    </p:embeddedFont>
    <p:embeddedFont>
      <p:font typeface="Calibri (MS)" charset="1" panose="020F0502020204030204"/>
      <p:regular r:id="rId15"/>
    </p:embeddedFont>
    <p:embeddedFont>
      <p:font typeface="Arial Bold" charset="1" panose="020B0704020202020204"/>
      <p:regular r:id="rId16"/>
    </p:embeddedFont>
    <p:embeddedFont>
      <p:font typeface="Arial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30" r="0" b="-83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7160266" y="744684"/>
            <a:ext cx="3967448" cy="14347593"/>
            <a:chOff x="0" y="0"/>
            <a:chExt cx="5289931" cy="191301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89931" cy="19130138"/>
            </a:xfrm>
            <a:custGeom>
              <a:avLst/>
              <a:gdLst/>
              <a:ahLst/>
              <a:cxnLst/>
              <a:rect r="r" b="b" t="t" l="l"/>
              <a:pathLst>
                <a:path h="19130138" w="5289931">
                  <a:moveTo>
                    <a:pt x="0" y="0"/>
                  </a:moveTo>
                  <a:lnTo>
                    <a:pt x="5289931" y="0"/>
                  </a:lnTo>
                  <a:lnTo>
                    <a:pt x="5289931" y="19130138"/>
                  </a:lnTo>
                  <a:lnTo>
                    <a:pt x="0" y="19130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9000"/>
              </a:blip>
              <a:stretch>
                <a:fillRect l="-245251" t="0" r="-24525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377440" y="6244590"/>
            <a:ext cx="133502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1"/>
              </a:lnSpc>
            </a:pPr>
            <a:r>
              <a:rPr lang="en-US" sz="1299" b="true">
                <a:solidFill>
                  <a:srgbClr val="E02B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TRACK   ·   IDEA SUBMISSION ROUND   ·   3-SLIDE ENTRY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77440" y="6737223"/>
            <a:ext cx="1335024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4"/>
              </a:lnSpc>
            </a:pPr>
            <a:r>
              <a:rPr lang="en-US" sz="3600" b="true">
                <a:solidFill>
                  <a:srgbClr val="4512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Building Meesho's Consumer-to-Manufacturer (C2M) Base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77440" y="7670673"/>
            <a:ext cx="1335024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500" i="true">
                <a:solidFill>
                  <a:srgbClr val="56054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Scale is the wrong screen. Buy manufacturer supply with impressions, not rupees.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138160" y="8366760"/>
            <a:ext cx="1828800" cy="41148"/>
            <a:chOff x="0" y="0"/>
            <a:chExt cx="2438400" cy="548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" cy="54864"/>
            </a:xfrm>
            <a:custGeom>
              <a:avLst/>
              <a:gdLst/>
              <a:ahLst/>
              <a:cxnLst/>
              <a:rect r="r" b="b" t="t" l="l"/>
              <a:pathLst>
                <a:path h="5486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F18F1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377440" y="8585073"/>
            <a:ext cx="1335024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500" b="true">
                <a:solidFill>
                  <a:srgbClr val="4512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23B0747  ·  Indian Institutes of Technology, Bombay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6B6B78"/>
                </a:solidFill>
                <a:latin typeface="Calibri (MS)"/>
                <a:ea typeface="Calibri (MS)"/>
                <a:cs typeface="Calibri (MS)"/>
                <a:sym typeface="Calibri (MS)"/>
              </a:rPr>
              <a:t>Prathmesh Walimbe </a:t>
            </a:r>
            <a:r>
              <a:rPr lang="en-US" sz="1200">
                <a:solidFill>
                  <a:srgbClr val="6B6B78"/>
                </a:solidFill>
                <a:latin typeface="Calibri (MS)"/>
                <a:ea typeface="Calibri (MS)"/>
                <a:cs typeface="Calibri (MS)"/>
                <a:sym typeface="Calibri (MS)"/>
              </a:rPr>
              <a:t>· Krishna Kanta Mondal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799081"/>
            <a:chOff x="0" y="0"/>
            <a:chExt cx="24400929" cy="10654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065403"/>
            </a:xfrm>
            <a:custGeom>
              <a:avLst/>
              <a:gdLst/>
              <a:ahLst/>
              <a:cxnLst/>
              <a:rect r="r" b="b" t="t" l="l"/>
              <a:pathLst>
                <a:path h="1065403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065403"/>
                  </a:lnTo>
                  <a:lnTo>
                    <a:pt x="0" y="1065403"/>
                  </a:lnTo>
                  <a:close/>
                </a:path>
              </a:pathLst>
            </a:custGeom>
            <a:solidFill>
              <a:srgbClr val="FFF3D8"/>
            </a:solidFill>
            <a:ln w="12700" cap="sq">
              <a:solidFill>
                <a:srgbClr val="FFF3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780031"/>
            <a:ext cx="18300697" cy="49273"/>
            <a:chOff x="0" y="0"/>
            <a:chExt cx="24400929" cy="656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0890" cy="65659"/>
            </a:xfrm>
            <a:custGeom>
              <a:avLst/>
              <a:gdLst/>
              <a:ahLst/>
              <a:cxnLst/>
              <a:rect r="r" b="b" t="t" l="l"/>
              <a:pathLst>
                <a:path h="65659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65659"/>
                  </a:lnTo>
                  <a:lnTo>
                    <a:pt x="0" y="65659"/>
                  </a:ln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19456" y="91440"/>
            <a:ext cx="1188720" cy="591617"/>
            <a:chOff x="0" y="0"/>
            <a:chExt cx="1584960" cy="788822"/>
          </a:xfrm>
        </p:grpSpPr>
        <p:sp>
          <p:nvSpPr>
            <p:cNvPr name="Freeform 7" id="7" descr="assets/dice_logo.png"/>
            <p:cNvSpPr/>
            <p:nvPr/>
          </p:nvSpPr>
          <p:spPr>
            <a:xfrm flipH="false" flipV="false" rot="0">
              <a:off x="0" y="0"/>
              <a:ext cx="1584960" cy="788797"/>
            </a:xfrm>
            <a:custGeom>
              <a:avLst/>
              <a:gdLst/>
              <a:ahLst/>
              <a:cxnLst/>
              <a:rect r="r" b="b" t="t" l="l"/>
              <a:pathLst>
                <a:path h="788797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788797"/>
                  </a:lnTo>
                  <a:lnTo>
                    <a:pt x="0" y="788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91888" y="82296"/>
            <a:ext cx="621792" cy="621792"/>
            <a:chOff x="0" y="0"/>
            <a:chExt cx="829056" cy="829056"/>
          </a:xfrm>
        </p:grpSpPr>
        <p:sp>
          <p:nvSpPr>
            <p:cNvPr name="Freeform 9" id="9" descr="assets/meesho_logo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1279" y="98803"/>
            <a:ext cx="5169913" cy="570481"/>
            <a:chOff x="0" y="0"/>
            <a:chExt cx="6893217" cy="7606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93306" cy="760730"/>
            </a:xfrm>
            <a:custGeom>
              <a:avLst/>
              <a:gdLst/>
              <a:ahLst/>
              <a:cxnLst/>
              <a:rect r="r" b="b" t="t" l="l"/>
              <a:pathLst>
                <a:path h="760730" w="6893306">
                  <a:moveTo>
                    <a:pt x="0" y="99822"/>
                  </a:moveTo>
                  <a:cubicBezTo>
                    <a:pt x="0" y="44704"/>
                    <a:pt x="44704" y="0"/>
                    <a:pt x="99822" y="0"/>
                  </a:cubicBezTo>
                  <a:lnTo>
                    <a:pt x="6793484" y="0"/>
                  </a:lnTo>
                  <a:cubicBezTo>
                    <a:pt x="6848602" y="0"/>
                    <a:pt x="6893306" y="44704"/>
                    <a:pt x="6893306" y="99822"/>
                  </a:cubicBezTo>
                  <a:lnTo>
                    <a:pt x="6893306" y="660908"/>
                  </a:lnTo>
                  <a:cubicBezTo>
                    <a:pt x="6893306" y="716026"/>
                    <a:pt x="6848602" y="760730"/>
                    <a:pt x="6793484" y="760730"/>
                  </a:cubicBezTo>
                  <a:lnTo>
                    <a:pt x="99822" y="760730"/>
                  </a:lnTo>
                  <a:cubicBezTo>
                    <a:pt x="44704" y="760603"/>
                    <a:pt x="0" y="716026"/>
                    <a:pt x="0" y="660908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27632" y="105156"/>
            <a:ext cx="5157216" cy="557784"/>
            <a:chOff x="0" y="0"/>
            <a:chExt cx="6876288" cy="7437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76288" cy="743712"/>
            </a:xfrm>
            <a:custGeom>
              <a:avLst/>
              <a:gdLst/>
              <a:ahLst/>
              <a:cxnLst/>
              <a:rect r="r" b="b" t="t" l="l"/>
              <a:pathLst>
                <a:path h="74371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156" r="0" b="-13015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876288" cy="762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 · SEGMENT &amp; BARRIER MAP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69935" y="98803"/>
            <a:ext cx="5169913" cy="570481"/>
            <a:chOff x="0" y="0"/>
            <a:chExt cx="6893217" cy="7606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93306" cy="760730"/>
            </a:xfrm>
            <a:custGeom>
              <a:avLst/>
              <a:gdLst/>
              <a:ahLst/>
              <a:cxnLst/>
              <a:rect r="r" b="b" t="t" l="l"/>
              <a:pathLst>
                <a:path h="760730" w="6893306">
                  <a:moveTo>
                    <a:pt x="0" y="99822"/>
                  </a:moveTo>
                  <a:cubicBezTo>
                    <a:pt x="0" y="44704"/>
                    <a:pt x="44704" y="0"/>
                    <a:pt x="99822" y="0"/>
                  </a:cubicBezTo>
                  <a:lnTo>
                    <a:pt x="6793484" y="0"/>
                  </a:lnTo>
                  <a:cubicBezTo>
                    <a:pt x="6848602" y="0"/>
                    <a:pt x="6893306" y="44704"/>
                    <a:pt x="6893306" y="99822"/>
                  </a:cubicBezTo>
                  <a:lnTo>
                    <a:pt x="6893306" y="660908"/>
                  </a:lnTo>
                  <a:cubicBezTo>
                    <a:pt x="6893306" y="716026"/>
                    <a:pt x="6848602" y="760730"/>
                    <a:pt x="6793484" y="760730"/>
                  </a:cubicBezTo>
                  <a:lnTo>
                    <a:pt x="99822" y="760730"/>
                  </a:lnTo>
                  <a:cubicBezTo>
                    <a:pt x="44704" y="760603"/>
                    <a:pt x="0" y="716026"/>
                    <a:pt x="0" y="66090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76288" y="105156"/>
            <a:ext cx="5157216" cy="557784"/>
            <a:chOff x="0" y="0"/>
            <a:chExt cx="6876288" cy="7437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76288" cy="743712"/>
            </a:xfrm>
            <a:custGeom>
              <a:avLst/>
              <a:gdLst/>
              <a:ahLst/>
              <a:cxnLst/>
              <a:rect r="r" b="b" t="t" l="l"/>
              <a:pathLst>
                <a:path h="74371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156" r="0" b="-13015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876288" cy="762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6E125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· PRIORITISATION FRAMEWORK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18591" y="98803"/>
            <a:ext cx="5169913" cy="570481"/>
            <a:chOff x="0" y="0"/>
            <a:chExt cx="6893217" cy="7606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93306" cy="760730"/>
            </a:xfrm>
            <a:custGeom>
              <a:avLst/>
              <a:gdLst/>
              <a:ahLst/>
              <a:cxnLst/>
              <a:rect r="r" b="b" t="t" l="l"/>
              <a:pathLst>
                <a:path h="760730" w="6893306">
                  <a:moveTo>
                    <a:pt x="0" y="99822"/>
                  </a:moveTo>
                  <a:cubicBezTo>
                    <a:pt x="0" y="44704"/>
                    <a:pt x="44704" y="0"/>
                    <a:pt x="99822" y="0"/>
                  </a:cubicBezTo>
                  <a:lnTo>
                    <a:pt x="6793484" y="0"/>
                  </a:lnTo>
                  <a:cubicBezTo>
                    <a:pt x="6848602" y="0"/>
                    <a:pt x="6893306" y="44704"/>
                    <a:pt x="6893306" y="99822"/>
                  </a:cubicBezTo>
                  <a:lnTo>
                    <a:pt x="6893306" y="660908"/>
                  </a:lnTo>
                  <a:cubicBezTo>
                    <a:pt x="6893306" y="716026"/>
                    <a:pt x="6848602" y="760730"/>
                    <a:pt x="6793484" y="760730"/>
                  </a:cubicBezTo>
                  <a:lnTo>
                    <a:pt x="99822" y="760730"/>
                  </a:lnTo>
                  <a:cubicBezTo>
                    <a:pt x="44704" y="760603"/>
                    <a:pt x="0" y="716026"/>
                    <a:pt x="0" y="66090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124944" y="105156"/>
            <a:ext cx="5157216" cy="557784"/>
            <a:chOff x="0" y="0"/>
            <a:chExt cx="6876288" cy="7437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76288" cy="743712"/>
            </a:xfrm>
            <a:custGeom>
              <a:avLst/>
              <a:gdLst/>
              <a:ahLst/>
              <a:cxnLst/>
              <a:rect r="r" b="b" t="t" l="l"/>
              <a:pathLst>
                <a:path h="74371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156" r="0" b="-13015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876288" cy="762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6E125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· QUICK-WIN LEVER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31391" y="908047"/>
            <a:ext cx="323593" cy="8636276"/>
            <a:chOff x="0" y="0"/>
            <a:chExt cx="431457" cy="115150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1546" cy="11515124"/>
            </a:xfrm>
            <a:custGeom>
              <a:avLst/>
              <a:gdLst/>
              <a:ahLst/>
              <a:cxnLst/>
              <a:rect r="r" b="b" t="t" l="l"/>
              <a:pathLst>
                <a:path h="11515124" w="431546">
                  <a:moveTo>
                    <a:pt x="0" y="63912"/>
                  </a:moveTo>
                  <a:cubicBezTo>
                    <a:pt x="0" y="28633"/>
                    <a:pt x="28448" y="0"/>
                    <a:pt x="63500" y="0"/>
                  </a:cubicBezTo>
                  <a:lnTo>
                    <a:pt x="368046" y="0"/>
                  </a:lnTo>
                  <a:cubicBezTo>
                    <a:pt x="403098" y="0"/>
                    <a:pt x="431546" y="28633"/>
                    <a:pt x="431546" y="63912"/>
                  </a:cubicBezTo>
                  <a:lnTo>
                    <a:pt x="431546" y="11451213"/>
                  </a:lnTo>
                  <a:cubicBezTo>
                    <a:pt x="431546" y="11486492"/>
                    <a:pt x="403098" y="11515124"/>
                    <a:pt x="368046" y="11515124"/>
                  </a:cubicBezTo>
                  <a:lnTo>
                    <a:pt x="63500" y="11515124"/>
                  </a:lnTo>
                  <a:cubicBezTo>
                    <a:pt x="28448" y="11515124"/>
                    <a:pt x="0" y="11486492"/>
                    <a:pt x="0" y="11451213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-5400000">
            <a:off x="-3827003" y="4979147"/>
            <a:ext cx="8440389" cy="310896"/>
            <a:chOff x="0" y="0"/>
            <a:chExt cx="11253852" cy="4145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253853" cy="414528"/>
            </a:xfrm>
            <a:custGeom>
              <a:avLst/>
              <a:gdLst/>
              <a:ahLst/>
              <a:cxnLst/>
              <a:rect r="r" b="b" t="t" l="l"/>
              <a:pathLst>
                <a:path h="414528" w="11253853">
                  <a:moveTo>
                    <a:pt x="0" y="0"/>
                  </a:moveTo>
                  <a:lnTo>
                    <a:pt x="11253853" y="0"/>
                  </a:lnTo>
                  <a:lnTo>
                    <a:pt x="11253853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6984" r="-1511" b="-48698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1253852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b="true" sz="1149" spc="199">
                  <a:solidFill>
                    <a:srgbClr val="FFF3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WHO, AND WHY NOT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33727" y="908047"/>
            <a:ext cx="2408502" cy="881377"/>
            <a:chOff x="0" y="0"/>
            <a:chExt cx="3211336" cy="11751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11292" cy="1175131"/>
            </a:xfrm>
            <a:custGeom>
              <a:avLst/>
              <a:gdLst/>
              <a:ahLst/>
              <a:cxnLst/>
              <a:rect r="r" b="b" t="t" l="l"/>
              <a:pathLst>
                <a:path h="1175131" w="3211292">
                  <a:moveTo>
                    <a:pt x="0" y="61849"/>
                  </a:moveTo>
                  <a:cubicBezTo>
                    <a:pt x="0" y="27686"/>
                    <a:pt x="31739" y="0"/>
                    <a:pt x="70903" y="0"/>
                  </a:cubicBezTo>
                  <a:lnTo>
                    <a:pt x="3140389" y="0"/>
                  </a:lnTo>
                  <a:cubicBezTo>
                    <a:pt x="3179553" y="0"/>
                    <a:pt x="3211292" y="27686"/>
                    <a:pt x="3211292" y="61849"/>
                  </a:cubicBezTo>
                  <a:lnTo>
                    <a:pt x="3211292" y="1113282"/>
                  </a:lnTo>
                  <a:cubicBezTo>
                    <a:pt x="3211292" y="1147445"/>
                    <a:pt x="3179553" y="1175131"/>
                    <a:pt x="3140389" y="1175131"/>
                  </a:cubicBezTo>
                  <a:lnTo>
                    <a:pt x="70903" y="1175131"/>
                  </a:lnTo>
                  <a:cubicBezTo>
                    <a:pt x="31739" y="1175131"/>
                    <a:pt x="0" y="1147445"/>
                    <a:pt x="0" y="1113282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82940" y="960120"/>
            <a:ext cx="2310086" cy="416966"/>
            <a:chOff x="0" y="0"/>
            <a:chExt cx="3080115" cy="5559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80115" cy="555954"/>
            </a:xfrm>
            <a:custGeom>
              <a:avLst/>
              <a:gdLst/>
              <a:ahLst/>
              <a:cxnLst/>
              <a:rect r="r" b="b" t="t" l="l"/>
              <a:pathLst>
                <a:path h="555954" w="3080115">
                  <a:moveTo>
                    <a:pt x="0" y="0"/>
                  </a:moveTo>
                  <a:lnTo>
                    <a:pt x="3080115" y="0"/>
                  </a:lnTo>
                  <a:lnTo>
                    <a:pt x="3080115" y="555954"/>
                  </a:lnTo>
                  <a:lnTo>
                    <a:pt x="0" y="5559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67" r="12769" b="-4416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080115" cy="57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₹41,560 cr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142981" y="908047"/>
            <a:ext cx="2408502" cy="881377"/>
            <a:chOff x="0" y="0"/>
            <a:chExt cx="3211336" cy="117516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11292" cy="1175131"/>
            </a:xfrm>
            <a:custGeom>
              <a:avLst/>
              <a:gdLst/>
              <a:ahLst/>
              <a:cxnLst/>
              <a:rect r="r" b="b" t="t" l="l"/>
              <a:pathLst>
                <a:path h="1175131" w="3211292">
                  <a:moveTo>
                    <a:pt x="0" y="61849"/>
                  </a:moveTo>
                  <a:cubicBezTo>
                    <a:pt x="0" y="27686"/>
                    <a:pt x="31739" y="0"/>
                    <a:pt x="70903" y="0"/>
                  </a:cubicBezTo>
                  <a:lnTo>
                    <a:pt x="3140389" y="0"/>
                  </a:lnTo>
                  <a:cubicBezTo>
                    <a:pt x="3179553" y="0"/>
                    <a:pt x="3211292" y="27686"/>
                    <a:pt x="3211292" y="61849"/>
                  </a:cubicBezTo>
                  <a:lnTo>
                    <a:pt x="3211292" y="1113282"/>
                  </a:lnTo>
                  <a:cubicBezTo>
                    <a:pt x="3211292" y="1147445"/>
                    <a:pt x="3179553" y="1175131"/>
                    <a:pt x="3140389" y="1175131"/>
                  </a:cubicBezTo>
                  <a:lnTo>
                    <a:pt x="70903" y="1175131"/>
                  </a:lnTo>
                  <a:cubicBezTo>
                    <a:pt x="31739" y="1175131"/>
                    <a:pt x="0" y="1147445"/>
                    <a:pt x="0" y="1113282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3192194" y="960120"/>
            <a:ext cx="2310086" cy="416966"/>
            <a:chOff x="0" y="0"/>
            <a:chExt cx="3080115" cy="5559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80115" cy="555954"/>
            </a:xfrm>
            <a:custGeom>
              <a:avLst/>
              <a:gdLst/>
              <a:ahLst/>
              <a:cxnLst/>
              <a:rect r="r" b="b" t="t" l="l"/>
              <a:pathLst>
                <a:path h="555954" w="3080115">
                  <a:moveTo>
                    <a:pt x="0" y="0"/>
                  </a:moveTo>
                  <a:lnTo>
                    <a:pt x="3080115" y="0"/>
                  </a:lnTo>
                  <a:lnTo>
                    <a:pt x="3080115" y="555954"/>
                  </a:lnTo>
                  <a:lnTo>
                    <a:pt x="0" y="5559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67" r="12769" b="-4416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080115" cy="57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C039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₹265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652235" y="908047"/>
            <a:ext cx="2408502" cy="881377"/>
            <a:chOff x="0" y="0"/>
            <a:chExt cx="3211336" cy="117516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11292" cy="1175131"/>
            </a:xfrm>
            <a:custGeom>
              <a:avLst/>
              <a:gdLst/>
              <a:ahLst/>
              <a:cxnLst/>
              <a:rect r="r" b="b" t="t" l="l"/>
              <a:pathLst>
                <a:path h="1175131" w="3211292">
                  <a:moveTo>
                    <a:pt x="0" y="61849"/>
                  </a:moveTo>
                  <a:cubicBezTo>
                    <a:pt x="0" y="27686"/>
                    <a:pt x="31739" y="0"/>
                    <a:pt x="70903" y="0"/>
                  </a:cubicBezTo>
                  <a:lnTo>
                    <a:pt x="3140389" y="0"/>
                  </a:lnTo>
                  <a:cubicBezTo>
                    <a:pt x="3179553" y="0"/>
                    <a:pt x="3211292" y="27686"/>
                    <a:pt x="3211292" y="61849"/>
                  </a:cubicBezTo>
                  <a:lnTo>
                    <a:pt x="3211292" y="1113282"/>
                  </a:lnTo>
                  <a:cubicBezTo>
                    <a:pt x="3211292" y="1147445"/>
                    <a:pt x="3179553" y="1175131"/>
                    <a:pt x="3140389" y="1175131"/>
                  </a:cubicBezTo>
                  <a:lnTo>
                    <a:pt x="70903" y="1175131"/>
                  </a:lnTo>
                  <a:cubicBezTo>
                    <a:pt x="31739" y="1175131"/>
                    <a:pt x="0" y="1147445"/>
                    <a:pt x="0" y="1113282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5701448" y="960120"/>
            <a:ext cx="2310086" cy="416966"/>
            <a:chOff x="0" y="0"/>
            <a:chExt cx="3080115" cy="55595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80115" cy="555954"/>
            </a:xfrm>
            <a:custGeom>
              <a:avLst/>
              <a:gdLst/>
              <a:ahLst/>
              <a:cxnLst/>
              <a:rect r="r" b="b" t="t" l="l"/>
              <a:pathLst>
                <a:path h="555954" w="3080115">
                  <a:moveTo>
                    <a:pt x="0" y="0"/>
                  </a:moveTo>
                  <a:lnTo>
                    <a:pt x="3080115" y="0"/>
                  </a:lnTo>
                  <a:lnTo>
                    <a:pt x="3080115" y="555954"/>
                  </a:lnTo>
                  <a:lnTo>
                    <a:pt x="0" y="5559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67" r="12769" b="-4416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3080115" cy="57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2.3%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161489" y="911609"/>
            <a:ext cx="2408502" cy="881377"/>
            <a:chOff x="0" y="0"/>
            <a:chExt cx="3211336" cy="117516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11292" cy="1175131"/>
            </a:xfrm>
            <a:custGeom>
              <a:avLst/>
              <a:gdLst/>
              <a:ahLst/>
              <a:cxnLst/>
              <a:rect r="r" b="b" t="t" l="l"/>
              <a:pathLst>
                <a:path h="1175131" w="3211292">
                  <a:moveTo>
                    <a:pt x="0" y="61849"/>
                  </a:moveTo>
                  <a:cubicBezTo>
                    <a:pt x="0" y="27686"/>
                    <a:pt x="31739" y="0"/>
                    <a:pt x="70903" y="0"/>
                  </a:cubicBezTo>
                  <a:lnTo>
                    <a:pt x="3140389" y="0"/>
                  </a:lnTo>
                  <a:cubicBezTo>
                    <a:pt x="3179553" y="0"/>
                    <a:pt x="3211292" y="27686"/>
                    <a:pt x="3211292" y="61849"/>
                  </a:cubicBezTo>
                  <a:lnTo>
                    <a:pt x="3211292" y="1113282"/>
                  </a:lnTo>
                  <a:cubicBezTo>
                    <a:pt x="3211292" y="1147445"/>
                    <a:pt x="3179553" y="1175131"/>
                    <a:pt x="3140389" y="1175131"/>
                  </a:cubicBezTo>
                  <a:lnTo>
                    <a:pt x="70903" y="1175131"/>
                  </a:lnTo>
                  <a:cubicBezTo>
                    <a:pt x="31739" y="1175131"/>
                    <a:pt x="0" y="1147445"/>
                    <a:pt x="0" y="1113282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8210702" y="960120"/>
            <a:ext cx="2310086" cy="416966"/>
            <a:chOff x="0" y="0"/>
            <a:chExt cx="3080115" cy="55595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80115" cy="555954"/>
            </a:xfrm>
            <a:custGeom>
              <a:avLst/>
              <a:gdLst/>
              <a:ahLst/>
              <a:cxnLst/>
              <a:rect r="r" b="b" t="t" l="l"/>
              <a:pathLst>
                <a:path h="555954" w="3080115">
                  <a:moveTo>
                    <a:pt x="0" y="0"/>
                  </a:moveTo>
                  <a:lnTo>
                    <a:pt x="3080115" y="0"/>
                  </a:lnTo>
                  <a:lnTo>
                    <a:pt x="3080115" y="555954"/>
                  </a:lnTo>
                  <a:lnTo>
                    <a:pt x="0" y="5559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67" r="12769" b="-4416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3080115" cy="57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C039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0%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179997" y="908047"/>
            <a:ext cx="2408502" cy="881377"/>
            <a:chOff x="0" y="0"/>
            <a:chExt cx="3211336" cy="117516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11292" cy="1175131"/>
            </a:xfrm>
            <a:custGeom>
              <a:avLst/>
              <a:gdLst/>
              <a:ahLst/>
              <a:cxnLst/>
              <a:rect r="r" b="b" t="t" l="l"/>
              <a:pathLst>
                <a:path h="1175131" w="3211292">
                  <a:moveTo>
                    <a:pt x="0" y="61849"/>
                  </a:moveTo>
                  <a:cubicBezTo>
                    <a:pt x="0" y="27686"/>
                    <a:pt x="31739" y="0"/>
                    <a:pt x="70903" y="0"/>
                  </a:cubicBezTo>
                  <a:lnTo>
                    <a:pt x="3140389" y="0"/>
                  </a:lnTo>
                  <a:cubicBezTo>
                    <a:pt x="3179553" y="0"/>
                    <a:pt x="3211292" y="27686"/>
                    <a:pt x="3211292" y="61849"/>
                  </a:cubicBezTo>
                  <a:lnTo>
                    <a:pt x="3211292" y="1113282"/>
                  </a:lnTo>
                  <a:cubicBezTo>
                    <a:pt x="3211292" y="1147445"/>
                    <a:pt x="3179553" y="1175131"/>
                    <a:pt x="3140389" y="1175131"/>
                  </a:cubicBezTo>
                  <a:lnTo>
                    <a:pt x="70903" y="1175131"/>
                  </a:lnTo>
                  <a:cubicBezTo>
                    <a:pt x="31739" y="1175131"/>
                    <a:pt x="0" y="1147445"/>
                    <a:pt x="0" y="1113282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229210" y="960120"/>
            <a:ext cx="2310086" cy="416966"/>
            <a:chOff x="0" y="0"/>
            <a:chExt cx="3080115" cy="55595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80115" cy="555954"/>
            </a:xfrm>
            <a:custGeom>
              <a:avLst/>
              <a:gdLst/>
              <a:ahLst/>
              <a:cxnLst/>
              <a:rect r="r" b="b" t="t" l="l"/>
              <a:pathLst>
                <a:path h="555954" w="3080115">
                  <a:moveTo>
                    <a:pt x="0" y="0"/>
                  </a:moveTo>
                  <a:lnTo>
                    <a:pt x="3080115" y="0"/>
                  </a:lnTo>
                  <a:lnTo>
                    <a:pt x="3080115" y="555954"/>
                  </a:lnTo>
                  <a:lnTo>
                    <a:pt x="0" y="5559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67" r="12769" b="-4416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080115" cy="57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C039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15-25%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689251" y="908047"/>
            <a:ext cx="2408502" cy="881377"/>
            <a:chOff x="0" y="0"/>
            <a:chExt cx="3211336" cy="117516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11292" cy="1175131"/>
            </a:xfrm>
            <a:custGeom>
              <a:avLst/>
              <a:gdLst/>
              <a:ahLst/>
              <a:cxnLst/>
              <a:rect r="r" b="b" t="t" l="l"/>
              <a:pathLst>
                <a:path h="1175131" w="3211292">
                  <a:moveTo>
                    <a:pt x="0" y="61849"/>
                  </a:moveTo>
                  <a:cubicBezTo>
                    <a:pt x="0" y="27686"/>
                    <a:pt x="31739" y="0"/>
                    <a:pt x="70903" y="0"/>
                  </a:cubicBezTo>
                  <a:lnTo>
                    <a:pt x="3140389" y="0"/>
                  </a:lnTo>
                  <a:cubicBezTo>
                    <a:pt x="3179553" y="0"/>
                    <a:pt x="3211292" y="27686"/>
                    <a:pt x="3211292" y="61849"/>
                  </a:cubicBezTo>
                  <a:lnTo>
                    <a:pt x="3211292" y="1113282"/>
                  </a:lnTo>
                  <a:cubicBezTo>
                    <a:pt x="3211292" y="1147445"/>
                    <a:pt x="3179553" y="1175131"/>
                    <a:pt x="3140389" y="1175131"/>
                  </a:cubicBezTo>
                  <a:lnTo>
                    <a:pt x="70903" y="1175131"/>
                  </a:lnTo>
                  <a:cubicBezTo>
                    <a:pt x="31739" y="1175131"/>
                    <a:pt x="0" y="1147445"/>
                    <a:pt x="0" y="1113282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5738464" y="960120"/>
            <a:ext cx="2310086" cy="416966"/>
            <a:chOff x="0" y="0"/>
            <a:chExt cx="3080115" cy="55595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080115" cy="555954"/>
            </a:xfrm>
            <a:custGeom>
              <a:avLst/>
              <a:gdLst/>
              <a:ahLst/>
              <a:cxnLst/>
              <a:rect r="r" b="b" t="t" l="l"/>
              <a:pathLst>
                <a:path h="555954" w="3080115">
                  <a:moveTo>
                    <a:pt x="0" y="0"/>
                  </a:moveTo>
                  <a:lnTo>
                    <a:pt x="3080115" y="0"/>
                  </a:lnTo>
                  <a:lnTo>
                    <a:pt x="3080115" y="555954"/>
                  </a:lnTo>
                  <a:lnTo>
                    <a:pt x="0" y="5559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67" r="12769" b="-4416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3080115" cy="57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4.72 cr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35508" y="1848355"/>
            <a:ext cx="4282945" cy="1953371"/>
            <a:chOff x="0" y="0"/>
            <a:chExt cx="5710593" cy="260449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0555" cy="2604467"/>
            </a:xfrm>
            <a:custGeom>
              <a:avLst/>
              <a:gdLst/>
              <a:ahLst/>
              <a:cxnLst/>
              <a:rect r="r" b="b" t="t" l="l"/>
              <a:pathLst>
                <a:path h="2604467" w="5710555">
                  <a:moveTo>
                    <a:pt x="0" y="44120"/>
                  </a:moveTo>
                  <a:cubicBezTo>
                    <a:pt x="0" y="19772"/>
                    <a:pt x="27432" y="0"/>
                    <a:pt x="61214" y="0"/>
                  </a:cubicBezTo>
                  <a:lnTo>
                    <a:pt x="5649341" y="0"/>
                  </a:lnTo>
                  <a:cubicBezTo>
                    <a:pt x="5683123" y="0"/>
                    <a:pt x="5710555" y="19772"/>
                    <a:pt x="5710555" y="44120"/>
                  </a:cubicBezTo>
                  <a:lnTo>
                    <a:pt x="5710555" y="2560346"/>
                  </a:lnTo>
                  <a:cubicBezTo>
                    <a:pt x="5710555" y="2584695"/>
                    <a:pt x="5683123" y="2604467"/>
                    <a:pt x="5649341" y="2604467"/>
                  </a:cubicBezTo>
                  <a:lnTo>
                    <a:pt x="61214" y="2604467"/>
                  </a:lnTo>
                  <a:cubicBezTo>
                    <a:pt x="27432" y="2604467"/>
                    <a:pt x="0" y="2584695"/>
                    <a:pt x="0" y="256034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637280" y="1848355"/>
            <a:ext cx="4281173" cy="334566"/>
            <a:chOff x="0" y="0"/>
            <a:chExt cx="5708231" cy="4460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708244" cy="446048"/>
            </a:xfrm>
            <a:custGeom>
              <a:avLst/>
              <a:gdLst/>
              <a:ahLst/>
              <a:cxnLst/>
              <a:rect r="r" b="b" t="t" l="l"/>
              <a:pathLst>
                <a:path h="446048" w="5708244">
                  <a:moveTo>
                    <a:pt x="37920" y="0"/>
                  </a:moveTo>
                  <a:lnTo>
                    <a:pt x="5670323" y="0"/>
                  </a:lnTo>
                  <a:cubicBezTo>
                    <a:pt x="5691266" y="0"/>
                    <a:pt x="5708244" y="16978"/>
                    <a:pt x="5708244" y="37920"/>
                  </a:cubicBezTo>
                  <a:lnTo>
                    <a:pt x="5708244" y="408128"/>
                  </a:lnTo>
                  <a:cubicBezTo>
                    <a:pt x="5708244" y="429071"/>
                    <a:pt x="5691266" y="446048"/>
                    <a:pt x="5670323" y="446048"/>
                  </a:cubicBezTo>
                  <a:lnTo>
                    <a:pt x="37920" y="446048"/>
                  </a:lnTo>
                  <a:cubicBezTo>
                    <a:pt x="16978" y="446048"/>
                    <a:pt x="0" y="429071"/>
                    <a:pt x="0" y="408128"/>
                  </a:cubicBezTo>
                  <a:lnTo>
                    <a:pt x="0" y="37920"/>
                  </a:lnTo>
                  <a:cubicBezTo>
                    <a:pt x="0" y="16978"/>
                    <a:pt x="16978" y="0"/>
                    <a:pt x="37920" y="0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758952" y="1865681"/>
            <a:ext cx="4032504" cy="310896"/>
            <a:chOff x="0" y="0"/>
            <a:chExt cx="5376672" cy="41452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376672" cy="414528"/>
            </a:xfrm>
            <a:custGeom>
              <a:avLst/>
              <a:gdLst/>
              <a:ahLst/>
              <a:cxnLst/>
              <a:rect r="r" b="b" t="t" l="l"/>
              <a:pathLst>
                <a:path h="414528" w="5376672">
                  <a:moveTo>
                    <a:pt x="0" y="0"/>
                  </a:moveTo>
                  <a:lnTo>
                    <a:pt x="5376672" y="0"/>
                  </a:lnTo>
                  <a:lnTo>
                    <a:pt x="5376672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2732" r="0" b="-20273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5376672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COHORT A  ·  Offline-only, B2B bulk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39388" y="2701228"/>
            <a:ext cx="4064765" cy="199156"/>
            <a:chOff x="0" y="0"/>
            <a:chExt cx="5419687" cy="26554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419598" cy="265493"/>
            </a:xfrm>
            <a:custGeom>
              <a:avLst/>
              <a:gdLst/>
              <a:ahLst/>
              <a:cxnLst/>
              <a:rect r="r" b="b" t="t" l="l"/>
              <a:pathLst>
                <a:path h="265493" w="5419598">
                  <a:moveTo>
                    <a:pt x="0" y="34918"/>
                  </a:moveTo>
                  <a:cubicBezTo>
                    <a:pt x="0" y="15675"/>
                    <a:pt x="28448" y="0"/>
                    <a:pt x="63373" y="0"/>
                  </a:cubicBezTo>
                  <a:lnTo>
                    <a:pt x="5356225" y="0"/>
                  </a:lnTo>
                  <a:cubicBezTo>
                    <a:pt x="5391277" y="0"/>
                    <a:pt x="5419598" y="15675"/>
                    <a:pt x="5419598" y="34918"/>
                  </a:cubicBezTo>
                  <a:lnTo>
                    <a:pt x="5419598" y="230574"/>
                  </a:lnTo>
                  <a:cubicBezTo>
                    <a:pt x="5419598" y="249888"/>
                    <a:pt x="5391150" y="265492"/>
                    <a:pt x="5356225" y="265492"/>
                  </a:cubicBezTo>
                  <a:lnTo>
                    <a:pt x="63373" y="265492"/>
                  </a:lnTo>
                  <a:cubicBezTo>
                    <a:pt x="28448" y="265579"/>
                    <a:pt x="0" y="249888"/>
                    <a:pt x="0" y="230574"/>
                  </a:cubicBezTo>
                  <a:close/>
                </a:path>
              </a:pathLst>
            </a:custGeom>
            <a:solidFill>
              <a:srgbClr val="FFF3D8"/>
            </a:solidFill>
            <a:ln w="1397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828665" y="2708210"/>
            <a:ext cx="3886200" cy="192174"/>
            <a:chOff x="0" y="0"/>
            <a:chExt cx="5181600" cy="25623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81600" cy="256232"/>
            </a:xfrm>
            <a:custGeom>
              <a:avLst/>
              <a:gdLst/>
              <a:ahLst/>
              <a:cxnLst/>
              <a:rect r="r" b="b" t="t" l="l"/>
              <a:pathLst>
                <a:path h="256232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626" r="0" b="-38443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5181600" cy="2752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9"/>
                </a:lnSpc>
              </a:pPr>
              <a:r>
                <a:rPr lang="en-US" sz="999" b="true">
                  <a:solidFill>
                    <a:srgbClr val="8A2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LEVER  </a:t>
              </a:r>
              <a:r>
                <a:rPr lang="en-US" sz="999" b="true">
                  <a:solidFill>
                    <a:srgbClr val="5605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Factory Node + confirmed batches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28898" y="2929128"/>
            <a:ext cx="4063489" cy="196063"/>
            <a:chOff x="0" y="0"/>
            <a:chExt cx="5417985" cy="26141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418074" cy="261506"/>
            </a:xfrm>
            <a:custGeom>
              <a:avLst/>
              <a:gdLst/>
              <a:ahLst/>
              <a:cxnLst/>
              <a:rect r="r" b="b" t="t" l="l"/>
              <a:pathLst>
                <a:path h="261506" w="5418074">
                  <a:moveTo>
                    <a:pt x="0" y="34429"/>
                  </a:moveTo>
                  <a:cubicBezTo>
                    <a:pt x="0" y="15417"/>
                    <a:pt x="28321" y="0"/>
                    <a:pt x="63246" y="0"/>
                  </a:cubicBezTo>
                  <a:lnTo>
                    <a:pt x="5354828" y="0"/>
                  </a:lnTo>
                  <a:cubicBezTo>
                    <a:pt x="5389753" y="0"/>
                    <a:pt x="5418074" y="15417"/>
                    <a:pt x="5418074" y="34429"/>
                  </a:cubicBezTo>
                  <a:lnTo>
                    <a:pt x="5418074" y="227036"/>
                  </a:lnTo>
                  <a:cubicBezTo>
                    <a:pt x="5418074" y="246048"/>
                    <a:pt x="5389753" y="261506"/>
                    <a:pt x="5354828" y="261506"/>
                  </a:cubicBezTo>
                  <a:lnTo>
                    <a:pt x="63246" y="261506"/>
                  </a:lnTo>
                  <a:cubicBezTo>
                    <a:pt x="28321" y="261396"/>
                    <a:pt x="0" y="246048"/>
                    <a:pt x="0" y="227036"/>
                  </a:cubicBezTo>
                  <a:close/>
                </a:path>
              </a:pathLst>
            </a:custGeom>
            <a:solidFill>
              <a:srgbClr val="F2E4EE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817547" y="2935481"/>
            <a:ext cx="3886200" cy="189709"/>
            <a:chOff x="0" y="0"/>
            <a:chExt cx="5181600" cy="25294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181600" cy="252946"/>
            </a:xfrm>
            <a:custGeom>
              <a:avLst/>
              <a:gdLst/>
              <a:ahLst/>
              <a:cxnLst/>
              <a:rect r="r" b="b" t="t" l="l"/>
              <a:pathLst>
                <a:path h="252946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252946"/>
                  </a:lnTo>
                  <a:lnTo>
                    <a:pt x="0" y="2529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7571" r="0" b="-39073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5181600" cy="271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40"/>
                </a:lnSpc>
              </a:pPr>
              <a:r>
                <a:rPr lang="en-US" sz="950" b="true">
                  <a:solidFill>
                    <a:srgbClr val="8A2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PROVEN  </a:t>
              </a:r>
              <a:r>
                <a:rPr lang="en-US" sz="950">
                  <a:solidFill>
                    <a:srgbClr val="2B12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Temu fully-managed: 200k merchants in &lt;2 yrs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013703" y="1848355"/>
            <a:ext cx="4282945" cy="1953371"/>
            <a:chOff x="0" y="0"/>
            <a:chExt cx="5710593" cy="260449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0555" cy="2604467"/>
            </a:xfrm>
            <a:custGeom>
              <a:avLst/>
              <a:gdLst/>
              <a:ahLst/>
              <a:cxnLst/>
              <a:rect r="r" b="b" t="t" l="l"/>
              <a:pathLst>
                <a:path h="2604467" w="5710555">
                  <a:moveTo>
                    <a:pt x="0" y="44120"/>
                  </a:moveTo>
                  <a:cubicBezTo>
                    <a:pt x="0" y="19772"/>
                    <a:pt x="27432" y="0"/>
                    <a:pt x="61214" y="0"/>
                  </a:cubicBezTo>
                  <a:lnTo>
                    <a:pt x="5649341" y="0"/>
                  </a:lnTo>
                  <a:cubicBezTo>
                    <a:pt x="5683123" y="0"/>
                    <a:pt x="5710555" y="19772"/>
                    <a:pt x="5710555" y="44120"/>
                  </a:cubicBezTo>
                  <a:lnTo>
                    <a:pt x="5710555" y="2560346"/>
                  </a:lnTo>
                  <a:cubicBezTo>
                    <a:pt x="5710555" y="2584695"/>
                    <a:pt x="5683123" y="2604467"/>
                    <a:pt x="5649341" y="2604467"/>
                  </a:cubicBezTo>
                  <a:lnTo>
                    <a:pt x="61214" y="2604467"/>
                  </a:lnTo>
                  <a:cubicBezTo>
                    <a:pt x="27432" y="2604467"/>
                    <a:pt x="0" y="2584695"/>
                    <a:pt x="0" y="256034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5013703" y="1848355"/>
            <a:ext cx="4282945" cy="334566"/>
            <a:chOff x="0" y="0"/>
            <a:chExt cx="5710593" cy="44608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710606" cy="446048"/>
            </a:xfrm>
            <a:custGeom>
              <a:avLst/>
              <a:gdLst/>
              <a:ahLst/>
              <a:cxnLst/>
              <a:rect r="r" b="b" t="t" l="l"/>
              <a:pathLst>
                <a:path h="446048" w="5710606">
                  <a:moveTo>
                    <a:pt x="37905" y="0"/>
                  </a:moveTo>
                  <a:lnTo>
                    <a:pt x="5672701" y="0"/>
                  </a:lnTo>
                  <a:cubicBezTo>
                    <a:pt x="5693635" y="0"/>
                    <a:pt x="5710606" y="16971"/>
                    <a:pt x="5710606" y="37905"/>
                  </a:cubicBezTo>
                  <a:lnTo>
                    <a:pt x="5710606" y="408143"/>
                  </a:lnTo>
                  <a:cubicBezTo>
                    <a:pt x="5710606" y="429078"/>
                    <a:pt x="5693635" y="446048"/>
                    <a:pt x="5672701" y="446048"/>
                  </a:cubicBezTo>
                  <a:lnTo>
                    <a:pt x="37905" y="446048"/>
                  </a:lnTo>
                  <a:cubicBezTo>
                    <a:pt x="16971" y="446048"/>
                    <a:pt x="0" y="429078"/>
                    <a:pt x="0" y="408143"/>
                  </a:cubicBezTo>
                  <a:lnTo>
                    <a:pt x="0" y="37905"/>
                  </a:lnTo>
                  <a:cubicBezTo>
                    <a:pt x="0" y="16971"/>
                    <a:pt x="16971" y="0"/>
                    <a:pt x="37905" y="0"/>
                  </a:cubicBezTo>
                  <a:close/>
                </a:path>
              </a:pathLst>
            </a:custGeom>
            <a:solidFill>
              <a:srgbClr val="6E1251"/>
            </a:solidFill>
            <a:ln w="12700" cap="sq">
              <a:solidFill>
                <a:srgbClr val="6E1251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5138928" y="1865681"/>
            <a:ext cx="4032504" cy="310896"/>
            <a:chOff x="0" y="0"/>
            <a:chExt cx="5376672" cy="41452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376672" cy="414528"/>
            </a:xfrm>
            <a:custGeom>
              <a:avLst/>
              <a:gdLst/>
              <a:ahLst/>
              <a:cxnLst/>
              <a:rect r="r" b="b" t="t" l="l"/>
              <a:pathLst>
                <a:path h="414528" w="5376672">
                  <a:moveTo>
                    <a:pt x="0" y="0"/>
                  </a:moveTo>
                  <a:lnTo>
                    <a:pt x="5376672" y="0"/>
                  </a:lnTo>
                  <a:lnTo>
                    <a:pt x="5376672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2732" r="0" b="-20273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5376672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COHORT B  ·  Online, active elsewhere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393679" y="1848355"/>
            <a:ext cx="4282945" cy="1953371"/>
            <a:chOff x="0" y="0"/>
            <a:chExt cx="5710593" cy="260449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710555" cy="2604467"/>
            </a:xfrm>
            <a:custGeom>
              <a:avLst/>
              <a:gdLst/>
              <a:ahLst/>
              <a:cxnLst/>
              <a:rect r="r" b="b" t="t" l="l"/>
              <a:pathLst>
                <a:path h="2604467" w="5710555">
                  <a:moveTo>
                    <a:pt x="0" y="44120"/>
                  </a:moveTo>
                  <a:cubicBezTo>
                    <a:pt x="0" y="19772"/>
                    <a:pt x="27432" y="0"/>
                    <a:pt x="61214" y="0"/>
                  </a:cubicBezTo>
                  <a:lnTo>
                    <a:pt x="5649341" y="0"/>
                  </a:lnTo>
                  <a:cubicBezTo>
                    <a:pt x="5683123" y="0"/>
                    <a:pt x="5710555" y="19772"/>
                    <a:pt x="5710555" y="44120"/>
                  </a:cubicBezTo>
                  <a:lnTo>
                    <a:pt x="5710555" y="2560346"/>
                  </a:lnTo>
                  <a:cubicBezTo>
                    <a:pt x="5710555" y="2584695"/>
                    <a:pt x="5683123" y="2604467"/>
                    <a:pt x="5649341" y="2604467"/>
                  </a:cubicBezTo>
                  <a:lnTo>
                    <a:pt x="61214" y="2604467"/>
                  </a:lnTo>
                  <a:cubicBezTo>
                    <a:pt x="27432" y="2604467"/>
                    <a:pt x="0" y="2584695"/>
                    <a:pt x="0" y="256034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9393679" y="1840611"/>
            <a:ext cx="4282945" cy="342309"/>
            <a:chOff x="0" y="0"/>
            <a:chExt cx="5710593" cy="45641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710606" cy="456372"/>
            </a:xfrm>
            <a:custGeom>
              <a:avLst/>
              <a:gdLst/>
              <a:ahLst/>
              <a:cxnLst/>
              <a:rect r="r" b="b" t="t" l="l"/>
              <a:pathLst>
                <a:path h="456372" w="5710606">
                  <a:moveTo>
                    <a:pt x="37905" y="0"/>
                  </a:moveTo>
                  <a:lnTo>
                    <a:pt x="5672701" y="0"/>
                  </a:lnTo>
                  <a:cubicBezTo>
                    <a:pt x="5693635" y="0"/>
                    <a:pt x="5710606" y="16971"/>
                    <a:pt x="5710606" y="37905"/>
                  </a:cubicBezTo>
                  <a:lnTo>
                    <a:pt x="5710606" y="418468"/>
                  </a:lnTo>
                  <a:cubicBezTo>
                    <a:pt x="5710606" y="439402"/>
                    <a:pt x="5693635" y="456372"/>
                    <a:pt x="5672701" y="456372"/>
                  </a:cubicBezTo>
                  <a:lnTo>
                    <a:pt x="37905" y="456372"/>
                  </a:lnTo>
                  <a:cubicBezTo>
                    <a:pt x="16971" y="456372"/>
                    <a:pt x="0" y="439402"/>
                    <a:pt x="0" y="418468"/>
                  </a:cubicBezTo>
                  <a:lnTo>
                    <a:pt x="0" y="37905"/>
                  </a:lnTo>
                  <a:cubicBezTo>
                    <a:pt x="0" y="16971"/>
                    <a:pt x="16971" y="0"/>
                    <a:pt x="37905" y="0"/>
                  </a:cubicBezTo>
                  <a:close/>
                </a:path>
              </a:pathLst>
            </a:custGeom>
            <a:solidFill>
              <a:srgbClr val="8A245E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9518904" y="1865681"/>
            <a:ext cx="4032504" cy="310896"/>
            <a:chOff x="0" y="0"/>
            <a:chExt cx="5376672" cy="41452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376672" cy="414528"/>
            </a:xfrm>
            <a:custGeom>
              <a:avLst/>
              <a:gdLst/>
              <a:ahLst/>
              <a:cxnLst/>
              <a:rect r="r" b="b" t="t" l="l"/>
              <a:pathLst>
                <a:path h="414528" w="5376672">
                  <a:moveTo>
                    <a:pt x="0" y="0"/>
                  </a:moveTo>
                  <a:lnTo>
                    <a:pt x="5376672" y="0"/>
                  </a:lnTo>
                  <a:lnTo>
                    <a:pt x="5376672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2732" r="0" b="-20273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5376672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COHORT C  ·  Churned from Meesho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009948" y="3893932"/>
            <a:ext cx="4764659" cy="2250583"/>
            <a:chOff x="0" y="0"/>
            <a:chExt cx="6352879" cy="300077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352841" cy="3000744"/>
            </a:xfrm>
            <a:custGeom>
              <a:avLst/>
              <a:gdLst/>
              <a:ahLst/>
              <a:cxnLst/>
              <a:rect r="r" b="b" t="t" l="l"/>
              <a:pathLst>
                <a:path h="3000744" w="6352841">
                  <a:moveTo>
                    <a:pt x="0" y="55110"/>
                  </a:moveTo>
                  <a:cubicBezTo>
                    <a:pt x="0" y="24697"/>
                    <a:pt x="26899" y="0"/>
                    <a:pt x="60025" y="0"/>
                  </a:cubicBezTo>
                  <a:lnTo>
                    <a:pt x="6292816" y="0"/>
                  </a:lnTo>
                  <a:cubicBezTo>
                    <a:pt x="6325942" y="0"/>
                    <a:pt x="6352841" y="24697"/>
                    <a:pt x="6352841" y="55110"/>
                  </a:cubicBezTo>
                  <a:lnTo>
                    <a:pt x="6352841" y="2945634"/>
                  </a:lnTo>
                  <a:cubicBezTo>
                    <a:pt x="6352841" y="2976047"/>
                    <a:pt x="6325942" y="3000744"/>
                    <a:pt x="6292816" y="3000744"/>
                  </a:cubicBezTo>
                  <a:lnTo>
                    <a:pt x="60025" y="3000744"/>
                  </a:lnTo>
                  <a:cubicBezTo>
                    <a:pt x="26899" y="3000744"/>
                    <a:pt x="0" y="2976047"/>
                    <a:pt x="0" y="2945634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5013703" y="3871710"/>
            <a:ext cx="4760905" cy="323593"/>
            <a:chOff x="0" y="0"/>
            <a:chExt cx="6347873" cy="431457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347885" cy="431419"/>
            </a:xfrm>
            <a:custGeom>
              <a:avLst/>
              <a:gdLst/>
              <a:ahLst/>
              <a:cxnLst/>
              <a:rect r="r" b="b" t="t" l="l"/>
              <a:pathLst>
                <a:path h="431419" w="6347885">
                  <a:moveTo>
                    <a:pt x="38710" y="0"/>
                  </a:moveTo>
                  <a:lnTo>
                    <a:pt x="6309176" y="0"/>
                  </a:lnTo>
                  <a:cubicBezTo>
                    <a:pt x="6330555" y="0"/>
                    <a:pt x="6347885" y="17331"/>
                    <a:pt x="6347885" y="38710"/>
                  </a:cubicBezTo>
                  <a:lnTo>
                    <a:pt x="6347885" y="392709"/>
                  </a:lnTo>
                  <a:cubicBezTo>
                    <a:pt x="6347885" y="414088"/>
                    <a:pt x="6330555" y="431419"/>
                    <a:pt x="6309176" y="431419"/>
                  </a:cubicBezTo>
                  <a:lnTo>
                    <a:pt x="38710" y="431419"/>
                  </a:lnTo>
                  <a:cubicBezTo>
                    <a:pt x="17331" y="431419"/>
                    <a:pt x="0" y="414088"/>
                    <a:pt x="0" y="392709"/>
                  </a:cubicBezTo>
                  <a:lnTo>
                    <a:pt x="0" y="38710"/>
                  </a:lnTo>
                  <a:cubicBezTo>
                    <a:pt x="0" y="17331"/>
                    <a:pt x="17331" y="0"/>
                    <a:pt x="38710" y="0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5096764" y="3878059"/>
            <a:ext cx="2304288" cy="310896"/>
            <a:chOff x="0" y="0"/>
            <a:chExt cx="3072384" cy="41452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072384" cy="414528"/>
            </a:xfrm>
            <a:custGeom>
              <a:avLst/>
              <a:gdLst/>
              <a:ahLst/>
              <a:cxnLst/>
              <a:rect r="r" b="b" t="t" l="l"/>
              <a:pathLst>
                <a:path h="414528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837" r="-100000" b="-23883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3072384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Barrier Severity × Cohort</a:t>
              </a:r>
            </a:p>
          </p:txBody>
        </p:sp>
      </p:grpSp>
      <p:graphicFrame>
        <p:nvGraphicFramePr>
          <p:cNvPr name="Table 98" id="98"/>
          <p:cNvGraphicFramePr>
            <a:graphicFrameLocks noGrp="true"/>
          </p:cNvGraphicFramePr>
          <p:nvPr/>
        </p:nvGraphicFramePr>
        <p:xfrm>
          <a:off x="5102352" y="4252453"/>
          <a:ext cx="4597400" cy="1296761"/>
        </p:xfrm>
        <a:graphic>
          <a:graphicData uri="http://schemas.openxmlformats.org/drawingml/2006/table">
            <a:tbl>
              <a:tblPr/>
              <a:tblGrid>
                <a:gridCol w="1977097"/>
                <a:gridCol w="508184"/>
                <a:gridCol w="508184"/>
                <a:gridCol w="508184"/>
                <a:gridCol w="1095750"/>
              </a:tblGrid>
              <a:tr h="3070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Barrier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Fixable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</a:tr>
              <a:tr h="1649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Unit-level fulfilment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1B7F4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LOW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8A24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1B7F4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B"/>
                    </a:solidFill>
                  </a:tcPr>
                </a:tc>
              </a:tr>
              <a:tr h="1649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Inventory risk, build-to-stock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8A24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1B7F4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B"/>
                    </a:solidFill>
                  </a:tcPr>
                </a:tc>
              </a:tr>
              <a:tr h="1649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Returns and RTO exposure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8A24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1B7F4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B"/>
                    </a:solidFill>
                  </a:tcPr>
                </a:tc>
              </a:tr>
              <a:tr h="1649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Unproven demand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8A24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1B7F4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B"/>
                    </a:solidFill>
                  </a:tcPr>
                </a:tc>
              </a:tr>
              <a:tr h="1649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Cash cycle, settlement lag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8A24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1B7F4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LOW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8A24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8A24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EE"/>
                    </a:solidFill>
                  </a:tcPr>
                </a:tc>
              </a:tr>
              <a:tr h="1649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Channel conflict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1B7F4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LOW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8A245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4EE"/>
                    </a:solidFill>
                  </a:tcPr>
                </a:tc>
              </a:tr>
            </a:tbl>
          </a:graphicData>
        </a:graphic>
      </p:graphicFrame>
      <p:grpSp>
        <p:nvGrpSpPr>
          <p:cNvPr name="Group 99" id="99"/>
          <p:cNvGrpSpPr/>
          <p:nvPr/>
        </p:nvGrpSpPr>
        <p:grpSpPr>
          <a:xfrm rot="0">
            <a:off x="5096764" y="5675577"/>
            <a:ext cx="4602988" cy="398021"/>
            <a:chOff x="0" y="0"/>
            <a:chExt cx="6137317" cy="53069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137356" cy="530733"/>
            </a:xfrm>
            <a:custGeom>
              <a:avLst/>
              <a:gdLst/>
              <a:ahLst/>
              <a:cxnLst/>
              <a:rect r="r" b="b" t="t" l="l"/>
              <a:pathLst>
                <a:path h="530733" w="6137356">
                  <a:moveTo>
                    <a:pt x="0" y="50546"/>
                  </a:moveTo>
                  <a:cubicBezTo>
                    <a:pt x="0" y="22606"/>
                    <a:pt x="22422" y="0"/>
                    <a:pt x="50134" y="0"/>
                  </a:cubicBezTo>
                  <a:lnTo>
                    <a:pt x="6087221" y="0"/>
                  </a:lnTo>
                  <a:cubicBezTo>
                    <a:pt x="6114934" y="0"/>
                    <a:pt x="6137356" y="22606"/>
                    <a:pt x="6137356" y="50546"/>
                  </a:cubicBezTo>
                  <a:lnTo>
                    <a:pt x="6137356" y="480187"/>
                  </a:lnTo>
                  <a:cubicBezTo>
                    <a:pt x="6137356" y="508127"/>
                    <a:pt x="6114934" y="530733"/>
                    <a:pt x="6087221" y="530733"/>
                  </a:cubicBezTo>
                  <a:lnTo>
                    <a:pt x="50134" y="530733"/>
                  </a:lnTo>
                  <a:cubicBezTo>
                    <a:pt x="22422" y="530733"/>
                    <a:pt x="0" y="508000"/>
                    <a:pt x="0" y="480187"/>
                  </a:cubicBezTo>
                  <a:close/>
                </a:path>
              </a:pathLst>
            </a:custGeom>
            <a:solidFill>
              <a:srgbClr val="FFF3D8"/>
            </a:solidFill>
            <a:ln w="1397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5169916" y="5678983"/>
            <a:ext cx="4462272" cy="403729"/>
            <a:chOff x="0" y="0"/>
            <a:chExt cx="5949696" cy="53830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949696" cy="538305"/>
            </a:xfrm>
            <a:custGeom>
              <a:avLst/>
              <a:gdLst/>
              <a:ahLst/>
              <a:cxnLst/>
              <a:rect r="r" b="b" t="t" l="l"/>
              <a:pathLst>
                <a:path h="538305" w="5949696">
                  <a:moveTo>
                    <a:pt x="0" y="0"/>
                  </a:moveTo>
                  <a:lnTo>
                    <a:pt x="5949696" y="0"/>
                  </a:lnTo>
                  <a:lnTo>
                    <a:pt x="5949696" y="538305"/>
                  </a:lnTo>
                  <a:lnTo>
                    <a:pt x="0" y="5383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798" r="0" b="-16292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5949696" cy="547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950"/>
                </a:lnSpc>
              </a:pPr>
              <a:r>
                <a:rPr lang="en-US" sz="900" b="true">
                  <a:solidFill>
                    <a:srgbClr val="5605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Four of six barriers are HIGH for every cohort and all four are Meesho's to remove with infrastructure, not money. The one we cannot fix is brand dilution at a ₹265 AOV, which is why Cohort B gets a separate value-tier catalogue rather than a discount.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4593824" y="4286872"/>
            <a:ext cx="2240280" cy="310896"/>
            <a:chOff x="0" y="0"/>
            <a:chExt cx="2987040" cy="41452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987040" cy="414528"/>
            </a:xfrm>
            <a:custGeom>
              <a:avLst/>
              <a:gdLst/>
              <a:ahLst/>
              <a:cxnLst/>
              <a:rect r="r" b="b" t="t" l="l"/>
              <a:pathLst>
                <a:path h="414528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2987040" cy="433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40"/>
                </a:lnSpc>
              </a:pPr>
              <a:r>
                <a:rPr lang="en-US" sz="950" i="true">
                  <a:solidFill>
                    <a:srgbClr val="FFF3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forums · supplier guides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868965" y="3869837"/>
            <a:ext cx="3807658" cy="2274679"/>
            <a:chOff x="0" y="0"/>
            <a:chExt cx="5076878" cy="303290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076967" cy="3032994"/>
            </a:xfrm>
            <a:custGeom>
              <a:avLst/>
              <a:gdLst/>
              <a:ahLst/>
              <a:cxnLst/>
              <a:rect r="r" b="b" t="t" l="l"/>
              <a:pathLst>
                <a:path h="3032994" w="5076967">
                  <a:moveTo>
                    <a:pt x="0" y="63478"/>
                  </a:moveTo>
                  <a:cubicBezTo>
                    <a:pt x="0" y="28388"/>
                    <a:pt x="24866" y="0"/>
                    <a:pt x="55602" y="0"/>
                  </a:cubicBezTo>
                  <a:lnTo>
                    <a:pt x="5021356" y="0"/>
                  </a:lnTo>
                  <a:cubicBezTo>
                    <a:pt x="5052093" y="0"/>
                    <a:pt x="5076967" y="28388"/>
                    <a:pt x="5076967" y="63478"/>
                  </a:cubicBezTo>
                  <a:lnTo>
                    <a:pt x="5076967" y="2969520"/>
                  </a:lnTo>
                  <a:cubicBezTo>
                    <a:pt x="5076967" y="3004610"/>
                    <a:pt x="5052093" y="3032994"/>
                    <a:pt x="5021356" y="3032994"/>
                  </a:cubicBezTo>
                  <a:lnTo>
                    <a:pt x="55602" y="3032994"/>
                  </a:lnTo>
                  <a:cubicBezTo>
                    <a:pt x="24866" y="3032994"/>
                    <a:pt x="0" y="3004610"/>
                    <a:pt x="0" y="296952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9869857" y="3869837"/>
            <a:ext cx="3806766" cy="325467"/>
            <a:chOff x="0" y="0"/>
            <a:chExt cx="5075688" cy="43395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075701" cy="433917"/>
            </a:xfrm>
            <a:custGeom>
              <a:avLst/>
              <a:gdLst/>
              <a:ahLst/>
              <a:cxnLst/>
              <a:rect r="r" b="b" t="t" l="l"/>
              <a:pathLst>
                <a:path h="433917" w="5075701">
                  <a:moveTo>
                    <a:pt x="41823" y="0"/>
                  </a:moveTo>
                  <a:lnTo>
                    <a:pt x="5033878" y="0"/>
                  </a:lnTo>
                  <a:cubicBezTo>
                    <a:pt x="5056977" y="0"/>
                    <a:pt x="5075701" y="18725"/>
                    <a:pt x="5075701" y="41823"/>
                  </a:cubicBezTo>
                  <a:lnTo>
                    <a:pt x="5075701" y="392095"/>
                  </a:lnTo>
                  <a:cubicBezTo>
                    <a:pt x="5075701" y="403187"/>
                    <a:pt x="5071295" y="413824"/>
                    <a:pt x="5063451" y="421668"/>
                  </a:cubicBezTo>
                  <a:cubicBezTo>
                    <a:pt x="5055608" y="429511"/>
                    <a:pt x="5044970" y="433917"/>
                    <a:pt x="5033878" y="433917"/>
                  </a:cubicBezTo>
                  <a:lnTo>
                    <a:pt x="41823" y="433917"/>
                  </a:lnTo>
                  <a:cubicBezTo>
                    <a:pt x="18725" y="433917"/>
                    <a:pt x="0" y="415193"/>
                    <a:pt x="0" y="392095"/>
                  </a:cubicBezTo>
                  <a:lnTo>
                    <a:pt x="0" y="41823"/>
                  </a:lnTo>
                  <a:cubicBezTo>
                    <a:pt x="0" y="18725"/>
                    <a:pt x="18725" y="0"/>
                    <a:pt x="41823" y="0"/>
                  </a:cubicBez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9986800" y="3874749"/>
            <a:ext cx="2759694" cy="310896"/>
            <a:chOff x="0" y="0"/>
            <a:chExt cx="3679592" cy="41452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679592" cy="414528"/>
            </a:xfrm>
            <a:custGeom>
              <a:avLst/>
              <a:gdLst/>
              <a:ahLst/>
              <a:cxnLst/>
              <a:rect r="r" b="b" t="t" l="l"/>
              <a:pathLst>
                <a:path h="414528" w="3679592">
                  <a:moveTo>
                    <a:pt x="0" y="0"/>
                  </a:moveTo>
                  <a:lnTo>
                    <a:pt x="3679592" y="0"/>
                  </a:lnTo>
                  <a:lnTo>
                    <a:pt x="3679592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7574" r="-43139" b="-197574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3679592" cy="433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Where We Start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954966" y="4308689"/>
            <a:ext cx="3635657" cy="824484"/>
            <a:chOff x="0" y="0"/>
            <a:chExt cx="4847543" cy="109931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847543" cy="1099312"/>
            </a:xfrm>
            <a:custGeom>
              <a:avLst/>
              <a:gdLst/>
              <a:ahLst/>
              <a:cxnLst/>
              <a:rect r="r" b="b" t="t" l="l"/>
              <a:pathLst>
                <a:path h="1099312" w="4847543">
                  <a:moveTo>
                    <a:pt x="0" y="62103"/>
                  </a:moveTo>
                  <a:cubicBezTo>
                    <a:pt x="0" y="27813"/>
                    <a:pt x="25383" y="0"/>
                    <a:pt x="56677" y="0"/>
                  </a:cubicBezTo>
                  <a:lnTo>
                    <a:pt x="4790866" y="0"/>
                  </a:lnTo>
                  <a:cubicBezTo>
                    <a:pt x="4822160" y="0"/>
                    <a:pt x="4847543" y="27813"/>
                    <a:pt x="4847543" y="62103"/>
                  </a:cubicBezTo>
                  <a:lnTo>
                    <a:pt x="4847543" y="1037209"/>
                  </a:lnTo>
                  <a:cubicBezTo>
                    <a:pt x="4847543" y="1071499"/>
                    <a:pt x="4822160" y="1099312"/>
                    <a:pt x="4790866" y="1099312"/>
                  </a:cubicBezTo>
                  <a:lnTo>
                    <a:pt x="56677" y="1099312"/>
                  </a:lnTo>
                  <a:cubicBezTo>
                    <a:pt x="25383" y="1099312"/>
                    <a:pt x="0" y="1071499"/>
                    <a:pt x="0" y="1037209"/>
                  </a:cubicBezTo>
                  <a:close/>
                </a:path>
              </a:pathLst>
            </a:custGeom>
            <a:solidFill>
              <a:srgbClr val="E6F2EB"/>
            </a:solidFill>
            <a:ln w="15240" cap="sq">
              <a:solidFill>
                <a:srgbClr val="1B7F4B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9954966" y="5191085"/>
            <a:ext cx="3635657" cy="824484"/>
            <a:chOff x="0" y="0"/>
            <a:chExt cx="4847543" cy="109931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847543" cy="1099312"/>
            </a:xfrm>
            <a:custGeom>
              <a:avLst/>
              <a:gdLst/>
              <a:ahLst/>
              <a:cxnLst/>
              <a:rect r="r" b="b" t="t" l="l"/>
              <a:pathLst>
                <a:path h="1099312" w="4847543">
                  <a:moveTo>
                    <a:pt x="0" y="62103"/>
                  </a:moveTo>
                  <a:cubicBezTo>
                    <a:pt x="0" y="27813"/>
                    <a:pt x="25383" y="0"/>
                    <a:pt x="56677" y="0"/>
                  </a:cubicBezTo>
                  <a:lnTo>
                    <a:pt x="4790866" y="0"/>
                  </a:lnTo>
                  <a:cubicBezTo>
                    <a:pt x="4822160" y="0"/>
                    <a:pt x="4847543" y="27813"/>
                    <a:pt x="4847543" y="62103"/>
                  </a:cubicBezTo>
                  <a:lnTo>
                    <a:pt x="4847543" y="1037209"/>
                  </a:lnTo>
                  <a:cubicBezTo>
                    <a:pt x="4847543" y="1071499"/>
                    <a:pt x="4822160" y="1099312"/>
                    <a:pt x="4790866" y="1099312"/>
                  </a:cubicBezTo>
                  <a:lnTo>
                    <a:pt x="56677" y="1099312"/>
                  </a:lnTo>
                  <a:cubicBezTo>
                    <a:pt x="25383" y="1099312"/>
                    <a:pt x="0" y="1071499"/>
                    <a:pt x="0" y="1037209"/>
                  </a:cubicBezTo>
                  <a:close/>
                </a:path>
              </a:pathLst>
            </a:custGeom>
            <a:solidFill>
              <a:srgbClr val="FBEAE8"/>
            </a:solidFill>
            <a:ln w="1524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231391" y="9603991"/>
            <a:ext cx="13434260" cy="579625"/>
            <a:chOff x="0" y="0"/>
            <a:chExt cx="17912347" cy="77283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7912319" cy="772795"/>
            </a:xfrm>
            <a:custGeom>
              <a:avLst/>
              <a:gdLst/>
              <a:ahLst/>
              <a:cxnLst/>
              <a:rect r="r" b="b" t="t" l="l"/>
              <a:pathLst>
                <a:path h="772795" w="17912319">
                  <a:moveTo>
                    <a:pt x="0" y="74803"/>
                  </a:moveTo>
                  <a:cubicBezTo>
                    <a:pt x="0" y="33528"/>
                    <a:pt x="25269" y="0"/>
                    <a:pt x="56377" y="0"/>
                  </a:cubicBezTo>
                  <a:lnTo>
                    <a:pt x="17855941" y="0"/>
                  </a:lnTo>
                  <a:cubicBezTo>
                    <a:pt x="17887049" y="0"/>
                    <a:pt x="17912319" y="33528"/>
                    <a:pt x="17912319" y="74803"/>
                  </a:cubicBezTo>
                  <a:lnTo>
                    <a:pt x="17912319" y="697992"/>
                  </a:lnTo>
                  <a:cubicBezTo>
                    <a:pt x="17912319" y="739267"/>
                    <a:pt x="17887049" y="772795"/>
                    <a:pt x="17855941" y="772795"/>
                  </a:cubicBezTo>
                  <a:lnTo>
                    <a:pt x="56377" y="772795"/>
                  </a:lnTo>
                  <a:cubicBezTo>
                    <a:pt x="25269" y="772795"/>
                    <a:pt x="0" y="739394"/>
                    <a:pt x="0" y="697992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432559" y="9786871"/>
            <a:ext cx="204721" cy="204721"/>
            <a:chOff x="0" y="0"/>
            <a:chExt cx="272961" cy="272961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72923" cy="272923"/>
            </a:xfrm>
            <a:custGeom>
              <a:avLst/>
              <a:gdLst/>
              <a:ahLst/>
              <a:cxnLst/>
              <a:rect r="r" b="b" t="t" l="l"/>
              <a:pathLst>
                <a:path h="272923" w="272923">
                  <a:moveTo>
                    <a:pt x="0" y="0"/>
                  </a:moveTo>
                  <a:lnTo>
                    <a:pt x="272923" y="0"/>
                  </a:lnTo>
                  <a:lnTo>
                    <a:pt x="272923" y="272923"/>
                  </a:lnTo>
                  <a:lnTo>
                    <a:pt x="0" y="272923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768096" y="9610344"/>
            <a:ext cx="12822527" cy="566928"/>
            <a:chOff x="0" y="0"/>
            <a:chExt cx="17096703" cy="75590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7096702" cy="755904"/>
            </a:xfrm>
            <a:custGeom>
              <a:avLst/>
              <a:gdLst/>
              <a:ahLst/>
              <a:cxnLst/>
              <a:rect r="r" b="b" t="t" l="l"/>
              <a:pathLst>
                <a:path h="755904" w="17096702">
                  <a:moveTo>
                    <a:pt x="0" y="0"/>
                  </a:moveTo>
                  <a:lnTo>
                    <a:pt x="17096702" y="0"/>
                  </a:lnTo>
                  <a:lnTo>
                    <a:pt x="17096702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5493" r="-32854" b="-535493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19050"/>
              <a:ext cx="17096703" cy="774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Meesho's 0% commission moat is now matched by Amazon and Flipkart under ₹1,000. The only price advantage a rate card cannot copy is a cost-structure advantage, so start with Cohort A in Tiruppur and Panipat, where the barriers are operational and Meesho owns the fix.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4333278" y="1848355"/>
            <a:ext cx="476466" cy="263025"/>
            <a:chOff x="0" y="0"/>
            <a:chExt cx="1015938" cy="56083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15938" cy="560832"/>
            </a:xfrm>
            <a:custGeom>
              <a:avLst/>
              <a:gdLst/>
              <a:ahLst/>
              <a:cxnLst/>
              <a:rect r="r" b="b" t="t" l="l"/>
              <a:pathLst>
                <a:path h="560832" w="1015938">
                  <a:moveTo>
                    <a:pt x="0" y="0"/>
                  </a:moveTo>
                  <a:lnTo>
                    <a:pt x="1015938" y="0"/>
                  </a:lnTo>
                  <a:lnTo>
                    <a:pt x="1015938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23" t="0" r="-40432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19050"/>
              <a:ext cx="1015938" cy="579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72%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4278647" y="2013972"/>
            <a:ext cx="532706" cy="194815"/>
            <a:chOff x="0" y="0"/>
            <a:chExt cx="710275" cy="25975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10275" cy="259753"/>
            </a:xfrm>
            <a:custGeom>
              <a:avLst/>
              <a:gdLst/>
              <a:ahLst/>
              <a:cxnLst/>
              <a:rect r="r" b="b" t="t" l="l"/>
              <a:pathLst>
                <a:path h="259753" w="710275">
                  <a:moveTo>
                    <a:pt x="0" y="0"/>
                  </a:moveTo>
                  <a:lnTo>
                    <a:pt x="710275" y="0"/>
                  </a:lnTo>
                  <a:lnTo>
                    <a:pt x="710275" y="259753"/>
                  </a:lnTo>
                  <a:lnTo>
                    <a:pt x="0" y="259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2" r="-444136" b="-297872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19050"/>
              <a:ext cx="710275" cy="27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40"/>
                </a:lnSpc>
              </a:pPr>
              <a:r>
                <a:rPr lang="en-US" sz="700">
                  <a:solidFill>
                    <a:srgbClr val="5A0F4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≈ 8,400 firms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8647119" y="1880073"/>
            <a:ext cx="604164" cy="270965"/>
            <a:chOff x="0" y="0"/>
            <a:chExt cx="1288221" cy="57776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288310" cy="577850"/>
            </a:xfrm>
            <a:custGeom>
              <a:avLst/>
              <a:gdLst/>
              <a:ahLst/>
              <a:cxnLst/>
              <a:rect r="r" b="b" t="t" l="l"/>
              <a:pathLst>
                <a:path h="577850" w="1288310">
                  <a:moveTo>
                    <a:pt x="0" y="62865"/>
                  </a:moveTo>
                  <a:cubicBezTo>
                    <a:pt x="0" y="28067"/>
                    <a:pt x="25263" y="0"/>
                    <a:pt x="56585" y="0"/>
                  </a:cubicBezTo>
                  <a:lnTo>
                    <a:pt x="1231716" y="0"/>
                  </a:lnTo>
                  <a:cubicBezTo>
                    <a:pt x="1262924" y="0"/>
                    <a:pt x="1288310" y="28067"/>
                    <a:pt x="1288310" y="62865"/>
                  </a:cubicBezTo>
                  <a:lnTo>
                    <a:pt x="1288310" y="514985"/>
                  </a:lnTo>
                  <a:cubicBezTo>
                    <a:pt x="1288310" y="549656"/>
                    <a:pt x="1263038" y="577850"/>
                    <a:pt x="1231716" y="577850"/>
                  </a:cubicBezTo>
                  <a:lnTo>
                    <a:pt x="56585" y="577850"/>
                  </a:lnTo>
                  <a:cubicBezTo>
                    <a:pt x="25263" y="577723"/>
                    <a:pt x="0" y="549656"/>
                    <a:pt x="0" y="514985"/>
                  </a:cubicBez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8710968" y="1840908"/>
            <a:ext cx="476466" cy="263025"/>
            <a:chOff x="0" y="0"/>
            <a:chExt cx="1015938" cy="56083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015938" cy="560832"/>
            </a:xfrm>
            <a:custGeom>
              <a:avLst/>
              <a:gdLst/>
              <a:ahLst/>
              <a:cxnLst/>
              <a:rect r="r" b="b" t="t" l="l"/>
              <a:pathLst>
                <a:path h="560832" w="1015938">
                  <a:moveTo>
                    <a:pt x="0" y="0"/>
                  </a:moveTo>
                  <a:lnTo>
                    <a:pt x="1015938" y="0"/>
                  </a:lnTo>
                  <a:lnTo>
                    <a:pt x="1015938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23" t="0" r="-40432" b="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19050"/>
              <a:ext cx="1015938" cy="579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19%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8682848" y="2006229"/>
            <a:ext cx="532706" cy="194815"/>
            <a:chOff x="0" y="0"/>
            <a:chExt cx="710275" cy="259753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710275" cy="259753"/>
            </a:xfrm>
            <a:custGeom>
              <a:avLst/>
              <a:gdLst/>
              <a:ahLst/>
              <a:cxnLst/>
              <a:rect r="r" b="b" t="t" l="l"/>
              <a:pathLst>
                <a:path h="259753" w="710275">
                  <a:moveTo>
                    <a:pt x="0" y="0"/>
                  </a:moveTo>
                  <a:lnTo>
                    <a:pt x="710275" y="0"/>
                  </a:lnTo>
                  <a:lnTo>
                    <a:pt x="710275" y="259753"/>
                  </a:lnTo>
                  <a:lnTo>
                    <a:pt x="0" y="259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2" r="-444136" b="-297872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19050"/>
              <a:ext cx="710275" cy="27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40"/>
                </a:lnSpc>
              </a:pPr>
              <a:r>
                <a:rPr lang="en-US" sz="700">
                  <a:solidFill>
                    <a:srgbClr val="5A0F4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firms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5119329" y="2701228"/>
            <a:ext cx="4064765" cy="199156"/>
            <a:chOff x="0" y="0"/>
            <a:chExt cx="5419687" cy="265541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419598" cy="265493"/>
            </a:xfrm>
            <a:custGeom>
              <a:avLst/>
              <a:gdLst/>
              <a:ahLst/>
              <a:cxnLst/>
              <a:rect r="r" b="b" t="t" l="l"/>
              <a:pathLst>
                <a:path h="265493" w="5419598">
                  <a:moveTo>
                    <a:pt x="0" y="34918"/>
                  </a:moveTo>
                  <a:cubicBezTo>
                    <a:pt x="0" y="15675"/>
                    <a:pt x="28448" y="0"/>
                    <a:pt x="63373" y="0"/>
                  </a:cubicBezTo>
                  <a:lnTo>
                    <a:pt x="5356225" y="0"/>
                  </a:lnTo>
                  <a:cubicBezTo>
                    <a:pt x="5391277" y="0"/>
                    <a:pt x="5419598" y="15675"/>
                    <a:pt x="5419598" y="34918"/>
                  </a:cubicBezTo>
                  <a:lnTo>
                    <a:pt x="5419598" y="230574"/>
                  </a:lnTo>
                  <a:cubicBezTo>
                    <a:pt x="5419598" y="249888"/>
                    <a:pt x="5391150" y="265492"/>
                    <a:pt x="5356225" y="265492"/>
                  </a:cubicBezTo>
                  <a:lnTo>
                    <a:pt x="63373" y="265492"/>
                  </a:lnTo>
                  <a:cubicBezTo>
                    <a:pt x="28448" y="265579"/>
                    <a:pt x="0" y="249888"/>
                    <a:pt x="0" y="230574"/>
                  </a:cubicBezTo>
                  <a:close/>
                </a:path>
              </a:pathLst>
            </a:custGeom>
            <a:solidFill>
              <a:srgbClr val="FFF3D8"/>
            </a:solidFill>
            <a:ln w="1397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5207973" y="2704719"/>
            <a:ext cx="3886200" cy="192174"/>
            <a:chOff x="0" y="0"/>
            <a:chExt cx="5181600" cy="25623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181600" cy="256232"/>
            </a:xfrm>
            <a:custGeom>
              <a:avLst/>
              <a:gdLst/>
              <a:ahLst/>
              <a:cxnLst/>
              <a:rect r="r" b="b" t="t" l="l"/>
              <a:pathLst>
                <a:path h="256232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626" r="0" b="-384437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19050"/>
              <a:ext cx="5181600" cy="2752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9"/>
                </a:lnSpc>
              </a:pPr>
              <a:r>
                <a:rPr lang="en-US" sz="999" b="true">
                  <a:solidFill>
                    <a:srgbClr val="8A2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LEVER  </a:t>
              </a:r>
              <a:r>
                <a:rPr lang="en-US" sz="999" b="true">
                  <a:solidFill>
                    <a:srgbClr val="5605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Price-delta gate + value-tier catalogue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5119329" y="2929128"/>
            <a:ext cx="4063489" cy="196063"/>
            <a:chOff x="0" y="0"/>
            <a:chExt cx="5417985" cy="261417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418074" cy="261506"/>
            </a:xfrm>
            <a:custGeom>
              <a:avLst/>
              <a:gdLst/>
              <a:ahLst/>
              <a:cxnLst/>
              <a:rect r="r" b="b" t="t" l="l"/>
              <a:pathLst>
                <a:path h="261506" w="5418074">
                  <a:moveTo>
                    <a:pt x="0" y="34429"/>
                  </a:moveTo>
                  <a:cubicBezTo>
                    <a:pt x="0" y="15417"/>
                    <a:pt x="28321" y="0"/>
                    <a:pt x="63246" y="0"/>
                  </a:cubicBezTo>
                  <a:lnTo>
                    <a:pt x="5354828" y="0"/>
                  </a:lnTo>
                  <a:cubicBezTo>
                    <a:pt x="5389753" y="0"/>
                    <a:pt x="5418074" y="15417"/>
                    <a:pt x="5418074" y="34429"/>
                  </a:cubicBezTo>
                  <a:lnTo>
                    <a:pt x="5418074" y="227036"/>
                  </a:lnTo>
                  <a:cubicBezTo>
                    <a:pt x="5418074" y="246048"/>
                    <a:pt x="5389753" y="261506"/>
                    <a:pt x="5354828" y="261506"/>
                  </a:cubicBezTo>
                  <a:lnTo>
                    <a:pt x="63246" y="261506"/>
                  </a:lnTo>
                  <a:cubicBezTo>
                    <a:pt x="28321" y="261396"/>
                    <a:pt x="0" y="246048"/>
                    <a:pt x="0" y="227036"/>
                  </a:cubicBezTo>
                  <a:close/>
                </a:path>
              </a:pathLst>
            </a:custGeom>
            <a:solidFill>
              <a:srgbClr val="F2E4EE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146" id="146"/>
          <p:cNvGrpSpPr/>
          <p:nvPr/>
        </p:nvGrpSpPr>
        <p:grpSpPr>
          <a:xfrm rot="0">
            <a:off x="5207978" y="2935481"/>
            <a:ext cx="3886200" cy="189709"/>
            <a:chOff x="0" y="0"/>
            <a:chExt cx="5181600" cy="252946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181600" cy="252946"/>
            </a:xfrm>
            <a:custGeom>
              <a:avLst/>
              <a:gdLst/>
              <a:ahLst/>
              <a:cxnLst/>
              <a:rect r="r" b="b" t="t" l="l"/>
              <a:pathLst>
                <a:path h="252946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252946"/>
                  </a:lnTo>
                  <a:lnTo>
                    <a:pt x="0" y="2529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7571" r="0" b="-390731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19050"/>
              <a:ext cx="5181600" cy="271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40"/>
                </a:lnSpc>
              </a:pPr>
              <a:r>
                <a:rPr lang="en-US" sz="950" b="true">
                  <a:solidFill>
                    <a:srgbClr val="8A2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PROVEN  </a:t>
              </a:r>
              <a:r>
                <a:rPr lang="en-US" sz="950">
                  <a:solidFill>
                    <a:srgbClr val="2B12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Shein Brazil: $150 mn, 2,000 local factories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513897" y="2701228"/>
            <a:ext cx="4064765" cy="199156"/>
            <a:chOff x="0" y="0"/>
            <a:chExt cx="5419687" cy="26554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5419598" cy="265493"/>
            </a:xfrm>
            <a:custGeom>
              <a:avLst/>
              <a:gdLst/>
              <a:ahLst/>
              <a:cxnLst/>
              <a:rect r="r" b="b" t="t" l="l"/>
              <a:pathLst>
                <a:path h="265493" w="5419598">
                  <a:moveTo>
                    <a:pt x="0" y="34918"/>
                  </a:moveTo>
                  <a:cubicBezTo>
                    <a:pt x="0" y="15675"/>
                    <a:pt x="28448" y="0"/>
                    <a:pt x="63373" y="0"/>
                  </a:cubicBezTo>
                  <a:lnTo>
                    <a:pt x="5356225" y="0"/>
                  </a:lnTo>
                  <a:cubicBezTo>
                    <a:pt x="5391277" y="0"/>
                    <a:pt x="5419598" y="15675"/>
                    <a:pt x="5419598" y="34918"/>
                  </a:cubicBezTo>
                  <a:lnTo>
                    <a:pt x="5419598" y="230574"/>
                  </a:lnTo>
                  <a:cubicBezTo>
                    <a:pt x="5419598" y="249888"/>
                    <a:pt x="5391150" y="265492"/>
                    <a:pt x="5356225" y="265492"/>
                  </a:cubicBezTo>
                  <a:lnTo>
                    <a:pt x="63373" y="265492"/>
                  </a:lnTo>
                  <a:cubicBezTo>
                    <a:pt x="28448" y="265579"/>
                    <a:pt x="0" y="249888"/>
                    <a:pt x="0" y="230574"/>
                  </a:cubicBezTo>
                  <a:close/>
                </a:path>
              </a:pathLst>
            </a:custGeom>
            <a:solidFill>
              <a:srgbClr val="FFF3D8"/>
            </a:solidFill>
            <a:ln w="1397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51" id="151"/>
          <p:cNvGrpSpPr/>
          <p:nvPr/>
        </p:nvGrpSpPr>
        <p:grpSpPr>
          <a:xfrm rot="0">
            <a:off x="9603175" y="2708210"/>
            <a:ext cx="3886200" cy="192174"/>
            <a:chOff x="0" y="0"/>
            <a:chExt cx="5181600" cy="25623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5181600" cy="256232"/>
            </a:xfrm>
            <a:custGeom>
              <a:avLst/>
              <a:gdLst/>
              <a:ahLst/>
              <a:cxnLst/>
              <a:rect r="r" b="b" t="t" l="l"/>
              <a:pathLst>
                <a:path h="256232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626" r="0" b="-384437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19050"/>
              <a:ext cx="5181600" cy="2752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9"/>
                </a:lnSpc>
              </a:pPr>
              <a:r>
                <a:rPr lang="en-US" sz="999" b="true">
                  <a:solidFill>
                    <a:srgbClr val="8A2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LEVER  R</a:t>
              </a:r>
              <a:r>
                <a:rPr lang="en-US" sz="999" b="true">
                  <a:solidFill>
                    <a:srgbClr val="5605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eturns firewall + health-score re-entry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9503407" y="2929128"/>
            <a:ext cx="4063489" cy="196063"/>
            <a:chOff x="0" y="0"/>
            <a:chExt cx="5417985" cy="261417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5418074" cy="261506"/>
            </a:xfrm>
            <a:custGeom>
              <a:avLst/>
              <a:gdLst/>
              <a:ahLst/>
              <a:cxnLst/>
              <a:rect r="r" b="b" t="t" l="l"/>
              <a:pathLst>
                <a:path h="261506" w="5418074">
                  <a:moveTo>
                    <a:pt x="0" y="34429"/>
                  </a:moveTo>
                  <a:cubicBezTo>
                    <a:pt x="0" y="15417"/>
                    <a:pt x="28321" y="0"/>
                    <a:pt x="63246" y="0"/>
                  </a:cubicBezTo>
                  <a:lnTo>
                    <a:pt x="5354828" y="0"/>
                  </a:lnTo>
                  <a:cubicBezTo>
                    <a:pt x="5389753" y="0"/>
                    <a:pt x="5418074" y="15417"/>
                    <a:pt x="5418074" y="34429"/>
                  </a:cubicBezTo>
                  <a:lnTo>
                    <a:pt x="5418074" y="227036"/>
                  </a:lnTo>
                  <a:cubicBezTo>
                    <a:pt x="5418074" y="246048"/>
                    <a:pt x="5389753" y="261506"/>
                    <a:pt x="5354828" y="261506"/>
                  </a:cubicBezTo>
                  <a:lnTo>
                    <a:pt x="63246" y="261506"/>
                  </a:lnTo>
                  <a:cubicBezTo>
                    <a:pt x="28321" y="261396"/>
                    <a:pt x="0" y="246048"/>
                    <a:pt x="0" y="227036"/>
                  </a:cubicBezTo>
                  <a:close/>
                </a:path>
              </a:pathLst>
            </a:custGeom>
            <a:solidFill>
              <a:srgbClr val="F2E4EE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156" id="156"/>
          <p:cNvGrpSpPr/>
          <p:nvPr/>
        </p:nvGrpSpPr>
        <p:grpSpPr>
          <a:xfrm rot="0">
            <a:off x="9592056" y="2935481"/>
            <a:ext cx="3886200" cy="189709"/>
            <a:chOff x="0" y="0"/>
            <a:chExt cx="5181600" cy="25294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5181600" cy="252946"/>
            </a:xfrm>
            <a:custGeom>
              <a:avLst/>
              <a:gdLst/>
              <a:ahLst/>
              <a:cxnLst/>
              <a:rect r="r" b="b" t="t" l="l"/>
              <a:pathLst>
                <a:path h="252946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252946"/>
                  </a:lnTo>
                  <a:lnTo>
                    <a:pt x="0" y="2529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7571" r="0" b="-390731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19050"/>
              <a:ext cx="5181600" cy="271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40"/>
                </a:lnSpc>
              </a:pPr>
              <a:r>
                <a:rPr lang="en-US" sz="950" b="true">
                  <a:solidFill>
                    <a:srgbClr val="8A2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PROVEN  </a:t>
              </a:r>
              <a:r>
                <a:rPr lang="en-US" sz="950">
                  <a:solidFill>
                    <a:srgbClr val="2B12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Temu: 50% of new sellers sell within 20 days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3790924" y="1840611"/>
            <a:ext cx="4282945" cy="1961114"/>
            <a:chOff x="0" y="0"/>
            <a:chExt cx="5710593" cy="2614819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5710555" cy="2614792"/>
            </a:xfrm>
            <a:custGeom>
              <a:avLst/>
              <a:gdLst/>
              <a:ahLst/>
              <a:cxnLst/>
              <a:rect r="r" b="b" t="t" l="l"/>
              <a:pathLst>
                <a:path h="2614792" w="5710555">
                  <a:moveTo>
                    <a:pt x="0" y="44295"/>
                  </a:moveTo>
                  <a:cubicBezTo>
                    <a:pt x="0" y="19850"/>
                    <a:pt x="27432" y="0"/>
                    <a:pt x="61214" y="0"/>
                  </a:cubicBezTo>
                  <a:lnTo>
                    <a:pt x="5649341" y="0"/>
                  </a:lnTo>
                  <a:cubicBezTo>
                    <a:pt x="5683123" y="0"/>
                    <a:pt x="5710555" y="19850"/>
                    <a:pt x="5710555" y="44295"/>
                  </a:cubicBezTo>
                  <a:lnTo>
                    <a:pt x="5710555" y="2570496"/>
                  </a:lnTo>
                  <a:cubicBezTo>
                    <a:pt x="5710555" y="2594941"/>
                    <a:pt x="5683123" y="2614792"/>
                    <a:pt x="5649341" y="2614792"/>
                  </a:cubicBezTo>
                  <a:lnTo>
                    <a:pt x="61214" y="2614792"/>
                  </a:lnTo>
                  <a:cubicBezTo>
                    <a:pt x="27432" y="2614792"/>
                    <a:pt x="0" y="2594941"/>
                    <a:pt x="0" y="257049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61" id="161"/>
          <p:cNvGrpSpPr/>
          <p:nvPr/>
        </p:nvGrpSpPr>
        <p:grpSpPr>
          <a:xfrm rot="0">
            <a:off x="14010603" y="2701228"/>
            <a:ext cx="1896361" cy="1060580"/>
            <a:chOff x="0" y="0"/>
            <a:chExt cx="2528481" cy="141410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528443" cy="1414077"/>
            </a:xfrm>
            <a:custGeom>
              <a:avLst/>
              <a:gdLst/>
              <a:ahLst/>
              <a:cxnLst/>
              <a:rect r="r" b="b" t="t" l="l"/>
              <a:pathLst>
                <a:path h="1414077" w="2528443">
                  <a:moveTo>
                    <a:pt x="0" y="70659"/>
                  </a:moveTo>
                  <a:cubicBezTo>
                    <a:pt x="0" y="31682"/>
                    <a:pt x="40259" y="0"/>
                    <a:pt x="89789" y="0"/>
                  </a:cubicBezTo>
                  <a:lnTo>
                    <a:pt x="2438654" y="0"/>
                  </a:lnTo>
                  <a:cubicBezTo>
                    <a:pt x="2488311" y="0"/>
                    <a:pt x="2528443" y="31682"/>
                    <a:pt x="2528443" y="70659"/>
                  </a:cubicBezTo>
                  <a:lnTo>
                    <a:pt x="2528443" y="1343418"/>
                  </a:lnTo>
                  <a:cubicBezTo>
                    <a:pt x="2528443" y="1382495"/>
                    <a:pt x="2488184" y="1414077"/>
                    <a:pt x="2438654" y="1414077"/>
                  </a:cubicBezTo>
                  <a:lnTo>
                    <a:pt x="89789" y="1414077"/>
                  </a:lnTo>
                  <a:cubicBezTo>
                    <a:pt x="40132" y="1414077"/>
                    <a:pt x="0" y="1382395"/>
                    <a:pt x="0" y="134341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7D3DD"/>
              </a:solidFill>
              <a:prstDash val="solid"/>
              <a:miter/>
            </a:ln>
          </p:spPr>
        </p:sp>
      </p:grpSp>
      <p:grpSp>
        <p:nvGrpSpPr>
          <p:cNvPr name="Group 163" id="163"/>
          <p:cNvGrpSpPr/>
          <p:nvPr/>
        </p:nvGrpSpPr>
        <p:grpSpPr>
          <a:xfrm rot="0">
            <a:off x="14010603" y="2701228"/>
            <a:ext cx="1896361" cy="214874"/>
            <a:chOff x="0" y="0"/>
            <a:chExt cx="2528481" cy="286499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528494" cy="286474"/>
            </a:xfrm>
            <a:custGeom>
              <a:avLst/>
              <a:gdLst/>
              <a:ahLst/>
              <a:cxnLst/>
              <a:rect r="r" b="b" t="t" l="l"/>
              <a:pathLst>
                <a:path h="286474" w="2528494">
                  <a:moveTo>
                    <a:pt x="85608" y="0"/>
                  </a:moveTo>
                  <a:lnTo>
                    <a:pt x="2442886" y="0"/>
                  </a:lnTo>
                  <a:cubicBezTo>
                    <a:pt x="2490166" y="0"/>
                    <a:pt x="2528494" y="38328"/>
                    <a:pt x="2528494" y="85608"/>
                  </a:cubicBezTo>
                  <a:lnTo>
                    <a:pt x="2528494" y="200866"/>
                  </a:lnTo>
                  <a:cubicBezTo>
                    <a:pt x="2528494" y="248146"/>
                    <a:pt x="2490166" y="286474"/>
                    <a:pt x="2442886" y="286474"/>
                  </a:cubicBezTo>
                  <a:lnTo>
                    <a:pt x="85608" y="286474"/>
                  </a:lnTo>
                  <a:cubicBezTo>
                    <a:pt x="38328" y="286474"/>
                    <a:pt x="0" y="248146"/>
                    <a:pt x="0" y="200866"/>
                  </a:cubicBezTo>
                  <a:lnTo>
                    <a:pt x="0" y="85608"/>
                  </a:lnTo>
                  <a:cubicBezTo>
                    <a:pt x="0" y="38328"/>
                    <a:pt x="38328" y="0"/>
                    <a:pt x="85608" y="0"/>
                  </a:cubicBezTo>
                  <a:close/>
                </a:path>
              </a:pathLst>
            </a:custGeom>
            <a:solidFill>
              <a:srgbClr val="B3261E"/>
            </a:solidFill>
            <a:ln w="12700" cap="sq">
              <a:solidFill>
                <a:srgbClr val="B3261E"/>
              </a:solidFill>
              <a:prstDash val="solid"/>
              <a:miter/>
            </a:ln>
          </p:spPr>
        </p:sp>
      </p:grpSp>
      <p:sp>
        <p:nvSpPr>
          <p:cNvPr name="TextBox 165" id="165"/>
          <p:cNvSpPr txBox="true"/>
          <p:nvPr/>
        </p:nvSpPr>
        <p:spPr>
          <a:xfrm rot="0">
            <a:off x="14016957" y="2732727"/>
            <a:ext cx="1883664" cy="14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"/>
              </a:lnSpc>
            </a:pPr>
            <a:r>
              <a:rPr lang="en-US" sz="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HIGH-RETURN CATEGORY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14016957" y="3058939"/>
            <a:ext cx="1883664" cy="159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1"/>
              </a:lnSpc>
            </a:pPr>
            <a:r>
              <a:rPr lang="en-US" sz="900" b="true">
                <a:solidFill>
                  <a:srgbClr val="C628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30%  return rate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14071821" y="3237171"/>
            <a:ext cx="1773936" cy="13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"/>
              </a:lnSpc>
            </a:pPr>
            <a:r>
              <a:rPr lang="en-US" sz="800">
                <a:solidFill>
                  <a:srgbClr val="6B6B78"/>
                </a:solidFill>
                <a:latin typeface="Calibri (MS)"/>
                <a:ea typeface="Calibri (MS)"/>
                <a:cs typeface="Calibri (MS)"/>
                <a:sym typeface="Calibri (MS)"/>
              </a:rPr>
              <a:t>30 returns × ₹90  ÷  70 delivered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14023300" y="3389343"/>
            <a:ext cx="1883664" cy="15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"/>
              </a:lnSpc>
            </a:pPr>
            <a:r>
              <a:rPr lang="en-US" sz="950" b="true">
                <a:solidFill>
                  <a:srgbClr val="6B0F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₹39 per delivered item</a:t>
            </a:r>
          </a:p>
        </p:txBody>
      </p:sp>
      <p:sp>
        <p:nvSpPr>
          <p:cNvPr name="TextBox 169" id="169"/>
          <p:cNvSpPr txBox="true"/>
          <p:nvPr/>
        </p:nvSpPr>
        <p:spPr>
          <a:xfrm rot="0">
            <a:off x="14016957" y="3576947"/>
            <a:ext cx="1883664" cy="13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</a:pPr>
            <a:r>
              <a:rPr lang="en-US" sz="800" b="true">
                <a:solidFill>
                  <a:srgbClr val="C628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14.6% of AOV</a:t>
            </a:r>
          </a:p>
        </p:txBody>
      </p:sp>
      <p:grpSp>
        <p:nvGrpSpPr>
          <p:cNvPr name="Group 170" id="170"/>
          <p:cNvGrpSpPr/>
          <p:nvPr/>
        </p:nvGrpSpPr>
        <p:grpSpPr>
          <a:xfrm rot="0">
            <a:off x="16003995" y="2701228"/>
            <a:ext cx="1896361" cy="1060580"/>
            <a:chOff x="0" y="0"/>
            <a:chExt cx="2528481" cy="1414107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528443" cy="1414077"/>
            </a:xfrm>
            <a:custGeom>
              <a:avLst/>
              <a:gdLst/>
              <a:ahLst/>
              <a:cxnLst/>
              <a:rect r="r" b="b" t="t" l="l"/>
              <a:pathLst>
                <a:path h="1414077" w="2528443">
                  <a:moveTo>
                    <a:pt x="0" y="70659"/>
                  </a:moveTo>
                  <a:cubicBezTo>
                    <a:pt x="0" y="31682"/>
                    <a:pt x="40259" y="0"/>
                    <a:pt x="89789" y="0"/>
                  </a:cubicBezTo>
                  <a:lnTo>
                    <a:pt x="2438654" y="0"/>
                  </a:lnTo>
                  <a:cubicBezTo>
                    <a:pt x="2488311" y="0"/>
                    <a:pt x="2528443" y="31682"/>
                    <a:pt x="2528443" y="70659"/>
                  </a:cubicBezTo>
                  <a:lnTo>
                    <a:pt x="2528443" y="1343418"/>
                  </a:lnTo>
                  <a:cubicBezTo>
                    <a:pt x="2528443" y="1382495"/>
                    <a:pt x="2488184" y="1414077"/>
                    <a:pt x="2438654" y="1414077"/>
                  </a:cubicBezTo>
                  <a:lnTo>
                    <a:pt x="89789" y="1414077"/>
                  </a:lnTo>
                  <a:cubicBezTo>
                    <a:pt x="40132" y="1414077"/>
                    <a:pt x="0" y="1382395"/>
                    <a:pt x="0" y="134341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7D3DD"/>
              </a:solidFill>
              <a:prstDash val="solid"/>
              <a:miter/>
            </a:ln>
          </p:spPr>
        </p:sp>
      </p:grpSp>
      <p:grpSp>
        <p:nvGrpSpPr>
          <p:cNvPr name="Group 172" id="172"/>
          <p:cNvGrpSpPr/>
          <p:nvPr/>
        </p:nvGrpSpPr>
        <p:grpSpPr>
          <a:xfrm rot="0">
            <a:off x="16004000" y="2701228"/>
            <a:ext cx="1896361" cy="214874"/>
            <a:chOff x="0" y="0"/>
            <a:chExt cx="2528481" cy="286499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2528494" cy="286474"/>
            </a:xfrm>
            <a:custGeom>
              <a:avLst/>
              <a:gdLst/>
              <a:ahLst/>
              <a:cxnLst/>
              <a:rect r="r" b="b" t="t" l="l"/>
              <a:pathLst>
                <a:path h="286474" w="2528494">
                  <a:moveTo>
                    <a:pt x="85608" y="0"/>
                  </a:moveTo>
                  <a:lnTo>
                    <a:pt x="2442886" y="0"/>
                  </a:lnTo>
                  <a:cubicBezTo>
                    <a:pt x="2490166" y="0"/>
                    <a:pt x="2528494" y="38328"/>
                    <a:pt x="2528494" y="85608"/>
                  </a:cubicBezTo>
                  <a:lnTo>
                    <a:pt x="2528494" y="200866"/>
                  </a:lnTo>
                  <a:cubicBezTo>
                    <a:pt x="2528494" y="248146"/>
                    <a:pt x="2490166" y="286474"/>
                    <a:pt x="2442886" y="286474"/>
                  </a:cubicBezTo>
                  <a:lnTo>
                    <a:pt x="85608" y="286474"/>
                  </a:lnTo>
                  <a:cubicBezTo>
                    <a:pt x="38328" y="286474"/>
                    <a:pt x="0" y="248146"/>
                    <a:pt x="0" y="200866"/>
                  </a:cubicBezTo>
                  <a:lnTo>
                    <a:pt x="0" y="85608"/>
                  </a:lnTo>
                  <a:cubicBezTo>
                    <a:pt x="0" y="38328"/>
                    <a:pt x="38328" y="0"/>
                    <a:pt x="85608" y="0"/>
                  </a:cubicBezTo>
                  <a:close/>
                </a:path>
              </a:pathLst>
            </a:custGeom>
            <a:solidFill>
              <a:srgbClr val="1E7B34"/>
            </a:solidFill>
            <a:ln w="12700" cap="sq">
              <a:solidFill>
                <a:srgbClr val="1E7B34"/>
              </a:solidFill>
              <a:prstDash val="solid"/>
              <a:miter/>
            </a:ln>
          </p:spPr>
        </p:sp>
      </p:grpSp>
      <p:sp>
        <p:nvSpPr>
          <p:cNvPr name="TextBox 174" id="174"/>
          <p:cNvSpPr txBox="true"/>
          <p:nvPr/>
        </p:nvSpPr>
        <p:spPr>
          <a:xfrm rot="0">
            <a:off x="16016692" y="2732727"/>
            <a:ext cx="1883664" cy="14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"/>
              </a:lnSpc>
            </a:pPr>
            <a:r>
              <a:rPr lang="en-US" sz="7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LOW-RETURN CATEGORY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16016692" y="3058939"/>
            <a:ext cx="1883664" cy="159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1"/>
              </a:lnSpc>
            </a:pPr>
            <a:r>
              <a:rPr lang="en-US" sz="900" b="true">
                <a:solidFill>
                  <a:srgbClr val="1E8E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5%  return rate</a:t>
            </a:r>
          </a:p>
        </p:txBody>
      </p:sp>
      <p:sp>
        <p:nvSpPr>
          <p:cNvPr name="TextBox 176" id="176"/>
          <p:cNvSpPr txBox="true"/>
          <p:nvPr/>
        </p:nvSpPr>
        <p:spPr>
          <a:xfrm rot="0">
            <a:off x="16065213" y="3237171"/>
            <a:ext cx="1773936" cy="13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"/>
              </a:lnSpc>
            </a:pPr>
            <a:r>
              <a:rPr lang="en-US" sz="800">
                <a:solidFill>
                  <a:srgbClr val="6B6B78"/>
                </a:solidFill>
                <a:latin typeface="Calibri (MS)"/>
                <a:ea typeface="Calibri (MS)"/>
                <a:cs typeface="Calibri (MS)"/>
                <a:sym typeface="Calibri (MS)"/>
              </a:rPr>
              <a:t>5 returns × ₹90  ÷  95 delivered</a:t>
            </a:r>
          </a:p>
        </p:txBody>
      </p:sp>
      <p:sp>
        <p:nvSpPr>
          <p:cNvPr name="TextBox 177" id="177"/>
          <p:cNvSpPr txBox="true"/>
          <p:nvPr/>
        </p:nvSpPr>
        <p:spPr>
          <a:xfrm rot="0">
            <a:off x="16016692" y="3389343"/>
            <a:ext cx="1883664" cy="15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"/>
              </a:lnSpc>
            </a:pPr>
            <a:r>
              <a:rPr lang="en-US" sz="950" b="true">
                <a:solidFill>
                  <a:srgbClr val="6B0F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₹5 per delivered item</a:t>
            </a:r>
          </a:p>
        </p:txBody>
      </p:sp>
      <p:sp>
        <p:nvSpPr>
          <p:cNvPr name="TextBox 178" id="178"/>
          <p:cNvSpPr txBox="true"/>
          <p:nvPr/>
        </p:nvSpPr>
        <p:spPr>
          <a:xfrm rot="0">
            <a:off x="16018293" y="3576947"/>
            <a:ext cx="1883664" cy="13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"/>
              </a:lnSpc>
            </a:pPr>
            <a:r>
              <a:rPr lang="en-US" sz="800" b="true">
                <a:solidFill>
                  <a:srgbClr val="1E8E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1.8% of AOV</a:t>
            </a:r>
          </a:p>
        </p:txBody>
      </p:sp>
      <p:sp>
        <p:nvSpPr>
          <p:cNvPr name="TextBox 179" id="179"/>
          <p:cNvSpPr txBox="true"/>
          <p:nvPr/>
        </p:nvSpPr>
        <p:spPr>
          <a:xfrm rot="0">
            <a:off x="14071816" y="2925628"/>
            <a:ext cx="1773936" cy="13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"/>
              </a:lnSpc>
            </a:pPr>
            <a:r>
              <a:rPr lang="en-US" sz="800">
                <a:solidFill>
                  <a:srgbClr val="6B6B78"/>
                </a:solidFill>
                <a:latin typeface="Calibri (MS)"/>
                <a:ea typeface="Calibri (MS)"/>
                <a:cs typeface="Calibri (MS)"/>
                <a:sym typeface="Calibri (MS)"/>
              </a:rPr>
              <a:t>Fitted ethnic wear · Surat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16071556" y="2925628"/>
            <a:ext cx="1773936" cy="13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"/>
              </a:lnSpc>
            </a:pPr>
            <a:r>
              <a:rPr lang="en-US" sz="800">
                <a:solidFill>
                  <a:srgbClr val="6B6B78"/>
                </a:solidFill>
                <a:latin typeface="Calibri (MS)"/>
                <a:ea typeface="Calibri (MS)"/>
                <a:cs typeface="Calibri (MS)"/>
                <a:sym typeface="Calibri (MS)"/>
              </a:rPr>
              <a:t>Home textiles · Panipat</a:t>
            </a:r>
          </a:p>
        </p:txBody>
      </p:sp>
      <p:grpSp>
        <p:nvGrpSpPr>
          <p:cNvPr name="Group 181" id="181"/>
          <p:cNvGrpSpPr/>
          <p:nvPr/>
        </p:nvGrpSpPr>
        <p:grpSpPr>
          <a:xfrm rot="0">
            <a:off x="13790924" y="1840611"/>
            <a:ext cx="4282945" cy="334566"/>
            <a:chOff x="0" y="0"/>
            <a:chExt cx="5710593" cy="446088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5710606" cy="446048"/>
            </a:xfrm>
            <a:custGeom>
              <a:avLst/>
              <a:gdLst/>
              <a:ahLst/>
              <a:cxnLst/>
              <a:rect r="r" b="b" t="t" l="l"/>
              <a:pathLst>
                <a:path h="446048" w="5710606">
                  <a:moveTo>
                    <a:pt x="37905" y="0"/>
                  </a:moveTo>
                  <a:lnTo>
                    <a:pt x="5672701" y="0"/>
                  </a:lnTo>
                  <a:cubicBezTo>
                    <a:pt x="5693635" y="0"/>
                    <a:pt x="5710606" y="16971"/>
                    <a:pt x="5710606" y="37905"/>
                  </a:cubicBezTo>
                  <a:lnTo>
                    <a:pt x="5710606" y="408143"/>
                  </a:lnTo>
                  <a:cubicBezTo>
                    <a:pt x="5710606" y="429078"/>
                    <a:pt x="5693635" y="446048"/>
                    <a:pt x="5672701" y="446048"/>
                  </a:cubicBezTo>
                  <a:lnTo>
                    <a:pt x="37905" y="446048"/>
                  </a:lnTo>
                  <a:cubicBezTo>
                    <a:pt x="16971" y="446048"/>
                    <a:pt x="0" y="429078"/>
                    <a:pt x="0" y="408143"/>
                  </a:cubicBezTo>
                  <a:lnTo>
                    <a:pt x="0" y="37905"/>
                  </a:lnTo>
                  <a:cubicBezTo>
                    <a:pt x="0" y="16971"/>
                    <a:pt x="16971" y="0"/>
                    <a:pt x="37905" y="0"/>
                  </a:cubicBezTo>
                  <a:close/>
                </a:path>
              </a:pathLst>
            </a:custGeom>
            <a:solidFill>
              <a:srgbClr val="8A245E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183" id="183"/>
          <p:cNvGrpSpPr/>
          <p:nvPr/>
        </p:nvGrpSpPr>
        <p:grpSpPr>
          <a:xfrm rot="0">
            <a:off x="13916149" y="1857937"/>
            <a:ext cx="4032504" cy="310896"/>
            <a:chOff x="0" y="0"/>
            <a:chExt cx="5376672" cy="414528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376672" cy="414528"/>
            </a:xfrm>
            <a:custGeom>
              <a:avLst/>
              <a:gdLst/>
              <a:ahLst/>
              <a:cxnLst/>
              <a:rect r="r" b="b" t="t" l="l"/>
              <a:pathLst>
                <a:path h="414528" w="5376672">
                  <a:moveTo>
                    <a:pt x="0" y="0"/>
                  </a:moveTo>
                  <a:lnTo>
                    <a:pt x="5376672" y="0"/>
                  </a:lnTo>
                  <a:lnTo>
                    <a:pt x="5376672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2732" r="0" b="-202732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9525"/>
              <a:ext cx="5376672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RETURN MATH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17367174" y="1871043"/>
            <a:ext cx="671220" cy="270965"/>
            <a:chOff x="0" y="0"/>
            <a:chExt cx="1431201" cy="577761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1431290" cy="577850"/>
            </a:xfrm>
            <a:custGeom>
              <a:avLst/>
              <a:gdLst/>
              <a:ahLst/>
              <a:cxnLst/>
              <a:rect r="r" b="b" t="t" l="l"/>
              <a:pathLst>
                <a:path h="577850" w="1431290">
                  <a:moveTo>
                    <a:pt x="0" y="62865"/>
                  </a:moveTo>
                  <a:cubicBezTo>
                    <a:pt x="0" y="28067"/>
                    <a:pt x="28067" y="0"/>
                    <a:pt x="62865" y="0"/>
                  </a:cubicBezTo>
                  <a:lnTo>
                    <a:pt x="1368425" y="0"/>
                  </a:lnTo>
                  <a:cubicBezTo>
                    <a:pt x="1403096" y="0"/>
                    <a:pt x="1431290" y="28067"/>
                    <a:pt x="1431290" y="62865"/>
                  </a:cubicBezTo>
                  <a:lnTo>
                    <a:pt x="1431290" y="514985"/>
                  </a:lnTo>
                  <a:cubicBezTo>
                    <a:pt x="1431290" y="549656"/>
                    <a:pt x="1403223" y="577850"/>
                    <a:pt x="1368425" y="577850"/>
                  </a:cubicBezTo>
                  <a:lnTo>
                    <a:pt x="62865" y="577850"/>
                  </a:lnTo>
                  <a:cubicBezTo>
                    <a:pt x="28067" y="577723"/>
                    <a:pt x="0" y="549656"/>
                    <a:pt x="0" y="514985"/>
                  </a:cubicBez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88" id="188"/>
          <p:cNvGrpSpPr/>
          <p:nvPr/>
        </p:nvGrpSpPr>
        <p:grpSpPr>
          <a:xfrm rot="0">
            <a:off x="17472187" y="1875013"/>
            <a:ext cx="476466" cy="263025"/>
            <a:chOff x="0" y="0"/>
            <a:chExt cx="1015938" cy="560832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1015938" cy="560832"/>
            </a:xfrm>
            <a:custGeom>
              <a:avLst/>
              <a:gdLst/>
              <a:ahLst/>
              <a:cxnLst/>
              <a:rect r="r" b="b" t="t" l="l"/>
              <a:pathLst>
                <a:path h="560832" w="1015938">
                  <a:moveTo>
                    <a:pt x="0" y="0"/>
                  </a:moveTo>
                  <a:lnTo>
                    <a:pt x="1015938" y="0"/>
                  </a:lnTo>
                  <a:lnTo>
                    <a:pt x="1015938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23" t="0" r="-40432" b="0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19050"/>
              <a:ext cx="1015938" cy="579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13 pp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633727" y="3868400"/>
            <a:ext cx="4284726" cy="3765728"/>
            <a:chOff x="0" y="0"/>
            <a:chExt cx="5712968" cy="502097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5712947" cy="5020913"/>
            </a:xfrm>
            <a:custGeom>
              <a:avLst/>
              <a:gdLst/>
              <a:ahLst/>
              <a:cxnLst/>
              <a:rect r="r" b="b" t="t" l="l"/>
              <a:pathLst>
                <a:path h="5020913" w="5712947">
                  <a:moveTo>
                    <a:pt x="0" y="92211"/>
                  </a:moveTo>
                  <a:cubicBezTo>
                    <a:pt x="0" y="41323"/>
                    <a:pt x="15649" y="0"/>
                    <a:pt x="34921" y="0"/>
                  </a:cubicBezTo>
                  <a:lnTo>
                    <a:pt x="5678025" y="0"/>
                  </a:lnTo>
                  <a:cubicBezTo>
                    <a:pt x="5697297" y="0"/>
                    <a:pt x="5712947" y="41323"/>
                    <a:pt x="5712947" y="92211"/>
                  </a:cubicBezTo>
                  <a:lnTo>
                    <a:pt x="5712947" y="4928702"/>
                  </a:lnTo>
                  <a:cubicBezTo>
                    <a:pt x="5712947" y="4979590"/>
                    <a:pt x="5697297" y="5020913"/>
                    <a:pt x="5678025" y="5020913"/>
                  </a:cubicBezTo>
                  <a:lnTo>
                    <a:pt x="34921" y="5020913"/>
                  </a:lnTo>
                  <a:cubicBezTo>
                    <a:pt x="15649" y="5020913"/>
                    <a:pt x="0" y="4979590"/>
                    <a:pt x="0" y="4928702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93" id="193"/>
          <p:cNvGrpSpPr/>
          <p:nvPr/>
        </p:nvGrpSpPr>
        <p:grpSpPr>
          <a:xfrm rot="0">
            <a:off x="704750" y="4477243"/>
            <a:ext cx="4085550" cy="237744"/>
            <a:chOff x="0" y="0"/>
            <a:chExt cx="5447399" cy="316992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5447400" cy="316992"/>
            </a:xfrm>
            <a:custGeom>
              <a:avLst/>
              <a:gdLst/>
              <a:ahLst/>
              <a:cxnLst/>
              <a:rect r="r" b="b" t="t" l="l"/>
              <a:pathLst>
                <a:path h="316992" w="5447400">
                  <a:moveTo>
                    <a:pt x="0" y="0"/>
                  </a:moveTo>
                  <a:lnTo>
                    <a:pt x="5447400" y="0"/>
                  </a:lnTo>
                  <a:lnTo>
                    <a:pt x="544740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FFF3D8"/>
            </a:solidFill>
          </p:spPr>
        </p:sp>
      </p:grpSp>
      <p:grpSp>
        <p:nvGrpSpPr>
          <p:cNvPr name="Group 195" id="195"/>
          <p:cNvGrpSpPr/>
          <p:nvPr/>
        </p:nvGrpSpPr>
        <p:grpSpPr>
          <a:xfrm rot="0">
            <a:off x="3275528" y="4513819"/>
            <a:ext cx="126152" cy="169164"/>
            <a:chOff x="0" y="0"/>
            <a:chExt cx="168203" cy="225552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3310852" y="4561187"/>
            <a:ext cx="55504" cy="74428"/>
            <a:chOff x="0" y="0"/>
            <a:chExt cx="74006" cy="99238"/>
          </a:xfrm>
        </p:grpSpPr>
        <p:sp>
          <p:nvSpPr>
            <p:cNvPr name="Freeform 198" id="198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3711946" y="4513819"/>
            <a:ext cx="126152" cy="169164"/>
            <a:chOff x="0" y="0"/>
            <a:chExt cx="168203" cy="225552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3747270" y="4561187"/>
            <a:ext cx="55504" cy="74428"/>
            <a:chOff x="0" y="0"/>
            <a:chExt cx="74006" cy="99238"/>
          </a:xfrm>
        </p:grpSpPr>
        <p:sp>
          <p:nvSpPr>
            <p:cNvPr name="Freeform 202" id="202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4148365" y="4513819"/>
            <a:ext cx="126152" cy="169164"/>
            <a:chOff x="0" y="0"/>
            <a:chExt cx="168203" cy="225552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05" id="205"/>
          <p:cNvGrpSpPr/>
          <p:nvPr/>
        </p:nvGrpSpPr>
        <p:grpSpPr>
          <a:xfrm rot="0">
            <a:off x="4183689" y="4561187"/>
            <a:ext cx="55504" cy="74428"/>
            <a:chOff x="0" y="0"/>
            <a:chExt cx="74006" cy="99238"/>
          </a:xfrm>
        </p:grpSpPr>
        <p:sp>
          <p:nvSpPr>
            <p:cNvPr name="Freeform 206" id="206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07" id="207"/>
          <p:cNvGrpSpPr/>
          <p:nvPr/>
        </p:nvGrpSpPr>
        <p:grpSpPr>
          <a:xfrm rot="0">
            <a:off x="4584783" y="4513819"/>
            <a:ext cx="126152" cy="169164"/>
            <a:chOff x="0" y="0"/>
            <a:chExt cx="168203" cy="225552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4620107" y="4561187"/>
            <a:ext cx="55504" cy="74428"/>
            <a:chOff x="0" y="0"/>
            <a:chExt cx="74006" cy="99238"/>
          </a:xfrm>
        </p:grpSpPr>
        <p:sp>
          <p:nvSpPr>
            <p:cNvPr name="Freeform 210" id="210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11" id="211"/>
          <p:cNvGrpSpPr/>
          <p:nvPr/>
        </p:nvGrpSpPr>
        <p:grpSpPr>
          <a:xfrm rot="0">
            <a:off x="3275528" y="4753392"/>
            <a:ext cx="126152" cy="169164"/>
            <a:chOff x="0" y="0"/>
            <a:chExt cx="168203" cy="225552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13" id="213"/>
          <p:cNvGrpSpPr/>
          <p:nvPr/>
        </p:nvGrpSpPr>
        <p:grpSpPr>
          <a:xfrm rot="0">
            <a:off x="3310852" y="4800760"/>
            <a:ext cx="55504" cy="74428"/>
            <a:chOff x="0" y="0"/>
            <a:chExt cx="74006" cy="99238"/>
          </a:xfrm>
        </p:grpSpPr>
        <p:sp>
          <p:nvSpPr>
            <p:cNvPr name="Freeform 214" id="214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3711946" y="4753392"/>
            <a:ext cx="126152" cy="169164"/>
            <a:chOff x="0" y="0"/>
            <a:chExt cx="168203" cy="225552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17" id="217"/>
          <p:cNvGrpSpPr/>
          <p:nvPr/>
        </p:nvGrpSpPr>
        <p:grpSpPr>
          <a:xfrm rot="0">
            <a:off x="3747270" y="4800760"/>
            <a:ext cx="55504" cy="74428"/>
            <a:chOff x="0" y="0"/>
            <a:chExt cx="74006" cy="99238"/>
          </a:xfrm>
        </p:grpSpPr>
        <p:sp>
          <p:nvSpPr>
            <p:cNvPr name="Freeform 218" id="218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19" id="219"/>
          <p:cNvGrpSpPr/>
          <p:nvPr/>
        </p:nvGrpSpPr>
        <p:grpSpPr>
          <a:xfrm rot="0">
            <a:off x="4148365" y="4753392"/>
            <a:ext cx="126152" cy="169164"/>
            <a:chOff x="0" y="0"/>
            <a:chExt cx="168203" cy="225552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4183689" y="4800760"/>
            <a:ext cx="55504" cy="74428"/>
            <a:chOff x="0" y="0"/>
            <a:chExt cx="74006" cy="99238"/>
          </a:xfrm>
        </p:grpSpPr>
        <p:sp>
          <p:nvSpPr>
            <p:cNvPr name="Freeform 222" id="222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4584783" y="4753392"/>
            <a:ext cx="126152" cy="169164"/>
            <a:chOff x="0" y="0"/>
            <a:chExt cx="168203" cy="225552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E0960F"/>
            </a:solid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4620107" y="4800760"/>
            <a:ext cx="55504" cy="74428"/>
            <a:chOff x="0" y="0"/>
            <a:chExt cx="74006" cy="99238"/>
          </a:xfrm>
        </p:grpSpPr>
        <p:sp>
          <p:nvSpPr>
            <p:cNvPr name="Freeform 226" id="226" descr="minu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047" t="0" r="-17116" b="-51"/>
              </a:stretch>
            </a:blip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704750" y="4956389"/>
            <a:ext cx="4085550" cy="237744"/>
            <a:chOff x="0" y="0"/>
            <a:chExt cx="5447399" cy="316992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5447400" cy="316992"/>
            </a:xfrm>
            <a:custGeom>
              <a:avLst/>
              <a:gdLst/>
              <a:ahLst/>
              <a:cxnLst/>
              <a:rect r="r" b="b" t="t" l="l"/>
              <a:pathLst>
                <a:path h="316992" w="5447400">
                  <a:moveTo>
                    <a:pt x="0" y="0"/>
                  </a:moveTo>
                  <a:lnTo>
                    <a:pt x="5447400" y="0"/>
                  </a:lnTo>
                  <a:lnTo>
                    <a:pt x="544740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FFF3D8"/>
            </a:solidFill>
          </p:spPr>
        </p:sp>
      </p:grpSp>
      <p:grpSp>
        <p:nvGrpSpPr>
          <p:cNvPr name="Group 229" id="229"/>
          <p:cNvGrpSpPr/>
          <p:nvPr/>
        </p:nvGrpSpPr>
        <p:grpSpPr>
          <a:xfrm rot="0">
            <a:off x="3275528" y="4992965"/>
            <a:ext cx="126152" cy="169164"/>
            <a:chOff x="0" y="0"/>
            <a:chExt cx="168203" cy="225552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3310852" y="5040333"/>
            <a:ext cx="55504" cy="74428"/>
            <a:chOff x="0" y="0"/>
            <a:chExt cx="74006" cy="99238"/>
          </a:xfrm>
        </p:grpSpPr>
        <p:sp>
          <p:nvSpPr>
            <p:cNvPr name="Freeform 232" id="232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3711946" y="4992965"/>
            <a:ext cx="126152" cy="169164"/>
            <a:chOff x="0" y="0"/>
            <a:chExt cx="168203" cy="225552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E0960F"/>
            </a:solidFill>
          </p:spPr>
        </p:sp>
      </p:grpSp>
      <p:grpSp>
        <p:nvGrpSpPr>
          <p:cNvPr name="Group 235" id="235"/>
          <p:cNvGrpSpPr/>
          <p:nvPr/>
        </p:nvGrpSpPr>
        <p:grpSpPr>
          <a:xfrm rot="0">
            <a:off x="3747270" y="5040333"/>
            <a:ext cx="55504" cy="74428"/>
            <a:chOff x="0" y="0"/>
            <a:chExt cx="74006" cy="99238"/>
          </a:xfrm>
        </p:grpSpPr>
        <p:sp>
          <p:nvSpPr>
            <p:cNvPr name="Freeform 236" id="236" descr="minu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047" t="0" r="-17116" b="-51"/>
              </a:stretch>
            </a:blipFill>
          </p:spPr>
        </p:sp>
      </p:grpSp>
      <p:grpSp>
        <p:nvGrpSpPr>
          <p:cNvPr name="Group 237" id="237"/>
          <p:cNvGrpSpPr/>
          <p:nvPr/>
        </p:nvGrpSpPr>
        <p:grpSpPr>
          <a:xfrm rot="0">
            <a:off x="4148365" y="4992965"/>
            <a:ext cx="126152" cy="169164"/>
            <a:chOff x="0" y="0"/>
            <a:chExt cx="168203" cy="225552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39" id="239"/>
          <p:cNvGrpSpPr/>
          <p:nvPr/>
        </p:nvGrpSpPr>
        <p:grpSpPr>
          <a:xfrm rot="0">
            <a:off x="4183689" y="5040333"/>
            <a:ext cx="55504" cy="74428"/>
            <a:chOff x="0" y="0"/>
            <a:chExt cx="74006" cy="99238"/>
          </a:xfrm>
        </p:grpSpPr>
        <p:sp>
          <p:nvSpPr>
            <p:cNvPr name="Freeform 240" id="240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41" id="241"/>
          <p:cNvGrpSpPr/>
          <p:nvPr/>
        </p:nvGrpSpPr>
        <p:grpSpPr>
          <a:xfrm rot="0">
            <a:off x="4584783" y="4992965"/>
            <a:ext cx="126152" cy="169164"/>
            <a:chOff x="0" y="0"/>
            <a:chExt cx="168203" cy="225552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43" id="243"/>
          <p:cNvGrpSpPr/>
          <p:nvPr/>
        </p:nvGrpSpPr>
        <p:grpSpPr>
          <a:xfrm rot="0">
            <a:off x="4620107" y="5040333"/>
            <a:ext cx="55504" cy="74428"/>
            <a:chOff x="0" y="0"/>
            <a:chExt cx="74006" cy="99238"/>
          </a:xfrm>
        </p:grpSpPr>
        <p:sp>
          <p:nvSpPr>
            <p:cNvPr name="Freeform 244" id="244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45" id="245"/>
          <p:cNvGrpSpPr/>
          <p:nvPr/>
        </p:nvGrpSpPr>
        <p:grpSpPr>
          <a:xfrm rot="0">
            <a:off x="3275528" y="5232538"/>
            <a:ext cx="126152" cy="169164"/>
            <a:chOff x="0" y="0"/>
            <a:chExt cx="168203" cy="225552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3310852" y="5279905"/>
            <a:ext cx="55504" cy="74428"/>
            <a:chOff x="0" y="0"/>
            <a:chExt cx="74006" cy="99238"/>
          </a:xfrm>
        </p:grpSpPr>
        <p:sp>
          <p:nvSpPr>
            <p:cNvPr name="Freeform 248" id="248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3711946" y="5232538"/>
            <a:ext cx="126152" cy="169164"/>
            <a:chOff x="0" y="0"/>
            <a:chExt cx="168203" cy="225552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51" id="251"/>
          <p:cNvGrpSpPr/>
          <p:nvPr/>
        </p:nvGrpSpPr>
        <p:grpSpPr>
          <a:xfrm rot="0">
            <a:off x="3747270" y="5279905"/>
            <a:ext cx="55504" cy="74428"/>
            <a:chOff x="0" y="0"/>
            <a:chExt cx="74006" cy="99238"/>
          </a:xfrm>
        </p:grpSpPr>
        <p:sp>
          <p:nvSpPr>
            <p:cNvPr name="Freeform 252" id="252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53" id="253"/>
          <p:cNvGrpSpPr/>
          <p:nvPr/>
        </p:nvGrpSpPr>
        <p:grpSpPr>
          <a:xfrm rot="0">
            <a:off x="4148365" y="5232538"/>
            <a:ext cx="126152" cy="169164"/>
            <a:chOff x="0" y="0"/>
            <a:chExt cx="168203" cy="225552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55" id="255"/>
          <p:cNvGrpSpPr/>
          <p:nvPr/>
        </p:nvGrpSpPr>
        <p:grpSpPr>
          <a:xfrm rot="0">
            <a:off x="4183689" y="5279905"/>
            <a:ext cx="55504" cy="74428"/>
            <a:chOff x="0" y="0"/>
            <a:chExt cx="74006" cy="99238"/>
          </a:xfrm>
        </p:grpSpPr>
        <p:sp>
          <p:nvSpPr>
            <p:cNvPr name="Freeform 256" id="256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4584783" y="5232538"/>
            <a:ext cx="126152" cy="169164"/>
            <a:chOff x="0" y="0"/>
            <a:chExt cx="168203" cy="225552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E0960F"/>
            </a:solid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4620107" y="5279905"/>
            <a:ext cx="55504" cy="74428"/>
            <a:chOff x="0" y="0"/>
            <a:chExt cx="74006" cy="99238"/>
          </a:xfrm>
        </p:grpSpPr>
        <p:sp>
          <p:nvSpPr>
            <p:cNvPr name="Freeform 260" id="260" descr="minu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047" t="0" r="-17116" b="-51"/>
              </a:stretch>
            </a:blipFill>
          </p:spPr>
        </p:sp>
      </p:grpSp>
      <p:grpSp>
        <p:nvGrpSpPr>
          <p:cNvPr name="Group 261" id="261"/>
          <p:cNvGrpSpPr/>
          <p:nvPr/>
        </p:nvGrpSpPr>
        <p:grpSpPr>
          <a:xfrm rot="0">
            <a:off x="704750" y="5435534"/>
            <a:ext cx="4085550" cy="237744"/>
            <a:chOff x="0" y="0"/>
            <a:chExt cx="5447399" cy="316992"/>
          </a:xfrm>
        </p:grpSpPr>
        <p:sp>
          <p:nvSpPr>
            <p:cNvPr name="Freeform 262" id="262"/>
            <p:cNvSpPr/>
            <p:nvPr/>
          </p:nvSpPr>
          <p:spPr>
            <a:xfrm flipH="false" flipV="false" rot="0">
              <a:off x="0" y="0"/>
              <a:ext cx="5447400" cy="316992"/>
            </a:xfrm>
            <a:custGeom>
              <a:avLst/>
              <a:gdLst/>
              <a:ahLst/>
              <a:cxnLst/>
              <a:rect r="r" b="b" t="t" l="l"/>
              <a:pathLst>
                <a:path h="316992" w="5447400">
                  <a:moveTo>
                    <a:pt x="0" y="0"/>
                  </a:moveTo>
                  <a:lnTo>
                    <a:pt x="5447400" y="0"/>
                  </a:lnTo>
                  <a:lnTo>
                    <a:pt x="544740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FFF3D8"/>
            </a:solidFill>
          </p:spPr>
        </p:sp>
      </p:grpSp>
      <p:grpSp>
        <p:nvGrpSpPr>
          <p:cNvPr name="Group 263" id="263"/>
          <p:cNvGrpSpPr/>
          <p:nvPr/>
        </p:nvGrpSpPr>
        <p:grpSpPr>
          <a:xfrm rot="0">
            <a:off x="3275528" y="5472110"/>
            <a:ext cx="126152" cy="169164"/>
            <a:chOff x="0" y="0"/>
            <a:chExt cx="168203" cy="225552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65" id="265"/>
          <p:cNvGrpSpPr/>
          <p:nvPr/>
        </p:nvGrpSpPr>
        <p:grpSpPr>
          <a:xfrm rot="0">
            <a:off x="3310852" y="5519478"/>
            <a:ext cx="55504" cy="74428"/>
            <a:chOff x="0" y="0"/>
            <a:chExt cx="74006" cy="99238"/>
          </a:xfrm>
        </p:grpSpPr>
        <p:sp>
          <p:nvSpPr>
            <p:cNvPr name="Freeform 266" id="266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67" id="267"/>
          <p:cNvGrpSpPr/>
          <p:nvPr/>
        </p:nvGrpSpPr>
        <p:grpSpPr>
          <a:xfrm rot="0">
            <a:off x="3711946" y="5472110"/>
            <a:ext cx="126152" cy="169164"/>
            <a:chOff x="0" y="0"/>
            <a:chExt cx="168203" cy="225552"/>
          </a:xfrm>
        </p:grpSpPr>
        <p:sp>
          <p:nvSpPr>
            <p:cNvPr name="Freeform 268" id="268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69" id="269"/>
          <p:cNvGrpSpPr/>
          <p:nvPr/>
        </p:nvGrpSpPr>
        <p:grpSpPr>
          <a:xfrm rot="0">
            <a:off x="3747270" y="5519478"/>
            <a:ext cx="55504" cy="74428"/>
            <a:chOff x="0" y="0"/>
            <a:chExt cx="74006" cy="99238"/>
          </a:xfrm>
        </p:grpSpPr>
        <p:sp>
          <p:nvSpPr>
            <p:cNvPr name="Freeform 270" id="270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71" id="271"/>
          <p:cNvGrpSpPr/>
          <p:nvPr/>
        </p:nvGrpSpPr>
        <p:grpSpPr>
          <a:xfrm rot="0">
            <a:off x="4148365" y="5472110"/>
            <a:ext cx="126152" cy="169164"/>
            <a:chOff x="0" y="0"/>
            <a:chExt cx="168203" cy="225552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E0960F"/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4183689" y="5519478"/>
            <a:ext cx="55504" cy="74428"/>
            <a:chOff x="0" y="0"/>
            <a:chExt cx="74006" cy="99238"/>
          </a:xfrm>
        </p:grpSpPr>
        <p:sp>
          <p:nvSpPr>
            <p:cNvPr name="Freeform 274" id="274" descr="minu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047" t="0" r="-17116" b="-51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4584783" y="5472110"/>
            <a:ext cx="126152" cy="169164"/>
            <a:chOff x="0" y="0"/>
            <a:chExt cx="168203" cy="225552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77" id="277"/>
          <p:cNvGrpSpPr/>
          <p:nvPr/>
        </p:nvGrpSpPr>
        <p:grpSpPr>
          <a:xfrm rot="0">
            <a:off x="4620107" y="5519478"/>
            <a:ext cx="55504" cy="74428"/>
            <a:chOff x="0" y="0"/>
            <a:chExt cx="74006" cy="99238"/>
          </a:xfrm>
        </p:grpSpPr>
        <p:sp>
          <p:nvSpPr>
            <p:cNvPr name="Freeform 278" id="278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79" id="279"/>
          <p:cNvGrpSpPr/>
          <p:nvPr/>
        </p:nvGrpSpPr>
        <p:grpSpPr>
          <a:xfrm rot="0">
            <a:off x="3275528" y="5711683"/>
            <a:ext cx="126152" cy="169164"/>
            <a:chOff x="0" y="0"/>
            <a:chExt cx="168203" cy="225552"/>
          </a:xfrm>
        </p:grpSpPr>
        <p:sp>
          <p:nvSpPr>
            <p:cNvPr name="Freeform 280" id="280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81" id="281"/>
          <p:cNvGrpSpPr/>
          <p:nvPr/>
        </p:nvGrpSpPr>
        <p:grpSpPr>
          <a:xfrm rot="0">
            <a:off x="3310852" y="5759051"/>
            <a:ext cx="55504" cy="74428"/>
            <a:chOff x="0" y="0"/>
            <a:chExt cx="74006" cy="99238"/>
          </a:xfrm>
        </p:grpSpPr>
        <p:sp>
          <p:nvSpPr>
            <p:cNvPr name="Freeform 282" id="282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3711946" y="5711683"/>
            <a:ext cx="126152" cy="169164"/>
            <a:chOff x="0" y="0"/>
            <a:chExt cx="168203" cy="225552"/>
          </a:xfrm>
        </p:grpSpPr>
        <p:sp>
          <p:nvSpPr>
            <p:cNvPr name="Freeform 284" id="284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E0960F"/>
            </a:solid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3747270" y="5759051"/>
            <a:ext cx="55504" cy="74428"/>
            <a:chOff x="0" y="0"/>
            <a:chExt cx="74006" cy="99238"/>
          </a:xfrm>
        </p:grpSpPr>
        <p:sp>
          <p:nvSpPr>
            <p:cNvPr name="Freeform 286" id="286" descr="minu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047" t="0" r="-17116" b="-51"/>
              </a:stretch>
            </a:blipFill>
          </p:spPr>
        </p:sp>
      </p:grpSp>
      <p:grpSp>
        <p:nvGrpSpPr>
          <p:cNvPr name="Group 287" id="287"/>
          <p:cNvGrpSpPr/>
          <p:nvPr/>
        </p:nvGrpSpPr>
        <p:grpSpPr>
          <a:xfrm rot="0">
            <a:off x="4148365" y="5711683"/>
            <a:ext cx="126152" cy="169164"/>
            <a:chOff x="0" y="0"/>
            <a:chExt cx="168203" cy="225552"/>
          </a:xfrm>
        </p:grpSpPr>
        <p:sp>
          <p:nvSpPr>
            <p:cNvPr name="Freeform 288" id="288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89" id="289"/>
          <p:cNvGrpSpPr/>
          <p:nvPr/>
        </p:nvGrpSpPr>
        <p:grpSpPr>
          <a:xfrm rot="0">
            <a:off x="4183689" y="5759051"/>
            <a:ext cx="55504" cy="74428"/>
            <a:chOff x="0" y="0"/>
            <a:chExt cx="74006" cy="99238"/>
          </a:xfrm>
        </p:grpSpPr>
        <p:sp>
          <p:nvSpPr>
            <p:cNvPr name="Freeform 290" id="290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291" id="291"/>
          <p:cNvGrpSpPr/>
          <p:nvPr/>
        </p:nvGrpSpPr>
        <p:grpSpPr>
          <a:xfrm rot="0">
            <a:off x="4584783" y="5711683"/>
            <a:ext cx="126152" cy="169164"/>
            <a:chOff x="0" y="0"/>
            <a:chExt cx="168203" cy="225552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E0960F"/>
            </a:solidFill>
          </p:spPr>
        </p:sp>
      </p:grpSp>
      <p:grpSp>
        <p:nvGrpSpPr>
          <p:cNvPr name="Group 293" id="293"/>
          <p:cNvGrpSpPr/>
          <p:nvPr/>
        </p:nvGrpSpPr>
        <p:grpSpPr>
          <a:xfrm rot="0">
            <a:off x="4620107" y="5759051"/>
            <a:ext cx="55504" cy="74428"/>
            <a:chOff x="0" y="0"/>
            <a:chExt cx="74006" cy="99238"/>
          </a:xfrm>
        </p:grpSpPr>
        <p:sp>
          <p:nvSpPr>
            <p:cNvPr name="Freeform 294" id="294" descr="minu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047" t="0" r="-17116" b="-51"/>
              </a:stretch>
            </a:blipFill>
          </p:spPr>
        </p:sp>
      </p:grpSp>
      <p:grpSp>
        <p:nvGrpSpPr>
          <p:cNvPr name="Group 295" id="295"/>
          <p:cNvGrpSpPr/>
          <p:nvPr/>
        </p:nvGrpSpPr>
        <p:grpSpPr>
          <a:xfrm rot="0">
            <a:off x="704750" y="5914680"/>
            <a:ext cx="4085550" cy="237744"/>
            <a:chOff x="0" y="0"/>
            <a:chExt cx="5447399" cy="316992"/>
          </a:xfrm>
        </p:grpSpPr>
        <p:sp>
          <p:nvSpPr>
            <p:cNvPr name="Freeform 296" id="296"/>
            <p:cNvSpPr/>
            <p:nvPr/>
          </p:nvSpPr>
          <p:spPr>
            <a:xfrm flipH="false" flipV="false" rot="0">
              <a:off x="0" y="0"/>
              <a:ext cx="5447400" cy="316992"/>
            </a:xfrm>
            <a:custGeom>
              <a:avLst/>
              <a:gdLst/>
              <a:ahLst/>
              <a:cxnLst/>
              <a:rect r="r" b="b" t="t" l="l"/>
              <a:pathLst>
                <a:path h="316992" w="5447400">
                  <a:moveTo>
                    <a:pt x="0" y="0"/>
                  </a:moveTo>
                  <a:lnTo>
                    <a:pt x="5447400" y="0"/>
                  </a:lnTo>
                  <a:lnTo>
                    <a:pt x="544740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FFF3D8"/>
            </a:solidFill>
          </p:spPr>
        </p:sp>
      </p:grpSp>
      <p:grpSp>
        <p:nvGrpSpPr>
          <p:cNvPr name="Group 297" id="297"/>
          <p:cNvGrpSpPr/>
          <p:nvPr/>
        </p:nvGrpSpPr>
        <p:grpSpPr>
          <a:xfrm rot="0">
            <a:off x="3275528" y="5951256"/>
            <a:ext cx="126152" cy="169164"/>
            <a:chOff x="0" y="0"/>
            <a:chExt cx="168203" cy="225552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3310852" y="5998624"/>
            <a:ext cx="55504" cy="74428"/>
            <a:chOff x="0" y="0"/>
            <a:chExt cx="74006" cy="99238"/>
          </a:xfrm>
        </p:grpSpPr>
        <p:sp>
          <p:nvSpPr>
            <p:cNvPr name="Freeform 300" id="300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3711946" y="5951256"/>
            <a:ext cx="126152" cy="169164"/>
            <a:chOff x="0" y="0"/>
            <a:chExt cx="168203" cy="225552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3747270" y="5998624"/>
            <a:ext cx="55504" cy="74428"/>
            <a:chOff x="0" y="0"/>
            <a:chExt cx="74006" cy="99238"/>
          </a:xfrm>
        </p:grpSpPr>
        <p:sp>
          <p:nvSpPr>
            <p:cNvPr name="Freeform 304" id="304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4148365" y="5951256"/>
            <a:ext cx="126152" cy="169164"/>
            <a:chOff x="0" y="0"/>
            <a:chExt cx="168203" cy="225552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E0960F"/>
            </a:solidFill>
          </p:spPr>
        </p:sp>
      </p:grpSp>
      <p:grpSp>
        <p:nvGrpSpPr>
          <p:cNvPr name="Group 307" id="307"/>
          <p:cNvGrpSpPr/>
          <p:nvPr/>
        </p:nvGrpSpPr>
        <p:grpSpPr>
          <a:xfrm rot="0">
            <a:off x="4183689" y="5998624"/>
            <a:ext cx="55504" cy="74428"/>
            <a:chOff x="0" y="0"/>
            <a:chExt cx="74006" cy="99238"/>
          </a:xfrm>
        </p:grpSpPr>
        <p:sp>
          <p:nvSpPr>
            <p:cNvPr name="Freeform 308" id="308" descr="minu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047" t="0" r="-17116" b="-51"/>
              </a:stretch>
            </a:blipFill>
          </p:spPr>
        </p:sp>
      </p:grpSp>
      <p:grpSp>
        <p:nvGrpSpPr>
          <p:cNvPr name="Group 309" id="309"/>
          <p:cNvGrpSpPr/>
          <p:nvPr/>
        </p:nvGrpSpPr>
        <p:grpSpPr>
          <a:xfrm rot="0">
            <a:off x="4584783" y="5951256"/>
            <a:ext cx="126152" cy="169164"/>
            <a:chOff x="0" y="0"/>
            <a:chExt cx="168203" cy="225552"/>
          </a:xfrm>
        </p:grpSpPr>
        <p:sp>
          <p:nvSpPr>
            <p:cNvPr name="Freeform 310" id="310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311" id="311"/>
          <p:cNvGrpSpPr/>
          <p:nvPr/>
        </p:nvGrpSpPr>
        <p:grpSpPr>
          <a:xfrm rot="0">
            <a:off x="4620107" y="5998624"/>
            <a:ext cx="55504" cy="74428"/>
            <a:chOff x="0" y="0"/>
            <a:chExt cx="74006" cy="99238"/>
          </a:xfrm>
        </p:grpSpPr>
        <p:sp>
          <p:nvSpPr>
            <p:cNvPr name="Freeform 312" id="312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313" id="313"/>
          <p:cNvGrpSpPr/>
          <p:nvPr/>
        </p:nvGrpSpPr>
        <p:grpSpPr>
          <a:xfrm rot="0">
            <a:off x="3275528" y="6190829"/>
            <a:ext cx="126152" cy="169164"/>
            <a:chOff x="0" y="0"/>
            <a:chExt cx="168203" cy="225552"/>
          </a:xfrm>
        </p:grpSpPr>
        <p:sp>
          <p:nvSpPr>
            <p:cNvPr name="Freeform 314" id="314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315" id="315"/>
          <p:cNvGrpSpPr/>
          <p:nvPr/>
        </p:nvGrpSpPr>
        <p:grpSpPr>
          <a:xfrm rot="0">
            <a:off x="3310852" y="6238197"/>
            <a:ext cx="55504" cy="74428"/>
            <a:chOff x="0" y="0"/>
            <a:chExt cx="74006" cy="99238"/>
          </a:xfrm>
        </p:grpSpPr>
        <p:sp>
          <p:nvSpPr>
            <p:cNvPr name="Freeform 316" id="316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317" id="317"/>
          <p:cNvGrpSpPr/>
          <p:nvPr/>
        </p:nvGrpSpPr>
        <p:grpSpPr>
          <a:xfrm rot="0">
            <a:off x="3711946" y="6190829"/>
            <a:ext cx="126152" cy="169164"/>
            <a:chOff x="0" y="0"/>
            <a:chExt cx="168203" cy="225552"/>
          </a:xfrm>
        </p:grpSpPr>
        <p:sp>
          <p:nvSpPr>
            <p:cNvPr name="Freeform 318" id="318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C62828"/>
            </a:solidFill>
          </p:spPr>
        </p:sp>
      </p:grpSp>
      <p:grpSp>
        <p:nvGrpSpPr>
          <p:cNvPr name="Group 319" id="319"/>
          <p:cNvGrpSpPr/>
          <p:nvPr/>
        </p:nvGrpSpPr>
        <p:grpSpPr>
          <a:xfrm rot="0">
            <a:off x="3747270" y="6238197"/>
            <a:ext cx="55504" cy="74428"/>
            <a:chOff x="0" y="0"/>
            <a:chExt cx="74006" cy="99238"/>
          </a:xfrm>
        </p:grpSpPr>
        <p:sp>
          <p:nvSpPr>
            <p:cNvPr name="Freeform 320" id="320" descr="time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7047" t="0" r="-17116" b="-51"/>
              </a:stretch>
            </a:blipFill>
          </p:spPr>
        </p:sp>
      </p:grpSp>
      <p:grpSp>
        <p:nvGrpSpPr>
          <p:cNvPr name="Group 321" id="321"/>
          <p:cNvGrpSpPr/>
          <p:nvPr/>
        </p:nvGrpSpPr>
        <p:grpSpPr>
          <a:xfrm rot="0">
            <a:off x="4148365" y="6190829"/>
            <a:ext cx="126152" cy="169164"/>
            <a:chOff x="0" y="0"/>
            <a:chExt cx="168203" cy="225552"/>
          </a:xfrm>
        </p:grpSpPr>
        <p:sp>
          <p:nvSpPr>
            <p:cNvPr name="Freeform 322" id="322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323" id="323"/>
          <p:cNvGrpSpPr/>
          <p:nvPr/>
        </p:nvGrpSpPr>
        <p:grpSpPr>
          <a:xfrm rot="0">
            <a:off x="4183689" y="6238197"/>
            <a:ext cx="55504" cy="74428"/>
            <a:chOff x="0" y="0"/>
            <a:chExt cx="74006" cy="99238"/>
          </a:xfrm>
        </p:grpSpPr>
        <p:sp>
          <p:nvSpPr>
            <p:cNvPr name="Freeform 324" id="324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325" id="325"/>
          <p:cNvGrpSpPr/>
          <p:nvPr/>
        </p:nvGrpSpPr>
        <p:grpSpPr>
          <a:xfrm rot="0">
            <a:off x="4584783" y="6190829"/>
            <a:ext cx="126152" cy="169164"/>
            <a:chOff x="0" y="0"/>
            <a:chExt cx="168203" cy="225552"/>
          </a:xfrm>
        </p:grpSpPr>
        <p:sp>
          <p:nvSpPr>
            <p:cNvPr name="Freeform 326" id="326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E0960F"/>
            </a:solidFill>
          </p:spPr>
        </p:sp>
      </p:grpSp>
      <p:grpSp>
        <p:nvGrpSpPr>
          <p:cNvPr name="Group 327" id="327"/>
          <p:cNvGrpSpPr/>
          <p:nvPr/>
        </p:nvGrpSpPr>
        <p:grpSpPr>
          <a:xfrm rot="0">
            <a:off x="4620107" y="6238197"/>
            <a:ext cx="55504" cy="74428"/>
            <a:chOff x="0" y="0"/>
            <a:chExt cx="74006" cy="99238"/>
          </a:xfrm>
        </p:grpSpPr>
        <p:sp>
          <p:nvSpPr>
            <p:cNvPr name="Freeform 328" id="328" descr="minu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047" t="0" r="-17116" b="-51"/>
              </a:stretch>
            </a:blipFill>
          </p:spPr>
        </p:sp>
      </p:grpSp>
      <p:grpSp>
        <p:nvGrpSpPr>
          <p:cNvPr name="Group 329" id="329"/>
          <p:cNvGrpSpPr/>
          <p:nvPr/>
        </p:nvGrpSpPr>
        <p:grpSpPr>
          <a:xfrm rot="0">
            <a:off x="704750" y="6393826"/>
            <a:ext cx="4085550" cy="237744"/>
            <a:chOff x="0" y="0"/>
            <a:chExt cx="5447399" cy="316992"/>
          </a:xfrm>
        </p:grpSpPr>
        <p:sp>
          <p:nvSpPr>
            <p:cNvPr name="Freeform 330" id="330"/>
            <p:cNvSpPr/>
            <p:nvPr/>
          </p:nvSpPr>
          <p:spPr>
            <a:xfrm flipH="false" flipV="false" rot="0">
              <a:off x="0" y="0"/>
              <a:ext cx="5447400" cy="316992"/>
            </a:xfrm>
            <a:custGeom>
              <a:avLst/>
              <a:gdLst/>
              <a:ahLst/>
              <a:cxnLst/>
              <a:rect r="r" b="b" t="t" l="l"/>
              <a:pathLst>
                <a:path h="316992" w="5447400">
                  <a:moveTo>
                    <a:pt x="0" y="0"/>
                  </a:moveTo>
                  <a:lnTo>
                    <a:pt x="5447400" y="0"/>
                  </a:lnTo>
                  <a:lnTo>
                    <a:pt x="544740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FFF3D8"/>
            </a:solidFill>
          </p:spPr>
        </p:sp>
      </p:grpSp>
      <p:grpSp>
        <p:nvGrpSpPr>
          <p:cNvPr name="Group 331" id="331"/>
          <p:cNvGrpSpPr/>
          <p:nvPr/>
        </p:nvGrpSpPr>
        <p:grpSpPr>
          <a:xfrm rot="0">
            <a:off x="3275528" y="6430402"/>
            <a:ext cx="126152" cy="169164"/>
            <a:chOff x="0" y="0"/>
            <a:chExt cx="168203" cy="225552"/>
          </a:xfrm>
        </p:grpSpPr>
        <p:sp>
          <p:nvSpPr>
            <p:cNvPr name="Freeform 332" id="332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E0960F"/>
            </a:solidFill>
          </p:spPr>
        </p:sp>
      </p:grpSp>
      <p:grpSp>
        <p:nvGrpSpPr>
          <p:cNvPr name="Group 333" id="333"/>
          <p:cNvGrpSpPr/>
          <p:nvPr/>
        </p:nvGrpSpPr>
        <p:grpSpPr>
          <a:xfrm rot="0">
            <a:off x="3310852" y="6477769"/>
            <a:ext cx="55504" cy="74428"/>
            <a:chOff x="0" y="0"/>
            <a:chExt cx="74006" cy="99238"/>
          </a:xfrm>
        </p:grpSpPr>
        <p:sp>
          <p:nvSpPr>
            <p:cNvPr name="Freeform 334" id="334" descr="minu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047" t="0" r="-17116" b="-51"/>
              </a:stretch>
            </a:blipFill>
          </p:spPr>
        </p:sp>
      </p:grpSp>
      <p:grpSp>
        <p:nvGrpSpPr>
          <p:cNvPr name="Group 335" id="335"/>
          <p:cNvGrpSpPr/>
          <p:nvPr/>
        </p:nvGrpSpPr>
        <p:grpSpPr>
          <a:xfrm rot="0">
            <a:off x="3711946" y="6430402"/>
            <a:ext cx="126152" cy="169164"/>
            <a:chOff x="0" y="0"/>
            <a:chExt cx="168203" cy="225552"/>
          </a:xfrm>
        </p:grpSpPr>
        <p:sp>
          <p:nvSpPr>
            <p:cNvPr name="Freeform 336" id="336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337" id="337"/>
          <p:cNvGrpSpPr/>
          <p:nvPr/>
        </p:nvGrpSpPr>
        <p:grpSpPr>
          <a:xfrm rot="0">
            <a:off x="3747270" y="6477769"/>
            <a:ext cx="55504" cy="74428"/>
            <a:chOff x="0" y="0"/>
            <a:chExt cx="74006" cy="99238"/>
          </a:xfrm>
        </p:grpSpPr>
        <p:sp>
          <p:nvSpPr>
            <p:cNvPr name="Freeform 338" id="338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339" id="339"/>
          <p:cNvGrpSpPr/>
          <p:nvPr/>
        </p:nvGrpSpPr>
        <p:grpSpPr>
          <a:xfrm rot="0">
            <a:off x="4148365" y="6430402"/>
            <a:ext cx="126152" cy="169164"/>
            <a:chOff x="0" y="0"/>
            <a:chExt cx="168203" cy="225552"/>
          </a:xfrm>
        </p:grpSpPr>
        <p:sp>
          <p:nvSpPr>
            <p:cNvPr name="Freeform 340" id="340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E0960F"/>
            </a:solidFill>
          </p:spPr>
        </p:sp>
      </p:grpSp>
      <p:grpSp>
        <p:nvGrpSpPr>
          <p:cNvPr name="Group 341" id="341"/>
          <p:cNvGrpSpPr/>
          <p:nvPr/>
        </p:nvGrpSpPr>
        <p:grpSpPr>
          <a:xfrm rot="0">
            <a:off x="4183689" y="6477769"/>
            <a:ext cx="55504" cy="74428"/>
            <a:chOff x="0" y="0"/>
            <a:chExt cx="74006" cy="99238"/>
          </a:xfrm>
        </p:grpSpPr>
        <p:sp>
          <p:nvSpPr>
            <p:cNvPr name="Freeform 342" id="342" descr="minu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047" t="0" r="-17116" b="-51"/>
              </a:stretch>
            </a:blipFill>
          </p:spPr>
        </p:sp>
      </p:grpSp>
      <p:grpSp>
        <p:nvGrpSpPr>
          <p:cNvPr name="Group 343" id="343"/>
          <p:cNvGrpSpPr/>
          <p:nvPr/>
        </p:nvGrpSpPr>
        <p:grpSpPr>
          <a:xfrm rot="0">
            <a:off x="4584783" y="6430402"/>
            <a:ext cx="126152" cy="169164"/>
            <a:chOff x="0" y="0"/>
            <a:chExt cx="168203" cy="225552"/>
          </a:xfrm>
        </p:grpSpPr>
        <p:sp>
          <p:nvSpPr>
            <p:cNvPr name="Freeform 344" id="344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345" id="345"/>
          <p:cNvGrpSpPr/>
          <p:nvPr/>
        </p:nvGrpSpPr>
        <p:grpSpPr>
          <a:xfrm rot="0">
            <a:off x="4620107" y="6477769"/>
            <a:ext cx="55504" cy="74428"/>
            <a:chOff x="0" y="0"/>
            <a:chExt cx="74006" cy="99238"/>
          </a:xfrm>
        </p:grpSpPr>
        <p:sp>
          <p:nvSpPr>
            <p:cNvPr name="Freeform 346" id="346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347" id="347"/>
          <p:cNvGrpSpPr/>
          <p:nvPr/>
        </p:nvGrpSpPr>
        <p:grpSpPr>
          <a:xfrm rot="0">
            <a:off x="3275528" y="6669974"/>
            <a:ext cx="126152" cy="169164"/>
            <a:chOff x="0" y="0"/>
            <a:chExt cx="168203" cy="225552"/>
          </a:xfrm>
        </p:grpSpPr>
        <p:sp>
          <p:nvSpPr>
            <p:cNvPr name="Freeform 348" id="348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C62828"/>
            </a:solidFill>
          </p:spPr>
        </p:sp>
      </p:grpSp>
      <p:grpSp>
        <p:nvGrpSpPr>
          <p:cNvPr name="Group 349" id="349"/>
          <p:cNvGrpSpPr/>
          <p:nvPr/>
        </p:nvGrpSpPr>
        <p:grpSpPr>
          <a:xfrm rot="0">
            <a:off x="3310852" y="6717342"/>
            <a:ext cx="55504" cy="74428"/>
            <a:chOff x="0" y="0"/>
            <a:chExt cx="74006" cy="99238"/>
          </a:xfrm>
        </p:grpSpPr>
        <p:sp>
          <p:nvSpPr>
            <p:cNvPr name="Freeform 350" id="350" descr="time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7047" t="0" r="-17116" b="-51"/>
              </a:stretch>
            </a:blipFill>
          </p:spPr>
        </p:sp>
      </p:grpSp>
      <p:grpSp>
        <p:nvGrpSpPr>
          <p:cNvPr name="Group 351" id="351"/>
          <p:cNvGrpSpPr/>
          <p:nvPr/>
        </p:nvGrpSpPr>
        <p:grpSpPr>
          <a:xfrm rot="0">
            <a:off x="3711946" y="6669974"/>
            <a:ext cx="126152" cy="169164"/>
            <a:chOff x="0" y="0"/>
            <a:chExt cx="168203" cy="225552"/>
          </a:xfrm>
        </p:grpSpPr>
        <p:sp>
          <p:nvSpPr>
            <p:cNvPr name="Freeform 352" id="352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353" id="353"/>
          <p:cNvGrpSpPr/>
          <p:nvPr/>
        </p:nvGrpSpPr>
        <p:grpSpPr>
          <a:xfrm rot="0">
            <a:off x="3747270" y="6717342"/>
            <a:ext cx="55504" cy="74428"/>
            <a:chOff x="0" y="0"/>
            <a:chExt cx="74006" cy="99238"/>
          </a:xfrm>
        </p:grpSpPr>
        <p:sp>
          <p:nvSpPr>
            <p:cNvPr name="Freeform 354" id="354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355" id="355"/>
          <p:cNvGrpSpPr/>
          <p:nvPr/>
        </p:nvGrpSpPr>
        <p:grpSpPr>
          <a:xfrm rot="0">
            <a:off x="4148365" y="6669974"/>
            <a:ext cx="126152" cy="169164"/>
            <a:chOff x="0" y="0"/>
            <a:chExt cx="168203" cy="225552"/>
          </a:xfrm>
        </p:grpSpPr>
        <p:sp>
          <p:nvSpPr>
            <p:cNvPr name="Freeform 356" id="356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C62828"/>
            </a:solidFill>
          </p:spPr>
        </p:sp>
      </p:grpSp>
      <p:grpSp>
        <p:nvGrpSpPr>
          <p:cNvPr name="Group 357" id="357"/>
          <p:cNvGrpSpPr/>
          <p:nvPr/>
        </p:nvGrpSpPr>
        <p:grpSpPr>
          <a:xfrm rot="0">
            <a:off x="4183689" y="6717342"/>
            <a:ext cx="55504" cy="74428"/>
            <a:chOff x="0" y="0"/>
            <a:chExt cx="74006" cy="99238"/>
          </a:xfrm>
        </p:grpSpPr>
        <p:sp>
          <p:nvSpPr>
            <p:cNvPr name="Freeform 358" id="358" descr="time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7047" t="0" r="-17116" b="-51"/>
              </a:stretch>
            </a:blipFill>
          </p:spPr>
        </p:sp>
      </p:grpSp>
      <p:grpSp>
        <p:nvGrpSpPr>
          <p:cNvPr name="Group 359" id="359"/>
          <p:cNvGrpSpPr/>
          <p:nvPr/>
        </p:nvGrpSpPr>
        <p:grpSpPr>
          <a:xfrm rot="0">
            <a:off x="4584783" y="6669974"/>
            <a:ext cx="126152" cy="169164"/>
            <a:chOff x="0" y="0"/>
            <a:chExt cx="168203" cy="225552"/>
          </a:xfrm>
        </p:grpSpPr>
        <p:sp>
          <p:nvSpPr>
            <p:cNvPr name="Freeform 360" id="360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361" id="361"/>
          <p:cNvGrpSpPr/>
          <p:nvPr/>
        </p:nvGrpSpPr>
        <p:grpSpPr>
          <a:xfrm rot="0">
            <a:off x="4620107" y="6717342"/>
            <a:ext cx="55504" cy="74428"/>
            <a:chOff x="0" y="0"/>
            <a:chExt cx="74006" cy="99238"/>
          </a:xfrm>
        </p:grpSpPr>
        <p:sp>
          <p:nvSpPr>
            <p:cNvPr name="Freeform 362" id="362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363" id="363"/>
          <p:cNvGrpSpPr/>
          <p:nvPr/>
        </p:nvGrpSpPr>
        <p:grpSpPr>
          <a:xfrm rot="0">
            <a:off x="704750" y="6872971"/>
            <a:ext cx="4085550" cy="237744"/>
            <a:chOff x="0" y="0"/>
            <a:chExt cx="5447399" cy="316992"/>
          </a:xfrm>
        </p:grpSpPr>
        <p:sp>
          <p:nvSpPr>
            <p:cNvPr name="Freeform 364" id="364"/>
            <p:cNvSpPr/>
            <p:nvPr/>
          </p:nvSpPr>
          <p:spPr>
            <a:xfrm flipH="false" flipV="false" rot="0">
              <a:off x="0" y="0"/>
              <a:ext cx="5447400" cy="316992"/>
            </a:xfrm>
            <a:custGeom>
              <a:avLst/>
              <a:gdLst/>
              <a:ahLst/>
              <a:cxnLst/>
              <a:rect r="r" b="b" t="t" l="l"/>
              <a:pathLst>
                <a:path h="316992" w="5447400">
                  <a:moveTo>
                    <a:pt x="0" y="0"/>
                  </a:moveTo>
                  <a:lnTo>
                    <a:pt x="5447400" y="0"/>
                  </a:lnTo>
                  <a:lnTo>
                    <a:pt x="5447400" y="316992"/>
                  </a:lnTo>
                  <a:lnTo>
                    <a:pt x="0" y="316992"/>
                  </a:lnTo>
                  <a:close/>
                </a:path>
              </a:pathLst>
            </a:custGeom>
            <a:solidFill>
              <a:srgbClr val="FFF3D8"/>
            </a:solidFill>
          </p:spPr>
        </p:sp>
      </p:grpSp>
      <p:grpSp>
        <p:nvGrpSpPr>
          <p:cNvPr name="Group 365" id="365"/>
          <p:cNvGrpSpPr/>
          <p:nvPr/>
        </p:nvGrpSpPr>
        <p:grpSpPr>
          <a:xfrm rot="0">
            <a:off x="3275528" y="6909547"/>
            <a:ext cx="126152" cy="169164"/>
            <a:chOff x="0" y="0"/>
            <a:chExt cx="168203" cy="225552"/>
          </a:xfrm>
        </p:grpSpPr>
        <p:sp>
          <p:nvSpPr>
            <p:cNvPr name="Freeform 366" id="366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E0960F"/>
            </a:solidFill>
          </p:spPr>
        </p:sp>
      </p:grpSp>
      <p:grpSp>
        <p:nvGrpSpPr>
          <p:cNvPr name="Group 367" id="367"/>
          <p:cNvGrpSpPr/>
          <p:nvPr/>
        </p:nvGrpSpPr>
        <p:grpSpPr>
          <a:xfrm rot="0">
            <a:off x="3310852" y="6956915"/>
            <a:ext cx="55504" cy="74428"/>
            <a:chOff x="0" y="0"/>
            <a:chExt cx="74006" cy="99238"/>
          </a:xfrm>
        </p:grpSpPr>
        <p:sp>
          <p:nvSpPr>
            <p:cNvPr name="Freeform 368" id="368" descr="minu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047" t="0" r="-17116" b="-51"/>
              </a:stretch>
            </a:blipFill>
          </p:spPr>
        </p:sp>
      </p:grpSp>
      <p:grpSp>
        <p:nvGrpSpPr>
          <p:cNvPr name="Group 369" id="369"/>
          <p:cNvGrpSpPr/>
          <p:nvPr/>
        </p:nvGrpSpPr>
        <p:grpSpPr>
          <a:xfrm rot="0">
            <a:off x="3711946" y="6909547"/>
            <a:ext cx="126152" cy="169164"/>
            <a:chOff x="0" y="0"/>
            <a:chExt cx="168203" cy="225552"/>
          </a:xfrm>
        </p:grpSpPr>
        <p:sp>
          <p:nvSpPr>
            <p:cNvPr name="Freeform 370" id="370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371" id="371"/>
          <p:cNvGrpSpPr/>
          <p:nvPr/>
        </p:nvGrpSpPr>
        <p:grpSpPr>
          <a:xfrm rot="0">
            <a:off x="3747270" y="6956915"/>
            <a:ext cx="55504" cy="74428"/>
            <a:chOff x="0" y="0"/>
            <a:chExt cx="74006" cy="99238"/>
          </a:xfrm>
        </p:grpSpPr>
        <p:sp>
          <p:nvSpPr>
            <p:cNvPr name="Freeform 372" id="372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373" id="373"/>
          <p:cNvGrpSpPr/>
          <p:nvPr/>
        </p:nvGrpSpPr>
        <p:grpSpPr>
          <a:xfrm rot="0">
            <a:off x="4148365" y="6909547"/>
            <a:ext cx="126152" cy="169164"/>
            <a:chOff x="0" y="0"/>
            <a:chExt cx="168203" cy="225552"/>
          </a:xfrm>
        </p:grpSpPr>
        <p:sp>
          <p:nvSpPr>
            <p:cNvPr name="Freeform 374" id="374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C62828"/>
            </a:solidFill>
          </p:spPr>
        </p:sp>
      </p:grpSp>
      <p:grpSp>
        <p:nvGrpSpPr>
          <p:cNvPr name="Group 375" id="375"/>
          <p:cNvGrpSpPr/>
          <p:nvPr/>
        </p:nvGrpSpPr>
        <p:grpSpPr>
          <a:xfrm rot="0">
            <a:off x="4183689" y="6956915"/>
            <a:ext cx="55504" cy="74428"/>
            <a:chOff x="0" y="0"/>
            <a:chExt cx="74006" cy="99238"/>
          </a:xfrm>
        </p:grpSpPr>
        <p:sp>
          <p:nvSpPr>
            <p:cNvPr name="Freeform 376" id="376" descr="time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7047" t="0" r="-17116" b="-51"/>
              </a:stretch>
            </a:blipFill>
          </p:spPr>
        </p:sp>
      </p:grpSp>
      <p:grpSp>
        <p:nvGrpSpPr>
          <p:cNvPr name="Group 377" id="377"/>
          <p:cNvGrpSpPr/>
          <p:nvPr/>
        </p:nvGrpSpPr>
        <p:grpSpPr>
          <a:xfrm rot="0">
            <a:off x="4584783" y="6909547"/>
            <a:ext cx="126152" cy="169164"/>
            <a:chOff x="0" y="0"/>
            <a:chExt cx="168203" cy="225552"/>
          </a:xfrm>
        </p:grpSpPr>
        <p:sp>
          <p:nvSpPr>
            <p:cNvPr name="Freeform 378" id="378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379" id="379"/>
          <p:cNvGrpSpPr/>
          <p:nvPr/>
        </p:nvGrpSpPr>
        <p:grpSpPr>
          <a:xfrm rot="0">
            <a:off x="4620107" y="6956915"/>
            <a:ext cx="55504" cy="74428"/>
            <a:chOff x="0" y="0"/>
            <a:chExt cx="74006" cy="99238"/>
          </a:xfrm>
        </p:grpSpPr>
        <p:sp>
          <p:nvSpPr>
            <p:cNvPr name="Freeform 380" id="380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381" id="381"/>
          <p:cNvGrpSpPr/>
          <p:nvPr/>
        </p:nvGrpSpPr>
        <p:grpSpPr>
          <a:xfrm rot="0">
            <a:off x="3275528" y="7149120"/>
            <a:ext cx="126152" cy="169164"/>
            <a:chOff x="0" y="0"/>
            <a:chExt cx="168203" cy="225552"/>
          </a:xfrm>
        </p:grpSpPr>
        <p:sp>
          <p:nvSpPr>
            <p:cNvPr name="Freeform 382" id="382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C62828"/>
            </a:solidFill>
          </p:spPr>
        </p:sp>
      </p:grpSp>
      <p:grpSp>
        <p:nvGrpSpPr>
          <p:cNvPr name="Group 383" id="383"/>
          <p:cNvGrpSpPr/>
          <p:nvPr/>
        </p:nvGrpSpPr>
        <p:grpSpPr>
          <a:xfrm rot="0">
            <a:off x="3310852" y="7196488"/>
            <a:ext cx="55504" cy="74428"/>
            <a:chOff x="0" y="0"/>
            <a:chExt cx="74006" cy="99238"/>
          </a:xfrm>
        </p:grpSpPr>
        <p:sp>
          <p:nvSpPr>
            <p:cNvPr name="Freeform 384" id="384" descr="time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7047" t="0" r="-17116" b="-51"/>
              </a:stretch>
            </a:blipFill>
          </p:spPr>
        </p:sp>
      </p:grpSp>
      <p:grpSp>
        <p:nvGrpSpPr>
          <p:cNvPr name="Group 385" id="385"/>
          <p:cNvGrpSpPr/>
          <p:nvPr/>
        </p:nvGrpSpPr>
        <p:grpSpPr>
          <a:xfrm rot="0">
            <a:off x="3711946" y="7149120"/>
            <a:ext cx="126152" cy="169164"/>
            <a:chOff x="0" y="0"/>
            <a:chExt cx="168203" cy="225552"/>
          </a:xfrm>
        </p:grpSpPr>
        <p:sp>
          <p:nvSpPr>
            <p:cNvPr name="Freeform 386" id="386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387" id="387"/>
          <p:cNvGrpSpPr/>
          <p:nvPr/>
        </p:nvGrpSpPr>
        <p:grpSpPr>
          <a:xfrm rot="0">
            <a:off x="3747270" y="7196488"/>
            <a:ext cx="55504" cy="74428"/>
            <a:chOff x="0" y="0"/>
            <a:chExt cx="74006" cy="99238"/>
          </a:xfrm>
        </p:grpSpPr>
        <p:sp>
          <p:nvSpPr>
            <p:cNvPr name="Freeform 388" id="388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389" id="389"/>
          <p:cNvGrpSpPr/>
          <p:nvPr/>
        </p:nvGrpSpPr>
        <p:grpSpPr>
          <a:xfrm rot="0">
            <a:off x="4148365" y="7149120"/>
            <a:ext cx="126152" cy="169164"/>
            <a:chOff x="0" y="0"/>
            <a:chExt cx="168203" cy="225552"/>
          </a:xfrm>
        </p:grpSpPr>
        <p:sp>
          <p:nvSpPr>
            <p:cNvPr name="Freeform 390" id="390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E0960F"/>
            </a:solidFill>
          </p:spPr>
        </p:sp>
      </p:grpSp>
      <p:grpSp>
        <p:nvGrpSpPr>
          <p:cNvPr name="Group 391" id="391"/>
          <p:cNvGrpSpPr/>
          <p:nvPr/>
        </p:nvGrpSpPr>
        <p:grpSpPr>
          <a:xfrm rot="0">
            <a:off x="4183689" y="7196488"/>
            <a:ext cx="55504" cy="74428"/>
            <a:chOff x="0" y="0"/>
            <a:chExt cx="74006" cy="99238"/>
          </a:xfrm>
        </p:grpSpPr>
        <p:sp>
          <p:nvSpPr>
            <p:cNvPr name="Freeform 392" id="392" descr="minus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047" t="0" r="-17116" b="-51"/>
              </a:stretch>
            </a:blipFill>
          </p:spPr>
        </p:sp>
      </p:grpSp>
      <p:grpSp>
        <p:nvGrpSpPr>
          <p:cNvPr name="Group 393" id="393"/>
          <p:cNvGrpSpPr/>
          <p:nvPr/>
        </p:nvGrpSpPr>
        <p:grpSpPr>
          <a:xfrm rot="0">
            <a:off x="4584783" y="7149120"/>
            <a:ext cx="126152" cy="169164"/>
            <a:chOff x="0" y="0"/>
            <a:chExt cx="168203" cy="225552"/>
          </a:xfrm>
        </p:grpSpPr>
        <p:sp>
          <p:nvSpPr>
            <p:cNvPr name="Freeform 394" id="394"/>
            <p:cNvSpPr/>
            <p:nvPr/>
          </p:nvSpPr>
          <p:spPr>
            <a:xfrm flipH="false" flipV="false" rot="0">
              <a:off x="0" y="0"/>
              <a:ext cx="168203" cy="225552"/>
            </a:xfrm>
            <a:custGeom>
              <a:avLst/>
              <a:gdLst/>
              <a:ahLst/>
              <a:cxnLst/>
              <a:rect r="r" b="b" t="t" l="l"/>
              <a:pathLst>
                <a:path h="225552" w="168203">
                  <a:moveTo>
                    <a:pt x="0" y="112776"/>
                  </a:moveTo>
                  <a:cubicBezTo>
                    <a:pt x="0" y="50546"/>
                    <a:pt x="37694" y="0"/>
                    <a:pt x="84101" y="0"/>
                  </a:cubicBezTo>
                  <a:cubicBezTo>
                    <a:pt x="130509" y="0"/>
                    <a:pt x="168203" y="50546"/>
                    <a:pt x="168203" y="112776"/>
                  </a:cubicBezTo>
                  <a:cubicBezTo>
                    <a:pt x="168203" y="175006"/>
                    <a:pt x="130509" y="225552"/>
                    <a:pt x="84101" y="225552"/>
                  </a:cubicBezTo>
                  <a:cubicBezTo>
                    <a:pt x="37694" y="225552"/>
                    <a:pt x="0" y="175006"/>
                    <a:pt x="0" y="112776"/>
                  </a:cubicBezTo>
                  <a:close/>
                </a:path>
              </a:pathLst>
            </a:custGeom>
            <a:solidFill>
              <a:srgbClr val="1E8E5A"/>
            </a:solidFill>
          </p:spPr>
        </p:sp>
      </p:grpSp>
      <p:grpSp>
        <p:nvGrpSpPr>
          <p:cNvPr name="Group 395" id="395"/>
          <p:cNvGrpSpPr/>
          <p:nvPr/>
        </p:nvGrpSpPr>
        <p:grpSpPr>
          <a:xfrm rot="0">
            <a:off x="4620107" y="7196488"/>
            <a:ext cx="55504" cy="74428"/>
            <a:chOff x="0" y="0"/>
            <a:chExt cx="74006" cy="99238"/>
          </a:xfrm>
        </p:grpSpPr>
        <p:sp>
          <p:nvSpPr>
            <p:cNvPr name="Freeform 396" id="396" descr="check.png"/>
            <p:cNvSpPr/>
            <p:nvPr/>
          </p:nvSpPr>
          <p:spPr>
            <a:xfrm flipH="false" flipV="false" rot="0">
              <a:off x="0" y="0"/>
              <a:ext cx="73968" cy="99187"/>
            </a:xfrm>
            <a:custGeom>
              <a:avLst/>
              <a:gdLst/>
              <a:ahLst/>
              <a:cxnLst/>
              <a:rect r="r" b="b" t="t" l="l"/>
              <a:pathLst>
                <a:path h="99187" w="73968">
                  <a:moveTo>
                    <a:pt x="0" y="0"/>
                  </a:moveTo>
                  <a:lnTo>
                    <a:pt x="73968" y="0"/>
                  </a:lnTo>
                  <a:lnTo>
                    <a:pt x="73968" y="99187"/>
                  </a:lnTo>
                  <a:lnTo>
                    <a:pt x="0" y="9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047" t="0" r="-17116" b="-51"/>
              </a:stretch>
            </a:blipFill>
          </p:spPr>
        </p:sp>
      </p:grpSp>
      <p:grpSp>
        <p:nvGrpSpPr>
          <p:cNvPr name="Group 397" id="397"/>
          <p:cNvGrpSpPr/>
          <p:nvPr/>
        </p:nvGrpSpPr>
        <p:grpSpPr>
          <a:xfrm rot="0">
            <a:off x="637280" y="3868400"/>
            <a:ext cx="4281173" cy="323593"/>
            <a:chOff x="0" y="0"/>
            <a:chExt cx="5708231" cy="431457"/>
          </a:xfrm>
        </p:grpSpPr>
        <p:sp>
          <p:nvSpPr>
            <p:cNvPr name="Freeform 398" id="398"/>
            <p:cNvSpPr/>
            <p:nvPr/>
          </p:nvSpPr>
          <p:spPr>
            <a:xfrm flipH="false" flipV="false" rot="0">
              <a:off x="0" y="0"/>
              <a:ext cx="5708244" cy="431419"/>
            </a:xfrm>
            <a:custGeom>
              <a:avLst/>
              <a:gdLst/>
              <a:ahLst/>
              <a:cxnLst/>
              <a:rect r="r" b="b" t="t" l="l"/>
              <a:pathLst>
                <a:path h="431419" w="5708244">
                  <a:moveTo>
                    <a:pt x="37920" y="0"/>
                  </a:moveTo>
                  <a:lnTo>
                    <a:pt x="5670323" y="0"/>
                  </a:lnTo>
                  <a:cubicBezTo>
                    <a:pt x="5691266" y="0"/>
                    <a:pt x="5708244" y="16978"/>
                    <a:pt x="5708244" y="37920"/>
                  </a:cubicBezTo>
                  <a:lnTo>
                    <a:pt x="5708244" y="393499"/>
                  </a:lnTo>
                  <a:cubicBezTo>
                    <a:pt x="5708244" y="414441"/>
                    <a:pt x="5691266" y="431419"/>
                    <a:pt x="5670323" y="431419"/>
                  </a:cubicBezTo>
                  <a:lnTo>
                    <a:pt x="37920" y="431419"/>
                  </a:lnTo>
                  <a:cubicBezTo>
                    <a:pt x="16978" y="431419"/>
                    <a:pt x="0" y="414441"/>
                    <a:pt x="0" y="393499"/>
                  </a:cubicBezTo>
                  <a:lnTo>
                    <a:pt x="0" y="37920"/>
                  </a:lnTo>
                  <a:cubicBezTo>
                    <a:pt x="0" y="16978"/>
                    <a:pt x="16978" y="0"/>
                    <a:pt x="37920" y="0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399" id="399"/>
          <p:cNvGrpSpPr/>
          <p:nvPr/>
        </p:nvGrpSpPr>
        <p:grpSpPr>
          <a:xfrm rot="0">
            <a:off x="780236" y="3884407"/>
            <a:ext cx="1915764" cy="310896"/>
            <a:chOff x="0" y="0"/>
            <a:chExt cx="2554352" cy="414528"/>
          </a:xfrm>
        </p:grpSpPr>
        <p:sp>
          <p:nvSpPr>
            <p:cNvPr name="Freeform 400" id="400"/>
            <p:cNvSpPr/>
            <p:nvPr/>
          </p:nvSpPr>
          <p:spPr>
            <a:xfrm flipH="false" flipV="false" rot="0">
              <a:off x="0" y="0"/>
              <a:ext cx="2554352" cy="414528"/>
            </a:xfrm>
            <a:custGeom>
              <a:avLst/>
              <a:gdLst/>
              <a:ahLst/>
              <a:cxnLst/>
              <a:rect r="r" b="b" t="t" l="l"/>
              <a:pathLst>
                <a:path h="414528" w="2554352">
                  <a:moveTo>
                    <a:pt x="0" y="0"/>
                  </a:moveTo>
                  <a:lnTo>
                    <a:pt x="2554352" y="0"/>
                  </a:lnTo>
                  <a:lnTo>
                    <a:pt x="2554352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2732" r="-110490" b="-202732"/>
              </a:stretch>
            </a:blipFill>
          </p:spPr>
        </p:sp>
        <p:sp>
          <p:nvSpPr>
            <p:cNvPr name="TextBox 401" id="401"/>
            <p:cNvSpPr txBox="true"/>
            <p:nvPr/>
          </p:nvSpPr>
          <p:spPr>
            <a:xfrm>
              <a:off x="0" y="-9525"/>
              <a:ext cx="2554352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SEGMENT S</a:t>
              </a: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CORECARD </a:t>
              </a:r>
            </a:p>
          </p:txBody>
        </p:sp>
      </p:grpSp>
      <p:grpSp>
        <p:nvGrpSpPr>
          <p:cNvPr name="Group 402" id="402"/>
          <p:cNvGrpSpPr/>
          <p:nvPr/>
        </p:nvGrpSpPr>
        <p:grpSpPr>
          <a:xfrm rot="0">
            <a:off x="633727" y="7748428"/>
            <a:ext cx="4284726" cy="1795895"/>
            <a:chOff x="0" y="0"/>
            <a:chExt cx="5712968" cy="2394527"/>
          </a:xfrm>
        </p:grpSpPr>
        <p:sp>
          <p:nvSpPr>
            <p:cNvPr name="Freeform 403" id="403"/>
            <p:cNvSpPr/>
            <p:nvPr/>
          </p:nvSpPr>
          <p:spPr>
            <a:xfrm flipH="false" flipV="false" rot="0">
              <a:off x="0" y="0"/>
              <a:ext cx="5713057" cy="2394616"/>
            </a:xfrm>
            <a:custGeom>
              <a:avLst/>
              <a:gdLst/>
              <a:ahLst/>
              <a:cxnLst/>
              <a:rect r="r" b="b" t="t" l="l"/>
              <a:pathLst>
                <a:path h="2394616" w="5713057">
                  <a:moveTo>
                    <a:pt x="0" y="50117"/>
                  </a:moveTo>
                  <a:cubicBezTo>
                    <a:pt x="0" y="22412"/>
                    <a:pt x="29797" y="0"/>
                    <a:pt x="66630" y="0"/>
                  </a:cubicBezTo>
                  <a:lnTo>
                    <a:pt x="5646435" y="0"/>
                  </a:lnTo>
                  <a:cubicBezTo>
                    <a:pt x="5683267" y="0"/>
                    <a:pt x="5713057" y="22412"/>
                    <a:pt x="5713057" y="50117"/>
                  </a:cubicBezTo>
                  <a:lnTo>
                    <a:pt x="5713057" y="2344483"/>
                  </a:lnTo>
                  <a:cubicBezTo>
                    <a:pt x="5713057" y="2372187"/>
                    <a:pt x="5683267" y="2394616"/>
                    <a:pt x="5646435" y="2394616"/>
                  </a:cubicBezTo>
                  <a:lnTo>
                    <a:pt x="66630" y="2394616"/>
                  </a:lnTo>
                  <a:cubicBezTo>
                    <a:pt x="29797" y="2394616"/>
                    <a:pt x="0" y="2372187"/>
                    <a:pt x="0" y="2344483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404" id="404"/>
          <p:cNvGrpSpPr/>
          <p:nvPr/>
        </p:nvGrpSpPr>
        <p:grpSpPr>
          <a:xfrm rot="0">
            <a:off x="635508" y="7709777"/>
            <a:ext cx="4282945" cy="292948"/>
            <a:chOff x="0" y="0"/>
            <a:chExt cx="5710593" cy="390597"/>
          </a:xfrm>
        </p:grpSpPr>
        <p:sp>
          <p:nvSpPr>
            <p:cNvPr name="Freeform 405" id="405"/>
            <p:cNvSpPr/>
            <p:nvPr/>
          </p:nvSpPr>
          <p:spPr>
            <a:xfrm flipH="false" flipV="false" rot="0">
              <a:off x="0" y="0"/>
              <a:ext cx="5710606" cy="390563"/>
            </a:xfrm>
            <a:custGeom>
              <a:avLst/>
              <a:gdLst/>
              <a:ahLst/>
              <a:cxnLst/>
              <a:rect r="r" b="b" t="t" l="l"/>
              <a:pathLst>
                <a:path h="390563" w="5710606">
                  <a:moveTo>
                    <a:pt x="34895" y="0"/>
                  </a:moveTo>
                  <a:lnTo>
                    <a:pt x="5675711" y="0"/>
                  </a:lnTo>
                  <a:cubicBezTo>
                    <a:pt x="5694983" y="0"/>
                    <a:pt x="5710606" y="15623"/>
                    <a:pt x="5710606" y="34895"/>
                  </a:cubicBezTo>
                  <a:lnTo>
                    <a:pt x="5710606" y="355667"/>
                  </a:lnTo>
                  <a:cubicBezTo>
                    <a:pt x="5710606" y="374939"/>
                    <a:pt x="5694983" y="390563"/>
                    <a:pt x="5675711" y="390563"/>
                  </a:cubicBezTo>
                  <a:lnTo>
                    <a:pt x="34895" y="390563"/>
                  </a:lnTo>
                  <a:cubicBezTo>
                    <a:pt x="15623" y="390563"/>
                    <a:pt x="0" y="374939"/>
                    <a:pt x="0" y="355667"/>
                  </a:cubicBezTo>
                  <a:lnTo>
                    <a:pt x="0" y="34895"/>
                  </a:lnTo>
                  <a:cubicBezTo>
                    <a:pt x="0" y="15623"/>
                    <a:pt x="15623" y="0"/>
                    <a:pt x="34895" y="0"/>
                  </a:cubicBezTo>
                  <a:close/>
                </a:path>
              </a:pathLst>
            </a:custGeom>
            <a:solidFill>
              <a:srgbClr val="6E1251"/>
            </a:solidFill>
            <a:ln w="12700" cap="sq">
              <a:solidFill>
                <a:srgbClr val="6E1251"/>
              </a:solidFill>
              <a:prstDash val="solid"/>
              <a:miter/>
            </a:ln>
          </p:spPr>
        </p:sp>
      </p:grpSp>
      <p:grpSp>
        <p:nvGrpSpPr>
          <p:cNvPr name="Group 406" id="406"/>
          <p:cNvGrpSpPr/>
          <p:nvPr/>
        </p:nvGrpSpPr>
        <p:grpSpPr>
          <a:xfrm rot="0">
            <a:off x="704750" y="7700803"/>
            <a:ext cx="3694176" cy="310896"/>
            <a:chOff x="0" y="0"/>
            <a:chExt cx="4925568" cy="414528"/>
          </a:xfrm>
        </p:grpSpPr>
        <p:sp>
          <p:nvSpPr>
            <p:cNvPr name="Freeform 407" id="407"/>
            <p:cNvSpPr/>
            <p:nvPr/>
          </p:nvSpPr>
          <p:spPr>
            <a:xfrm flipH="false" flipV="false" rot="0">
              <a:off x="0" y="0"/>
              <a:ext cx="4925568" cy="414528"/>
            </a:xfrm>
            <a:custGeom>
              <a:avLst/>
              <a:gdLst/>
              <a:ahLst/>
              <a:cxnLst/>
              <a:rect r="r" b="b" t="t" l="l"/>
              <a:pathLst>
                <a:path h="41452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528" r="0" b="-181528"/>
              </a:stretch>
            </a:blipFill>
          </p:spPr>
        </p:sp>
        <p:sp>
          <p:nvSpPr>
            <p:cNvPr name="TextBox 408" id="408"/>
            <p:cNvSpPr txBox="true"/>
            <p:nvPr/>
          </p:nvSpPr>
          <p:spPr>
            <a:xfrm>
              <a:off x="0" y="-9525"/>
              <a:ext cx="4925568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Cluster AHP · where to pilot</a:t>
              </a:r>
            </a:p>
          </p:txBody>
        </p:sp>
      </p:grpSp>
      <p:graphicFrame>
        <p:nvGraphicFramePr>
          <p:cNvPr name="Table 409" id="409"/>
          <p:cNvGraphicFramePr>
            <a:graphicFrameLocks noGrp="true"/>
          </p:cNvGraphicFramePr>
          <p:nvPr/>
        </p:nvGraphicFramePr>
        <p:xfrm>
          <a:off x="947316" y="8049799"/>
          <a:ext cx="3670300" cy="1131887"/>
        </p:xfrm>
        <a:graphic>
          <a:graphicData uri="http://schemas.openxmlformats.org/drawingml/2006/table">
            <a:tbl>
              <a:tblPr/>
              <a:tblGrid>
                <a:gridCol w="908303"/>
                <a:gridCol w="437062"/>
                <a:gridCol w="437062"/>
                <a:gridCol w="419608"/>
                <a:gridCol w="437062"/>
                <a:gridCol w="419608"/>
                <a:gridCol w="611595"/>
              </a:tblGrid>
              <a:tr h="3073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Cluster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Cost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Dem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Node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Inst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Score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</a:tr>
              <a:tr h="16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Tiruppur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1B7F4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4.68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</a:tr>
              <a:tr h="16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Panipat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1B7F4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4.52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</a:tr>
              <a:tr h="16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Ludhiana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3.74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Rajkot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3.70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Surat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3.28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410" id="410"/>
          <p:cNvGrpSpPr/>
          <p:nvPr/>
        </p:nvGrpSpPr>
        <p:grpSpPr>
          <a:xfrm rot="0">
            <a:off x="766543" y="9219787"/>
            <a:ext cx="4004933" cy="270005"/>
            <a:chOff x="0" y="0"/>
            <a:chExt cx="5339910" cy="360007"/>
          </a:xfrm>
        </p:grpSpPr>
        <p:sp>
          <p:nvSpPr>
            <p:cNvPr name="Freeform 411" id="411"/>
            <p:cNvSpPr/>
            <p:nvPr/>
          </p:nvSpPr>
          <p:spPr>
            <a:xfrm flipH="false" flipV="false" rot="0">
              <a:off x="0" y="0"/>
              <a:ext cx="5339948" cy="360045"/>
            </a:xfrm>
            <a:custGeom>
              <a:avLst/>
              <a:gdLst/>
              <a:ahLst/>
              <a:cxnLst/>
              <a:rect r="r" b="b" t="t" l="l"/>
              <a:pathLst>
                <a:path h="360045" w="5339948">
                  <a:moveTo>
                    <a:pt x="0" y="51435"/>
                  </a:moveTo>
                  <a:cubicBezTo>
                    <a:pt x="0" y="22987"/>
                    <a:pt x="24705" y="0"/>
                    <a:pt x="55279" y="0"/>
                  </a:cubicBezTo>
                  <a:lnTo>
                    <a:pt x="5284672" y="0"/>
                  </a:lnTo>
                  <a:cubicBezTo>
                    <a:pt x="5315246" y="0"/>
                    <a:pt x="5339948" y="22987"/>
                    <a:pt x="5339948" y="51435"/>
                  </a:cubicBezTo>
                  <a:lnTo>
                    <a:pt x="5339948" y="308610"/>
                  </a:lnTo>
                  <a:cubicBezTo>
                    <a:pt x="5339948" y="337058"/>
                    <a:pt x="5315246" y="360045"/>
                    <a:pt x="5284672" y="360045"/>
                  </a:cubicBezTo>
                  <a:lnTo>
                    <a:pt x="55279" y="360045"/>
                  </a:lnTo>
                  <a:cubicBezTo>
                    <a:pt x="24705" y="360045"/>
                    <a:pt x="0" y="336931"/>
                    <a:pt x="0" y="308610"/>
                  </a:cubicBezTo>
                  <a:close/>
                </a:path>
              </a:pathLst>
            </a:custGeom>
            <a:solidFill>
              <a:srgbClr val="FFF3D8"/>
            </a:solidFill>
            <a:ln w="1397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412" id="412"/>
          <p:cNvGrpSpPr/>
          <p:nvPr/>
        </p:nvGrpSpPr>
        <p:grpSpPr>
          <a:xfrm rot="0">
            <a:off x="855821" y="9219990"/>
            <a:ext cx="3859044" cy="269590"/>
            <a:chOff x="0" y="0"/>
            <a:chExt cx="5145392" cy="359453"/>
          </a:xfrm>
        </p:grpSpPr>
        <p:sp>
          <p:nvSpPr>
            <p:cNvPr name="Freeform 413" id="413"/>
            <p:cNvSpPr/>
            <p:nvPr/>
          </p:nvSpPr>
          <p:spPr>
            <a:xfrm flipH="false" flipV="false" rot="0">
              <a:off x="0" y="0"/>
              <a:ext cx="5145393" cy="359453"/>
            </a:xfrm>
            <a:custGeom>
              <a:avLst/>
              <a:gdLst/>
              <a:ahLst/>
              <a:cxnLst/>
              <a:rect r="r" b="b" t="t" l="l"/>
              <a:pathLst>
                <a:path h="359453" w="5145393">
                  <a:moveTo>
                    <a:pt x="0" y="0"/>
                  </a:moveTo>
                  <a:lnTo>
                    <a:pt x="5145393" y="0"/>
                  </a:lnTo>
                  <a:lnTo>
                    <a:pt x="5145393" y="359453"/>
                  </a:lnTo>
                  <a:lnTo>
                    <a:pt x="0" y="3594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942" r="8063" b="-203913"/>
              </a:stretch>
            </a:blipFill>
          </p:spPr>
        </p:sp>
        <p:sp>
          <p:nvSpPr>
            <p:cNvPr name="TextBox 414" id="414"/>
            <p:cNvSpPr txBox="true"/>
            <p:nvPr/>
          </p:nvSpPr>
          <p:spPr>
            <a:xfrm>
              <a:off x="0" y="0"/>
              <a:ext cx="5145392" cy="359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77"/>
                </a:lnSpc>
              </a:pPr>
              <a:r>
                <a:rPr lang="en-US" sz="849" b="true">
                  <a:solidFill>
                    <a:srgbClr val="5605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Surat ranks last despite being India's largest textile cluster by turnover, above ₹1 lakh cr. Scale is the wrong selection signal. Pilot in Tiruppur and Panipat.</a:t>
              </a:r>
            </a:p>
          </p:txBody>
        </p:sp>
      </p:grpSp>
      <p:grpSp>
        <p:nvGrpSpPr>
          <p:cNvPr name="Group 415" id="415"/>
          <p:cNvGrpSpPr/>
          <p:nvPr/>
        </p:nvGrpSpPr>
        <p:grpSpPr>
          <a:xfrm rot="0">
            <a:off x="5009948" y="6211191"/>
            <a:ext cx="8655702" cy="3333133"/>
            <a:chOff x="0" y="0"/>
            <a:chExt cx="11540937" cy="4444177"/>
          </a:xfrm>
        </p:grpSpPr>
        <p:sp>
          <p:nvSpPr>
            <p:cNvPr name="Freeform 416" id="416"/>
            <p:cNvSpPr/>
            <p:nvPr/>
          </p:nvSpPr>
          <p:spPr>
            <a:xfrm flipH="false" flipV="false" rot="0">
              <a:off x="0" y="0"/>
              <a:ext cx="11540893" cy="4444126"/>
            </a:xfrm>
            <a:custGeom>
              <a:avLst/>
              <a:gdLst/>
              <a:ahLst/>
              <a:cxnLst/>
              <a:rect r="r" b="b" t="t" l="l"/>
              <a:pathLst>
                <a:path h="4444126" w="11540893">
                  <a:moveTo>
                    <a:pt x="0" y="81618"/>
                  </a:moveTo>
                  <a:cubicBezTo>
                    <a:pt x="0" y="36576"/>
                    <a:pt x="31614" y="0"/>
                    <a:pt x="70545" y="0"/>
                  </a:cubicBezTo>
                  <a:lnTo>
                    <a:pt x="11470348" y="0"/>
                  </a:lnTo>
                  <a:cubicBezTo>
                    <a:pt x="11509279" y="0"/>
                    <a:pt x="11540893" y="36576"/>
                    <a:pt x="11540893" y="81618"/>
                  </a:cubicBezTo>
                  <a:lnTo>
                    <a:pt x="11540893" y="4362508"/>
                  </a:lnTo>
                  <a:cubicBezTo>
                    <a:pt x="11540893" y="4407551"/>
                    <a:pt x="11509279" y="4444126"/>
                    <a:pt x="11470348" y="4444126"/>
                  </a:cubicBezTo>
                  <a:lnTo>
                    <a:pt x="70545" y="4444126"/>
                  </a:lnTo>
                  <a:cubicBezTo>
                    <a:pt x="31614" y="4444126"/>
                    <a:pt x="0" y="4407551"/>
                    <a:pt x="0" y="436250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417" id="417"/>
          <p:cNvGrpSpPr/>
          <p:nvPr/>
        </p:nvGrpSpPr>
        <p:grpSpPr>
          <a:xfrm rot="0">
            <a:off x="5009948" y="6211191"/>
            <a:ext cx="8655702" cy="334570"/>
            <a:chOff x="0" y="0"/>
            <a:chExt cx="11540937" cy="446094"/>
          </a:xfrm>
        </p:grpSpPr>
        <p:sp>
          <p:nvSpPr>
            <p:cNvPr name="Freeform 418" id="418"/>
            <p:cNvSpPr/>
            <p:nvPr/>
          </p:nvSpPr>
          <p:spPr>
            <a:xfrm flipH="false" flipV="false" rot="0">
              <a:off x="0" y="0"/>
              <a:ext cx="11540949" cy="446054"/>
            </a:xfrm>
            <a:custGeom>
              <a:avLst/>
              <a:gdLst/>
              <a:ahLst/>
              <a:cxnLst/>
              <a:rect r="r" b="b" t="t" l="l"/>
              <a:pathLst>
                <a:path h="446054" w="11540949">
                  <a:moveTo>
                    <a:pt x="32964" y="0"/>
                  </a:moveTo>
                  <a:lnTo>
                    <a:pt x="11507985" y="0"/>
                  </a:lnTo>
                  <a:cubicBezTo>
                    <a:pt x="11516728" y="0"/>
                    <a:pt x="11525112" y="3473"/>
                    <a:pt x="11531294" y="9655"/>
                  </a:cubicBezTo>
                  <a:cubicBezTo>
                    <a:pt x="11537476" y="15837"/>
                    <a:pt x="11540949" y="24221"/>
                    <a:pt x="11540949" y="32964"/>
                  </a:cubicBezTo>
                  <a:lnTo>
                    <a:pt x="11540949" y="413091"/>
                  </a:lnTo>
                  <a:cubicBezTo>
                    <a:pt x="11540949" y="421833"/>
                    <a:pt x="11537476" y="430218"/>
                    <a:pt x="11531294" y="436400"/>
                  </a:cubicBezTo>
                  <a:cubicBezTo>
                    <a:pt x="11525112" y="442582"/>
                    <a:pt x="11516728" y="446054"/>
                    <a:pt x="11507985" y="446054"/>
                  </a:cubicBezTo>
                  <a:lnTo>
                    <a:pt x="32964" y="446054"/>
                  </a:lnTo>
                  <a:cubicBezTo>
                    <a:pt x="14758" y="446054"/>
                    <a:pt x="0" y="431296"/>
                    <a:pt x="0" y="413091"/>
                  </a:cubicBezTo>
                  <a:lnTo>
                    <a:pt x="0" y="32964"/>
                  </a:lnTo>
                  <a:cubicBezTo>
                    <a:pt x="0" y="24221"/>
                    <a:pt x="3473" y="15837"/>
                    <a:pt x="9655" y="9655"/>
                  </a:cubicBezTo>
                  <a:cubicBezTo>
                    <a:pt x="15837" y="3473"/>
                    <a:pt x="24221" y="0"/>
                    <a:pt x="32964" y="0"/>
                  </a:cubicBezTo>
                  <a:close/>
                </a:path>
              </a:pathLst>
            </a:custGeom>
            <a:solidFill>
              <a:srgbClr val="8A245E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419" id="419"/>
          <p:cNvGrpSpPr/>
          <p:nvPr/>
        </p:nvGrpSpPr>
        <p:grpSpPr>
          <a:xfrm rot="0">
            <a:off x="5091751" y="6223028"/>
            <a:ext cx="8355059" cy="310896"/>
            <a:chOff x="0" y="0"/>
            <a:chExt cx="11140078" cy="414528"/>
          </a:xfrm>
        </p:grpSpPr>
        <p:sp>
          <p:nvSpPr>
            <p:cNvPr name="Freeform 420" id="420"/>
            <p:cNvSpPr/>
            <p:nvPr/>
          </p:nvSpPr>
          <p:spPr>
            <a:xfrm flipH="false" flipV="false" rot="0">
              <a:off x="0" y="0"/>
              <a:ext cx="11140078" cy="414528"/>
            </a:xfrm>
            <a:custGeom>
              <a:avLst/>
              <a:gdLst/>
              <a:ahLst/>
              <a:cxnLst/>
              <a:rect r="r" b="b" t="t" l="l"/>
              <a:pathLst>
                <a:path h="414528" w="11140078">
                  <a:moveTo>
                    <a:pt x="0" y="0"/>
                  </a:moveTo>
                  <a:lnTo>
                    <a:pt x="11140078" y="0"/>
                  </a:lnTo>
                  <a:lnTo>
                    <a:pt x="11140078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5032" r="13102" b="-405032"/>
              </a:stretch>
            </a:blipFill>
          </p:spPr>
        </p:sp>
        <p:sp>
          <p:nvSpPr>
            <p:cNvPr name="TextBox 421" id="421"/>
            <p:cNvSpPr txBox="true"/>
            <p:nvPr/>
          </p:nvSpPr>
          <p:spPr>
            <a:xfrm>
              <a:off x="0" y="-19050"/>
              <a:ext cx="11140078" cy="433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Worldwide Precedent · who already removed each barrier, and at what scale</a:t>
              </a:r>
            </a:p>
          </p:txBody>
        </p:sp>
      </p:grpSp>
      <p:graphicFrame>
        <p:nvGraphicFramePr>
          <p:cNvPr name="Table 422" id="422"/>
          <p:cNvGraphicFramePr>
            <a:graphicFrameLocks noGrp="true"/>
          </p:cNvGraphicFramePr>
          <p:nvPr/>
        </p:nvGraphicFramePr>
        <p:xfrm>
          <a:off x="5074873" y="6612431"/>
          <a:ext cx="8515750" cy="2838839"/>
        </p:xfrm>
        <a:graphic>
          <a:graphicData uri="http://schemas.openxmlformats.org/drawingml/2006/table">
            <a:tbl>
              <a:tblPr/>
              <a:tblGrid>
                <a:gridCol w="1419586"/>
                <a:gridCol w="3251195"/>
                <a:gridCol w="1292538"/>
                <a:gridCol w="2552431"/>
              </a:tblGrid>
              <a:tr h="3467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Platform · market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Mechanic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Barrier removed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Scale reached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</a:tr>
              <a:tr h="498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Temu · global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Fully-managed: factory ships bulk to a consolidation node; platform does listing, pricing, logistics, service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Unit-level ops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200k merchants in &lt;2 yrs; 4 mn parcels/day from 60 nodes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Shein · China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100-200 unit first runs, restock in 5 days, MES pushes orders to the supplier network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Inventory risk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Unsold stock ~10% vs 30% industry; 7,500 suppliers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Shein · Brazil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$150 mn committed to upgrade local factories to on-demand production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Whole-cohort conversion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2,000 local factories in 3 yrs; 85% local sales target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</a:tr>
              <a:tr h="498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Pinduoduo · China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New Brand Initiative: anonymised platform demand data handed to factories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Unproven demand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900+ factories, 2,200 SKUs, 115 mn orders; cycle −50%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JD Jingxi · China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Industrial-belt programme run with local government tie-ups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Acquisition cost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Target 100k factory merchants across 1,000 belts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423" id="423"/>
          <p:cNvGrpSpPr/>
          <p:nvPr/>
        </p:nvGrpSpPr>
        <p:grpSpPr>
          <a:xfrm rot="0">
            <a:off x="13790924" y="3869837"/>
            <a:ext cx="4282945" cy="2727791"/>
            <a:chOff x="0" y="0"/>
            <a:chExt cx="5710593" cy="3637054"/>
          </a:xfrm>
        </p:grpSpPr>
        <p:sp>
          <p:nvSpPr>
            <p:cNvPr name="Freeform 424" id="424"/>
            <p:cNvSpPr/>
            <p:nvPr/>
          </p:nvSpPr>
          <p:spPr>
            <a:xfrm flipH="false" flipV="false" rot="0">
              <a:off x="0" y="0"/>
              <a:ext cx="5710555" cy="3637016"/>
            </a:xfrm>
            <a:custGeom>
              <a:avLst/>
              <a:gdLst/>
              <a:ahLst/>
              <a:cxnLst/>
              <a:rect r="r" b="b" t="t" l="l"/>
              <a:pathLst>
                <a:path h="3637016" w="5710555">
                  <a:moveTo>
                    <a:pt x="0" y="61612"/>
                  </a:moveTo>
                  <a:cubicBezTo>
                    <a:pt x="0" y="27610"/>
                    <a:pt x="27432" y="0"/>
                    <a:pt x="61214" y="0"/>
                  </a:cubicBezTo>
                  <a:lnTo>
                    <a:pt x="5649341" y="0"/>
                  </a:lnTo>
                  <a:cubicBezTo>
                    <a:pt x="5683123" y="0"/>
                    <a:pt x="5710555" y="27610"/>
                    <a:pt x="5710555" y="61612"/>
                  </a:cubicBezTo>
                  <a:lnTo>
                    <a:pt x="5710555" y="3575404"/>
                  </a:lnTo>
                  <a:cubicBezTo>
                    <a:pt x="5710555" y="3609406"/>
                    <a:pt x="5683123" y="3637016"/>
                    <a:pt x="5649341" y="3637016"/>
                  </a:cubicBezTo>
                  <a:lnTo>
                    <a:pt x="61214" y="3637016"/>
                  </a:lnTo>
                  <a:cubicBezTo>
                    <a:pt x="27432" y="3637016"/>
                    <a:pt x="0" y="3609406"/>
                    <a:pt x="0" y="3575404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425" id="425"/>
          <p:cNvGrpSpPr/>
          <p:nvPr/>
        </p:nvGrpSpPr>
        <p:grpSpPr>
          <a:xfrm rot="0">
            <a:off x="13790924" y="3869837"/>
            <a:ext cx="4282945" cy="325696"/>
            <a:chOff x="0" y="0"/>
            <a:chExt cx="5710593" cy="434261"/>
          </a:xfrm>
        </p:grpSpPr>
        <p:sp>
          <p:nvSpPr>
            <p:cNvPr name="Freeform 426" id="426"/>
            <p:cNvSpPr/>
            <p:nvPr/>
          </p:nvSpPr>
          <p:spPr>
            <a:xfrm flipH="false" flipV="false" rot="0">
              <a:off x="0" y="0"/>
              <a:ext cx="5710606" cy="434223"/>
            </a:xfrm>
            <a:custGeom>
              <a:avLst/>
              <a:gdLst/>
              <a:ahLst/>
              <a:cxnLst/>
              <a:rect r="r" b="b" t="t" l="l"/>
              <a:pathLst>
                <a:path h="434223" w="5710606">
                  <a:moveTo>
                    <a:pt x="37905" y="0"/>
                  </a:moveTo>
                  <a:lnTo>
                    <a:pt x="5672701" y="0"/>
                  </a:lnTo>
                  <a:cubicBezTo>
                    <a:pt x="5693635" y="0"/>
                    <a:pt x="5710606" y="16971"/>
                    <a:pt x="5710606" y="37905"/>
                  </a:cubicBezTo>
                  <a:lnTo>
                    <a:pt x="5710606" y="396318"/>
                  </a:lnTo>
                  <a:cubicBezTo>
                    <a:pt x="5710606" y="417252"/>
                    <a:pt x="5693635" y="434223"/>
                    <a:pt x="5672701" y="434223"/>
                  </a:cubicBezTo>
                  <a:lnTo>
                    <a:pt x="37905" y="434223"/>
                  </a:lnTo>
                  <a:cubicBezTo>
                    <a:pt x="16971" y="434223"/>
                    <a:pt x="0" y="417252"/>
                    <a:pt x="0" y="396318"/>
                  </a:cubicBezTo>
                  <a:lnTo>
                    <a:pt x="0" y="37905"/>
                  </a:lnTo>
                  <a:cubicBezTo>
                    <a:pt x="0" y="16971"/>
                    <a:pt x="16971" y="0"/>
                    <a:pt x="37905" y="0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427" id="427"/>
          <p:cNvGrpSpPr/>
          <p:nvPr/>
        </p:nvGrpSpPr>
        <p:grpSpPr>
          <a:xfrm rot="0">
            <a:off x="13916149" y="3887275"/>
            <a:ext cx="2465003" cy="312917"/>
            <a:chOff x="0" y="0"/>
            <a:chExt cx="3286671" cy="417222"/>
          </a:xfrm>
        </p:grpSpPr>
        <p:sp>
          <p:nvSpPr>
            <p:cNvPr name="Freeform 428" id="428"/>
            <p:cNvSpPr/>
            <p:nvPr/>
          </p:nvSpPr>
          <p:spPr>
            <a:xfrm flipH="false" flipV="false" rot="0">
              <a:off x="0" y="0"/>
              <a:ext cx="3286671" cy="417222"/>
            </a:xfrm>
            <a:custGeom>
              <a:avLst/>
              <a:gdLst/>
              <a:ahLst/>
              <a:cxnLst/>
              <a:rect r="r" b="b" t="t" l="l"/>
              <a:pathLst>
                <a:path h="417222" w="3286671">
                  <a:moveTo>
                    <a:pt x="0" y="0"/>
                  </a:moveTo>
                  <a:lnTo>
                    <a:pt x="3286671" y="0"/>
                  </a:lnTo>
                  <a:lnTo>
                    <a:pt x="3286671" y="417222"/>
                  </a:lnTo>
                  <a:lnTo>
                    <a:pt x="0" y="4172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1423" r="-63590" b="-200777"/>
              </a:stretch>
            </a:blipFill>
          </p:spPr>
        </p:sp>
        <p:sp>
          <p:nvSpPr>
            <p:cNvPr name="TextBox 429" id="429"/>
            <p:cNvSpPr txBox="true"/>
            <p:nvPr/>
          </p:nvSpPr>
          <p:spPr>
            <a:xfrm>
              <a:off x="0" y="-9525"/>
              <a:ext cx="3286671" cy="426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Addressable Base · bottoms-up</a:t>
              </a:r>
            </a:p>
          </p:txBody>
        </p:sp>
      </p:grpSp>
      <p:grpSp>
        <p:nvGrpSpPr>
          <p:cNvPr name="Group 430" id="430"/>
          <p:cNvGrpSpPr/>
          <p:nvPr/>
        </p:nvGrpSpPr>
        <p:grpSpPr>
          <a:xfrm rot="0">
            <a:off x="16905966" y="3887275"/>
            <a:ext cx="1024399" cy="312917"/>
            <a:chOff x="0" y="0"/>
            <a:chExt cx="1365865" cy="417222"/>
          </a:xfrm>
        </p:grpSpPr>
        <p:sp>
          <p:nvSpPr>
            <p:cNvPr name="Freeform 431" id="431"/>
            <p:cNvSpPr/>
            <p:nvPr/>
          </p:nvSpPr>
          <p:spPr>
            <a:xfrm flipH="false" flipV="false" rot="0">
              <a:off x="0" y="0"/>
              <a:ext cx="1365865" cy="417222"/>
            </a:xfrm>
            <a:custGeom>
              <a:avLst/>
              <a:gdLst/>
              <a:ahLst/>
              <a:cxnLst/>
              <a:rect r="r" b="b" t="t" l="l"/>
              <a:pathLst>
                <a:path h="417222" w="1365865">
                  <a:moveTo>
                    <a:pt x="0" y="0"/>
                  </a:moveTo>
                  <a:lnTo>
                    <a:pt x="1365865" y="0"/>
                  </a:lnTo>
                  <a:lnTo>
                    <a:pt x="1365865" y="417222"/>
                  </a:lnTo>
                  <a:lnTo>
                    <a:pt x="0" y="4172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823" r="-118692" b="-89177"/>
              </a:stretch>
            </a:blipFill>
          </p:spPr>
        </p:sp>
        <p:sp>
          <p:nvSpPr>
            <p:cNvPr name="TextBox 432" id="432"/>
            <p:cNvSpPr txBox="true"/>
            <p:nvPr/>
          </p:nvSpPr>
          <p:spPr>
            <a:xfrm>
              <a:off x="0" y="-19050"/>
              <a:ext cx="1365865" cy="4362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40"/>
                </a:lnSpc>
              </a:pPr>
              <a:r>
                <a:rPr lang="en-US" sz="950" i="true">
                  <a:solidFill>
                    <a:srgbClr val="FFF3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Udyam, Jun 2026</a:t>
              </a:r>
            </a:p>
          </p:txBody>
        </p:sp>
      </p:grpSp>
      <p:grpSp>
        <p:nvGrpSpPr>
          <p:cNvPr name="Group 433" id="433"/>
          <p:cNvGrpSpPr/>
          <p:nvPr/>
        </p:nvGrpSpPr>
        <p:grpSpPr>
          <a:xfrm rot="0">
            <a:off x="13900652" y="4274787"/>
            <a:ext cx="4063489" cy="261272"/>
            <a:chOff x="0" y="0"/>
            <a:chExt cx="5417985" cy="348363"/>
          </a:xfrm>
        </p:grpSpPr>
        <p:sp>
          <p:nvSpPr>
            <p:cNvPr name="Freeform 434" id="434"/>
            <p:cNvSpPr/>
            <p:nvPr/>
          </p:nvSpPr>
          <p:spPr>
            <a:xfrm flipH="false" flipV="false" rot="0">
              <a:off x="0" y="0"/>
              <a:ext cx="5418074" cy="348451"/>
            </a:xfrm>
            <a:custGeom>
              <a:avLst/>
              <a:gdLst/>
              <a:ahLst/>
              <a:cxnLst/>
              <a:rect r="r" b="b" t="t" l="l"/>
              <a:pathLst>
                <a:path h="348451" w="5418074">
                  <a:moveTo>
                    <a:pt x="0" y="51641"/>
                  </a:moveTo>
                  <a:cubicBezTo>
                    <a:pt x="0" y="23136"/>
                    <a:pt x="22987" y="0"/>
                    <a:pt x="51308" y="0"/>
                  </a:cubicBezTo>
                  <a:lnTo>
                    <a:pt x="5366766" y="0"/>
                  </a:lnTo>
                  <a:cubicBezTo>
                    <a:pt x="5395087" y="0"/>
                    <a:pt x="5418074" y="23136"/>
                    <a:pt x="5418074" y="51641"/>
                  </a:cubicBezTo>
                  <a:lnTo>
                    <a:pt x="5418074" y="296811"/>
                  </a:lnTo>
                  <a:cubicBezTo>
                    <a:pt x="5418074" y="325316"/>
                    <a:pt x="5395087" y="348451"/>
                    <a:pt x="5366766" y="348451"/>
                  </a:cubicBezTo>
                  <a:lnTo>
                    <a:pt x="51308" y="348451"/>
                  </a:lnTo>
                  <a:cubicBezTo>
                    <a:pt x="22987" y="348324"/>
                    <a:pt x="0" y="325316"/>
                    <a:pt x="0" y="296811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435" id="435"/>
          <p:cNvGrpSpPr/>
          <p:nvPr/>
        </p:nvGrpSpPr>
        <p:grpSpPr>
          <a:xfrm rot="0">
            <a:off x="13952725" y="4274787"/>
            <a:ext cx="3959352" cy="278568"/>
            <a:chOff x="0" y="0"/>
            <a:chExt cx="5279136" cy="371425"/>
          </a:xfrm>
        </p:grpSpPr>
        <p:sp>
          <p:nvSpPr>
            <p:cNvPr name="Freeform 436" id="436"/>
            <p:cNvSpPr/>
            <p:nvPr/>
          </p:nvSpPr>
          <p:spPr>
            <a:xfrm flipH="false" flipV="false" rot="0">
              <a:off x="0" y="0"/>
              <a:ext cx="5279136" cy="371425"/>
            </a:xfrm>
            <a:custGeom>
              <a:avLst/>
              <a:gdLst/>
              <a:ahLst/>
              <a:cxnLst/>
              <a:rect r="r" b="b" t="t" l="l"/>
              <a:pathLst>
                <a:path h="371425" w="5279136">
                  <a:moveTo>
                    <a:pt x="0" y="0"/>
                  </a:moveTo>
                  <a:lnTo>
                    <a:pt x="5279136" y="0"/>
                  </a:lnTo>
                  <a:lnTo>
                    <a:pt x="5279136" y="371425"/>
                  </a:lnTo>
                  <a:lnTo>
                    <a:pt x="0" y="3714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2631" r="0" b="-221258"/>
              </a:stretch>
            </a:blipFill>
          </p:spPr>
        </p:sp>
        <p:sp>
          <p:nvSpPr>
            <p:cNvPr name="TextBox 437" id="437"/>
            <p:cNvSpPr txBox="true"/>
            <p:nvPr/>
          </p:nvSpPr>
          <p:spPr>
            <a:xfrm>
              <a:off x="0" y="-28575"/>
              <a:ext cx="5279136" cy="400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5605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4.72 cr  </a:t>
              </a:r>
              <a:r>
                <a:rPr lang="en-US" sz="1399">
                  <a:solidFill>
                    <a:srgbClr val="7A64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Udyam MSMEs</a:t>
              </a:r>
            </a:p>
          </p:txBody>
        </p:sp>
      </p:grpSp>
      <p:grpSp>
        <p:nvGrpSpPr>
          <p:cNvPr name="Group 438" id="438"/>
          <p:cNvGrpSpPr/>
          <p:nvPr/>
        </p:nvGrpSpPr>
        <p:grpSpPr>
          <a:xfrm rot="0">
            <a:off x="14184211" y="4550890"/>
            <a:ext cx="3496380" cy="261272"/>
            <a:chOff x="0" y="0"/>
            <a:chExt cx="4661840" cy="348363"/>
          </a:xfrm>
        </p:grpSpPr>
        <p:sp>
          <p:nvSpPr>
            <p:cNvPr name="Freeform 439" id="439"/>
            <p:cNvSpPr/>
            <p:nvPr/>
          </p:nvSpPr>
          <p:spPr>
            <a:xfrm flipH="false" flipV="false" rot="0">
              <a:off x="0" y="0"/>
              <a:ext cx="4661916" cy="348451"/>
            </a:xfrm>
            <a:custGeom>
              <a:avLst/>
              <a:gdLst/>
              <a:ahLst/>
              <a:cxnLst/>
              <a:rect r="r" b="b" t="t" l="l"/>
              <a:pathLst>
                <a:path h="348451" w="4661916">
                  <a:moveTo>
                    <a:pt x="0" y="51641"/>
                  </a:moveTo>
                  <a:cubicBezTo>
                    <a:pt x="0" y="23136"/>
                    <a:pt x="22987" y="0"/>
                    <a:pt x="51308" y="0"/>
                  </a:cubicBezTo>
                  <a:lnTo>
                    <a:pt x="4610608" y="0"/>
                  </a:lnTo>
                  <a:cubicBezTo>
                    <a:pt x="4638929" y="0"/>
                    <a:pt x="4661916" y="23136"/>
                    <a:pt x="4661916" y="51641"/>
                  </a:cubicBezTo>
                  <a:lnTo>
                    <a:pt x="4661916" y="296811"/>
                  </a:lnTo>
                  <a:cubicBezTo>
                    <a:pt x="4661916" y="325316"/>
                    <a:pt x="4638929" y="348451"/>
                    <a:pt x="4610608" y="348451"/>
                  </a:cubicBezTo>
                  <a:lnTo>
                    <a:pt x="51308" y="348451"/>
                  </a:lnTo>
                  <a:cubicBezTo>
                    <a:pt x="22987" y="348324"/>
                    <a:pt x="0" y="325316"/>
                    <a:pt x="0" y="296811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440" id="440"/>
          <p:cNvGrpSpPr/>
          <p:nvPr/>
        </p:nvGrpSpPr>
        <p:grpSpPr>
          <a:xfrm rot="0">
            <a:off x="14236284" y="4557285"/>
            <a:ext cx="3392243" cy="248493"/>
            <a:chOff x="0" y="0"/>
            <a:chExt cx="4522991" cy="331323"/>
          </a:xfrm>
        </p:grpSpPr>
        <p:sp>
          <p:nvSpPr>
            <p:cNvPr name="Freeform 441" id="441"/>
            <p:cNvSpPr/>
            <p:nvPr/>
          </p:nvSpPr>
          <p:spPr>
            <a:xfrm flipH="false" flipV="false" rot="0">
              <a:off x="0" y="0"/>
              <a:ext cx="4522988" cy="331323"/>
            </a:xfrm>
            <a:custGeom>
              <a:avLst/>
              <a:gdLst/>
              <a:ahLst/>
              <a:cxnLst/>
              <a:rect r="r" b="b" t="t" l="l"/>
              <a:pathLst>
                <a:path h="331323" w="4522988">
                  <a:moveTo>
                    <a:pt x="0" y="0"/>
                  </a:moveTo>
                  <a:lnTo>
                    <a:pt x="4522988" y="0"/>
                  </a:lnTo>
                  <a:lnTo>
                    <a:pt x="4522988" y="331323"/>
                  </a:lnTo>
                  <a:lnTo>
                    <a:pt x="0" y="331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318" r="0" b="-215672"/>
              </a:stretch>
            </a:blipFill>
          </p:spPr>
        </p:sp>
        <p:sp>
          <p:nvSpPr>
            <p:cNvPr name="TextBox 442" id="442"/>
            <p:cNvSpPr txBox="true"/>
            <p:nvPr/>
          </p:nvSpPr>
          <p:spPr>
            <a:xfrm>
              <a:off x="0" y="-19050"/>
              <a:ext cx="4522991" cy="350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5.28 lakh  </a:t>
              </a:r>
              <a:r>
                <a:rPr lang="en-US" sz="1200">
                  <a:solidFill>
                    <a:srgbClr val="7A6470"/>
                  </a:solidFill>
                  <a:latin typeface="Arial"/>
                  <a:ea typeface="Arial"/>
                  <a:cs typeface="Arial"/>
                  <a:sym typeface="Arial"/>
                </a:rPr>
                <a:t>above micro</a:t>
              </a:r>
            </a:p>
          </p:txBody>
        </p:sp>
      </p:grpSp>
      <p:grpSp>
        <p:nvGrpSpPr>
          <p:cNvPr name="Group 443" id="443"/>
          <p:cNvGrpSpPr/>
          <p:nvPr/>
        </p:nvGrpSpPr>
        <p:grpSpPr>
          <a:xfrm rot="0">
            <a:off x="14467770" y="4826993"/>
            <a:ext cx="2929271" cy="261272"/>
            <a:chOff x="0" y="0"/>
            <a:chExt cx="3905695" cy="348363"/>
          </a:xfrm>
        </p:grpSpPr>
        <p:sp>
          <p:nvSpPr>
            <p:cNvPr name="Freeform 444" id="444"/>
            <p:cNvSpPr/>
            <p:nvPr/>
          </p:nvSpPr>
          <p:spPr>
            <a:xfrm flipH="false" flipV="false" rot="0">
              <a:off x="0" y="0"/>
              <a:ext cx="3905758" cy="348451"/>
            </a:xfrm>
            <a:custGeom>
              <a:avLst/>
              <a:gdLst/>
              <a:ahLst/>
              <a:cxnLst/>
              <a:rect r="r" b="b" t="t" l="l"/>
              <a:pathLst>
                <a:path h="348451" w="3905758">
                  <a:moveTo>
                    <a:pt x="0" y="51641"/>
                  </a:moveTo>
                  <a:cubicBezTo>
                    <a:pt x="0" y="23136"/>
                    <a:pt x="22987" y="0"/>
                    <a:pt x="51308" y="0"/>
                  </a:cubicBezTo>
                  <a:lnTo>
                    <a:pt x="3854450" y="0"/>
                  </a:lnTo>
                  <a:cubicBezTo>
                    <a:pt x="3882771" y="0"/>
                    <a:pt x="3905758" y="23136"/>
                    <a:pt x="3905758" y="51641"/>
                  </a:cubicBezTo>
                  <a:lnTo>
                    <a:pt x="3905758" y="296811"/>
                  </a:lnTo>
                  <a:cubicBezTo>
                    <a:pt x="3905758" y="325316"/>
                    <a:pt x="3882771" y="348451"/>
                    <a:pt x="3854450" y="348451"/>
                  </a:cubicBezTo>
                  <a:lnTo>
                    <a:pt x="51308" y="348451"/>
                  </a:lnTo>
                  <a:cubicBezTo>
                    <a:pt x="22987" y="348324"/>
                    <a:pt x="0" y="325316"/>
                    <a:pt x="0" y="296811"/>
                  </a:cubicBezTo>
                  <a:close/>
                </a:path>
              </a:pathLst>
            </a:custGeom>
            <a:solidFill>
              <a:srgbClr val="F2E4EE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445" id="445"/>
          <p:cNvGrpSpPr/>
          <p:nvPr/>
        </p:nvGrpSpPr>
        <p:grpSpPr>
          <a:xfrm rot="0">
            <a:off x="14519834" y="4833388"/>
            <a:ext cx="2825134" cy="248493"/>
            <a:chOff x="0" y="0"/>
            <a:chExt cx="3766845" cy="331323"/>
          </a:xfrm>
        </p:grpSpPr>
        <p:sp>
          <p:nvSpPr>
            <p:cNvPr name="Freeform 446" id="446"/>
            <p:cNvSpPr/>
            <p:nvPr/>
          </p:nvSpPr>
          <p:spPr>
            <a:xfrm flipH="false" flipV="false" rot="0">
              <a:off x="0" y="0"/>
              <a:ext cx="3766840" cy="331323"/>
            </a:xfrm>
            <a:custGeom>
              <a:avLst/>
              <a:gdLst/>
              <a:ahLst/>
              <a:cxnLst/>
              <a:rect r="r" b="b" t="t" l="l"/>
              <a:pathLst>
                <a:path h="331323" w="3766840">
                  <a:moveTo>
                    <a:pt x="0" y="0"/>
                  </a:moveTo>
                  <a:lnTo>
                    <a:pt x="3766840" y="0"/>
                  </a:lnTo>
                  <a:lnTo>
                    <a:pt x="3766840" y="331323"/>
                  </a:lnTo>
                  <a:lnTo>
                    <a:pt x="0" y="331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849" r="0" b="-171204"/>
              </a:stretch>
            </a:blipFill>
          </p:spPr>
        </p:sp>
        <p:sp>
          <p:nvSpPr>
            <p:cNvPr name="TextBox 447" id="447"/>
            <p:cNvSpPr txBox="true"/>
            <p:nvPr/>
          </p:nvSpPr>
          <p:spPr>
            <a:xfrm>
              <a:off x="0" y="-19050"/>
              <a:ext cx="3766845" cy="350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"/>
                </a:lnSpc>
              </a:pPr>
              <a:r>
                <a:rPr lang="en-US" sz="900" b="true">
                  <a:solidFill>
                    <a:srgbClr val="5605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1.85 lakh  </a:t>
              </a:r>
              <a:r>
                <a:rPr lang="en-US" sz="900">
                  <a:solidFill>
                    <a:srgbClr val="7A64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manufacturing 35%</a:t>
              </a:r>
            </a:p>
          </p:txBody>
        </p:sp>
      </p:grpSp>
      <p:grpSp>
        <p:nvGrpSpPr>
          <p:cNvPr name="Group 448" id="448"/>
          <p:cNvGrpSpPr/>
          <p:nvPr/>
        </p:nvGrpSpPr>
        <p:grpSpPr>
          <a:xfrm rot="0">
            <a:off x="14751320" y="5103096"/>
            <a:ext cx="2362162" cy="261272"/>
            <a:chOff x="0" y="0"/>
            <a:chExt cx="3149549" cy="348363"/>
          </a:xfrm>
        </p:grpSpPr>
        <p:sp>
          <p:nvSpPr>
            <p:cNvPr name="Freeform 449" id="449"/>
            <p:cNvSpPr/>
            <p:nvPr/>
          </p:nvSpPr>
          <p:spPr>
            <a:xfrm flipH="false" flipV="false" rot="0">
              <a:off x="0" y="0"/>
              <a:ext cx="3149600" cy="348451"/>
            </a:xfrm>
            <a:custGeom>
              <a:avLst/>
              <a:gdLst/>
              <a:ahLst/>
              <a:cxnLst/>
              <a:rect r="r" b="b" t="t" l="l"/>
              <a:pathLst>
                <a:path h="348451" w="3149600">
                  <a:moveTo>
                    <a:pt x="0" y="51641"/>
                  </a:moveTo>
                  <a:cubicBezTo>
                    <a:pt x="0" y="23136"/>
                    <a:pt x="22987" y="0"/>
                    <a:pt x="51308" y="0"/>
                  </a:cubicBezTo>
                  <a:lnTo>
                    <a:pt x="3098292" y="0"/>
                  </a:lnTo>
                  <a:cubicBezTo>
                    <a:pt x="3126613" y="0"/>
                    <a:pt x="3149600" y="23136"/>
                    <a:pt x="3149600" y="51641"/>
                  </a:cubicBezTo>
                  <a:lnTo>
                    <a:pt x="3149600" y="296811"/>
                  </a:lnTo>
                  <a:cubicBezTo>
                    <a:pt x="3149600" y="325316"/>
                    <a:pt x="3126613" y="348451"/>
                    <a:pt x="3098292" y="348451"/>
                  </a:cubicBezTo>
                  <a:lnTo>
                    <a:pt x="51308" y="348451"/>
                  </a:lnTo>
                  <a:cubicBezTo>
                    <a:pt x="22987" y="348324"/>
                    <a:pt x="0" y="325316"/>
                    <a:pt x="0" y="296811"/>
                  </a:cubicBezTo>
                  <a:close/>
                </a:path>
              </a:pathLst>
            </a:custGeom>
            <a:solidFill>
              <a:srgbClr val="F2E4EE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450" id="450"/>
          <p:cNvGrpSpPr/>
          <p:nvPr/>
        </p:nvGrpSpPr>
        <p:grpSpPr>
          <a:xfrm rot="0">
            <a:off x="14803393" y="5109490"/>
            <a:ext cx="2258016" cy="248493"/>
            <a:chOff x="0" y="0"/>
            <a:chExt cx="3010687" cy="331323"/>
          </a:xfrm>
        </p:grpSpPr>
        <p:sp>
          <p:nvSpPr>
            <p:cNvPr name="Freeform 451" id="451"/>
            <p:cNvSpPr/>
            <p:nvPr/>
          </p:nvSpPr>
          <p:spPr>
            <a:xfrm flipH="false" flipV="false" rot="0">
              <a:off x="0" y="0"/>
              <a:ext cx="3010692" cy="331323"/>
            </a:xfrm>
            <a:custGeom>
              <a:avLst/>
              <a:gdLst/>
              <a:ahLst/>
              <a:cxnLst/>
              <a:rect r="r" b="b" t="t" l="l"/>
              <a:pathLst>
                <a:path h="331323" w="3010692">
                  <a:moveTo>
                    <a:pt x="0" y="0"/>
                  </a:moveTo>
                  <a:lnTo>
                    <a:pt x="3010692" y="0"/>
                  </a:lnTo>
                  <a:lnTo>
                    <a:pt x="3010692" y="331323"/>
                  </a:lnTo>
                  <a:lnTo>
                    <a:pt x="0" y="331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380" r="0" b="-126734"/>
              </a:stretch>
            </a:blipFill>
          </p:spPr>
        </p:sp>
        <p:sp>
          <p:nvSpPr>
            <p:cNvPr name="TextBox 452" id="452"/>
            <p:cNvSpPr txBox="true"/>
            <p:nvPr/>
          </p:nvSpPr>
          <p:spPr>
            <a:xfrm>
              <a:off x="0" y="-9525"/>
              <a:ext cx="3010687" cy="340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"/>
                </a:lnSpc>
              </a:pPr>
              <a:r>
                <a:rPr lang="en-US" sz="800" b="true">
                  <a:solidFill>
                    <a:srgbClr val="5605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55,451  </a:t>
              </a:r>
              <a:r>
                <a:rPr lang="en-US" sz="800">
                  <a:solidFill>
                    <a:srgbClr val="7A64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Meesho cats 30%</a:t>
              </a:r>
            </a:p>
          </p:txBody>
        </p:sp>
      </p:grpSp>
      <p:grpSp>
        <p:nvGrpSpPr>
          <p:cNvPr name="Group 453" id="453"/>
          <p:cNvGrpSpPr/>
          <p:nvPr/>
        </p:nvGrpSpPr>
        <p:grpSpPr>
          <a:xfrm rot="0">
            <a:off x="15032974" y="5377281"/>
            <a:ext cx="1798853" cy="265107"/>
            <a:chOff x="0" y="0"/>
            <a:chExt cx="2398471" cy="353476"/>
          </a:xfrm>
        </p:grpSpPr>
        <p:sp>
          <p:nvSpPr>
            <p:cNvPr name="Freeform 454" id="454"/>
            <p:cNvSpPr/>
            <p:nvPr/>
          </p:nvSpPr>
          <p:spPr>
            <a:xfrm flipH="false" flipV="false" rot="0">
              <a:off x="0" y="0"/>
              <a:ext cx="2398522" cy="353564"/>
            </a:xfrm>
            <a:custGeom>
              <a:avLst/>
              <a:gdLst/>
              <a:ahLst/>
              <a:cxnLst/>
              <a:rect r="r" b="b" t="t" l="l"/>
              <a:pathLst>
                <a:path h="353564" w="2398522">
                  <a:moveTo>
                    <a:pt x="0" y="52408"/>
                  </a:moveTo>
                  <a:cubicBezTo>
                    <a:pt x="0" y="23392"/>
                    <a:pt x="23241" y="0"/>
                    <a:pt x="52070" y="0"/>
                  </a:cubicBezTo>
                  <a:lnTo>
                    <a:pt x="2346452" y="0"/>
                  </a:lnTo>
                  <a:cubicBezTo>
                    <a:pt x="2375154" y="0"/>
                    <a:pt x="2398522" y="23392"/>
                    <a:pt x="2398522" y="52408"/>
                  </a:cubicBezTo>
                  <a:lnTo>
                    <a:pt x="2398522" y="301157"/>
                  </a:lnTo>
                  <a:cubicBezTo>
                    <a:pt x="2398522" y="330045"/>
                    <a:pt x="2375281" y="353564"/>
                    <a:pt x="2346452" y="353564"/>
                  </a:cubicBezTo>
                  <a:lnTo>
                    <a:pt x="52070" y="353564"/>
                  </a:lnTo>
                  <a:cubicBezTo>
                    <a:pt x="23368" y="353564"/>
                    <a:pt x="0" y="330173"/>
                    <a:pt x="0" y="301157"/>
                  </a:cubicBezTo>
                  <a:close/>
                </a:path>
              </a:pathLst>
            </a:custGeom>
            <a:solidFill>
              <a:srgbClr val="FFF3D8"/>
            </a:solidFill>
            <a:ln w="1651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455" id="455"/>
          <p:cNvGrpSpPr/>
          <p:nvPr/>
        </p:nvGrpSpPr>
        <p:grpSpPr>
          <a:xfrm rot="0">
            <a:off x="15086943" y="5385593"/>
            <a:ext cx="1690907" cy="248493"/>
            <a:chOff x="0" y="0"/>
            <a:chExt cx="2254542" cy="331323"/>
          </a:xfrm>
        </p:grpSpPr>
        <p:sp>
          <p:nvSpPr>
            <p:cNvPr name="Freeform 456" id="456"/>
            <p:cNvSpPr/>
            <p:nvPr/>
          </p:nvSpPr>
          <p:spPr>
            <a:xfrm flipH="false" flipV="false" rot="0">
              <a:off x="0" y="0"/>
              <a:ext cx="2254544" cy="331323"/>
            </a:xfrm>
            <a:custGeom>
              <a:avLst/>
              <a:gdLst/>
              <a:ahLst/>
              <a:cxnLst/>
              <a:rect r="r" b="b" t="t" l="l"/>
              <a:pathLst>
                <a:path h="331323" w="2254544">
                  <a:moveTo>
                    <a:pt x="0" y="0"/>
                  </a:moveTo>
                  <a:lnTo>
                    <a:pt x="2254544" y="0"/>
                  </a:lnTo>
                  <a:lnTo>
                    <a:pt x="2254544" y="331323"/>
                  </a:lnTo>
                  <a:lnTo>
                    <a:pt x="0" y="331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911" r="0" b="-82266"/>
              </a:stretch>
            </a:blipFill>
          </p:spPr>
        </p:sp>
        <p:sp>
          <p:nvSpPr>
            <p:cNvPr name="TextBox 457" id="457"/>
            <p:cNvSpPr txBox="true"/>
            <p:nvPr/>
          </p:nvSpPr>
          <p:spPr>
            <a:xfrm>
              <a:off x="0" y="-19050"/>
              <a:ext cx="2254542" cy="350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40"/>
                </a:lnSpc>
              </a:pPr>
              <a:r>
                <a:rPr lang="en-US" sz="700" b="true">
                  <a:solidFill>
                    <a:srgbClr val="5605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19,408  </a:t>
              </a:r>
              <a:r>
                <a:rPr lang="en-US" sz="700">
                  <a:solidFill>
                    <a:srgbClr val="7A64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COI ≥ 3/4  35%</a:t>
              </a:r>
            </a:p>
          </p:txBody>
        </p:sp>
      </p:grpSp>
      <p:grpSp>
        <p:nvGrpSpPr>
          <p:cNvPr name="Group 458" id="458"/>
          <p:cNvGrpSpPr/>
          <p:nvPr/>
        </p:nvGrpSpPr>
        <p:grpSpPr>
          <a:xfrm rot="0">
            <a:off x="15276024" y="5653384"/>
            <a:ext cx="1312764" cy="265107"/>
            <a:chOff x="0" y="0"/>
            <a:chExt cx="1750352" cy="353476"/>
          </a:xfrm>
        </p:grpSpPr>
        <p:sp>
          <p:nvSpPr>
            <p:cNvPr name="Freeform 459" id="459"/>
            <p:cNvSpPr/>
            <p:nvPr/>
          </p:nvSpPr>
          <p:spPr>
            <a:xfrm flipH="false" flipV="false" rot="0">
              <a:off x="0" y="0"/>
              <a:ext cx="1750441" cy="353564"/>
            </a:xfrm>
            <a:custGeom>
              <a:avLst/>
              <a:gdLst/>
              <a:ahLst/>
              <a:cxnLst/>
              <a:rect r="r" b="b" t="t" l="l"/>
              <a:pathLst>
                <a:path h="353564" w="1750441">
                  <a:moveTo>
                    <a:pt x="0" y="52408"/>
                  </a:moveTo>
                  <a:cubicBezTo>
                    <a:pt x="0" y="23392"/>
                    <a:pt x="23241" y="0"/>
                    <a:pt x="52070" y="0"/>
                  </a:cubicBezTo>
                  <a:lnTo>
                    <a:pt x="1698371" y="0"/>
                  </a:lnTo>
                  <a:cubicBezTo>
                    <a:pt x="1727073" y="0"/>
                    <a:pt x="1750441" y="23392"/>
                    <a:pt x="1750441" y="52408"/>
                  </a:cubicBezTo>
                  <a:lnTo>
                    <a:pt x="1750441" y="301157"/>
                  </a:lnTo>
                  <a:cubicBezTo>
                    <a:pt x="1750441" y="330045"/>
                    <a:pt x="1727200" y="353564"/>
                    <a:pt x="1698371" y="353564"/>
                  </a:cubicBezTo>
                  <a:lnTo>
                    <a:pt x="52070" y="353564"/>
                  </a:lnTo>
                  <a:cubicBezTo>
                    <a:pt x="23368" y="353564"/>
                    <a:pt x="0" y="330173"/>
                    <a:pt x="0" y="301157"/>
                  </a:cubicBezTo>
                  <a:close/>
                </a:path>
              </a:pathLst>
            </a:custGeom>
            <a:solidFill>
              <a:srgbClr val="FFF3D8"/>
            </a:solidFill>
            <a:ln w="1651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460" id="460"/>
          <p:cNvGrpSpPr/>
          <p:nvPr/>
        </p:nvGrpSpPr>
        <p:grpSpPr>
          <a:xfrm rot="0">
            <a:off x="15329992" y="5661696"/>
            <a:ext cx="1204817" cy="248493"/>
            <a:chOff x="0" y="0"/>
            <a:chExt cx="1606423" cy="331323"/>
          </a:xfrm>
        </p:grpSpPr>
        <p:sp>
          <p:nvSpPr>
            <p:cNvPr name="Freeform 461" id="461"/>
            <p:cNvSpPr/>
            <p:nvPr/>
          </p:nvSpPr>
          <p:spPr>
            <a:xfrm flipH="false" flipV="false" rot="0">
              <a:off x="0" y="0"/>
              <a:ext cx="1606417" cy="331323"/>
            </a:xfrm>
            <a:custGeom>
              <a:avLst/>
              <a:gdLst/>
              <a:ahLst/>
              <a:cxnLst/>
              <a:rect r="r" b="b" t="t" l="l"/>
              <a:pathLst>
                <a:path h="331323" w="1606417">
                  <a:moveTo>
                    <a:pt x="0" y="0"/>
                  </a:moveTo>
                  <a:lnTo>
                    <a:pt x="1606417" y="0"/>
                  </a:lnTo>
                  <a:lnTo>
                    <a:pt x="1606417" y="331323"/>
                  </a:lnTo>
                  <a:lnTo>
                    <a:pt x="0" y="331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796" r="0" b="-44150"/>
              </a:stretch>
            </a:blipFill>
          </p:spPr>
        </p:sp>
        <p:sp>
          <p:nvSpPr>
            <p:cNvPr name="TextBox 462" id="462"/>
            <p:cNvSpPr txBox="true"/>
            <p:nvPr/>
          </p:nvSpPr>
          <p:spPr>
            <a:xfrm>
              <a:off x="0" y="-19050"/>
              <a:ext cx="1606423" cy="350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"/>
                </a:lnSpc>
              </a:pPr>
              <a:r>
                <a:rPr lang="en-US" sz="600" b="true">
                  <a:solidFill>
                    <a:srgbClr val="5605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11,645  </a:t>
              </a:r>
              <a:r>
                <a:rPr lang="en-US" sz="600">
                  <a:solidFill>
                    <a:srgbClr val="7A64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clusters</a:t>
              </a:r>
            </a:p>
          </p:txBody>
        </p:sp>
      </p:grpSp>
      <p:grpSp>
        <p:nvGrpSpPr>
          <p:cNvPr name="Group 463" id="463"/>
          <p:cNvGrpSpPr/>
          <p:nvPr/>
        </p:nvGrpSpPr>
        <p:grpSpPr>
          <a:xfrm rot="0">
            <a:off x="13900652" y="5986625"/>
            <a:ext cx="4063489" cy="564985"/>
            <a:chOff x="0" y="0"/>
            <a:chExt cx="5417985" cy="753313"/>
          </a:xfrm>
        </p:grpSpPr>
        <p:sp>
          <p:nvSpPr>
            <p:cNvPr name="Freeform 464" id="464"/>
            <p:cNvSpPr/>
            <p:nvPr/>
          </p:nvSpPr>
          <p:spPr>
            <a:xfrm flipH="false" flipV="false" rot="0">
              <a:off x="0" y="0"/>
              <a:ext cx="5417947" cy="753275"/>
            </a:xfrm>
            <a:custGeom>
              <a:avLst/>
              <a:gdLst/>
              <a:ahLst/>
              <a:cxnLst/>
              <a:rect r="r" b="b" t="t" l="l"/>
              <a:pathLst>
                <a:path h="753275" w="5417947">
                  <a:moveTo>
                    <a:pt x="0" y="62762"/>
                  </a:moveTo>
                  <a:cubicBezTo>
                    <a:pt x="0" y="28122"/>
                    <a:pt x="27940" y="0"/>
                    <a:pt x="62357" y="0"/>
                  </a:cubicBezTo>
                  <a:lnTo>
                    <a:pt x="5355590" y="0"/>
                  </a:lnTo>
                  <a:cubicBezTo>
                    <a:pt x="5390007" y="0"/>
                    <a:pt x="5417947" y="28122"/>
                    <a:pt x="5417947" y="62762"/>
                  </a:cubicBezTo>
                  <a:lnTo>
                    <a:pt x="5417947" y="690513"/>
                  </a:lnTo>
                  <a:cubicBezTo>
                    <a:pt x="5417947" y="725153"/>
                    <a:pt x="5390007" y="753275"/>
                    <a:pt x="5355590" y="753275"/>
                  </a:cubicBezTo>
                  <a:lnTo>
                    <a:pt x="62357" y="753275"/>
                  </a:lnTo>
                  <a:cubicBezTo>
                    <a:pt x="27940" y="753275"/>
                    <a:pt x="0" y="725153"/>
                    <a:pt x="0" y="690513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465" id="465"/>
          <p:cNvGrpSpPr/>
          <p:nvPr/>
        </p:nvGrpSpPr>
        <p:grpSpPr>
          <a:xfrm rot="0">
            <a:off x="13998445" y="6011426"/>
            <a:ext cx="3867912" cy="515392"/>
            <a:chOff x="0" y="0"/>
            <a:chExt cx="5157216" cy="687189"/>
          </a:xfrm>
        </p:grpSpPr>
        <p:sp>
          <p:nvSpPr>
            <p:cNvPr name="Freeform 466" id="466"/>
            <p:cNvSpPr/>
            <p:nvPr/>
          </p:nvSpPr>
          <p:spPr>
            <a:xfrm flipH="false" flipV="false" rot="0">
              <a:off x="0" y="0"/>
              <a:ext cx="5157216" cy="687189"/>
            </a:xfrm>
            <a:custGeom>
              <a:avLst/>
              <a:gdLst/>
              <a:ahLst/>
              <a:cxnLst/>
              <a:rect r="r" b="b" t="t" l="l"/>
              <a:pathLst>
                <a:path h="687189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687189"/>
                  </a:lnTo>
                  <a:lnTo>
                    <a:pt x="0" y="6871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554" r="0" b="-95908"/>
              </a:stretch>
            </a:blipFill>
          </p:spPr>
        </p:sp>
        <p:sp>
          <p:nvSpPr>
            <p:cNvPr name="TextBox 467" id="467"/>
            <p:cNvSpPr txBox="true"/>
            <p:nvPr/>
          </p:nvSpPr>
          <p:spPr>
            <a:xfrm>
              <a:off x="0" y="-9525"/>
              <a:ext cx="5157216" cy="696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3"/>
                </a:lnSpc>
              </a:pPr>
              <a:r>
                <a:rPr lang="en-US" sz="1200" b="true">
                  <a:solidFill>
                    <a:srgbClr val="FF9D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1,400 active C2M sellers by Yr 4</a:t>
              </a:r>
            </a:p>
            <a:p>
              <a:pPr algn="l">
                <a:lnSpc>
                  <a:spcPts val="1015"/>
                </a:lnSpc>
              </a:pPr>
              <a:r>
                <a:rPr lang="en-US" sz="900">
                  <a:solidFill>
                    <a:srgbClr val="FFF3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12% capture · ₹1,995 cr of NMV on a structurally cheaper cost base</a:t>
              </a:r>
            </a:p>
          </p:txBody>
        </p:sp>
      </p:grpSp>
      <p:grpSp>
        <p:nvGrpSpPr>
          <p:cNvPr name="Group 468" id="468"/>
          <p:cNvGrpSpPr/>
          <p:nvPr/>
        </p:nvGrpSpPr>
        <p:grpSpPr>
          <a:xfrm rot="0">
            <a:off x="13790924" y="6656225"/>
            <a:ext cx="4356097" cy="1576173"/>
            <a:chOff x="0" y="0"/>
            <a:chExt cx="5808129" cy="2101564"/>
          </a:xfrm>
        </p:grpSpPr>
        <p:sp>
          <p:nvSpPr>
            <p:cNvPr name="Freeform 469" id="469"/>
            <p:cNvSpPr/>
            <p:nvPr/>
          </p:nvSpPr>
          <p:spPr>
            <a:xfrm flipH="false" flipV="false" rot="0">
              <a:off x="0" y="0"/>
              <a:ext cx="5808218" cy="2101653"/>
            </a:xfrm>
            <a:custGeom>
              <a:avLst/>
              <a:gdLst/>
              <a:ahLst/>
              <a:cxnLst/>
              <a:rect r="r" b="b" t="t" l="l"/>
              <a:pathLst>
                <a:path h="2101653" w="5808218">
                  <a:moveTo>
                    <a:pt x="0" y="43985"/>
                  </a:moveTo>
                  <a:cubicBezTo>
                    <a:pt x="0" y="19670"/>
                    <a:pt x="27432" y="0"/>
                    <a:pt x="61341" y="0"/>
                  </a:cubicBezTo>
                  <a:lnTo>
                    <a:pt x="5746877" y="0"/>
                  </a:lnTo>
                  <a:cubicBezTo>
                    <a:pt x="5780786" y="0"/>
                    <a:pt x="5808218" y="19670"/>
                    <a:pt x="5808218" y="43985"/>
                  </a:cubicBezTo>
                  <a:lnTo>
                    <a:pt x="5808218" y="2057643"/>
                  </a:lnTo>
                  <a:cubicBezTo>
                    <a:pt x="5808218" y="2081958"/>
                    <a:pt x="5780786" y="2101653"/>
                    <a:pt x="5746877" y="2101653"/>
                  </a:cubicBezTo>
                  <a:lnTo>
                    <a:pt x="61341" y="2101653"/>
                  </a:lnTo>
                  <a:cubicBezTo>
                    <a:pt x="27432" y="2101653"/>
                    <a:pt x="0" y="2081958"/>
                    <a:pt x="0" y="2057643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470" id="470"/>
          <p:cNvGrpSpPr/>
          <p:nvPr/>
        </p:nvGrpSpPr>
        <p:grpSpPr>
          <a:xfrm rot="0">
            <a:off x="13790924" y="6662578"/>
            <a:ext cx="4356097" cy="323593"/>
            <a:chOff x="0" y="0"/>
            <a:chExt cx="5808129" cy="431457"/>
          </a:xfrm>
        </p:grpSpPr>
        <p:sp>
          <p:nvSpPr>
            <p:cNvPr name="Freeform 471" id="471"/>
            <p:cNvSpPr/>
            <p:nvPr/>
          </p:nvSpPr>
          <p:spPr>
            <a:xfrm flipH="false" flipV="false" rot="0">
              <a:off x="0" y="0"/>
              <a:ext cx="5808142" cy="431419"/>
            </a:xfrm>
            <a:custGeom>
              <a:avLst/>
              <a:gdLst/>
              <a:ahLst/>
              <a:cxnLst/>
              <a:rect r="r" b="b" t="t" l="l"/>
              <a:pathLst>
                <a:path h="431419" w="5808142">
                  <a:moveTo>
                    <a:pt x="37908" y="0"/>
                  </a:moveTo>
                  <a:lnTo>
                    <a:pt x="5770233" y="0"/>
                  </a:lnTo>
                  <a:cubicBezTo>
                    <a:pt x="5780287" y="0"/>
                    <a:pt x="5789930" y="3994"/>
                    <a:pt x="5797038" y="11103"/>
                  </a:cubicBezTo>
                  <a:cubicBezTo>
                    <a:pt x="5804148" y="18212"/>
                    <a:pt x="5808142" y="27854"/>
                    <a:pt x="5808142" y="37908"/>
                  </a:cubicBezTo>
                  <a:lnTo>
                    <a:pt x="5808142" y="393511"/>
                  </a:lnTo>
                  <a:cubicBezTo>
                    <a:pt x="5808142" y="414447"/>
                    <a:pt x="5791170" y="431419"/>
                    <a:pt x="5770233" y="431419"/>
                  </a:cubicBezTo>
                  <a:lnTo>
                    <a:pt x="37908" y="431419"/>
                  </a:lnTo>
                  <a:cubicBezTo>
                    <a:pt x="16972" y="431419"/>
                    <a:pt x="0" y="414447"/>
                    <a:pt x="0" y="393511"/>
                  </a:cubicBezTo>
                  <a:lnTo>
                    <a:pt x="0" y="37908"/>
                  </a:lnTo>
                  <a:cubicBezTo>
                    <a:pt x="0" y="16972"/>
                    <a:pt x="16972" y="0"/>
                    <a:pt x="37908" y="0"/>
                  </a:cubicBezTo>
                  <a:close/>
                </a:path>
              </a:pathLst>
            </a:custGeom>
            <a:solidFill>
              <a:srgbClr val="8A245E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472" id="472"/>
          <p:cNvGrpSpPr/>
          <p:nvPr/>
        </p:nvGrpSpPr>
        <p:grpSpPr>
          <a:xfrm rot="0">
            <a:off x="13879578" y="6673827"/>
            <a:ext cx="4105656" cy="310896"/>
            <a:chOff x="0" y="0"/>
            <a:chExt cx="5474208" cy="414528"/>
          </a:xfrm>
        </p:grpSpPr>
        <p:sp>
          <p:nvSpPr>
            <p:cNvPr name="Freeform 473" id="473"/>
            <p:cNvSpPr/>
            <p:nvPr/>
          </p:nvSpPr>
          <p:spPr>
            <a:xfrm flipH="false" flipV="false" rot="0">
              <a:off x="0" y="0"/>
              <a:ext cx="5474208" cy="414528"/>
            </a:xfrm>
            <a:custGeom>
              <a:avLst/>
              <a:gdLst/>
              <a:ahLst/>
              <a:cxnLst/>
              <a:rect r="r" b="b" t="t" l="l"/>
              <a:pathLst>
                <a:path h="414528" w="5474208">
                  <a:moveTo>
                    <a:pt x="0" y="0"/>
                  </a:moveTo>
                  <a:lnTo>
                    <a:pt x="5474208" y="0"/>
                  </a:lnTo>
                  <a:lnTo>
                    <a:pt x="5474208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7317" r="0" b="-207317"/>
              </a:stretch>
            </a:blipFill>
          </p:spPr>
        </p:sp>
        <p:sp>
          <p:nvSpPr>
            <p:cNvPr name="TextBox 474" id="474"/>
            <p:cNvSpPr txBox="true"/>
            <p:nvPr/>
          </p:nvSpPr>
          <p:spPr>
            <a:xfrm>
              <a:off x="0" y="-19050"/>
              <a:ext cx="5474208" cy="433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 Design · methods, sources, coverage</a:t>
              </a:r>
            </a:p>
          </p:txBody>
        </p:sp>
      </p:grpSp>
      <p:graphicFrame>
        <p:nvGraphicFramePr>
          <p:cNvPr name="Table 475" id="475"/>
          <p:cNvGraphicFramePr>
            <a:graphicFrameLocks noGrp="true"/>
          </p:cNvGraphicFramePr>
          <p:nvPr/>
        </p:nvGraphicFramePr>
        <p:xfrm>
          <a:off x="13917922" y="7052846"/>
          <a:ext cx="4102100" cy="1066800"/>
        </p:xfrm>
        <a:graphic>
          <a:graphicData uri="http://schemas.openxmlformats.org/drawingml/2006/table">
            <a:tbl>
              <a:tblPr/>
              <a:tblGrid>
                <a:gridCol w="1992363"/>
                <a:gridCol w="646677"/>
                <a:gridCol w="1463060"/>
              </a:tblGrid>
              <a:tr h="177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Method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Output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</a:tr>
              <a:tr h="177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Manufacturer interviews, 3 cohorts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 / cohort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Objection set, barrier grid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Cluster walk-throughs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Cost Ownership Index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Platform teardown: fees, feed, panel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 cats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Landed-price medians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Filings, calls, Udyam, cluster studies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FY26 baseline + addressable base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Global C2M teardowns, 5 markets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Mechanic and scale library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476" id="476"/>
          <p:cNvGrpSpPr/>
          <p:nvPr/>
        </p:nvGrpSpPr>
        <p:grpSpPr>
          <a:xfrm rot="0">
            <a:off x="17493522" y="7603515"/>
            <a:ext cx="199271" cy="182880"/>
            <a:chOff x="0" y="0"/>
            <a:chExt cx="265695" cy="243840"/>
          </a:xfrm>
        </p:grpSpPr>
        <p:sp>
          <p:nvSpPr>
            <p:cNvPr name="Freeform 477" id="477" descr="search.png"/>
            <p:cNvSpPr/>
            <p:nvPr/>
          </p:nvSpPr>
          <p:spPr>
            <a:xfrm flipH="false" flipV="false" rot="0">
              <a:off x="0" y="0"/>
              <a:ext cx="265695" cy="243840"/>
            </a:xfrm>
            <a:custGeom>
              <a:avLst/>
              <a:gdLst/>
              <a:ahLst/>
              <a:cxnLst/>
              <a:rect r="r" b="b" t="t" l="l"/>
              <a:pathLst>
                <a:path h="243840" w="265695">
                  <a:moveTo>
                    <a:pt x="0" y="0"/>
                  </a:moveTo>
                  <a:lnTo>
                    <a:pt x="265695" y="0"/>
                  </a:lnTo>
                  <a:lnTo>
                    <a:pt x="265695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481" r="0" b="-4481"/>
              </a:stretch>
            </a:blipFill>
          </p:spPr>
        </p:sp>
      </p:grpSp>
      <p:grpSp>
        <p:nvGrpSpPr>
          <p:cNvPr name="Group 478" id="478"/>
          <p:cNvGrpSpPr/>
          <p:nvPr/>
        </p:nvGrpSpPr>
        <p:grpSpPr>
          <a:xfrm rot="0">
            <a:off x="10673221" y="908052"/>
            <a:ext cx="2408502" cy="881377"/>
            <a:chOff x="0" y="0"/>
            <a:chExt cx="3211336" cy="1175169"/>
          </a:xfrm>
        </p:grpSpPr>
        <p:sp>
          <p:nvSpPr>
            <p:cNvPr name="Freeform 479" id="479"/>
            <p:cNvSpPr/>
            <p:nvPr/>
          </p:nvSpPr>
          <p:spPr>
            <a:xfrm flipH="false" flipV="false" rot="0">
              <a:off x="0" y="0"/>
              <a:ext cx="3211292" cy="1175131"/>
            </a:xfrm>
            <a:custGeom>
              <a:avLst/>
              <a:gdLst/>
              <a:ahLst/>
              <a:cxnLst/>
              <a:rect r="r" b="b" t="t" l="l"/>
              <a:pathLst>
                <a:path h="1175131" w="3211292">
                  <a:moveTo>
                    <a:pt x="0" y="61849"/>
                  </a:moveTo>
                  <a:cubicBezTo>
                    <a:pt x="0" y="27686"/>
                    <a:pt x="31739" y="0"/>
                    <a:pt x="70903" y="0"/>
                  </a:cubicBezTo>
                  <a:lnTo>
                    <a:pt x="3140389" y="0"/>
                  </a:lnTo>
                  <a:cubicBezTo>
                    <a:pt x="3179553" y="0"/>
                    <a:pt x="3211292" y="27686"/>
                    <a:pt x="3211292" y="61849"/>
                  </a:cubicBezTo>
                  <a:lnTo>
                    <a:pt x="3211292" y="1113282"/>
                  </a:lnTo>
                  <a:cubicBezTo>
                    <a:pt x="3211292" y="1147445"/>
                    <a:pt x="3179553" y="1175131"/>
                    <a:pt x="3140389" y="1175131"/>
                  </a:cubicBezTo>
                  <a:lnTo>
                    <a:pt x="70903" y="1175131"/>
                  </a:lnTo>
                  <a:cubicBezTo>
                    <a:pt x="31739" y="1175131"/>
                    <a:pt x="0" y="1147445"/>
                    <a:pt x="0" y="1113282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sp>
        <p:nvSpPr>
          <p:cNvPr name="TextBox 480" id="480"/>
          <p:cNvSpPr txBox="true"/>
          <p:nvPr/>
        </p:nvSpPr>
        <p:spPr>
          <a:xfrm rot="0">
            <a:off x="10743400" y="1348745"/>
            <a:ext cx="2268156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Meesho share of India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value e-commerce</a:t>
            </a:r>
          </a:p>
        </p:txBody>
      </p:sp>
      <p:grpSp>
        <p:nvGrpSpPr>
          <p:cNvPr name="Group 481" id="481"/>
          <p:cNvGrpSpPr/>
          <p:nvPr/>
        </p:nvGrpSpPr>
        <p:grpSpPr>
          <a:xfrm rot="0">
            <a:off x="10722435" y="960125"/>
            <a:ext cx="2310086" cy="416966"/>
            <a:chOff x="0" y="0"/>
            <a:chExt cx="3080115" cy="555955"/>
          </a:xfrm>
        </p:grpSpPr>
        <p:sp>
          <p:nvSpPr>
            <p:cNvPr name="Freeform 482" id="482"/>
            <p:cNvSpPr/>
            <p:nvPr/>
          </p:nvSpPr>
          <p:spPr>
            <a:xfrm flipH="false" flipV="false" rot="0">
              <a:off x="0" y="0"/>
              <a:ext cx="3080115" cy="555954"/>
            </a:xfrm>
            <a:custGeom>
              <a:avLst/>
              <a:gdLst/>
              <a:ahLst/>
              <a:cxnLst/>
              <a:rect r="r" b="b" t="t" l="l"/>
              <a:pathLst>
                <a:path h="555954" w="3080115">
                  <a:moveTo>
                    <a:pt x="0" y="0"/>
                  </a:moveTo>
                  <a:lnTo>
                    <a:pt x="3080115" y="0"/>
                  </a:lnTo>
                  <a:lnTo>
                    <a:pt x="3080115" y="555954"/>
                  </a:lnTo>
                  <a:lnTo>
                    <a:pt x="0" y="5559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67" r="12769" b="-44167"/>
              </a:stretch>
            </a:blipFill>
          </p:spPr>
        </p:sp>
        <p:sp>
          <p:nvSpPr>
            <p:cNvPr name="TextBox 483" id="483"/>
            <p:cNvSpPr txBox="true"/>
            <p:nvPr/>
          </p:nvSpPr>
          <p:spPr>
            <a:xfrm>
              <a:off x="0" y="-19050"/>
              <a:ext cx="3080115" cy="57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35%</a:t>
              </a:r>
            </a:p>
          </p:txBody>
        </p:sp>
      </p:grpSp>
      <p:grpSp>
        <p:nvGrpSpPr>
          <p:cNvPr name="Group 484" id="484"/>
          <p:cNvGrpSpPr/>
          <p:nvPr/>
        </p:nvGrpSpPr>
        <p:grpSpPr>
          <a:xfrm rot="0">
            <a:off x="4274517" y="1880073"/>
            <a:ext cx="604164" cy="270965"/>
            <a:chOff x="0" y="0"/>
            <a:chExt cx="1288221" cy="577761"/>
          </a:xfrm>
        </p:grpSpPr>
        <p:sp>
          <p:nvSpPr>
            <p:cNvPr name="Freeform 485" id="485"/>
            <p:cNvSpPr/>
            <p:nvPr/>
          </p:nvSpPr>
          <p:spPr>
            <a:xfrm flipH="false" flipV="false" rot="0">
              <a:off x="0" y="0"/>
              <a:ext cx="1288310" cy="577850"/>
            </a:xfrm>
            <a:custGeom>
              <a:avLst/>
              <a:gdLst/>
              <a:ahLst/>
              <a:cxnLst/>
              <a:rect r="r" b="b" t="t" l="l"/>
              <a:pathLst>
                <a:path h="577850" w="1288310">
                  <a:moveTo>
                    <a:pt x="0" y="62865"/>
                  </a:moveTo>
                  <a:cubicBezTo>
                    <a:pt x="0" y="28067"/>
                    <a:pt x="25263" y="0"/>
                    <a:pt x="56585" y="0"/>
                  </a:cubicBezTo>
                  <a:lnTo>
                    <a:pt x="1231716" y="0"/>
                  </a:lnTo>
                  <a:cubicBezTo>
                    <a:pt x="1262924" y="0"/>
                    <a:pt x="1288310" y="28067"/>
                    <a:pt x="1288310" y="62865"/>
                  </a:cubicBezTo>
                  <a:lnTo>
                    <a:pt x="1288310" y="514985"/>
                  </a:lnTo>
                  <a:cubicBezTo>
                    <a:pt x="1288310" y="549656"/>
                    <a:pt x="1263038" y="577850"/>
                    <a:pt x="1231716" y="577850"/>
                  </a:cubicBezTo>
                  <a:lnTo>
                    <a:pt x="56585" y="577850"/>
                  </a:lnTo>
                  <a:cubicBezTo>
                    <a:pt x="25263" y="577723"/>
                    <a:pt x="0" y="549656"/>
                    <a:pt x="0" y="514985"/>
                  </a:cubicBez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486" id="486"/>
          <p:cNvGrpSpPr/>
          <p:nvPr/>
        </p:nvGrpSpPr>
        <p:grpSpPr>
          <a:xfrm rot="0">
            <a:off x="4386029" y="1840611"/>
            <a:ext cx="428866" cy="263025"/>
            <a:chOff x="0" y="0"/>
            <a:chExt cx="914444" cy="560832"/>
          </a:xfrm>
        </p:grpSpPr>
        <p:sp>
          <p:nvSpPr>
            <p:cNvPr name="Freeform 487" id="487"/>
            <p:cNvSpPr/>
            <p:nvPr/>
          </p:nvSpPr>
          <p:spPr>
            <a:xfrm flipH="false" flipV="false" rot="0">
              <a:off x="0" y="0"/>
              <a:ext cx="914444" cy="560832"/>
            </a:xfrm>
            <a:custGeom>
              <a:avLst/>
              <a:gdLst/>
              <a:ahLst/>
              <a:cxnLst/>
              <a:rect r="r" b="b" t="t" l="l"/>
              <a:pathLst>
                <a:path h="560832" w="914444">
                  <a:moveTo>
                    <a:pt x="0" y="0"/>
                  </a:moveTo>
                  <a:lnTo>
                    <a:pt x="914444" y="0"/>
                  </a:lnTo>
                  <a:lnTo>
                    <a:pt x="914444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59" t="0" r="-56018" b="0"/>
              </a:stretch>
            </a:blipFill>
          </p:spPr>
        </p:sp>
        <p:sp>
          <p:nvSpPr>
            <p:cNvPr name="TextBox 488" id="488"/>
            <p:cNvSpPr txBox="true"/>
            <p:nvPr/>
          </p:nvSpPr>
          <p:spPr>
            <a:xfrm>
              <a:off x="0" y="-19050"/>
              <a:ext cx="914444" cy="579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72%</a:t>
              </a:r>
            </a:p>
          </p:txBody>
        </p:sp>
      </p:grpSp>
      <p:grpSp>
        <p:nvGrpSpPr>
          <p:cNvPr name="Group 489" id="489"/>
          <p:cNvGrpSpPr/>
          <p:nvPr/>
        </p:nvGrpSpPr>
        <p:grpSpPr>
          <a:xfrm rot="0">
            <a:off x="4336855" y="2006229"/>
            <a:ext cx="479488" cy="194815"/>
            <a:chOff x="0" y="0"/>
            <a:chExt cx="639317" cy="259753"/>
          </a:xfrm>
        </p:grpSpPr>
        <p:sp>
          <p:nvSpPr>
            <p:cNvPr name="Freeform 490" id="490"/>
            <p:cNvSpPr/>
            <p:nvPr/>
          </p:nvSpPr>
          <p:spPr>
            <a:xfrm flipH="false" flipV="false" rot="0">
              <a:off x="0" y="0"/>
              <a:ext cx="639317" cy="259753"/>
            </a:xfrm>
            <a:custGeom>
              <a:avLst/>
              <a:gdLst/>
              <a:ahLst/>
              <a:cxnLst/>
              <a:rect r="r" b="b" t="t" l="l"/>
              <a:pathLst>
                <a:path h="259753" w="639317">
                  <a:moveTo>
                    <a:pt x="0" y="0"/>
                  </a:moveTo>
                  <a:lnTo>
                    <a:pt x="639317" y="0"/>
                  </a:lnTo>
                  <a:lnTo>
                    <a:pt x="639317" y="259753"/>
                  </a:lnTo>
                  <a:lnTo>
                    <a:pt x="0" y="259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2" r="-504530" b="-297872"/>
              </a:stretch>
            </a:blipFill>
          </p:spPr>
        </p:sp>
        <p:sp>
          <p:nvSpPr>
            <p:cNvPr name="TextBox 491" id="491"/>
            <p:cNvSpPr txBox="true"/>
            <p:nvPr/>
          </p:nvSpPr>
          <p:spPr>
            <a:xfrm>
              <a:off x="0" y="-19050"/>
              <a:ext cx="639317" cy="27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40"/>
                </a:lnSpc>
              </a:pPr>
              <a:r>
                <a:rPr lang="en-US" sz="700">
                  <a:solidFill>
                    <a:srgbClr val="5A0F4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firms</a:t>
              </a:r>
            </a:p>
          </p:txBody>
        </p:sp>
      </p:grpSp>
      <p:grpSp>
        <p:nvGrpSpPr>
          <p:cNvPr name="Group 492" id="492"/>
          <p:cNvGrpSpPr/>
          <p:nvPr/>
        </p:nvGrpSpPr>
        <p:grpSpPr>
          <a:xfrm rot="0">
            <a:off x="13005870" y="1871043"/>
            <a:ext cx="604164" cy="270965"/>
            <a:chOff x="0" y="0"/>
            <a:chExt cx="1288221" cy="577761"/>
          </a:xfrm>
        </p:grpSpPr>
        <p:sp>
          <p:nvSpPr>
            <p:cNvPr name="Freeform 493" id="493"/>
            <p:cNvSpPr/>
            <p:nvPr/>
          </p:nvSpPr>
          <p:spPr>
            <a:xfrm flipH="false" flipV="false" rot="0">
              <a:off x="0" y="0"/>
              <a:ext cx="1288310" cy="577850"/>
            </a:xfrm>
            <a:custGeom>
              <a:avLst/>
              <a:gdLst/>
              <a:ahLst/>
              <a:cxnLst/>
              <a:rect r="r" b="b" t="t" l="l"/>
              <a:pathLst>
                <a:path h="577850" w="1288310">
                  <a:moveTo>
                    <a:pt x="0" y="62865"/>
                  </a:moveTo>
                  <a:cubicBezTo>
                    <a:pt x="0" y="28067"/>
                    <a:pt x="25263" y="0"/>
                    <a:pt x="56585" y="0"/>
                  </a:cubicBezTo>
                  <a:lnTo>
                    <a:pt x="1231716" y="0"/>
                  </a:lnTo>
                  <a:cubicBezTo>
                    <a:pt x="1262924" y="0"/>
                    <a:pt x="1288310" y="28067"/>
                    <a:pt x="1288310" y="62865"/>
                  </a:cubicBezTo>
                  <a:lnTo>
                    <a:pt x="1288310" y="514985"/>
                  </a:lnTo>
                  <a:cubicBezTo>
                    <a:pt x="1288310" y="549656"/>
                    <a:pt x="1263038" y="577850"/>
                    <a:pt x="1231716" y="577850"/>
                  </a:cubicBezTo>
                  <a:lnTo>
                    <a:pt x="56585" y="577850"/>
                  </a:lnTo>
                  <a:cubicBezTo>
                    <a:pt x="25263" y="577723"/>
                    <a:pt x="0" y="549656"/>
                    <a:pt x="0" y="514985"/>
                  </a:cubicBez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494" id="494"/>
          <p:cNvGrpSpPr/>
          <p:nvPr/>
        </p:nvGrpSpPr>
        <p:grpSpPr>
          <a:xfrm rot="0">
            <a:off x="13069720" y="1840611"/>
            <a:ext cx="476466" cy="263025"/>
            <a:chOff x="0" y="0"/>
            <a:chExt cx="1015938" cy="560832"/>
          </a:xfrm>
        </p:grpSpPr>
        <p:sp>
          <p:nvSpPr>
            <p:cNvPr name="Freeform 495" id="495"/>
            <p:cNvSpPr/>
            <p:nvPr/>
          </p:nvSpPr>
          <p:spPr>
            <a:xfrm flipH="false" flipV="false" rot="0">
              <a:off x="0" y="0"/>
              <a:ext cx="1015938" cy="560832"/>
            </a:xfrm>
            <a:custGeom>
              <a:avLst/>
              <a:gdLst/>
              <a:ahLst/>
              <a:cxnLst/>
              <a:rect r="r" b="b" t="t" l="l"/>
              <a:pathLst>
                <a:path h="560832" w="1015938">
                  <a:moveTo>
                    <a:pt x="0" y="0"/>
                  </a:moveTo>
                  <a:lnTo>
                    <a:pt x="1015938" y="0"/>
                  </a:lnTo>
                  <a:lnTo>
                    <a:pt x="1015938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23" t="0" r="-40432" b="0"/>
              </a:stretch>
            </a:blipFill>
          </p:spPr>
        </p:sp>
        <p:sp>
          <p:nvSpPr>
            <p:cNvPr name="TextBox 496" id="496"/>
            <p:cNvSpPr txBox="true"/>
            <p:nvPr/>
          </p:nvSpPr>
          <p:spPr>
            <a:xfrm>
              <a:off x="0" y="-19050"/>
              <a:ext cx="1015938" cy="5798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0"/>
                </a:lnSpc>
              </a:pPr>
              <a:r>
                <a:rPr lang="en-US" sz="13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9%</a:t>
              </a:r>
            </a:p>
          </p:txBody>
        </p:sp>
      </p:grpSp>
      <p:grpSp>
        <p:nvGrpSpPr>
          <p:cNvPr name="Group 497" id="497"/>
          <p:cNvGrpSpPr/>
          <p:nvPr/>
        </p:nvGrpSpPr>
        <p:grpSpPr>
          <a:xfrm rot="0">
            <a:off x="13041599" y="2006229"/>
            <a:ext cx="532706" cy="194815"/>
            <a:chOff x="0" y="0"/>
            <a:chExt cx="710275" cy="259753"/>
          </a:xfrm>
        </p:grpSpPr>
        <p:sp>
          <p:nvSpPr>
            <p:cNvPr name="Freeform 498" id="498"/>
            <p:cNvSpPr/>
            <p:nvPr/>
          </p:nvSpPr>
          <p:spPr>
            <a:xfrm flipH="false" flipV="false" rot="0">
              <a:off x="0" y="0"/>
              <a:ext cx="710275" cy="259753"/>
            </a:xfrm>
            <a:custGeom>
              <a:avLst/>
              <a:gdLst/>
              <a:ahLst/>
              <a:cxnLst/>
              <a:rect r="r" b="b" t="t" l="l"/>
              <a:pathLst>
                <a:path h="259753" w="710275">
                  <a:moveTo>
                    <a:pt x="0" y="0"/>
                  </a:moveTo>
                  <a:lnTo>
                    <a:pt x="710275" y="0"/>
                  </a:lnTo>
                  <a:lnTo>
                    <a:pt x="710275" y="259753"/>
                  </a:lnTo>
                  <a:lnTo>
                    <a:pt x="0" y="259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2" r="-444136" b="-297872"/>
              </a:stretch>
            </a:blipFill>
          </p:spPr>
        </p:sp>
        <p:sp>
          <p:nvSpPr>
            <p:cNvPr name="TextBox 499" id="499"/>
            <p:cNvSpPr txBox="true"/>
            <p:nvPr/>
          </p:nvSpPr>
          <p:spPr>
            <a:xfrm>
              <a:off x="0" y="-19050"/>
              <a:ext cx="710275" cy="27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40"/>
                </a:lnSpc>
              </a:pPr>
              <a:r>
                <a:rPr lang="en-US" sz="700">
                  <a:solidFill>
                    <a:srgbClr val="5A0F4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firms</a:t>
              </a:r>
            </a:p>
          </p:txBody>
        </p:sp>
      </p:grpSp>
      <p:sp>
        <p:nvSpPr>
          <p:cNvPr name="Freeform 500" id="500"/>
          <p:cNvSpPr/>
          <p:nvPr/>
        </p:nvSpPr>
        <p:spPr>
          <a:xfrm flipH="false" flipV="false" rot="0">
            <a:off x="14272937" y="8173424"/>
            <a:ext cx="3419856" cy="2073825"/>
          </a:xfrm>
          <a:custGeom>
            <a:avLst/>
            <a:gdLst/>
            <a:ahLst/>
            <a:cxnLst/>
            <a:rect r="r" b="b" t="t" l="l"/>
            <a:pathLst>
              <a:path h="2073825" w="3419856">
                <a:moveTo>
                  <a:pt x="0" y="0"/>
                </a:moveTo>
                <a:lnTo>
                  <a:pt x="3419856" y="0"/>
                </a:lnTo>
                <a:lnTo>
                  <a:pt x="3419856" y="2073825"/>
                </a:lnTo>
                <a:lnTo>
                  <a:pt x="0" y="20738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968" r="0" b="-4968"/>
            </a:stretch>
          </a:blipFill>
        </p:spPr>
      </p:sp>
      <p:sp>
        <p:nvSpPr>
          <p:cNvPr name="TextBox 501" id="501"/>
          <p:cNvSpPr txBox="true"/>
          <p:nvPr/>
        </p:nvSpPr>
        <p:spPr>
          <a:xfrm rot="0">
            <a:off x="703905" y="1348740"/>
            <a:ext cx="2268156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FY26 NMV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+39% YoY</a:t>
            </a:r>
          </a:p>
        </p:txBody>
      </p:sp>
      <p:sp>
        <p:nvSpPr>
          <p:cNvPr name="TextBox 502" id="502"/>
          <p:cNvSpPr txBox="true"/>
          <p:nvPr/>
        </p:nvSpPr>
        <p:spPr>
          <a:xfrm rot="0">
            <a:off x="3213159" y="1348740"/>
            <a:ext cx="2268156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FY26 AOV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down 3% YoY</a:t>
            </a:r>
          </a:p>
        </p:txBody>
      </p:sp>
      <p:sp>
        <p:nvSpPr>
          <p:cNvPr name="TextBox 503" id="503"/>
          <p:cNvSpPr txBox="true"/>
          <p:nvPr/>
        </p:nvSpPr>
        <p:spPr>
          <a:xfrm rot="0">
            <a:off x="5722413" y="1348740"/>
            <a:ext cx="2268156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contribution margin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% of NMV</a:t>
            </a:r>
          </a:p>
        </p:txBody>
      </p:sp>
      <p:sp>
        <p:nvSpPr>
          <p:cNvPr name="TextBox 504" id="504"/>
          <p:cNvSpPr txBox="true"/>
          <p:nvPr/>
        </p:nvSpPr>
        <p:spPr>
          <a:xfrm rot="0">
            <a:off x="8231667" y="1348740"/>
            <a:ext cx="2268156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commission, now matched by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Amazon &amp; Flipkart &lt;₹1,000</a:t>
            </a:r>
          </a:p>
        </p:txBody>
      </p:sp>
      <p:sp>
        <p:nvSpPr>
          <p:cNvPr name="TextBox 505" id="505"/>
          <p:cNvSpPr txBox="true"/>
          <p:nvPr/>
        </p:nvSpPr>
        <p:spPr>
          <a:xfrm rot="0">
            <a:off x="13250175" y="1348740"/>
            <a:ext cx="2268156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RTO on COD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COD is 75%+ of volume</a:t>
            </a:r>
          </a:p>
        </p:txBody>
      </p:sp>
      <p:sp>
        <p:nvSpPr>
          <p:cNvPr name="TextBox 506" id="506"/>
          <p:cNvSpPr txBox="true"/>
          <p:nvPr/>
        </p:nvSpPr>
        <p:spPr>
          <a:xfrm rot="0">
            <a:off x="15759429" y="1348740"/>
            <a:ext cx="2268156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Udyam MSMEs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98.9% are micro</a:t>
            </a:r>
          </a:p>
        </p:txBody>
      </p:sp>
      <p:sp>
        <p:nvSpPr>
          <p:cNvPr name="TextBox 507" id="507"/>
          <p:cNvSpPr txBox="true"/>
          <p:nvPr/>
        </p:nvSpPr>
        <p:spPr>
          <a:xfrm rot="0">
            <a:off x="704750" y="2196403"/>
            <a:ext cx="447755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650" indent="-60325" lvl="1">
              <a:lnSpc>
                <a:spcPts val="1199"/>
              </a:lnSpc>
              <a:buFont typeface="Arial"/>
              <a:buChar char="•"/>
            </a:pPr>
            <a:r>
              <a:rPr lang="en-US" b="true" sz="999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Profile  </a:t>
            </a:r>
            <a:r>
              <a:rPr lang="en-US" sz="999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Made to order, distributor-fed, zero returns, 45-60 day terms</a:t>
            </a:r>
          </a:p>
          <a:p>
            <a:pPr algn="l" marL="120650" indent="-60325" lvl="1">
              <a:lnSpc>
                <a:spcPts val="1199"/>
              </a:lnSpc>
              <a:buFont typeface="Arial"/>
              <a:buChar char="•"/>
            </a:pPr>
            <a:r>
              <a:rPr lang="en-US" b="true" sz="999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Barrier  </a:t>
            </a:r>
            <a:r>
              <a:rPr lang="en-US" sz="999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No unit-level ops. Build-to-stock is a balance-sheet change</a:t>
            </a:r>
          </a:p>
          <a:p>
            <a:pPr algn="l" marL="120650" indent="-60325" lvl="1">
              <a:lnSpc>
                <a:spcPts val="1199"/>
              </a:lnSpc>
              <a:buFont typeface="Arial"/>
              <a:buChar char="•"/>
            </a:pPr>
            <a:r>
              <a:rPr lang="en-US" b="true" sz="999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Motivation  </a:t>
            </a:r>
            <a:r>
              <a:rPr lang="en-US" sz="999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Idle capacity; export volatility; concentrated distributor/customer</a:t>
            </a:r>
          </a:p>
        </p:txBody>
      </p:sp>
      <p:sp>
        <p:nvSpPr>
          <p:cNvPr name="TextBox 508" id="508"/>
          <p:cNvSpPr txBox="true"/>
          <p:nvPr/>
        </p:nvSpPr>
        <p:spPr>
          <a:xfrm rot="0">
            <a:off x="5096764" y="2222636"/>
            <a:ext cx="405079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650" indent="-60325" lvl="1">
              <a:lnSpc>
                <a:spcPts val="1199"/>
              </a:lnSpc>
              <a:buFont typeface="Arial"/>
              <a:buChar char="•"/>
            </a:pPr>
            <a:r>
              <a:rPr lang="en-US" b="true" sz="999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Profile  </a:t>
            </a:r>
            <a:r>
              <a:rPr lang="en-US" sz="999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On Amazon, Flipkart or own D2C. GST and catalogue already done</a:t>
            </a:r>
          </a:p>
          <a:p>
            <a:pPr algn="l" marL="120650" indent="-60325" lvl="1">
              <a:lnSpc>
                <a:spcPts val="1199"/>
              </a:lnSpc>
              <a:buFont typeface="Arial"/>
              <a:buChar char="•"/>
            </a:pPr>
            <a:r>
              <a:rPr lang="en-US" b="true" sz="999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Barrier  </a:t>
            </a:r>
            <a:r>
              <a:rPr lang="en-US" sz="999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Thinks Meesho's price point sits below its cost line; brand risk</a:t>
            </a:r>
          </a:p>
          <a:p>
            <a:pPr algn="l" marL="120650" indent="-60325" lvl="1">
              <a:lnSpc>
                <a:spcPts val="1199"/>
              </a:lnSpc>
              <a:buFont typeface="Arial"/>
              <a:buChar char="•"/>
            </a:pPr>
            <a:r>
              <a:rPr lang="en-US" b="true" sz="999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Motivation  </a:t>
            </a:r>
            <a:r>
              <a:rPr lang="en-US" sz="999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264Mn+ users and a Tier-2+ base it cannot reach elsewhere</a:t>
            </a:r>
          </a:p>
        </p:txBody>
      </p:sp>
      <p:sp>
        <p:nvSpPr>
          <p:cNvPr name="TextBox 509" id="509"/>
          <p:cNvSpPr txBox="true"/>
          <p:nvPr/>
        </p:nvSpPr>
        <p:spPr>
          <a:xfrm rot="0">
            <a:off x="9509765" y="2231328"/>
            <a:ext cx="405079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650" indent="-60325" lvl="1">
              <a:lnSpc>
                <a:spcPts val="1199"/>
              </a:lnSpc>
              <a:buFont typeface="Arial"/>
              <a:buChar char="•"/>
            </a:pPr>
            <a:r>
              <a:rPr lang="en-US" b="true" sz="999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Profile  </a:t>
            </a:r>
            <a:r>
              <a:rPr lang="en-US" sz="999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Onboarded, listed, exited inside two quarters. Catalogue dormant</a:t>
            </a:r>
          </a:p>
          <a:p>
            <a:pPr algn="l" marL="120650" indent="-60325" lvl="1">
              <a:lnSpc>
                <a:spcPts val="1199"/>
              </a:lnSpc>
              <a:buFont typeface="Arial"/>
              <a:buChar char="•"/>
            </a:pPr>
            <a:r>
              <a:rPr lang="en-US" b="true" sz="999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Barrier  </a:t>
            </a:r>
            <a:r>
              <a:rPr lang="en-US" sz="999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Weak first-30 orders, then an RTO shock before settlement landed</a:t>
            </a:r>
          </a:p>
          <a:p>
            <a:pPr algn="l" marL="120650" indent="-60325" lvl="1">
              <a:lnSpc>
                <a:spcPts val="1199"/>
              </a:lnSpc>
              <a:buFont typeface="Arial"/>
              <a:buChar char="•"/>
            </a:pPr>
            <a:r>
              <a:rPr lang="en-US" b="true" sz="999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Motivation  </a:t>
            </a:r>
            <a:r>
              <a:rPr lang="en-US" sz="999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Sunk catalogue cost; returns if the exposure is capped</a:t>
            </a:r>
          </a:p>
        </p:txBody>
      </p:sp>
      <p:sp>
        <p:nvSpPr>
          <p:cNvPr name="TextBox 510" id="510"/>
          <p:cNvSpPr txBox="true"/>
          <p:nvPr/>
        </p:nvSpPr>
        <p:spPr>
          <a:xfrm rot="0">
            <a:off x="10025569" y="4467490"/>
            <a:ext cx="3471538" cy="53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92"/>
              </a:lnSpc>
            </a:pPr>
            <a:r>
              <a:rPr lang="en-US" sz="950" b="true">
                <a:solidFill>
                  <a:srgbClr val="1B7F4B"/>
                </a:solidFill>
                <a:latin typeface="Arial Bold"/>
                <a:ea typeface="Arial Bold"/>
                <a:cs typeface="Arial Bold"/>
                <a:sym typeface="Arial Bold"/>
              </a:rPr>
              <a:t>START HERE</a:t>
            </a:r>
          </a:p>
          <a:p>
            <a:pPr algn="just">
              <a:lnSpc>
                <a:spcPts val="1092"/>
              </a:lnSpc>
            </a:pPr>
            <a:r>
              <a:rPr lang="en-US" sz="9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Cohort A, top-5 categories, Tiruppur and Panipat. Its barriers are operational, and operational barriers are the only ones a platform removes with infrastructure instead of money.</a:t>
            </a:r>
          </a:p>
        </p:txBody>
      </p:sp>
      <p:sp>
        <p:nvSpPr>
          <p:cNvPr name="TextBox 511" id="511"/>
          <p:cNvSpPr txBox="true"/>
          <p:nvPr/>
        </p:nvSpPr>
        <p:spPr>
          <a:xfrm rot="0">
            <a:off x="10037025" y="5326464"/>
            <a:ext cx="3471538" cy="53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92"/>
              </a:lnSpc>
            </a:pPr>
            <a:r>
              <a:rPr lang="en-US" sz="950" b="true">
                <a:solidFill>
                  <a:srgbClr val="C0392B"/>
                </a:solidFill>
                <a:latin typeface="Arial Bold"/>
                <a:ea typeface="Arial Bold"/>
                <a:cs typeface="Arial Bold"/>
                <a:sym typeface="Arial Bold"/>
              </a:rPr>
              <a:t>NOT NOW</a:t>
            </a:r>
          </a:p>
          <a:p>
            <a:pPr algn="just">
              <a:lnSpc>
                <a:spcPts val="1092"/>
              </a:lnSpc>
            </a:pPr>
            <a:r>
              <a:rPr lang="en-US" sz="9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Fashion-led ethnic and electronics accessories, however large the seller. No cost ownership means the price gap has to be funded, and a funded gap is a subsidy with a different name.</a:t>
            </a:r>
          </a:p>
        </p:txBody>
      </p:sp>
      <p:sp>
        <p:nvSpPr>
          <p:cNvPr name="TextBox 512" id="512"/>
          <p:cNvSpPr txBox="true"/>
          <p:nvPr/>
        </p:nvSpPr>
        <p:spPr>
          <a:xfrm rot="0">
            <a:off x="749808" y="3161533"/>
            <a:ext cx="402166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91"/>
              </a:lnSpc>
            </a:pPr>
            <a:r>
              <a:rPr lang="en-US" sz="992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Never sold B2C. Blocked because Meesho asks them to absorb three brand-new risks on day one: unit-level operations, pre-stocked inventory, and unproven demand. Their B2B model carries none of these, nothing is made until it is already sold.</a:t>
            </a:r>
          </a:p>
        </p:txBody>
      </p:sp>
      <p:sp>
        <p:nvSpPr>
          <p:cNvPr name="TextBox 513" id="513"/>
          <p:cNvSpPr txBox="true"/>
          <p:nvPr/>
        </p:nvSpPr>
        <p:spPr>
          <a:xfrm rot="0">
            <a:off x="5189428" y="3166110"/>
            <a:ext cx="402166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91"/>
              </a:lnSpc>
            </a:pPr>
            <a:r>
              <a:rPr lang="en-US" sz="992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Already listing on Amazon or Flipkart, often through an ops agency. Blocked because that catalogue is built for ₹800+ baskets; the same SKUs lose money at Meesho's ₹265 AOV, so the channel reads as unprofitable rather than unproven.</a:t>
            </a:r>
          </a:p>
        </p:txBody>
      </p:sp>
      <p:sp>
        <p:nvSpPr>
          <p:cNvPr name="TextBox 514" id="514"/>
          <p:cNvSpPr txBox="true"/>
          <p:nvPr/>
        </p:nvSpPr>
        <p:spPr>
          <a:xfrm rot="0">
            <a:off x="9535445" y="3201391"/>
            <a:ext cx="40216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91"/>
              </a:lnSpc>
            </a:pPr>
            <a:r>
              <a:rPr lang="en-US" sz="992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Listed, took few orders in 30 days, left. Meesho added ~4.5 lakh active sellers in FY26 (≈5.1 lakh → 9.61 lakh), so the dormant pool is large - and cheapest to re-open, since KYC, catalogue and price history already exist.</a:t>
            </a:r>
          </a:p>
        </p:txBody>
      </p:sp>
      <p:sp>
        <p:nvSpPr>
          <p:cNvPr name="TextBox 515" id="515"/>
          <p:cNvSpPr txBox="true"/>
          <p:nvPr/>
        </p:nvSpPr>
        <p:spPr>
          <a:xfrm rot="0">
            <a:off x="13992854" y="2231328"/>
            <a:ext cx="387909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91"/>
              </a:lnSpc>
            </a:pPr>
            <a:r>
              <a:rPr lang="en-US" sz="992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The 13 pp returns gap between a good category and a bad one, against a 12-18% cost edge that integration buys. The wrong category swallows entire manufacturer cost advantage before the buyer ever sees it</a:t>
            </a:r>
          </a:p>
        </p:txBody>
      </p:sp>
      <p:sp>
        <p:nvSpPr>
          <p:cNvPr name="TextBox 516" id="516"/>
          <p:cNvSpPr txBox="true"/>
          <p:nvPr/>
        </p:nvSpPr>
        <p:spPr>
          <a:xfrm rot="0">
            <a:off x="732026" y="4261978"/>
            <a:ext cx="2359388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</a:pPr>
            <a:r>
              <a:rPr lang="en-US" sz="800" b="true">
                <a:solidFill>
                  <a:srgbClr val="5A0F4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CATEGORY  ·  CLUSTER</a:t>
            </a:r>
          </a:p>
        </p:txBody>
      </p:sp>
      <p:sp>
        <p:nvSpPr>
          <p:cNvPr name="TextBox 517" id="517"/>
          <p:cNvSpPr txBox="true"/>
          <p:nvPr/>
        </p:nvSpPr>
        <p:spPr>
          <a:xfrm rot="0">
            <a:off x="3132328" y="4261978"/>
            <a:ext cx="409142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"/>
              </a:lnSpc>
            </a:pPr>
            <a:r>
              <a:rPr lang="en-US" sz="800" b="true">
                <a:solidFill>
                  <a:srgbClr val="5A0F4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FLOOR</a:t>
            </a:r>
          </a:p>
        </p:txBody>
      </p:sp>
      <p:sp>
        <p:nvSpPr>
          <p:cNvPr name="TextBox 518" id="518"/>
          <p:cNvSpPr txBox="true"/>
          <p:nvPr/>
        </p:nvSpPr>
        <p:spPr>
          <a:xfrm rot="0">
            <a:off x="3568746" y="4261978"/>
            <a:ext cx="409142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"/>
              </a:lnSpc>
            </a:pPr>
            <a:r>
              <a:rPr lang="en-US" sz="800" b="true">
                <a:solidFill>
                  <a:srgbClr val="5A0F4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IDLE</a:t>
            </a:r>
          </a:p>
        </p:txBody>
      </p:sp>
      <p:sp>
        <p:nvSpPr>
          <p:cNvPr name="TextBox 519" id="519"/>
          <p:cNvSpPr txBox="true"/>
          <p:nvPr/>
        </p:nvSpPr>
        <p:spPr>
          <a:xfrm rot="0">
            <a:off x="4005165" y="4261978"/>
            <a:ext cx="409142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"/>
              </a:lnSpc>
            </a:pPr>
            <a:r>
              <a:rPr lang="en-US" sz="800" b="true">
                <a:solidFill>
                  <a:srgbClr val="5A0F4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RET.</a:t>
            </a:r>
          </a:p>
        </p:txBody>
      </p:sp>
      <p:sp>
        <p:nvSpPr>
          <p:cNvPr name="TextBox 520" id="520"/>
          <p:cNvSpPr txBox="true"/>
          <p:nvPr/>
        </p:nvSpPr>
        <p:spPr>
          <a:xfrm rot="0">
            <a:off x="4441583" y="4261978"/>
            <a:ext cx="409142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"/>
              </a:lnSpc>
            </a:pPr>
            <a:r>
              <a:rPr lang="en-US" sz="800" b="true">
                <a:solidFill>
                  <a:srgbClr val="5A0F4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FRT.</a:t>
            </a:r>
          </a:p>
        </p:txBody>
      </p:sp>
      <p:sp>
        <p:nvSpPr>
          <p:cNvPr name="TextBox 521" id="521"/>
          <p:cNvSpPr txBox="true"/>
          <p:nvPr/>
        </p:nvSpPr>
        <p:spPr>
          <a:xfrm rot="0">
            <a:off x="732026" y="4504294"/>
            <a:ext cx="2359388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819">
                <a:solidFill>
                  <a:srgbClr val="2B2B33"/>
                </a:solidFill>
                <a:latin typeface="Calibri (MS)"/>
                <a:ea typeface="Calibri (MS)"/>
                <a:cs typeface="Calibri (MS)"/>
                <a:sym typeface="Calibri (MS)"/>
              </a:rPr>
              <a:t>Unstitched saree &amp; dress material  ·  Erode, Bhiwandi</a:t>
            </a:r>
          </a:p>
        </p:txBody>
      </p:sp>
      <p:sp>
        <p:nvSpPr>
          <p:cNvPr name="TextBox 522" id="522"/>
          <p:cNvSpPr txBox="true"/>
          <p:nvPr/>
        </p:nvSpPr>
        <p:spPr>
          <a:xfrm rot="0">
            <a:off x="732026" y="4743867"/>
            <a:ext cx="2359388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819">
                <a:solidFill>
                  <a:srgbClr val="2B2B33"/>
                </a:solidFill>
                <a:latin typeface="Calibri (MS)"/>
                <a:ea typeface="Calibri (MS)"/>
                <a:cs typeface="Calibri (MS)"/>
                <a:sym typeface="Calibri (MS)"/>
              </a:rPr>
              <a:t>Home textiles: sheets, towels  ·  Panipat, Solapur</a:t>
            </a:r>
          </a:p>
        </p:txBody>
      </p:sp>
      <p:sp>
        <p:nvSpPr>
          <p:cNvPr name="TextBox 523" id="523"/>
          <p:cNvSpPr txBox="true"/>
          <p:nvPr/>
        </p:nvSpPr>
        <p:spPr>
          <a:xfrm rot="0">
            <a:off x="732026" y="4983440"/>
            <a:ext cx="2359388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819">
                <a:solidFill>
                  <a:srgbClr val="2B2B33"/>
                </a:solidFill>
                <a:latin typeface="Calibri (MS)"/>
                <a:ea typeface="Calibri (MS)"/>
                <a:cs typeface="Calibri (MS)"/>
                <a:sym typeface="Calibri (MS)"/>
              </a:rPr>
              <a:t>Hosiery, innerwear, socks  ·  Tiruppur, Ludhiana</a:t>
            </a:r>
          </a:p>
        </p:txBody>
      </p:sp>
      <p:sp>
        <p:nvSpPr>
          <p:cNvPr name="TextBox 524" id="524"/>
          <p:cNvSpPr txBox="true"/>
          <p:nvPr/>
        </p:nvSpPr>
        <p:spPr>
          <a:xfrm rot="0">
            <a:off x="732026" y="5223013"/>
            <a:ext cx="2359388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819">
                <a:solidFill>
                  <a:srgbClr val="2B2B33"/>
                </a:solidFill>
                <a:latin typeface="Calibri (MS)"/>
                <a:ea typeface="Calibri (MS)"/>
                <a:cs typeface="Calibri (MS)"/>
                <a:sym typeface="Calibri (MS)"/>
              </a:rPr>
              <a:t>Moulded plastic housewares  ·  Rajkot, Daman</a:t>
            </a:r>
          </a:p>
        </p:txBody>
      </p:sp>
      <p:sp>
        <p:nvSpPr>
          <p:cNvPr name="TextBox 525" id="525"/>
          <p:cNvSpPr txBox="true"/>
          <p:nvPr/>
        </p:nvSpPr>
        <p:spPr>
          <a:xfrm rot="0">
            <a:off x="732026" y="5462585"/>
            <a:ext cx="2359388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819">
                <a:solidFill>
                  <a:srgbClr val="2B2B33"/>
                </a:solidFill>
                <a:latin typeface="Calibri (MS)"/>
                <a:ea typeface="Calibri (MS)"/>
                <a:cs typeface="Calibri (MS)"/>
                <a:sym typeface="Calibri (MS)"/>
              </a:rPr>
              <a:t>Fashion / imitation jewellery  ·  Rajkot, Coimbatore</a:t>
            </a:r>
          </a:p>
        </p:txBody>
      </p:sp>
      <p:sp>
        <p:nvSpPr>
          <p:cNvPr name="TextBox 526" id="526"/>
          <p:cNvSpPr txBox="true"/>
          <p:nvPr/>
        </p:nvSpPr>
        <p:spPr>
          <a:xfrm rot="0">
            <a:off x="732026" y="5702158"/>
            <a:ext cx="2359388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819">
                <a:solidFill>
                  <a:srgbClr val="2B2B33"/>
                </a:solidFill>
                <a:latin typeface="Calibri (MS)"/>
                <a:ea typeface="Calibri (MS)"/>
                <a:cs typeface="Calibri (MS)"/>
                <a:sym typeface="Calibri (MS)"/>
              </a:rPr>
              <a:t>Steel kitchenware, utensils  ·  Jagadhri, Wazirpur</a:t>
            </a:r>
          </a:p>
        </p:txBody>
      </p:sp>
      <p:sp>
        <p:nvSpPr>
          <p:cNvPr name="TextBox 527" id="527"/>
          <p:cNvSpPr txBox="true"/>
          <p:nvPr/>
        </p:nvSpPr>
        <p:spPr>
          <a:xfrm rot="0">
            <a:off x="732026" y="5941731"/>
            <a:ext cx="2359388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819">
                <a:solidFill>
                  <a:srgbClr val="2B2B33"/>
                </a:solidFill>
                <a:latin typeface="Calibri (MS)"/>
                <a:ea typeface="Calibri (MS)"/>
                <a:cs typeface="Calibri (MS)"/>
                <a:sym typeface="Calibri (MS)"/>
              </a:rPr>
              <a:t>Basic footwear, PU/EVA  ·  Agra, Bahadurgarh</a:t>
            </a:r>
          </a:p>
        </p:txBody>
      </p:sp>
      <p:sp>
        <p:nvSpPr>
          <p:cNvPr name="TextBox 528" id="528"/>
          <p:cNvSpPr txBox="true"/>
          <p:nvPr/>
        </p:nvSpPr>
        <p:spPr>
          <a:xfrm rot="0">
            <a:off x="732026" y="6181304"/>
            <a:ext cx="2359388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819">
                <a:solidFill>
                  <a:srgbClr val="2B2B33"/>
                </a:solidFill>
                <a:latin typeface="Calibri (MS)"/>
                <a:ea typeface="Calibri (MS)"/>
                <a:cs typeface="Calibri (MS)"/>
                <a:sym typeface="Calibri (MS)"/>
              </a:rPr>
              <a:t>Brass décor &amp; lighting  ·  Moradabad</a:t>
            </a:r>
          </a:p>
        </p:txBody>
      </p:sp>
      <p:sp>
        <p:nvSpPr>
          <p:cNvPr name="TextBox 529" id="529"/>
          <p:cNvSpPr txBox="true"/>
          <p:nvPr/>
        </p:nvSpPr>
        <p:spPr>
          <a:xfrm rot="0">
            <a:off x="732026" y="6420877"/>
            <a:ext cx="2359388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819">
                <a:solidFill>
                  <a:srgbClr val="2B2B33"/>
                </a:solidFill>
                <a:latin typeface="Calibri (MS)"/>
                <a:ea typeface="Calibri (MS)"/>
                <a:cs typeface="Calibri (MS)"/>
                <a:sym typeface="Calibri (MS)"/>
              </a:rPr>
              <a:t>Bags, school bags  ·  Nangloi, Kolkata</a:t>
            </a:r>
          </a:p>
        </p:txBody>
      </p:sp>
      <p:sp>
        <p:nvSpPr>
          <p:cNvPr name="TextBox 530" id="530"/>
          <p:cNvSpPr txBox="true"/>
          <p:nvPr/>
        </p:nvSpPr>
        <p:spPr>
          <a:xfrm rot="0">
            <a:off x="732026" y="6660449"/>
            <a:ext cx="2359388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819">
                <a:solidFill>
                  <a:srgbClr val="2B2B33"/>
                </a:solidFill>
                <a:latin typeface="Calibri (MS)"/>
                <a:ea typeface="Calibri (MS)"/>
                <a:cs typeface="Calibri (MS)"/>
                <a:sym typeface="Calibri (MS)"/>
              </a:rPr>
              <a:t>Ethnic wear  ·  SURAT  (largest cluster)</a:t>
            </a:r>
          </a:p>
        </p:txBody>
      </p:sp>
      <p:sp>
        <p:nvSpPr>
          <p:cNvPr name="TextBox 531" id="531"/>
          <p:cNvSpPr txBox="true"/>
          <p:nvPr/>
        </p:nvSpPr>
        <p:spPr>
          <a:xfrm rot="0">
            <a:off x="732026" y="6900022"/>
            <a:ext cx="2359388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819">
                <a:solidFill>
                  <a:srgbClr val="2B2B33"/>
                </a:solidFill>
                <a:latin typeface="Calibri (MS)"/>
                <a:ea typeface="Calibri (MS)"/>
                <a:cs typeface="Calibri (MS)"/>
                <a:sym typeface="Calibri (MS)"/>
              </a:rPr>
              <a:t>Fitted western, jeans  ·  Gandhi Nagar, Bengaluru</a:t>
            </a:r>
          </a:p>
        </p:txBody>
      </p:sp>
      <p:sp>
        <p:nvSpPr>
          <p:cNvPr name="TextBox 532" id="532"/>
          <p:cNvSpPr txBox="true"/>
          <p:nvPr/>
        </p:nvSpPr>
        <p:spPr>
          <a:xfrm rot="0">
            <a:off x="732026" y="7139595"/>
            <a:ext cx="2359388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819">
                <a:solidFill>
                  <a:srgbClr val="2B2B33"/>
                </a:solidFill>
                <a:latin typeface="Calibri (MS)"/>
                <a:ea typeface="Calibri (MS)"/>
                <a:cs typeface="Calibri (MS)"/>
                <a:sym typeface="Calibri (MS)"/>
              </a:rPr>
              <a:t>Mobile &amp; electronics accessories  ·  import-assembly</a:t>
            </a:r>
          </a:p>
        </p:txBody>
      </p:sp>
      <p:sp>
        <p:nvSpPr>
          <p:cNvPr name="TextBox 533" id="533"/>
          <p:cNvSpPr txBox="true"/>
          <p:nvPr/>
        </p:nvSpPr>
        <p:spPr>
          <a:xfrm rot="0">
            <a:off x="732026" y="7343125"/>
            <a:ext cx="4059373" cy="25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2"/>
              </a:lnSpc>
            </a:pPr>
            <a:r>
              <a:rPr lang="en-US" sz="818" b="true">
                <a:solidFill>
                  <a:srgbClr val="C628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Surat passes a scale screen and fails all four tests</a:t>
            </a:r>
            <a:r>
              <a:rPr lang="en-US" sz="818">
                <a:solidFill>
                  <a:srgbClr val="2B2B33"/>
                </a:solidFill>
                <a:latin typeface="Calibri (MS)"/>
                <a:ea typeface="Calibri (MS)"/>
                <a:cs typeface="Calibri (MS)"/>
                <a:sym typeface="Calibri (MS)"/>
              </a:rPr>
              <a:t> - traders who job out weaving, dyeing and stitching, worst return band.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799081"/>
            <a:chOff x="0" y="0"/>
            <a:chExt cx="24400929" cy="10654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065403"/>
            </a:xfrm>
            <a:custGeom>
              <a:avLst/>
              <a:gdLst/>
              <a:ahLst/>
              <a:cxnLst/>
              <a:rect r="r" b="b" t="t" l="l"/>
              <a:pathLst>
                <a:path h="1065403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065403"/>
                  </a:lnTo>
                  <a:lnTo>
                    <a:pt x="0" y="1065403"/>
                  </a:lnTo>
                  <a:close/>
                </a:path>
              </a:pathLst>
            </a:custGeom>
            <a:solidFill>
              <a:srgbClr val="FFF3D8"/>
            </a:solidFill>
            <a:ln w="12700" cap="sq">
              <a:solidFill>
                <a:srgbClr val="FFF3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780031"/>
            <a:ext cx="18300697" cy="49273"/>
            <a:chOff x="0" y="0"/>
            <a:chExt cx="24400929" cy="656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0890" cy="65659"/>
            </a:xfrm>
            <a:custGeom>
              <a:avLst/>
              <a:gdLst/>
              <a:ahLst/>
              <a:cxnLst/>
              <a:rect r="r" b="b" t="t" l="l"/>
              <a:pathLst>
                <a:path h="65659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65659"/>
                  </a:lnTo>
                  <a:lnTo>
                    <a:pt x="0" y="65659"/>
                  </a:ln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19456" y="91440"/>
            <a:ext cx="1188720" cy="591617"/>
            <a:chOff x="0" y="0"/>
            <a:chExt cx="1584960" cy="788822"/>
          </a:xfrm>
        </p:grpSpPr>
        <p:sp>
          <p:nvSpPr>
            <p:cNvPr name="Freeform 7" id="7" descr="assets/dice_logo.png"/>
            <p:cNvSpPr/>
            <p:nvPr/>
          </p:nvSpPr>
          <p:spPr>
            <a:xfrm flipH="false" flipV="false" rot="0">
              <a:off x="0" y="0"/>
              <a:ext cx="1584960" cy="788797"/>
            </a:xfrm>
            <a:custGeom>
              <a:avLst/>
              <a:gdLst/>
              <a:ahLst/>
              <a:cxnLst/>
              <a:rect r="r" b="b" t="t" l="l"/>
              <a:pathLst>
                <a:path h="788797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788797"/>
                  </a:lnTo>
                  <a:lnTo>
                    <a:pt x="0" y="788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91888" y="82296"/>
            <a:ext cx="621792" cy="621792"/>
            <a:chOff x="0" y="0"/>
            <a:chExt cx="829056" cy="829056"/>
          </a:xfrm>
        </p:grpSpPr>
        <p:sp>
          <p:nvSpPr>
            <p:cNvPr name="Freeform 9" id="9" descr="assets/meesho_logo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1279" y="98803"/>
            <a:ext cx="5169913" cy="570481"/>
            <a:chOff x="0" y="0"/>
            <a:chExt cx="6893217" cy="7606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93306" cy="760730"/>
            </a:xfrm>
            <a:custGeom>
              <a:avLst/>
              <a:gdLst/>
              <a:ahLst/>
              <a:cxnLst/>
              <a:rect r="r" b="b" t="t" l="l"/>
              <a:pathLst>
                <a:path h="760730" w="6893306">
                  <a:moveTo>
                    <a:pt x="0" y="99822"/>
                  </a:moveTo>
                  <a:cubicBezTo>
                    <a:pt x="0" y="44704"/>
                    <a:pt x="44704" y="0"/>
                    <a:pt x="99822" y="0"/>
                  </a:cubicBezTo>
                  <a:lnTo>
                    <a:pt x="6793484" y="0"/>
                  </a:lnTo>
                  <a:cubicBezTo>
                    <a:pt x="6848602" y="0"/>
                    <a:pt x="6893306" y="44704"/>
                    <a:pt x="6893306" y="99822"/>
                  </a:cubicBezTo>
                  <a:lnTo>
                    <a:pt x="6893306" y="660908"/>
                  </a:lnTo>
                  <a:cubicBezTo>
                    <a:pt x="6893306" y="716026"/>
                    <a:pt x="6848602" y="760730"/>
                    <a:pt x="6793484" y="760730"/>
                  </a:cubicBezTo>
                  <a:lnTo>
                    <a:pt x="99822" y="760730"/>
                  </a:lnTo>
                  <a:cubicBezTo>
                    <a:pt x="44704" y="760603"/>
                    <a:pt x="0" y="716026"/>
                    <a:pt x="0" y="66090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27632" y="105156"/>
            <a:ext cx="5157216" cy="557784"/>
            <a:chOff x="0" y="0"/>
            <a:chExt cx="6876288" cy="7437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76288" cy="743712"/>
            </a:xfrm>
            <a:custGeom>
              <a:avLst/>
              <a:gdLst/>
              <a:ahLst/>
              <a:cxnLst/>
              <a:rect r="r" b="b" t="t" l="l"/>
              <a:pathLst>
                <a:path h="74371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156" r="0" b="-13015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876288" cy="762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6E125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 · SEGMENT &amp; BARRIER MAP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69935" y="98803"/>
            <a:ext cx="5169913" cy="570481"/>
            <a:chOff x="0" y="0"/>
            <a:chExt cx="6893217" cy="7606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93306" cy="760730"/>
            </a:xfrm>
            <a:custGeom>
              <a:avLst/>
              <a:gdLst/>
              <a:ahLst/>
              <a:cxnLst/>
              <a:rect r="r" b="b" t="t" l="l"/>
              <a:pathLst>
                <a:path h="760730" w="6893306">
                  <a:moveTo>
                    <a:pt x="0" y="99822"/>
                  </a:moveTo>
                  <a:cubicBezTo>
                    <a:pt x="0" y="44704"/>
                    <a:pt x="44704" y="0"/>
                    <a:pt x="99822" y="0"/>
                  </a:cubicBezTo>
                  <a:lnTo>
                    <a:pt x="6793484" y="0"/>
                  </a:lnTo>
                  <a:cubicBezTo>
                    <a:pt x="6848602" y="0"/>
                    <a:pt x="6893306" y="44704"/>
                    <a:pt x="6893306" y="99822"/>
                  </a:cubicBezTo>
                  <a:lnTo>
                    <a:pt x="6893306" y="660908"/>
                  </a:lnTo>
                  <a:cubicBezTo>
                    <a:pt x="6893306" y="716026"/>
                    <a:pt x="6848602" y="760730"/>
                    <a:pt x="6793484" y="760730"/>
                  </a:cubicBezTo>
                  <a:lnTo>
                    <a:pt x="99822" y="760730"/>
                  </a:lnTo>
                  <a:cubicBezTo>
                    <a:pt x="44704" y="760603"/>
                    <a:pt x="0" y="716026"/>
                    <a:pt x="0" y="660908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76288" y="105156"/>
            <a:ext cx="5157216" cy="557784"/>
            <a:chOff x="0" y="0"/>
            <a:chExt cx="6876288" cy="7437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76288" cy="743712"/>
            </a:xfrm>
            <a:custGeom>
              <a:avLst/>
              <a:gdLst/>
              <a:ahLst/>
              <a:cxnLst/>
              <a:rect r="r" b="b" t="t" l="l"/>
              <a:pathLst>
                <a:path h="74371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156" r="0" b="-13015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876288" cy="762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· PRIORITISATION FRAMEWORK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18591" y="98803"/>
            <a:ext cx="5169913" cy="570481"/>
            <a:chOff x="0" y="0"/>
            <a:chExt cx="6893217" cy="7606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93306" cy="760730"/>
            </a:xfrm>
            <a:custGeom>
              <a:avLst/>
              <a:gdLst/>
              <a:ahLst/>
              <a:cxnLst/>
              <a:rect r="r" b="b" t="t" l="l"/>
              <a:pathLst>
                <a:path h="760730" w="6893306">
                  <a:moveTo>
                    <a:pt x="0" y="99822"/>
                  </a:moveTo>
                  <a:cubicBezTo>
                    <a:pt x="0" y="44704"/>
                    <a:pt x="44704" y="0"/>
                    <a:pt x="99822" y="0"/>
                  </a:cubicBezTo>
                  <a:lnTo>
                    <a:pt x="6793484" y="0"/>
                  </a:lnTo>
                  <a:cubicBezTo>
                    <a:pt x="6848602" y="0"/>
                    <a:pt x="6893306" y="44704"/>
                    <a:pt x="6893306" y="99822"/>
                  </a:cubicBezTo>
                  <a:lnTo>
                    <a:pt x="6893306" y="660908"/>
                  </a:lnTo>
                  <a:cubicBezTo>
                    <a:pt x="6893306" y="716026"/>
                    <a:pt x="6848602" y="760730"/>
                    <a:pt x="6793484" y="760730"/>
                  </a:cubicBezTo>
                  <a:lnTo>
                    <a:pt x="99822" y="760730"/>
                  </a:lnTo>
                  <a:cubicBezTo>
                    <a:pt x="44704" y="760603"/>
                    <a:pt x="0" y="716026"/>
                    <a:pt x="0" y="66090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124944" y="105156"/>
            <a:ext cx="5157216" cy="557784"/>
            <a:chOff x="0" y="0"/>
            <a:chExt cx="6876288" cy="7437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76288" cy="743712"/>
            </a:xfrm>
            <a:custGeom>
              <a:avLst/>
              <a:gdLst/>
              <a:ahLst/>
              <a:cxnLst/>
              <a:rect r="r" b="b" t="t" l="l"/>
              <a:pathLst>
                <a:path h="74371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156" r="0" b="-13015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876288" cy="762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6E125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· QUICK-WIN LEVER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31391" y="908047"/>
            <a:ext cx="323593" cy="8624147"/>
            <a:chOff x="0" y="0"/>
            <a:chExt cx="431457" cy="114988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1546" cy="11498951"/>
            </a:xfrm>
            <a:custGeom>
              <a:avLst/>
              <a:gdLst/>
              <a:ahLst/>
              <a:cxnLst/>
              <a:rect r="r" b="b" t="t" l="l"/>
              <a:pathLst>
                <a:path h="11498951" w="431546">
                  <a:moveTo>
                    <a:pt x="0" y="63822"/>
                  </a:moveTo>
                  <a:cubicBezTo>
                    <a:pt x="0" y="28592"/>
                    <a:pt x="28448" y="0"/>
                    <a:pt x="63500" y="0"/>
                  </a:cubicBezTo>
                  <a:lnTo>
                    <a:pt x="368046" y="0"/>
                  </a:lnTo>
                  <a:cubicBezTo>
                    <a:pt x="403098" y="0"/>
                    <a:pt x="431546" y="28592"/>
                    <a:pt x="431546" y="63822"/>
                  </a:cubicBezTo>
                  <a:lnTo>
                    <a:pt x="431546" y="11435130"/>
                  </a:lnTo>
                  <a:cubicBezTo>
                    <a:pt x="431546" y="11470360"/>
                    <a:pt x="403098" y="11498951"/>
                    <a:pt x="368046" y="11498951"/>
                  </a:cubicBezTo>
                  <a:lnTo>
                    <a:pt x="63500" y="11498951"/>
                  </a:lnTo>
                  <a:cubicBezTo>
                    <a:pt x="28448" y="11498951"/>
                    <a:pt x="0" y="11470360"/>
                    <a:pt x="0" y="11435130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-5400000">
            <a:off x="-3677664" y="4829808"/>
            <a:ext cx="8141711" cy="310896"/>
            <a:chOff x="0" y="0"/>
            <a:chExt cx="10855615" cy="4145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55615" cy="414528"/>
            </a:xfrm>
            <a:custGeom>
              <a:avLst/>
              <a:gdLst/>
              <a:ahLst/>
              <a:cxnLst/>
              <a:rect r="r" b="b" t="t" l="l"/>
              <a:pathLst>
                <a:path h="414528" w="10855615">
                  <a:moveTo>
                    <a:pt x="0" y="0"/>
                  </a:moveTo>
                  <a:lnTo>
                    <a:pt x="10855615" y="0"/>
                  </a:lnTo>
                  <a:lnTo>
                    <a:pt x="10855615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6984" r="-5234" b="-48698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0855615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b="true" sz="1149" spc="199">
                  <a:solidFill>
                    <a:srgbClr val="FFF3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SEQUENCE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33727" y="908047"/>
            <a:ext cx="2413654" cy="853945"/>
            <a:chOff x="0" y="0"/>
            <a:chExt cx="3218205" cy="11385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18180" cy="1138555"/>
            </a:xfrm>
            <a:custGeom>
              <a:avLst/>
              <a:gdLst/>
              <a:ahLst/>
              <a:cxnLst/>
              <a:rect r="r" b="b" t="t" l="l"/>
              <a:pathLst>
                <a:path h="1138555" w="3218180">
                  <a:moveTo>
                    <a:pt x="0" y="61849"/>
                  </a:moveTo>
                  <a:cubicBezTo>
                    <a:pt x="0" y="27686"/>
                    <a:pt x="27686" y="0"/>
                    <a:pt x="61849" y="0"/>
                  </a:cubicBezTo>
                  <a:lnTo>
                    <a:pt x="3156331" y="0"/>
                  </a:lnTo>
                  <a:cubicBezTo>
                    <a:pt x="3190494" y="0"/>
                    <a:pt x="3218180" y="27686"/>
                    <a:pt x="3218180" y="61849"/>
                  </a:cubicBezTo>
                  <a:lnTo>
                    <a:pt x="3218180" y="1076706"/>
                  </a:lnTo>
                  <a:cubicBezTo>
                    <a:pt x="3218180" y="1110869"/>
                    <a:pt x="3190494" y="1138555"/>
                    <a:pt x="3156331" y="1138555"/>
                  </a:cubicBezTo>
                  <a:lnTo>
                    <a:pt x="61849" y="1138555"/>
                  </a:lnTo>
                  <a:cubicBezTo>
                    <a:pt x="27686" y="1138555"/>
                    <a:pt x="0" y="1110869"/>
                    <a:pt x="0" y="1076706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76656" y="960120"/>
            <a:ext cx="2327805" cy="403803"/>
            <a:chOff x="0" y="0"/>
            <a:chExt cx="3103740" cy="5384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03735" cy="538399"/>
            </a:xfrm>
            <a:custGeom>
              <a:avLst/>
              <a:gdLst/>
              <a:ahLst/>
              <a:cxnLst/>
              <a:rect r="r" b="b" t="t" l="l"/>
              <a:pathLst>
                <a:path h="538399" w="3103735">
                  <a:moveTo>
                    <a:pt x="0" y="0"/>
                  </a:moveTo>
                  <a:lnTo>
                    <a:pt x="3103735" y="0"/>
                  </a:lnTo>
                  <a:lnTo>
                    <a:pt x="3103735" y="538399"/>
                  </a:lnTo>
                  <a:lnTo>
                    <a:pt x="0" y="5383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326" r="0" b="-6232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103740" cy="557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94944" y="1335024"/>
            <a:ext cx="2291229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levers scored across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acquisition and scale-up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3135268" y="908047"/>
            <a:ext cx="2413654" cy="853945"/>
            <a:chOff x="0" y="0"/>
            <a:chExt cx="3218205" cy="113859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18180" cy="1138555"/>
            </a:xfrm>
            <a:custGeom>
              <a:avLst/>
              <a:gdLst/>
              <a:ahLst/>
              <a:cxnLst/>
              <a:rect r="r" b="b" t="t" l="l"/>
              <a:pathLst>
                <a:path h="1138555" w="3218180">
                  <a:moveTo>
                    <a:pt x="0" y="61849"/>
                  </a:moveTo>
                  <a:cubicBezTo>
                    <a:pt x="0" y="27686"/>
                    <a:pt x="27686" y="0"/>
                    <a:pt x="61849" y="0"/>
                  </a:cubicBezTo>
                  <a:lnTo>
                    <a:pt x="3156331" y="0"/>
                  </a:lnTo>
                  <a:cubicBezTo>
                    <a:pt x="3190494" y="0"/>
                    <a:pt x="3218180" y="27686"/>
                    <a:pt x="3218180" y="61849"/>
                  </a:cubicBezTo>
                  <a:lnTo>
                    <a:pt x="3218180" y="1076706"/>
                  </a:lnTo>
                  <a:cubicBezTo>
                    <a:pt x="3218180" y="1110869"/>
                    <a:pt x="3190494" y="1138555"/>
                    <a:pt x="3156331" y="1138555"/>
                  </a:cubicBezTo>
                  <a:lnTo>
                    <a:pt x="61849" y="1138555"/>
                  </a:lnTo>
                  <a:cubicBezTo>
                    <a:pt x="27686" y="1138555"/>
                    <a:pt x="0" y="1110869"/>
                    <a:pt x="0" y="1076706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3178197" y="960120"/>
            <a:ext cx="2327805" cy="403803"/>
            <a:chOff x="0" y="0"/>
            <a:chExt cx="3103740" cy="5384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03735" cy="538399"/>
            </a:xfrm>
            <a:custGeom>
              <a:avLst/>
              <a:gdLst/>
              <a:ahLst/>
              <a:cxnLst/>
              <a:rect r="r" b="b" t="t" l="l"/>
              <a:pathLst>
                <a:path h="538399" w="3103735">
                  <a:moveTo>
                    <a:pt x="0" y="0"/>
                  </a:moveTo>
                  <a:lnTo>
                    <a:pt x="3103735" y="0"/>
                  </a:lnTo>
                  <a:lnTo>
                    <a:pt x="3103735" y="538399"/>
                  </a:lnTo>
                  <a:lnTo>
                    <a:pt x="0" y="5383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326" r="0" b="-6232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3103740" cy="557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3196485" y="1335024"/>
            <a:ext cx="2291229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scoring inputs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R × I × C ÷ E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634647" y="899541"/>
            <a:ext cx="2413654" cy="853945"/>
            <a:chOff x="0" y="0"/>
            <a:chExt cx="3218205" cy="11385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18180" cy="1138555"/>
            </a:xfrm>
            <a:custGeom>
              <a:avLst/>
              <a:gdLst/>
              <a:ahLst/>
              <a:cxnLst/>
              <a:rect r="r" b="b" t="t" l="l"/>
              <a:pathLst>
                <a:path h="1138555" w="3218180">
                  <a:moveTo>
                    <a:pt x="0" y="61849"/>
                  </a:moveTo>
                  <a:cubicBezTo>
                    <a:pt x="0" y="27686"/>
                    <a:pt x="27686" y="0"/>
                    <a:pt x="61849" y="0"/>
                  </a:cubicBezTo>
                  <a:lnTo>
                    <a:pt x="3156331" y="0"/>
                  </a:lnTo>
                  <a:cubicBezTo>
                    <a:pt x="3190494" y="0"/>
                    <a:pt x="3218180" y="27686"/>
                    <a:pt x="3218180" y="61849"/>
                  </a:cubicBezTo>
                  <a:lnTo>
                    <a:pt x="3218180" y="1076706"/>
                  </a:lnTo>
                  <a:cubicBezTo>
                    <a:pt x="3218180" y="1110869"/>
                    <a:pt x="3190494" y="1138555"/>
                    <a:pt x="3156331" y="1138555"/>
                  </a:cubicBezTo>
                  <a:lnTo>
                    <a:pt x="61849" y="1138555"/>
                  </a:lnTo>
                  <a:cubicBezTo>
                    <a:pt x="27686" y="1138555"/>
                    <a:pt x="0" y="1110869"/>
                    <a:pt x="0" y="1076706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5679729" y="960120"/>
            <a:ext cx="2327805" cy="403803"/>
            <a:chOff x="0" y="0"/>
            <a:chExt cx="3103740" cy="5384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03735" cy="538399"/>
            </a:xfrm>
            <a:custGeom>
              <a:avLst/>
              <a:gdLst/>
              <a:ahLst/>
              <a:cxnLst/>
              <a:rect r="r" b="b" t="t" l="l"/>
              <a:pathLst>
                <a:path h="538399" w="3103735">
                  <a:moveTo>
                    <a:pt x="0" y="0"/>
                  </a:moveTo>
                  <a:lnTo>
                    <a:pt x="3103735" y="0"/>
                  </a:lnTo>
                  <a:lnTo>
                    <a:pt x="3103735" y="538399"/>
                  </a:lnTo>
                  <a:lnTo>
                    <a:pt x="0" y="5383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326" r="0" b="-6232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103740" cy="557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0.900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698017" y="1335024"/>
            <a:ext cx="2291229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top score · price gate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lowest effort of all eight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138341" y="908047"/>
            <a:ext cx="2413654" cy="853945"/>
            <a:chOff x="0" y="0"/>
            <a:chExt cx="3218205" cy="113859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18180" cy="1138555"/>
            </a:xfrm>
            <a:custGeom>
              <a:avLst/>
              <a:gdLst/>
              <a:ahLst/>
              <a:cxnLst/>
              <a:rect r="r" b="b" t="t" l="l"/>
              <a:pathLst>
                <a:path h="1138555" w="3218180">
                  <a:moveTo>
                    <a:pt x="0" y="61849"/>
                  </a:moveTo>
                  <a:cubicBezTo>
                    <a:pt x="0" y="27686"/>
                    <a:pt x="27686" y="0"/>
                    <a:pt x="61849" y="0"/>
                  </a:cubicBezTo>
                  <a:lnTo>
                    <a:pt x="3156331" y="0"/>
                  </a:lnTo>
                  <a:cubicBezTo>
                    <a:pt x="3190494" y="0"/>
                    <a:pt x="3218180" y="27686"/>
                    <a:pt x="3218180" y="61849"/>
                  </a:cubicBezTo>
                  <a:lnTo>
                    <a:pt x="3218180" y="1076706"/>
                  </a:lnTo>
                  <a:cubicBezTo>
                    <a:pt x="3218180" y="1110869"/>
                    <a:pt x="3190494" y="1138555"/>
                    <a:pt x="3156331" y="1138555"/>
                  </a:cubicBezTo>
                  <a:lnTo>
                    <a:pt x="61849" y="1138555"/>
                  </a:lnTo>
                  <a:cubicBezTo>
                    <a:pt x="27686" y="1138555"/>
                    <a:pt x="0" y="1110869"/>
                    <a:pt x="0" y="1076706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8181270" y="960120"/>
            <a:ext cx="2327805" cy="403803"/>
            <a:chOff x="0" y="0"/>
            <a:chExt cx="3103740" cy="5384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03735" cy="538399"/>
            </a:xfrm>
            <a:custGeom>
              <a:avLst/>
              <a:gdLst/>
              <a:ahLst/>
              <a:cxnLst/>
              <a:rect r="r" b="b" t="t" l="l"/>
              <a:pathLst>
                <a:path h="538399" w="3103735">
                  <a:moveTo>
                    <a:pt x="0" y="0"/>
                  </a:moveTo>
                  <a:lnTo>
                    <a:pt x="3103735" y="0"/>
                  </a:lnTo>
                  <a:lnTo>
                    <a:pt x="3103735" y="538399"/>
                  </a:lnTo>
                  <a:lnTo>
                    <a:pt x="0" y="5383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326" r="0" b="-6232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103740" cy="557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1B7F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₹0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8199558" y="1335024"/>
            <a:ext cx="2291229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capex in the first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30 days of the sequence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639882" y="908047"/>
            <a:ext cx="2413654" cy="853945"/>
            <a:chOff x="0" y="0"/>
            <a:chExt cx="3218205" cy="113859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218180" cy="1138555"/>
            </a:xfrm>
            <a:custGeom>
              <a:avLst/>
              <a:gdLst/>
              <a:ahLst/>
              <a:cxnLst/>
              <a:rect r="r" b="b" t="t" l="l"/>
              <a:pathLst>
                <a:path h="1138555" w="3218180">
                  <a:moveTo>
                    <a:pt x="0" y="61849"/>
                  </a:moveTo>
                  <a:cubicBezTo>
                    <a:pt x="0" y="27686"/>
                    <a:pt x="27686" y="0"/>
                    <a:pt x="61849" y="0"/>
                  </a:cubicBezTo>
                  <a:lnTo>
                    <a:pt x="3156331" y="0"/>
                  </a:lnTo>
                  <a:cubicBezTo>
                    <a:pt x="3190494" y="0"/>
                    <a:pt x="3218180" y="27686"/>
                    <a:pt x="3218180" y="61849"/>
                  </a:cubicBezTo>
                  <a:lnTo>
                    <a:pt x="3218180" y="1076706"/>
                  </a:lnTo>
                  <a:cubicBezTo>
                    <a:pt x="3218180" y="1110869"/>
                    <a:pt x="3190494" y="1138555"/>
                    <a:pt x="3156331" y="1138555"/>
                  </a:cubicBezTo>
                  <a:lnTo>
                    <a:pt x="61849" y="1138555"/>
                  </a:lnTo>
                  <a:cubicBezTo>
                    <a:pt x="27686" y="1138555"/>
                    <a:pt x="0" y="1110869"/>
                    <a:pt x="0" y="1076706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0682802" y="960120"/>
            <a:ext cx="2327805" cy="403803"/>
            <a:chOff x="0" y="0"/>
            <a:chExt cx="3103740" cy="53840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103735" cy="538399"/>
            </a:xfrm>
            <a:custGeom>
              <a:avLst/>
              <a:gdLst/>
              <a:ahLst/>
              <a:cxnLst/>
              <a:rect r="r" b="b" t="t" l="l"/>
              <a:pathLst>
                <a:path h="538399" w="3103735">
                  <a:moveTo>
                    <a:pt x="0" y="0"/>
                  </a:moveTo>
                  <a:lnTo>
                    <a:pt x="3103735" y="0"/>
                  </a:lnTo>
                  <a:lnTo>
                    <a:pt x="3103735" y="538399"/>
                  </a:lnTo>
                  <a:lnTo>
                    <a:pt x="0" y="5383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326" r="0" b="-6232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3103740" cy="557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₹22 cr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0701090" y="1335024"/>
            <a:ext cx="2291229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year-1 programme cost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across all eight levers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3141414" y="908047"/>
            <a:ext cx="2413654" cy="853945"/>
            <a:chOff x="0" y="0"/>
            <a:chExt cx="3218205" cy="113859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18180" cy="1138555"/>
            </a:xfrm>
            <a:custGeom>
              <a:avLst/>
              <a:gdLst/>
              <a:ahLst/>
              <a:cxnLst/>
              <a:rect r="r" b="b" t="t" l="l"/>
              <a:pathLst>
                <a:path h="1138555" w="3218180">
                  <a:moveTo>
                    <a:pt x="0" y="61849"/>
                  </a:moveTo>
                  <a:cubicBezTo>
                    <a:pt x="0" y="27686"/>
                    <a:pt x="27686" y="0"/>
                    <a:pt x="61849" y="0"/>
                  </a:cubicBezTo>
                  <a:lnTo>
                    <a:pt x="3156331" y="0"/>
                  </a:lnTo>
                  <a:cubicBezTo>
                    <a:pt x="3190494" y="0"/>
                    <a:pt x="3218180" y="27686"/>
                    <a:pt x="3218180" y="61849"/>
                  </a:cubicBezTo>
                  <a:lnTo>
                    <a:pt x="3218180" y="1076706"/>
                  </a:lnTo>
                  <a:cubicBezTo>
                    <a:pt x="3218180" y="1110869"/>
                    <a:pt x="3190494" y="1138555"/>
                    <a:pt x="3156331" y="1138555"/>
                  </a:cubicBezTo>
                  <a:lnTo>
                    <a:pt x="61849" y="1138555"/>
                  </a:lnTo>
                  <a:cubicBezTo>
                    <a:pt x="27686" y="1138555"/>
                    <a:pt x="0" y="1110869"/>
                    <a:pt x="0" y="1076706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3184343" y="960120"/>
            <a:ext cx="2327805" cy="403803"/>
            <a:chOff x="0" y="0"/>
            <a:chExt cx="3103740" cy="53840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03735" cy="538399"/>
            </a:xfrm>
            <a:custGeom>
              <a:avLst/>
              <a:gdLst/>
              <a:ahLst/>
              <a:cxnLst/>
              <a:rect r="r" b="b" t="t" l="l"/>
              <a:pathLst>
                <a:path h="538399" w="3103735">
                  <a:moveTo>
                    <a:pt x="0" y="0"/>
                  </a:moveTo>
                  <a:lnTo>
                    <a:pt x="3103735" y="0"/>
                  </a:lnTo>
                  <a:lnTo>
                    <a:pt x="3103735" y="538399"/>
                  </a:lnTo>
                  <a:lnTo>
                    <a:pt x="0" y="5383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326" r="0" b="-6232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3103740" cy="557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1B7F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Yr 3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3202631" y="1335024"/>
            <a:ext cx="2291229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breakeven · NPV +₹156 cr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at a 12% discount rate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5642955" y="908047"/>
            <a:ext cx="2413654" cy="853945"/>
            <a:chOff x="0" y="0"/>
            <a:chExt cx="3218205" cy="113859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18180" cy="1138555"/>
            </a:xfrm>
            <a:custGeom>
              <a:avLst/>
              <a:gdLst/>
              <a:ahLst/>
              <a:cxnLst/>
              <a:rect r="r" b="b" t="t" l="l"/>
              <a:pathLst>
                <a:path h="1138555" w="3218180">
                  <a:moveTo>
                    <a:pt x="0" y="61849"/>
                  </a:moveTo>
                  <a:cubicBezTo>
                    <a:pt x="0" y="27686"/>
                    <a:pt x="27686" y="0"/>
                    <a:pt x="61849" y="0"/>
                  </a:cubicBezTo>
                  <a:lnTo>
                    <a:pt x="3156331" y="0"/>
                  </a:lnTo>
                  <a:cubicBezTo>
                    <a:pt x="3190494" y="0"/>
                    <a:pt x="3218180" y="27686"/>
                    <a:pt x="3218180" y="61849"/>
                  </a:cubicBezTo>
                  <a:lnTo>
                    <a:pt x="3218180" y="1076706"/>
                  </a:lnTo>
                  <a:cubicBezTo>
                    <a:pt x="3218180" y="1110869"/>
                    <a:pt x="3190494" y="1138555"/>
                    <a:pt x="3156331" y="1138555"/>
                  </a:cubicBezTo>
                  <a:lnTo>
                    <a:pt x="61849" y="1138555"/>
                  </a:lnTo>
                  <a:cubicBezTo>
                    <a:pt x="27686" y="1138555"/>
                    <a:pt x="0" y="1110869"/>
                    <a:pt x="0" y="1076706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5685875" y="960120"/>
            <a:ext cx="2327805" cy="403803"/>
            <a:chOff x="0" y="0"/>
            <a:chExt cx="3103740" cy="5384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103735" cy="538399"/>
            </a:xfrm>
            <a:custGeom>
              <a:avLst/>
              <a:gdLst/>
              <a:ahLst/>
              <a:cxnLst/>
              <a:rect r="r" b="b" t="t" l="l"/>
              <a:pathLst>
                <a:path h="538399" w="3103735">
                  <a:moveTo>
                    <a:pt x="0" y="0"/>
                  </a:moveTo>
                  <a:lnTo>
                    <a:pt x="3103735" y="0"/>
                  </a:lnTo>
                  <a:lnTo>
                    <a:pt x="3103735" y="538399"/>
                  </a:lnTo>
                  <a:lnTo>
                    <a:pt x="0" y="5383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326" r="0" b="-6232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3103740" cy="557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of 4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5704163" y="1335024"/>
            <a:ext cx="2291229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Day-90 gate criteria</a:t>
            </a:r>
          </a:p>
          <a:p>
            <a:pPr algn="ctr">
              <a:lnSpc>
                <a:spcPts val="128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required to scale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633727" y="1877311"/>
            <a:ext cx="8928097" cy="3926329"/>
            <a:chOff x="0" y="0"/>
            <a:chExt cx="11904129" cy="523510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903964" cy="5235067"/>
            </a:xfrm>
            <a:custGeom>
              <a:avLst/>
              <a:gdLst/>
              <a:ahLst/>
              <a:cxnLst/>
              <a:rect r="r" b="b" t="t" l="l"/>
              <a:pathLst>
                <a:path h="5235067" w="11903964">
                  <a:moveTo>
                    <a:pt x="0" y="61087"/>
                  </a:moveTo>
                  <a:cubicBezTo>
                    <a:pt x="0" y="27432"/>
                    <a:pt x="27432" y="0"/>
                    <a:pt x="61087" y="0"/>
                  </a:cubicBezTo>
                  <a:lnTo>
                    <a:pt x="11842877" y="0"/>
                  </a:lnTo>
                  <a:cubicBezTo>
                    <a:pt x="11876659" y="0"/>
                    <a:pt x="11903964" y="27432"/>
                    <a:pt x="11903964" y="61087"/>
                  </a:cubicBezTo>
                  <a:lnTo>
                    <a:pt x="11903964" y="5173980"/>
                  </a:lnTo>
                  <a:cubicBezTo>
                    <a:pt x="11903964" y="5207762"/>
                    <a:pt x="11876532" y="5235067"/>
                    <a:pt x="11842877" y="5235067"/>
                  </a:cubicBezTo>
                  <a:lnTo>
                    <a:pt x="61087" y="5235067"/>
                  </a:lnTo>
                  <a:cubicBezTo>
                    <a:pt x="27305" y="5235067"/>
                    <a:pt x="0" y="5207635"/>
                    <a:pt x="0" y="517398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633727" y="1877311"/>
            <a:ext cx="8928097" cy="334566"/>
            <a:chOff x="0" y="0"/>
            <a:chExt cx="11904129" cy="4460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904142" cy="446048"/>
            </a:xfrm>
            <a:custGeom>
              <a:avLst/>
              <a:gdLst/>
              <a:ahLst/>
              <a:cxnLst/>
              <a:rect r="r" b="b" t="t" l="l"/>
              <a:pathLst>
                <a:path h="446048" w="11904142">
                  <a:moveTo>
                    <a:pt x="38006" y="0"/>
                  </a:moveTo>
                  <a:lnTo>
                    <a:pt x="11866136" y="0"/>
                  </a:lnTo>
                  <a:cubicBezTo>
                    <a:pt x="11887126" y="0"/>
                    <a:pt x="11904142" y="17016"/>
                    <a:pt x="11904142" y="38006"/>
                  </a:cubicBezTo>
                  <a:lnTo>
                    <a:pt x="11904142" y="408042"/>
                  </a:lnTo>
                  <a:cubicBezTo>
                    <a:pt x="11904142" y="429032"/>
                    <a:pt x="11887126" y="446048"/>
                    <a:pt x="11866136" y="446048"/>
                  </a:cubicBezTo>
                  <a:lnTo>
                    <a:pt x="38006" y="446048"/>
                  </a:lnTo>
                  <a:cubicBezTo>
                    <a:pt x="17016" y="446048"/>
                    <a:pt x="0" y="429032"/>
                    <a:pt x="0" y="408042"/>
                  </a:cubicBezTo>
                  <a:lnTo>
                    <a:pt x="0" y="38006"/>
                  </a:lnTo>
                  <a:cubicBezTo>
                    <a:pt x="0" y="17016"/>
                    <a:pt x="17016" y="0"/>
                    <a:pt x="38006" y="0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758952" y="1894637"/>
            <a:ext cx="4344310" cy="310896"/>
            <a:chOff x="0" y="0"/>
            <a:chExt cx="5792413" cy="41452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792413" cy="414528"/>
            </a:xfrm>
            <a:custGeom>
              <a:avLst/>
              <a:gdLst/>
              <a:ahLst/>
              <a:cxnLst/>
              <a:rect r="r" b="b" t="t" l="l"/>
              <a:pathLst>
                <a:path h="414528" w="5792413">
                  <a:moveTo>
                    <a:pt x="0" y="0"/>
                  </a:moveTo>
                  <a:lnTo>
                    <a:pt x="5792413" y="0"/>
                  </a:lnTo>
                  <a:lnTo>
                    <a:pt x="5792413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3861" r="-99747" b="-49386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5792413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R.I.C.E. Prioritisation Across Acquisition and Scale-Up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178040" y="1894637"/>
            <a:ext cx="2240280" cy="310896"/>
            <a:chOff x="0" y="0"/>
            <a:chExt cx="2987040" cy="41452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987040" cy="414528"/>
            </a:xfrm>
            <a:custGeom>
              <a:avLst/>
              <a:gdLst/>
              <a:ahLst/>
              <a:cxnLst/>
              <a:rect r="r" b="b" t="t" l="l"/>
              <a:pathLst>
                <a:path h="414528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2987040" cy="433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140"/>
                </a:lnSpc>
              </a:pPr>
              <a:r>
                <a:rPr lang="en-US" sz="950" i="true">
                  <a:solidFill>
                    <a:srgbClr val="FFF3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8 levers · sorted by score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43455" y="2279647"/>
            <a:ext cx="8708641" cy="360169"/>
            <a:chOff x="0" y="0"/>
            <a:chExt cx="11611521" cy="48022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611483" cy="480187"/>
            </a:xfrm>
            <a:custGeom>
              <a:avLst/>
              <a:gdLst/>
              <a:ahLst/>
              <a:cxnLst/>
              <a:rect r="r" b="b" t="t" l="l"/>
              <a:pathLst>
                <a:path h="480187" w="11611483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1560937" y="0"/>
                  </a:lnTo>
                  <a:cubicBezTo>
                    <a:pt x="11588877" y="0"/>
                    <a:pt x="11611483" y="22606"/>
                    <a:pt x="11611483" y="50546"/>
                  </a:cubicBezTo>
                  <a:lnTo>
                    <a:pt x="11611483" y="429641"/>
                  </a:lnTo>
                  <a:cubicBezTo>
                    <a:pt x="11611483" y="457581"/>
                    <a:pt x="11588877" y="480187"/>
                    <a:pt x="11560937" y="480187"/>
                  </a:cubicBezTo>
                  <a:lnTo>
                    <a:pt x="50546" y="480187"/>
                  </a:lnTo>
                  <a:cubicBezTo>
                    <a:pt x="22606" y="480187"/>
                    <a:pt x="0" y="457581"/>
                    <a:pt x="0" y="429641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859536" y="2286000"/>
            <a:ext cx="8476488" cy="347472"/>
            <a:chOff x="0" y="0"/>
            <a:chExt cx="11301984" cy="46329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301984" cy="463296"/>
            </a:xfrm>
            <a:custGeom>
              <a:avLst/>
              <a:gdLst/>
              <a:ahLst/>
              <a:cxnLst/>
              <a:rect r="r" b="b" t="t" l="l"/>
              <a:pathLst>
                <a:path h="463296" w="11301984">
                  <a:moveTo>
                    <a:pt x="0" y="0"/>
                  </a:moveTo>
                  <a:lnTo>
                    <a:pt x="11301984" y="0"/>
                  </a:lnTo>
                  <a:lnTo>
                    <a:pt x="11301984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5332" r="0" b="-42533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11301984" cy="482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40"/>
                </a:lnSpc>
              </a:pPr>
              <a:r>
                <a:rPr lang="en-US" sz="950" b="true">
                  <a:solidFill>
                    <a:srgbClr val="5605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RICE  =  </a:t>
              </a:r>
              <a:r>
                <a:rPr lang="en-US" sz="950" i="true">
                  <a:solidFill>
                    <a:srgbClr val="2B122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Reach × Impact × Confidence ÷ Effort</a:t>
              </a:r>
              <a:r>
                <a:rPr lang="en-US" sz="950">
                  <a:solidFill>
                    <a:srgbClr val="7A64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Reach = % of the 11,645 addressable base touched  ·  Impact 1-3  ·  Effort = engineering + ops weeks, 1-10</a:t>
              </a:r>
            </a:p>
          </p:txBody>
        </p:sp>
      </p:grpSp>
      <p:graphicFrame>
        <p:nvGraphicFramePr>
          <p:cNvPr name="Table 87" id="87"/>
          <p:cNvGraphicFramePr>
            <a:graphicFrameLocks noGrp="true"/>
          </p:cNvGraphicFramePr>
          <p:nvPr/>
        </p:nvGraphicFramePr>
        <p:xfrm>
          <a:off x="749808" y="2706624"/>
          <a:ext cx="8636000" cy="2541058"/>
        </p:xfrm>
        <a:graphic>
          <a:graphicData uri="http://schemas.openxmlformats.org/drawingml/2006/table">
            <a:tbl>
              <a:tblPr/>
              <a:tblGrid>
                <a:gridCol w="320647"/>
                <a:gridCol w="2773265"/>
                <a:gridCol w="569464"/>
                <a:gridCol w="569464"/>
                <a:gridCol w="605009"/>
                <a:gridCol w="569464"/>
                <a:gridCol w="747190"/>
                <a:gridCol w="658327"/>
                <a:gridCol w="1155959"/>
                <a:gridCol w="667213"/>
              </a:tblGrid>
              <a:tr h="305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#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Lever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Stage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Score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Cost shape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Yr-1 cost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</a:tr>
              <a:tr h="279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FF9D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Verified price-delta gate + C2M badge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6E12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Acq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●●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90%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>
                          <a:solidFill>
                            <a:srgbClr val="E3527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▬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0.900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7A647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Ranking rule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₹0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FF9D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C2M Seller Health Score + auto triggers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8A245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Scale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●●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85%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>
                          <a:solidFill>
                            <a:srgbClr val="E3527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▬▬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0.567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7A647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 product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₹0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FF9D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Cluster co-op onboarding via associations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6E12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Acq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90%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●●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85%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>
                          <a:solidFill>
                            <a:srgbClr val="E3527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▬▬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0.510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7A647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Relationship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₹5 cr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FF9D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Cluster Demand Brief (pin-code SKU briefs)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8A245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Scale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●●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75%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>
                          <a:solidFill>
                            <a:srgbClr val="E3527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▬▬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0.375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7A647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 product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₹6 cr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FF9D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Made-to-Meesho demand-confirmed batches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8A245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Scale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85%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●●●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70%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>
                          <a:solidFill>
                            <a:srgbClr val="E3527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▬▬▬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0.357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7A647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Platform feature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 Brief build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FF9D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Valmo Factory Node (assisted operations)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6E12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Acq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●●●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80%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>
                          <a:solidFill>
                            <a:srgbClr val="E3527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▬▬▬▬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0.300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7A647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Capex + opex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₹8 cr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FF9D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Batch prepayment · cash-cycle compression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8A245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Scale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75%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●●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70%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>
                          <a:solidFill>
                            <a:srgbClr val="E3527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▬▬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0.262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7A647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Working capital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 only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3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FF9D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Cluster returns firewall pool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6E125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Acq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70%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20"/>
                        </a:lnSpc>
                        <a:defRPr/>
                      </a:pPr>
                      <a:r>
                        <a:rPr lang="en-US" sz="110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●●●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65%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>
                          <a:solidFill>
                            <a:srgbClr val="E3527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▬▬▬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56054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0.227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7A647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Provisioned pool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40"/>
                        </a:lnSpc>
                        <a:defRPr/>
                      </a:pPr>
                      <a:r>
                        <a:rPr lang="en-US" sz="9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₹3 cr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88" id="88"/>
          <p:cNvGrpSpPr/>
          <p:nvPr/>
        </p:nvGrpSpPr>
        <p:grpSpPr>
          <a:xfrm rot="0">
            <a:off x="644700" y="5371507"/>
            <a:ext cx="8917124" cy="415033"/>
            <a:chOff x="0" y="0"/>
            <a:chExt cx="11889499" cy="55337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1889460" cy="553339"/>
            </a:xfrm>
            <a:custGeom>
              <a:avLst/>
              <a:gdLst/>
              <a:ahLst/>
              <a:cxnLst/>
              <a:rect r="r" b="b" t="t" l="l"/>
              <a:pathLst>
                <a:path h="553339" w="11889460">
                  <a:moveTo>
                    <a:pt x="0" y="50292"/>
                  </a:moveTo>
                  <a:cubicBezTo>
                    <a:pt x="0" y="22479"/>
                    <a:pt x="23017" y="0"/>
                    <a:pt x="51496" y="0"/>
                  </a:cubicBezTo>
                  <a:lnTo>
                    <a:pt x="11837964" y="0"/>
                  </a:lnTo>
                  <a:cubicBezTo>
                    <a:pt x="11866443" y="0"/>
                    <a:pt x="11889460" y="22479"/>
                    <a:pt x="11889460" y="50292"/>
                  </a:cubicBezTo>
                  <a:lnTo>
                    <a:pt x="11889460" y="503047"/>
                  </a:lnTo>
                  <a:cubicBezTo>
                    <a:pt x="11889460" y="530860"/>
                    <a:pt x="11866443" y="553339"/>
                    <a:pt x="11837964" y="553339"/>
                  </a:cubicBezTo>
                  <a:lnTo>
                    <a:pt x="51496" y="553339"/>
                  </a:lnTo>
                  <a:cubicBezTo>
                    <a:pt x="23017" y="553339"/>
                    <a:pt x="0" y="530860"/>
                    <a:pt x="0" y="503047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743455" y="5381032"/>
            <a:ext cx="8702288" cy="402336"/>
            <a:chOff x="0" y="0"/>
            <a:chExt cx="11603050" cy="53644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603050" cy="536448"/>
            </a:xfrm>
            <a:custGeom>
              <a:avLst/>
              <a:gdLst/>
              <a:ahLst/>
              <a:cxnLst/>
              <a:rect r="r" b="b" t="t" l="l"/>
              <a:pathLst>
                <a:path h="536448" w="11603050">
                  <a:moveTo>
                    <a:pt x="0" y="0"/>
                  </a:moveTo>
                  <a:lnTo>
                    <a:pt x="11603050" y="0"/>
                  </a:lnTo>
                  <a:lnTo>
                    <a:pt x="1160305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0514" r="2594" b="-36051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1160305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1260"/>
                </a:lnSpc>
              </a:pPr>
              <a:r>
                <a:rPr lang="en-US" sz="1050" b="true">
                  <a:solidFill>
                    <a:srgbClr val="FF9D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SEQUENCE   </a:t>
              </a:r>
              <a:r>
                <a:rPr lang="en-US" sz="10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Diagnostic and free  →  relationships  →  data  →  working capital  →  platform  →  capital. Nodes are last, not least: they score low only because effort is 8, not because impact is low.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677143" y="1877311"/>
            <a:ext cx="3944617" cy="3926329"/>
            <a:chOff x="0" y="0"/>
            <a:chExt cx="5259489" cy="523510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259324" cy="5235067"/>
            </a:xfrm>
            <a:custGeom>
              <a:avLst/>
              <a:gdLst/>
              <a:ahLst/>
              <a:cxnLst/>
              <a:rect r="r" b="b" t="t" l="l"/>
              <a:pathLst>
                <a:path h="5235067" w="5259324">
                  <a:moveTo>
                    <a:pt x="0" y="61087"/>
                  </a:moveTo>
                  <a:cubicBezTo>
                    <a:pt x="0" y="27432"/>
                    <a:pt x="27432" y="0"/>
                    <a:pt x="61087" y="0"/>
                  </a:cubicBezTo>
                  <a:lnTo>
                    <a:pt x="5198237" y="0"/>
                  </a:lnTo>
                  <a:cubicBezTo>
                    <a:pt x="5232019" y="0"/>
                    <a:pt x="5259324" y="27432"/>
                    <a:pt x="5259324" y="61087"/>
                  </a:cubicBezTo>
                  <a:lnTo>
                    <a:pt x="5259324" y="5173980"/>
                  </a:lnTo>
                  <a:cubicBezTo>
                    <a:pt x="5259324" y="5207762"/>
                    <a:pt x="5231892" y="5235067"/>
                    <a:pt x="5198237" y="5235067"/>
                  </a:cubicBezTo>
                  <a:lnTo>
                    <a:pt x="61087" y="5235067"/>
                  </a:lnTo>
                  <a:cubicBezTo>
                    <a:pt x="27305" y="5235067"/>
                    <a:pt x="0" y="5207635"/>
                    <a:pt x="0" y="517398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9677143" y="1877311"/>
            <a:ext cx="3944617" cy="334566"/>
            <a:chOff x="0" y="0"/>
            <a:chExt cx="5259489" cy="44608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59501" cy="446048"/>
            </a:xfrm>
            <a:custGeom>
              <a:avLst/>
              <a:gdLst/>
              <a:ahLst/>
              <a:cxnLst/>
              <a:rect r="r" b="b" t="t" l="l"/>
              <a:pathLst>
                <a:path h="446048" w="5259501">
                  <a:moveTo>
                    <a:pt x="50517" y="0"/>
                  </a:moveTo>
                  <a:lnTo>
                    <a:pt x="5208984" y="0"/>
                  </a:lnTo>
                  <a:cubicBezTo>
                    <a:pt x="5222382" y="0"/>
                    <a:pt x="5235231" y="5322"/>
                    <a:pt x="5244705" y="14796"/>
                  </a:cubicBezTo>
                  <a:cubicBezTo>
                    <a:pt x="5254179" y="24270"/>
                    <a:pt x="5259501" y="37119"/>
                    <a:pt x="5259501" y="50517"/>
                  </a:cubicBezTo>
                  <a:lnTo>
                    <a:pt x="5259501" y="395531"/>
                  </a:lnTo>
                  <a:cubicBezTo>
                    <a:pt x="5259501" y="423431"/>
                    <a:pt x="5236884" y="446048"/>
                    <a:pt x="5208984" y="446048"/>
                  </a:cubicBezTo>
                  <a:lnTo>
                    <a:pt x="50517" y="446048"/>
                  </a:lnTo>
                  <a:cubicBezTo>
                    <a:pt x="37119" y="446048"/>
                    <a:pt x="24270" y="440726"/>
                    <a:pt x="14796" y="431252"/>
                  </a:cubicBezTo>
                  <a:cubicBezTo>
                    <a:pt x="5322" y="421778"/>
                    <a:pt x="0" y="408929"/>
                    <a:pt x="0" y="395531"/>
                  </a:cubicBezTo>
                  <a:lnTo>
                    <a:pt x="0" y="50517"/>
                  </a:lnTo>
                  <a:cubicBezTo>
                    <a:pt x="0" y="22617"/>
                    <a:pt x="22617" y="0"/>
                    <a:pt x="50517" y="0"/>
                  </a:cubicBezTo>
                  <a:close/>
                </a:path>
              </a:pathLst>
            </a:custGeom>
            <a:solidFill>
              <a:srgbClr val="6E1251"/>
            </a:solidFill>
            <a:ln w="12700" cap="sq">
              <a:solidFill>
                <a:srgbClr val="6E1251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9802368" y="1894637"/>
            <a:ext cx="3694176" cy="310896"/>
            <a:chOff x="0" y="0"/>
            <a:chExt cx="4925568" cy="41452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925568" cy="414528"/>
            </a:xfrm>
            <a:custGeom>
              <a:avLst/>
              <a:gdLst/>
              <a:ahLst/>
              <a:cxnLst/>
              <a:rect r="r" b="b" t="t" l="l"/>
              <a:pathLst>
                <a:path h="41452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528" r="0" b="-18152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4925568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 × Effort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124565" y="2335701"/>
            <a:ext cx="3158233" cy="2865625"/>
            <a:chOff x="0" y="0"/>
            <a:chExt cx="4210977" cy="3820833"/>
          </a:xfrm>
        </p:grpSpPr>
        <p:grpSp>
          <p:nvGrpSpPr>
            <p:cNvPr name="Group 101" id="101"/>
            <p:cNvGrpSpPr/>
            <p:nvPr/>
          </p:nvGrpSpPr>
          <p:grpSpPr>
            <a:xfrm rot="0">
              <a:off x="0" y="0"/>
              <a:ext cx="2113953" cy="1918881"/>
              <a:chOff x="0" y="0"/>
              <a:chExt cx="2113953" cy="1918881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0" y="0"/>
                <a:ext cx="2113915" cy="1918843"/>
              </a:xfrm>
              <a:custGeom>
                <a:avLst/>
                <a:gdLst/>
                <a:ahLst/>
                <a:cxnLst/>
                <a:rect r="r" b="b" t="t" l="l"/>
                <a:pathLst>
                  <a:path h="1918843" w="2113915">
                    <a:moveTo>
                      <a:pt x="0" y="0"/>
                    </a:moveTo>
                    <a:lnTo>
                      <a:pt x="2113915" y="0"/>
                    </a:lnTo>
                    <a:lnTo>
                      <a:pt x="2113915" y="1918843"/>
                    </a:lnTo>
                    <a:lnTo>
                      <a:pt x="0" y="1918843"/>
                    </a:lnTo>
                    <a:close/>
                  </a:path>
                </a:pathLst>
              </a:custGeom>
              <a:solidFill>
                <a:srgbClr val="EFF6F1"/>
              </a:solidFill>
              <a:ln w="12700" cap="sq">
                <a:solidFill>
                  <a:srgbClr val="E0CEDA"/>
                </a:solidFill>
                <a:prstDash val="solid"/>
                <a:miter/>
              </a:ln>
            </p:spPr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69431" y="57239"/>
              <a:ext cx="1975104" cy="243840"/>
              <a:chOff x="0" y="0"/>
              <a:chExt cx="1975104" cy="243840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1975104" cy="243840"/>
              </a:xfrm>
              <a:custGeom>
                <a:avLst/>
                <a:gdLst/>
                <a:ahLst/>
                <a:cxnLst/>
                <a:rect r="r" b="b" t="t" l="l"/>
                <a:pathLst>
                  <a:path h="243840" w="1975104">
                    <a:moveTo>
                      <a:pt x="0" y="0"/>
                    </a:moveTo>
                    <a:lnTo>
                      <a:pt x="1975104" y="0"/>
                    </a:lnTo>
                    <a:lnTo>
                      <a:pt x="1975104" y="243840"/>
                    </a:lnTo>
                    <a:lnTo>
                      <a:pt x="0" y="24384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07828" r="0" b="-107828"/>
                </a:stretch>
              </a:blip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-19050"/>
                <a:ext cx="1975104" cy="2628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019"/>
                  </a:lnSpc>
                </a:pPr>
                <a:r>
                  <a:rPr lang="en-US" sz="849" b="true">
                    <a:solidFill>
                      <a:srgbClr val="1B7F4B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QUICK WINS</a:t>
                </a: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2097024" y="0"/>
              <a:ext cx="2113953" cy="1918881"/>
              <a:chOff x="0" y="0"/>
              <a:chExt cx="2113953" cy="1918881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2113915" cy="1918843"/>
              </a:xfrm>
              <a:custGeom>
                <a:avLst/>
                <a:gdLst/>
                <a:ahLst/>
                <a:cxnLst/>
                <a:rect r="r" b="b" t="t" l="l"/>
                <a:pathLst>
                  <a:path h="1918843" w="2113915">
                    <a:moveTo>
                      <a:pt x="0" y="0"/>
                    </a:moveTo>
                    <a:lnTo>
                      <a:pt x="2113915" y="0"/>
                    </a:lnTo>
                    <a:lnTo>
                      <a:pt x="2113915" y="1918843"/>
                    </a:lnTo>
                    <a:lnTo>
                      <a:pt x="0" y="1918843"/>
                    </a:lnTo>
                    <a:close/>
                  </a:path>
                </a:pathLst>
              </a:custGeom>
              <a:solidFill>
                <a:srgbClr val="FBF1F7"/>
              </a:solidFill>
              <a:ln w="12700" cap="sq">
                <a:solidFill>
                  <a:srgbClr val="E0CEDA"/>
                </a:solidFill>
                <a:prstDash val="solid"/>
                <a:miter/>
              </a:ln>
            </p:spPr>
          </p:sp>
        </p:grpSp>
        <p:grpSp>
          <p:nvGrpSpPr>
            <p:cNvPr name="Group 108" id="108"/>
            <p:cNvGrpSpPr/>
            <p:nvPr/>
          </p:nvGrpSpPr>
          <p:grpSpPr>
            <a:xfrm rot="0">
              <a:off x="2166455" y="57239"/>
              <a:ext cx="1975104" cy="243840"/>
              <a:chOff x="0" y="0"/>
              <a:chExt cx="1975104" cy="243840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1975104" cy="243840"/>
              </a:xfrm>
              <a:custGeom>
                <a:avLst/>
                <a:gdLst/>
                <a:ahLst/>
                <a:cxnLst/>
                <a:rect r="r" b="b" t="t" l="l"/>
                <a:pathLst>
                  <a:path h="243840" w="1975104">
                    <a:moveTo>
                      <a:pt x="0" y="0"/>
                    </a:moveTo>
                    <a:lnTo>
                      <a:pt x="1975104" y="0"/>
                    </a:lnTo>
                    <a:lnTo>
                      <a:pt x="1975104" y="243840"/>
                    </a:lnTo>
                    <a:lnTo>
                      <a:pt x="0" y="24384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07828" r="0" b="-107828"/>
                </a:stretch>
              </a:blipFill>
            </p:spPr>
          </p:sp>
          <p:sp>
            <p:nvSpPr>
              <p:cNvPr name="TextBox 110" id="110"/>
              <p:cNvSpPr txBox="true"/>
              <p:nvPr/>
            </p:nvSpPr>
            <p:spPr>
              <a:xfrm>
                <a:off x="0" y="-19050"/>
                <a:ext cx="1975104" cy="2628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019"/>
                  </a:lnSpc>
                </a:pPr>
                <a:r>
                  <a:rPr lang="en-US" sz="849" b="true">
                    <a:solidFill>
                      <a:srgbClr val="8A245E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BIG BETS</a:t>
                </a:r>
              </a:p>
            </p:txBody>
          </p:sp>
        </p:grpSp>
        <p:grpSp>
          <p:nvGrpSpPr>
            <p:cNvPr name="Group 111" id="111"/>
            <p:cNvGrpSpPr/>
            <p:nvPr/>
          </p:nvGrpSpPr>
          <p:grpSpPr>
            <a:xfrm rot="0">
              <a:off x="0" y="1901952"/>
              <a:ext cx="2113953" cy="1918881"/>
              <a:chOff x="0" y="0"/>
              <a:chExt cx="2113953" cy="1918881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2113915" cy="1918843"/>
              </a:xfrm>
              <a:custGeom>
                <a:avLst/>
                <a:gdLst/>
                <a:ahLst/>
                <a:cxnLst/>
                <a:rect r="r" b="b" t="t" l="l"/>
                <a:pathLst>
                  <a:path h="1918843" w="2113915">
                    <a:moveTo>
                      <a:pt x="0" y="0"/>
                    </a:moveTo>
                    <a:lnTo>
                      <a:pt x="2113915" y="0"/>
                    </a:lnTo>
                    <a:lnTo>
                      <a:pt x="2113915" y="1918843"/>
                    </a:lnTo>
                    <a:lnTo>
                      <a:pt x="0" y="1918843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sq">
                <a:solidFill>
                  <a:srgbClr val="E0CEDA"/>
                </a:solidFill>
                <a:prstDash val="solid"/>
                <a:miter/>
              </a:ln>
            </p:spPr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69431" y="3519767"/>
              <a:ext cx="1975104" cy="243840"/>
              <a:chOff x="0" y="0"/>
              <a:chExt cx="1975104" cy="243840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0" y="0"/>
                <a:ext cx="1975104" cy="243840"/>
              </a:xfrm>
              <a:custGeom>
                <a:avLst/>
                <a:gdLst/>
                <a:ahLst/>
                <a:cxnLst/>
                <a:rect r="r" b="b" t="t" l="l"/>
                <a:pathLst>
                  <a:path h="243840" w="1975104">
                    <a:moveTo>
                      <a:pt x="0" y="0"/>
                    </a:moveTo>
                    <a:lnTo>
                      <a:pt x="1975104" y="0"/>
                    </a:lnTo>
                    <a:lnTo>
                      <a:pt x="1975104" y="243840"/>
                    </a:lnTo>
                    <a:lnTo>
                      <a:pt x="0" y="24384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07828" r="0" b="-107828"/>
                </a:stretch>
              </a:blipFill>
            </p:spPr>
          </p:sp>
          <p:sp>
            <p:nvSpPr>
              <p:cNvPr name="TextBox 115" id="115"/>
              <p:cNvSpPr txBox="true"/>
              <p:nvPr/>
            </p:nvSpPr>
            <p:spPr>
              <a:xfrm>
                <a:off x="0" y="-19050"/>
                <a:ext cx="1975104" cy="2628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019"/>
                  </a:lnSpc>
                </a:pPr>
                <a:r>
                  <a:rPr lang="en-US" sz="849" b="true">
                    <a:solidFill>
                      <a:srgbClr val="7A647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FILL-INS</a:t>
                </a:r>
              </a:p>
            </p:txBody>
          </p:sp>
        </p:grpSp>
        <p:grpSp>
          <p:nvGrpSpPr>
            <p:cNvPr name="Group 116" id="116"/>
            <p:cNvGrpSpPr/>
            <p:nvPr/>
          </p:nvGrpSpPr>
          <p:grpSpPr>
            <a:xfrm rot="0">
              <a:off x="2097024" y="1901952"/>
              <a:ext cx="2113953" cy="1918881"/>
              <a:chOff x="0" y="0"/>
              <a:chExt cx="2113953" cy="1918881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2113915" cy="1918843"/>
              </a:xfrm>
              <a:custGeom>
                <a:avLst/>
                <a:gdLst/>
                <a:ahLst/>
                <a:cxnLst/>
                <a:rect r="r" b="b" t="t" l="l"/>
                <a:pathLst>
                  <a:path h="1918843" w="2113915">
                    <a:moveTo>
                      <a:pt x="0" y="0"/>
                    </a:moveTo>
                    <a:lnTo>
                      <a:pt x="2113915" y="0"/>
                    </a:lnTo>
                    <a:lnTo>
                      <a:pt x="2113915" y="1918843"/>
                    </a:lnTo>
                    <a:lnTo>
                      <a:pt x="0" y="1918843"/>
                    </a:lnTo>
                    <a:close/>
                  </a:path>
                </a:pathLst>
              </a:custGeom>
              <a:solidFill>
                <a:srgbClr val="FAF6F8"/>
              </a:solidFill>
              <a:ln w="12700" cap="sq">
                <a:solidFill>
                  <a:srgbClr val="E0CEDA"/>
                </a:solidFill>
                <a:prstDash val="solid"/>
                <a:miter/>
              </a:ln>
            </p:spPr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2166455" y="3519767"/>
              <a:ext cx="1975104" cy="243840"/>
              <a:chOff x="0" y="0"/>
              <a:chExt cx="1975104" cy="243840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1975104" cy="243840"/>
              </a:xfrm>
              <a:custGeom>
                <a:avLst/>
                <a:gdLst/>
                <a:ahLst/>
                <a:cxnLst/>
                <a:rect r="r" b="b" t="t" l="l"/>
                <a:pathLst>
                  <a:path h="243840" w="1975104">
                    <a:moveTo>
                      <a:pt x="0" y="0"/>
                    </a:moveTo>
                    <a:lnTo>
                      <a:pt x="1975104" y="0"/>
                    </a:lnTo>
                    <a:lnTo>
                      <a:pt x="1975104" y="243840"/>
                    </a:lnTo>
                    <a:lnTo>
                      <a:pt x="0" y="24384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07828" r="0" b="-107828"/>
                </a:stretch>
              </a:blipFill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0" y="-19050"/>
                <a:ext cx="1975104" cy="2628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019"/>
                  </a:lnSpc>
                </a:pPr>
                <a:r>
                  <a:rPr lang="en-US" sz="849" b="true">
                    <a:solidFill>
                      <a:srgbClr val="7A647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HOLD</a:t>
                </a: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243846" y="567779"/>
              <a:ext cx="1626273" cy="309537"/>
              <a:chOff x="0" y="0"/>
              <a:chExt cx="1626273" cy="309537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1626235" cy="309499"/>
              </a:xfrm>
              <a:custGeom>
                <a:avLst/>
                <a:gdLst/>
                <a:ahLst/>
                <a:cxnLst/>
                <a:rect r="r" b="b" t="t" l="l"/>
                <a:pathLst>
                  <a:path h="309499" w="1626235">
                    <a:moveTo>
                      <a:pt x="0" y="90297"/>
                    </a:moveTo>
                    <a:cubicBezTo>
                      <a:pt x="0" y="40386"/>
                      <a:pt x="40386" y="0"/>
                      <a:pt x="90297" y="0"/>
                    </a:cubicBezTo>
                    <a:lnTo>
                      <a:pt x="1535938" y="0"/>
                    </a:lnTo>
                    <a:cubicBezTo>
                      <a:pt x="1585849" y="0"/>
                      <a:pt x="1626235" y="40386"/>
                      <a:pt x="1626235" y="90297"/>
                    </a:cubicBezTo>
                    <a:lnTo>
                      <a:pt x="1626235" y="219202"/>
                    </a:lnTo>
                    <a:cubicBezTo>
                      <a:pt x="1626235" y="269113"/>
                      <a:pt x="1585849" y="309499"/>
                      <a:pt x="1535938" y="309499"/>
                    </a:cubicBezTo>
                    <a:lnTo>
                      <a:pt x="90297" y="309499"/>
                    </a:lnTo>
                    <a:cubicBezTo>
                      <a:pt x="40386" y="309499"/>
                      <a:pt x="0" y="269113"/>
                      <a:pt x="0" y="219202"/>
                    </a:cubicBezTo>
                    <a:close/>
                  </a:path>
                </a:pathLst>
              </a:custGeom>
              <a:solidFill>
                <a:srgbClr val="FF9D00"/>
              </a:solidFill>
              <a:ln w="12700" cap="sq">
                <a:solidFill>
                  <a:srgbClr val="FF9D00"/>
                </a:solidFill>
                <a:prstDash val="solid"/>
                <a:miter/>
              </a:ln>
            </p:spPr>
          </p:sp>
        </p:grpSp>
        <p:grpSp>
          <p:nvGrpSpPr>
            <p:cNvPr name="Group 123" id="123"/>
            <p:cNvGrpSpPr/>
            <p:nvPr/>
          </p:nvGrpSpPr>
          <p:grpSpPr>
            <a:xfrm rot="0">
              <a:off x="301073" y="576237"/>
              <a:ext cx="1511808" cy="292608"/>
              <a:chOff x="0" y="0"/>
              <a:chExt cx="1511808" cy="292608"/>
            </a:xfrm>
          </p:grpSpPr>
          <p:sp>
            <p:nvSpPr>
              <p:cNvPr name="Freeform 124" id="124"/>
              <p:cNvSpPr/>
              <p:nvPr/>
            </p:nvSpPr>
            <p:spPr>
              <a:xfrm flipH="false" flipV="false" rot="0">
                <a:off x="0" y="0"/>
                <a:ext cx="1511808" cy="292608"/>
              </a:xfrm>
              <a:custGeom>
                <a:avLst/>
                <a:gdLst/>
                <a:ahLst/>
                <a:cxnLst/>
                <a:rect r="r" b="b" t="t" l="l"/>
                <a:pathLst>
                  <a:path h="292608" w="1511808">
                    <a:moveTo>
                      <a:pt x="0" y="0"/>
                    </a:moveTo>
                    <a:lnTo>
                      <a:pt x="1511808" y="0"/>
                    </a:lnTo>
                    <a:lnTo>
                      <a:pt x="1511808" y="292608"/>
                    </a:lnTo>
                    <a:lnTo>
                      <a:pt x="0" y="29260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0672" r="0" b="-50672"/>
                </a:stretch>
              </a:blipFill>
            </p:spPr>
          </p:sp>
          <p:sp>
            <p:nvSpPr>
              <p:cNvPr name="TextBox 125" id="125"/>
              <p:cNvSpPr txBox="true"/>
              <p:nvPr/>
            </p:nvSpPr>
            <p:spPr>
              <a:xfrm>
                <a:off x="0" y="-9525"/>
                <a:ext cx="1511808" cy="3021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260"/>
                  </a:lnSpc>
                </a:pPr>
                <a:r>
                  <a:rPr lang="en-US" sz="1050" b="true">
                    <a:solidFill>
                      <a:srgbClr val="560547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Price gate</a:t>
                </a:r>
              </a:p>
            </p:txBody>
          </p:sp>
        </p:grpSp>
        <p:grpSp>
          <p:nvGrpSpPr>
            <p:cNvPr name="Group 126" id="126"/>
            <p:cNvGrpSpPr/>
            <p:nvPr/>
          </p:nvGrpSpPr>
          <p:grpSpPr>
            <a:xfrm rot="0">
              <a:off x="249942" y="1144016"/>
              <a:ext cx="1626273" cy="309537"/>
              <a:chOff x="0" y="0"/>
              <a:chExt cx="1626273" cy="309537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1626235" cy="309499"/>
              </a:xfrm>
              <a:custGeom>
                <a:avLst/>
                <a:gdLst/>
                <a:ahLst/>
                <a:cxnLst/>
                <a:rect r="r" b="b" t="t" l="l"/>
                <a:pathLst>
                  <a:path h="309499" w="1626235">
                    <a:moveTo>
                      <a:pt x="0" y="90297"/>
                    </a:moveTo>
                    <a:cubicBezTo>
                      <a:pt x="0" y="40386"/>
                      <a:pt x="40386" y="0"/>
                      <a:pt x="90297" y="0"/>
                    </a:cubicBezTo>
                    <a:lnTo>
                      <a:pt x="1535938" y="0"/>
                    </a:lnTo>
                    <a:cubicBezTo>
                      <a:pt x="1585849" y="0"/>
                      <a:pt x="1626235" y="40386"/>
                      <a:pt x="1626235" y="90297"/>
                    </a:cubicBezTo>
                    <a:lnTo>
                      <a:pt x="1626235" y="219202"/>
                    </a:lnTo>
                    <a:cubicBezTo>
                      <a:pt x="1626235" y="269113"/>
                      <a:pt x="1585849" y="309499"/>
                      <a:pt x="1535938" y="309499"/>
                    </a:cubicBezTo>
                    <a:lnTo>
                      <a:pt x="90297" y="309499"/>
                    </a:lnTo>
                    <a:cubicBezTo>
                      <a:pt x="40386" y="309499"/>
                      <a:pt x="0" y="269113"/>
                      <a:pt x="0" y="219202"/>
                    </a:cubicBezTo>
                    <a:close/>
                  </a:path>
                </a:pathLst>
              </a:custGeom>
              <a:solidFill>
                <a:srgbClr val="FF9D00"/>
              </a:solidFill>
              <a:ln w="12700" cap="sq">
                <a:solidFill>
                  <a:srgbClr val="FF9D00"/>
                </a:solidFill>
                <a:prstDash val="solid"/>
                <a:miter/>
              </a:ln>
            </p:spPr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307181" y="1152487"/>
              <a:ext cx="1511808" cy="292608"/>
              <a:chOff x="0" y="0"/>
              <a:chExt cx="1511808" cy="292608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0" y="0"/>
                <a:ext cx="1511808" cy="292608"/>
              </a:xfrm>
              <a:custGeom>
                <a:avLst/>
                <a:gdLst/>
                <a:ahLst/>
                <a:cxnLst/>
                <a:rect r="r" b="b" t="t" l="l"/>
                <a:pathLst>
                  <a:path h="292608" w="1511808">
                    <a:moveTo>
                      <a:pt x="0" y="0"/>
                    </a:moveTo>
                    <a:lnTo>
                      <a:pt x="1511808" y="0"/>
                    </a:lnTo>
                    <a:lnTo>
                      <a:pt x="1511808" y="292608"/>
                    </a:lnTo>
                    <a:lnTo>
                      <a:pt x="0" y="29260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0672" r="0" b="-50672"/>
                </a:stretch>
              </a:blipFill>
            </p:spPr>
          </p:sp>
          <p:sp>
            <p:nvSpPr>
              <p:cNvPr name="TextBox 130" id="130"/>
              <p:cNvSpPr txBox="true"/>
              <p:nvPr/>
            </p:nvSpPr>
            <p:spPr>
              <a:xfrm>
                <a:off x="0" y="-9525"/>
                <a:ext cx="1511808" cy="3021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260"/>
                  </a:lnSpc>
                </a:pPr>
                <a:r>
                  <a:rPr lang="en-US" sz="1050" b="true">
                    <a:solidFill>
                      <a:srgbClr val="560547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Health score</a:t>
                </a:r>
              </a:p>
            </p:txBody>
          </p:sp>
        </p:grpSp>
        <p:grpSp>
          <p:nvGrpSpPr>
            <p:cNvPr name="Group 131" id="131"/>
            <p:cNvGrpSpPr/>
            <p:nvPr/>
          </p:nvGrpSpPr>
          <p:grpSpPr>
            <a:xfrm rot="0">
              <a:off x="249942" y="2331891"/>
              <a:ext cx="1626273" cy="309537"/>
              <a:chOff x="0" y="0"/>
              <a:chExt cx="1626273" cy="309537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0" y="0"/>
                <a:ext cx="1626235" cy="309499"/>
              </a:xfrm>
              <a:custGeom>
                <a:avLst/>
                <a:gdLst/>
                <a:ahLst/>
                <a:cxnLst/>
                <a:rect r="r" b="b" t="t" l="l"/>
                <a:pathLst>
                  <a:path h="309499" w="1626235">
                    <a:moveTo>
                      <a:pt x="0" y="90297"/>
                    </a:moveTo>
                    <a:cubicBezTo>
                      <a:pt x="0" y="40386"/>
                      <a:pt x="40386" y="0"/>
                      <a:pt x="90297" y="0"/>
                    </a:cubicBezTo>
                    <a:lnTo>
                      <a:pt x="1535938" y="0"/>
                    </a:lnTo>
                    <a:cubicBezTo>
                      <a:pt x="1585849" y="0"/>
                      <a:pt x="1626235" y="40386"/>
                      <a:pt x="1626235" y="90297"/>
                    </a:cubicBezTo>
                    <a:lnTo>
                      <a:pt x="1626235" y="219202"/>
                    </a:lnTo>
                    <a:cubicBezTo>
                      <a:pt x="1626235" y="269113"/>
                      <a:pt x="1585849" y="309499"/>
                      <a:pt x="1535938" y="309499"/>
                    </a:cubicBezTo>
                    <a:lnTo>
                      <a:pt x="90297" y="309499"/>
                    </a:lnTo>
                    <a:cubicBezTo>
                      <a:pt x="40386" y="309499"/>
                      <a:pt x="0" y="269113"/>
                      <a:pt x="0" y="219202"/>
                    </a:cubicBezTo>
                    <a:close/>
                  </a:path>
                </a:pathLst>
              </a:custGeom>
              <a:solidFill>
                <a:srgbClr val="6E1251"/>
              </a:solidFill>
              <a:ln w="12700" cap="sq">
                <a:solidFill>
                  <a:srgbClr val="6E1251"/>
                </a:solidFill>
                <a:prstDash val="solid"/>
                <a:miter/>
              </a:ln>
            </p:spPr>
          </p:sp>
        </p:grpSp>
        <p:grpSp>
          <p:nvGrpSpPr>
            <p:cNvPr name="Group 133" id="133"/>
            <p:cNvGrpSpPr/>
            <p:nvPr/>
          </p:nvGrpSpPr>
          <p:grpSpPr>
            <a:xfrm rot="0">
              <a:off x="307181" y="2340350"/>
              <a:ext cx="1511808" cy="292608"/>
              <a:chOff x="0" y="0"/>
              <a:chExt cx="1511808" cy="292608"/>
            </a:xfrm>
          </p:grpSpPr>
          <p:sp>
            <p:nvSpPr>
              <p:cNvPr name="Freeform 134" id="134"/>
              <p:cNvSpPr/>
              <p:nvPr/>
            </p:nvSpPr>
            <p:spPr>
              <a:xfrm flipH="false" flipV="false" rot="0">
                <a:off x="0" y="0"/>
                <a:ext cx="1511808" cy="292608"/>
              </a:xfrm>
              <a:custGeom>
                <a:avLst/>
                <a:gdLst/>
                <a:ahLst/>
                <a:cxnLst/>
                <a:rect r="r" b="b" t="t" l="l"/>
                <a:pathLst>
                  <a:path h="292608" w="1511808">
                    <a:moveTo>
                      <a:pt x="0" y="0"/>
                    </a:moveTo>
                    <a:lnTo>
                      <a:pt x="1511808" y="0"/>
                    </a:lnTo>
                    <a:lnTo>
                      <a:pt x="1511808" y="292608"/>
                    </a:lnTo>
                    <a:lnTo>
                      <a:pt x="0" y="29260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0672" r="0" b="-50672"/>
                </a:stretch>
              </a:blipFill>
            </p:spPr>
          </p:sp>
          <p:sp>
            <p:nvSpPr>
              <p:cNvPr name="TextBox 135" id="135"/>
              <p:cNvSpPr txBox="true"/>
              <p:nvPr/>
            </p:nvSpPr>
            <p:spPr>
              <a:xfrm>
                <a:off x="0" y="-9525"/>
                <a:ext cx="1511808" cy="3021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260"/>
                  </a:lnSpc>
                </a:pPr>
                <a:r>
                  <a:rPr lang="en-US" sz="105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Cluster co-ops</a:t>
                </a:r>
              </a:p>
            </p:txBody>
          </p:sp>
        </p:grpSp>
        <p:grpSp>
          <p:nvGrpSpPr>
            <p:cNvPr name="Group 136" id="136"/>
            <p:cNvGrpSpPr/>
            <p:nvPr/>
          </p:nvGrpSpPr>
          <p:grpSpPr>
            <a:xfrm rot="0">
              <a:off x="249942" y="2901702"/>
              <a:ext cx="1626273" cy="309537"/>
              <a:chOff x="0" y="0"/>
              <a:chExt cx="1626273" cy="309537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1626235" cy="309499"/>
              </a:xfrm>
              <a:custGeom>
                <a:avLst/>
                <a:gdLst/>
                <a:ahLst/>
                <a:cxnLst/>
                <a:rect r="r" b="b" t="t" l="l"/>
                <a:pathLst>
                  <a:path h="309499" w="1626235">
                    <a:moveTo>
                      <a:pt x="0" y="90297"/>
                    </a:moveTo>
                    <a:cubicBezTo>
                      <a:pt x="0" y="40386"/>
                      <a:pt x="40386" y="0"/>
                      <a:pt x="90297" y="0"/>
                    </a:cubicBezTo>
                    <a:lnTo>
                      <a:pt x="1535938" y="0"/>
                    </a:lnTo>
                    <a:cubicBezTo>
                      <a:pt x="1585849" y="0"/>
                      <a:pt x="1626235" y="40386"/>
                      <a:pt x="1626235" y="90297"/>
                    </a:cubicBezTo>
                    <a:lnTo>
                      <a:pt x="1626235" y="219202"/>
                    </a:lnTo>
                    <a:cubicBezTo>
                      <a:pt x="1626235" y="269113"/>
                      <a:pt x="1585849" y="309499"/>
                      <a:pt x="1535938" y="309499"/>
                    </a:cubicBezTo>
                    <a:lnTo>
                      <a:pt x="90297" y="309499"/>
                    </a:lnTo>
                    <a:cubicBezTo>
                      <a:pt x="40386" y="309499"/>
                      <a:pt x="0" y="269113"/>
                      <a:pt x="0" y="219202"/>
                    </a:cubicBezTo>
                    <a:close/>
                  </a:path>
                </a:pathLst>
              </a:custGeom>
              <a:solidFill>
                <a:srgbClr val="6E1251"/>
              </a:solidFill>
              <a:ln w="12700" cap="sq">
                <a:solidFill>
                  <a:srgbClr val="6E1251"/>
                </a:solidFill>
                <a:prstDash val="solid"/>
                <a:miter/>
              </a:ln>
            </p:spPr>
          </p:sp>
        </p:grpSp>
        <p:grpSp>
          <p:nvGrpSpPr>
            <p:cNvPr name="Group 138" id="138"/>
            <p:cNvGrpSpPr/>
            <p:nvPr/>
          </p:nvGrpSpPr>
          <p:grpSpPr>
            <a:xfrm rot="0">
              <a:off x="307181" y="2910173"/>
              <a:ext cx="1511808" cy="292608"/>
              <a:chOff x="0" y="0"/>
              <a:chExt cx="1511808" cy="292608"/>
            </a:xfrm>
          </p:grpSpPr>
          <p:sp>
            <p:nvSpPr>
              <p:cNvPr name="Freeform 139" id="139"/>
              <p:cNvSpPr/>
              <p:nvPr/>
            </p:nvSpPr>
            <p:spPr>
              <a:xfrm flipH="false" flipV="false" rot="0">
                <a:off x="0" y="0"/>
                <a:ext cx="1511808" cy="292608"/>
              </a:xfrm>
              <a:custGeom>
                <a:avLst/>
                <a:gdLst/>
                <a:ahLst/>
                <a:cxnLst/>
                <a:rect r="r" b="b" t="t" l="l"/>
                <a:pathLst>
                  <a:path h="292608" w="1511808">
                    <a:moveTo>
                      <a:pt x="0" y="0"/>
                    </a:moveTo>
                    <a:lnTo>
                      <a:pt x="1511808" y="0"/>
                    </a:lnTo>
                    <a:lnTo>
                      <a:pt x="1511808" y="292608"/>
                    </a:lnTo>
                    <a:lnTo>
                      <a:pt x="0" y="29260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0672" r="0" b="-50672"/>
                </a:stretch>
              </a:blipFill>
            </p:spPr>
          </p:sp>
          <p:sp>
            <p:nvSpPr>
              <p:cNvPr name="TextBox 140" id="140"/>
              <p:cNvSpPr txBox="true"/>
              <p:nvPr/>
            </p:nvSpPr>
            <p:spPr>
              <a:xfrm>
                <a:off x="0" y="-9525"/>
                <a:ext cx="1511808" cy="3021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260"/>
                  </a:lnSpc>
                </a:pPr>
                <a:r>
                  <a:rPr lang="en-US" sz="105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Demand Brief</a:t>
                </a:r>
              </a:p>
            </p:txBody>
          </p:sp>
        </p:grpSp>
        <p:grpSp>
          <p:nvGrpSpPr>
            <p:cNvPr name="Group 141" id="141"/>
            <p:cNvGrpSpPr/>
            <p:nvPr/>
          </p:nvGrpSpPr>
          <p:grpSpPr>
            <a:xfrm rot="0">
              <a:off x="2355253" y="2908129"/>
              <a:ext cx="1626273" cy="309537"/>
              <a:chOff x="0" y="0"/>
              <a:chExt cx="1626273" cy="309537"/>
            </a:xfrm>
          </p:grpSpPr>
          <p:sp>
            <p:nvSpPr>
              <p:cNvPr name="Freeform 142" id="142"/>
              <p:cNvSpPr/>
              <p:nvPr/>
            </p:nvSpPr>
            <p:spPr>
              <a:xfrm flipH="false" flipV="false" rot="0">
                <a:off x="0" y="0"/>
                <a:ext cx="1626235" cy="309499"/>
              </a:xfrm>
              <a:custGeom>
                <a:avLst/>
                <a:gdLst/>
                <a:ahLst/>
                <a:cxnLst/>
                <a:rect r="r" b="b" t="t" l="l"/>
                <a:pathLst>
                  <a:path h="309499" w="1626235">
                    <a:moveTo>
                      <a:pt x="0" y="90297"/>
                    </a:moveTo>
                    <a:cubicBezTo>
                      <a:pt x="0" y="40386"/>
                      <a:pt x="40386" y="0"/>
                      <a:pt x="90297" y="0"/>
                    </a:cubicBezTo>
                    <a:lnTo>
                      <a:pt x="1535938" y="0"/>
                    </a:lnTo>
                    <a:cubicBezTo>
                      <a:pt x="1585849" y="0"/>
                      <a:pt x="1626235" y="40386"/>
                      <a:pt x="1626235" y="90297"/>
                    </a:cubicBezTo>
                    <a:lnTo>
                      <a:pt x="1626235" y="219202"/>
                    </a:lnTo>
                    <a:cubicBezTo>
                      <a:pt x="1626235" y="269113"/>
                      <a:pt x="1585849" y="309499"/>
                      <a:pt x="1535938" y="309499"/>
                    </a:cubicBezTo>
                    <a:lnTo>
                      <a:pt x="90297" y="309499"/>
                    </a:lnTo>
                    <a:cubicBezTo>
                      <a:pt x="40386" y="309499"/>
                      <a:pt x="0" y="269113"/>
                      <a:pt x="0" y="219202"/>
                    </a:cubicBezTo>
                    <a:close/>
                  </a:path>
                </a:pathLst>
              </a:custGeom>
              <a:solidFill>
                <a:srgbClr val="8A245E"/>
              </a:solidFill>
              <a:ln w="12700" cap="sq">
                <a:solidFill>
                  <a:srgbClr val="8A245E"/>
                </a:solidFill>
                <a:prstDash val="solid"/>
                <a:miter/>
              </a:ln>
            </p:spPr>
          </p:sp>
        </p:grpSp>
        <p:grpSp>
          <p:nvGrpSpPr>
            <p:cNvPr name="Group 143" id="143"/>
            <p:cNvGrpSpPr/>
            <p:nvPr/>
          </p:nvGrpSpPr>
          <p:grpSpPr>
            <a:xfrm rot="0">
              <a:off x="2412492" y="2916587"/>
              <a:ext cx="1511808" cy="292608"/>
              <a:chOff x="0" y="0"/>
              <a:chExt cx="1511808" cy="292608"/>
            </a:xfrm>
          </p:grpSpPr>
          <p:sp>
            <p:nvSpPr>
              <p:cNvPr name="Freeform 144" id="144"/>
              <p:cNvSpPr/>
              <p:nvPr/>
            </p:nvSpPr>
            <p:spPr>
              <a:xfrm flipH="false" flipV="false" rot="0">
                <a:off x="0" y="0"/>
                <a:ext cx="1511808" cy="292608"/>
              </a:xfrm>
              <a:custGeom>
                <a:avLst/>
                <a:gdLst/>
                <a:ahLst/>
                <a:cxnLst/>
                <a:rect r="r" b="b" t="t" l="l"/>
                <a:pathLst>
                  <a:path h="292608" w="1511808">
                    <a:moveTo>
                      <a:pt x="0" y="0"/>
                    </a:moveTo>
                    <a:lnTo>
                      <a:pt x="1511808" y="0"/>
                    </a:lnTo>
                    <a:lnTo>
                      <a:pt x="1511808" y="292608"/>
                    </a:lnTo>
                    <a:lnTo>
                      <a:pt x="0" y="29260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0672" r="0" b="-50672"/>
                </a:stretch>
              </a:blipFill>
            </p:spPr>
          </p:sp>
          <p:sp>
            <p:nvSpPr>
              <p:cNvPr name="TextBox 145" id="145"/>
              <p:cNvSpPr txBox="true"/>
              <p:nvPr/>
            </p:nvSpPr>
            <p:spPr>
              <a:xfrm>
                <a:off x="0" y="-9525"/>
                <a:ext cx="1511808" cy="3021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260"/>
                  </a:lnSpc>
                </a:pPr>
                <a:r>
                  <a:rPr lang="en-US" sz="105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Prepayment</a:t>
                </a:r>
              </a:p>
            </p:txBody>
          </p:sp>
        </p:grpSp>
        <p:grpSp>
          <p:nvGrpSpPr>
            <p:cNvPr name="Group 146" id="146"/>
            <p:cNvGrpSpPr/>
            <p:nvPr/>
          </p:nvGrpSpPr>
          <p:grpSpPr>
            <a:xfrm rot="0">
              <a:off x="2369985" y="567779"/>
              <a:ext cx="1626273" cy="309537"/>
              <a:chOff x="0" y="0"/>
              <a:chExt cx="1626273" cy="309537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0" y="0"/>
                <a:ext cx="1626235" cy="309499"/>
              </a:xfrm>
              <a:custGeom>
                <a:avLst/>
                <a:gdLst/>
                <a:ahLst/>
                <a:cxnLst/>
                <a:rect r="r" b="b" t="t" l="l"/>
                <a:pathLst>
                  <a:path h="309499" w="1626235">
                    <a:moveTo>
                      <a:pt x="0" y="90297"/>
                    </a:moveTo>
                    <a:cubicBezTo>
                      <a:pt x="0" y="40386"/>
                      <a:pt x="40386" y="0"/>
                      <a:pt x="90297" y="0"/>
                    </a:cubicBezTo>
                    <a:lnTo>
                      <a:pt x="1535938" y="0"/>
                    </a:lnTo>
                    <a:cubicBezTo>
                      <a:pt x="1585849" y="0"/>
                      <a:pt x="1626235" y="40386"/>
                      <a:pt x="1626235" y="90297"/>
                    </a:cubicBezTo>
                    <a:lnTo>
                      <a:pt x="1626235" y="219202"/>
                    </a:lnTo>
                    <a:cubicBezTo>
                      <a:pt x="1626235" y="269113"/>
                      <a:pt x="1585849" y="309499"/>
                      <a:pt x="1535938" y="309499"/>
                    </a:cubicBezTo>
                    <a:lnTo>
                      <a:pt x="90297" y="309499"/>
                    </a:lnTo>
                    <a:cubicBezTo>
                      <a:pt x="40386" y="309499"/>
                      <a:pt x="0" y="269113"/>
                      <a:pt x="0" y="219202"/>
                    </a:cubicBezTo>
                    <a:close/>
                  </a:path>
                </a:pathLst>
              </a:custGeom>
              <a:solidFill>
                <a:srgbClr val="560547"/>
              </a:solidFill>
              <a:ln w="12700" cap="sq">
                <a:solidFill>
                  <a:srgbClr val="560547"/>
                </a:solidFill>
                <a:prstDash val="solid"/>
                <a:miter/>
              </a:ln>
            </p:spPr>
          </p:sp>
        </p:grpSp>
        <p:grpSp>
          <p:nvGrpSpPr>
            <p:cNvPr name="Group 148" id="148"/>
            <p:cNvGrpSpPr/>
            <p:nvPr/>
          </p:nvGrpSpPr>
          <p:grpSpPr>
            <a:xfrm rot="0">
              <a:off x="2427211" y="576250"/>
              <a:ext cx="1511808" cy="292608"/>
              <a:chOff x="0" y="0"/>
              <a:chExt cx="1511808" cy="292608"/>
            </a:xfrm>
          </p:grpSpPr>
          <p:sp>
            <p:nvSpPr>
              <p:cNvPr name="Freeform 149" id="149"/>
              <p:cNvSpPr/>
              <p:nvPr/>
            </p:nvSpPr>
            <p:spPr>
              <a:xfrm flipH="false" flipV="false" rot="0">
                <a:off x="0" y="0"/>
                <a:ext cx="1511808" cy="292608"/>
              </a:xfrm>
              <a:custGeom>
                <a:avLst/>
                <a:gdLst/>
                <a:ahLst/>
                <a:cxnLst/>
                <a:rect r="r" b="b" t="t" l="l"/>
                <a:pathLst>
                  <a:path h="292608" w="1511808">
                    <a:moveTo>
                      <a:pt x="0" y="0"/>
                    </a:moveTo>
                    <a:lnTo>
                      <a:pt x="1511808" y="0"/>
                    </a:lnTo>
                    <a:lnTo>
                      <a:pt x="1511808" y="292608"/>
                    </a:lnTo>
                    <a:lnTo>
                      <a:pt x="0" y="29260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0672" r="0" b="-50672"/>
                </a:stretch>
              </a:blipFill>
            </p:spPr>
          </p:sp>
          <p:sp>
            <p:nvSpPr>
              <p:cNvPr name="TextBox 150" id="150"/>
              <p:cNvSpPr txBox="true"/>
              <p:nvPr/>
            </p:nvSpPr>
            <p:spPr>
              <a:xfrm>
                <a:off x="0" y="-9525"/>
                <a:ext cx="1511808" cy="3021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260"/>
                  </a:lnSpc>
                </a:pPr>
                <a:r>
                  <a:rPr lang="en-US" sz="105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Batch window</a:t>
                </a:r>
              </a:p>
            </p:txBody>
          </p:sp>
        </p:grpSp>
        <p:grpSp>
          <p:nvGrpSpPr>
            <p:cNvPr name="Group 151" id="151"/>
            <p:cNvGrpSpPr/>
            <p:nvPr/>
          </p:nvGrpSpPr>
          <p:grpSpPr>
            <a:xfrm rot="0">
              <a:off x="2361527" y="1135545"/>
              <a:ext cx="1626273" cy="309537"/>
              <a:chOff x="0" y="0"/>
              <a:chExt cx="1626273" cy="309537"/>
            </a:xfrm>
          </p:grpSpPr>
          <p:sp>
            <p:nvSpPr>
              <p:cNvPr name="Freeform 152" id="152"/>
              <p:cNvSpPr/>
              <p:nvPr/>
            </p:nvSpPr>
            <p:spPr>
              <a:xfrm flipH="false" flipV="false" rot="0">
                <a:off x="0" y="0"/>
                <a:ext cx="1626235" cy="309499"/>
              </a:xfrm>
              <a:custGeom>
                <a:avLst/>
                <a:gdLst/>
                <a:ahLst/>
                <a:cxnLst/>
                <a:rect r="r" b="b" t="t" l="l"/>
                <a:pathLst>
                  <a:path h="309499" w="1626235">
                    <a:moveTo>
                      <a:pt x="0" y="90297"/>
                    </a:moveTo>
                    <a:cubicBezTo>
                      <a:pt x="0" y="40386"/>
                      <a:pt x="40386" y="0"/>
                      <a:pt x="90297" y="0"/>
                    </a:cubicBezTo>
                    <a:lnTo>
                      <a:pt x="1535938" y="0"/>
                    </a:lnTo>
                    <a:cubicBezTo>
                      <a:pt x="1585849" y="0"/>
                      <a:pt x="1626235" y="40386"/>
                      <a:pt x="1626235" y="90297"/>
                    </a:cubicBezTo>
                    <a:lnTo>
                      <a:pt x="1626235" y="219202"/>
                    </a:lnTo>
                    <a:cubicBezTo>
                      <a:pt x="1626235" y="269113"/>
                      <a:pt x="1585849" y="309499"/>
                      <a:pt x="1535938" y="309499"/>
                    </a:cubicBezTo>
                    <a:lnTo>
                      <a:pt x="90297" y="309499"/>
                    </a:lnTo>
                    <a:cubicBezTo>
                      <a:pt x="40386" y="309499"/>
                      <a:pt x="0" y="269113"/>
                      <a:pt x="0" y="219202"/>
                    </a:cubicBezTo>
                    <a:close/>
                  </a:path>
                </a:pathLst>
              </a:custGeom>
              <a:solidFill>
                <a:srgbClr val="560547"/>
              </a:solidFill>
              <a:ln w="12700" cap="sq">
                <a:solidFill>
                  <a:srgbClr val="560547"/>
                </a:solidFill>
                <a:prstDash val="solid"/>
                <a:miter/>
              </a:ln>
            </p:spPr>
          </p:sp>
        </p:grpSp>
        <p:grpSp>
          <p:nvGrpSpPr>
            <p:cNvPr name="Group 153" id="153"/>
            <p:cNvGrpSpPr/>
            <p:nvPr/>
          </p:nvGrpSpPr>
          <p:grpSpPr>
            <a:xfrm rot="0">
              <a:off x="2418753" y="1144003"/>
              <a:ext cx="1511808" cy="292608"/>
              <a:chOff x="0" y="0"/>
              <a:chExt cx="1511808" cy="292608"/>
            </a:xfrm>
          </p:grpSpPr>
          <p:sp>
            <p:nvSpPr>
              <p:cNvPr name="Freeform 154" id="154"/>
              <p:cNvSpPr/>
              <p:nvPr/>
            </p:nvSpPr>
            <p:spPr>
              <a:xfrm flipH="false" flipV="false" rot="0">
                <a:off x="0" y="0"/>
                <a:ext cx="1511808" cy="292608"/>
              </a:xfrm>
              <a:custGeom>
                <a:avLst/>
                <a:gdLst/>
                <a:ahLst/>
                <a:cxnLst/>
                <a:rect r="r" b="b" t="t" l="l"/>
                <a:pathLst>
                  <a:path h="292608" w="1511808">
                    <a:moveTo>
                      <a:pt x="0" y="0"/>
                    </a:moveTo>
                    <a:lnTo>
                      <a:pt x="1511808" y="0"/>
                    </a:lnTo>
                    <a:lnTo>
                      <a:pt x="1511808" y="292608"/>
                    </a:lnTo>
                    <a:lnTo>
                      <a:pt x="0" y="29260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0672" r="0" b="-50672"/>
                </a:stretch>
              </a:blipFill>
            </p:spPr>
          </p:sp>
          <p:sp>
            <p:nvSpPr>
              <p:cNvPr name="TextBox 155" id="155"/>
              <p:cNvSpPr txBox="true"/>
              <p:nvPr/>
            </p:nvSpPr>
            <p:spPr>
              <a:xfrm>
                <a:off x="0" y="-9525"/>
                <a:ext cx="1511808" cy="3021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260"/>
                  </a:lnSpc>
                </a:pPr>
                <a:r>
                  <a:rPr lang="en-US" sz="105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Factory Nodes</a:t>
                </a:r>
              </a:p>
            </p:txBody>
          </p:sp>
        </p:grpSp>
        <p:grpSp>
          <p:nvGrpSpPr>
            <p:cNvPr name="Group 156" id="156"/>
            <p:cNvGrpSpPr/>
            <p:nvPr/>
          </p:nvGrpSpPr>
          <p:grpSpPr>
            <a:xfrm rot="0">
              <a:off x="2340870" y="2331891"/>
              <a:ext cx="1626273" cy="309537"/>
              <a:chOff x="0" y="0"/>
              <a:chExt cx="1626273" cy="309537"/>
            </a:xfrm>
          </p:grpSpPr>
          <p:sp>
            <p:nvSpPr>
              <p:cNvPr name="Freeform 157" id="157"/>
              <p:cNvSpPr/>
              <p:nvPr/>
            </p:nvSpPr>
            <p:spPr>
              <a:xfrm flipH="false" flipV="false" rot="0">
                <a:off x="0" y="0"/>
                <a:ext cx="1626235" cy="309499"/>
              </a:xfrm>
              <a:custGeom>
                <a:avLst/>
                <a:gdLst/>
                <a:ahLst/>
                <a:cxnLst/>
                <a:rect r="r" b="b" t="t" l="l"/>
                <a:pathLst>
                  <a:path h="309499" w="1626235">
                    <a:moveTo>
                      <a:pt x="0" y="90297"/>
                    </a:moveTo>
                    <a:cubicBezTo>
                      <a:pt x="0" y="40386"/>
                      <a:pt x="40386" y="0"/>
                      <a:pt x="90297" y="0"/>
                    </a:cubicBezTo>
                    <a:lnTo>
                      <a:pt x="1535938" y="0"/>
                    </a:lnTo>
                    <a:cubicBezTo>
                      <a:pt x="1585849" y="0"/>
                      <a:pt x="1626235" y="40386"/>
                      <a:pt x="1626235" y="90297"/>
                    </a:cubicBezTo>
                    <a:lnTo>
                      <a:pt x="1626235" y="219202"/>
                    </a:lnTo>
                    <a:cubicBezTo>
                      <a:pt x="1626235" y="269113"/>
                      <a:pt x="1585849" y="309499"/>
                      <a:pt x="1535938" y="309499"/>
                    </a:cubicBezTo>
                    <a:lnTo>
                      <a:pt x="90297" y="309499"/>
                    </a:lnTo>
                    <a:cubicBezTo>
                      <a:pt x="40386" y="309499"/>
                      <a:pt x="0" y="269113"/>
                      <a:pt x="0" y="219202"/>
                    </a:cubicBezTo>
                    <a:close/>
                  </a:path>
                </a:pathLst>
              </a:custGeom>
              <a:solidFill>
                <a:srgbClr val="8A245E"/>
              </a:solidFill>
              <a:ln w="12700" cap="sq">
                <a:solidFill>
                  <a:srgbClr val="8A245E"/>
                </a:solidFill>
                <a:prstDash val="solid"/>
                <a:miter/>
              </a:ln>
            </p:spPr>
          </p:sp>
        </p:grpSp>
        <p:grpSp>
          <p:nvGrpSpPr>
            <p:cNvPr name="Group 158" id="158"/>
            <p:cNvGrpSpPr/>
            <p:nvPr/>
          </p:nvGrpSpPr>
          <p:grpSpPr>
            <a:xfrm rot="0">
              <a:off x="2398109" y="2340362"/>
              <a:ext cx="1511808" cy="292608"/>
              <a:chOff x="0" y="0"/>
              <a:chExt cx="1511808" cy="292608"/>
            </a:xfrm>
          </p:grpSpPr>
          <p:sp>
            <p:nvSpPr>
              <p:cNvPr name="Freeform 159" id="159"/>
              <p:cNvSpPr/>
              <p:nvPr/>
            </p:nvSpPr>
            <p:spPr>
              <a:xfrm flipH="false" flipV="false" rot="0">
                <a:off x="0" y="0"/>
                <a:ext cx="1511808" cy="292608"/>
              </a:xfrm>
              <a:custGeom>
                <a:avLst/>
                <a:gdLst/>
                <a:ahLst/>
                <a:cxnLst/>
                <a:rect r="r" b="b" t="t" l="l"/>
                <a:pathLst>
                  <a:path h="292608" w="1511808">
                    <a:moveTo>
                      <a:pt x="0" y="0"/>
                    </a:moveTo>
                    <a:lnTo>
                      <a:pt x="1511808" y="0"/>
                    </a:lnTo>
                    <a:lnTo>
                      <a:pt x="1511808" y="292608"/>
                    </a:lnTo>
                    <a:lnTo>
                      <a:pt x="0" y="29260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0672" r="0" b="-50672"/>
                </a:stretch>
              </a:blipFill>
            </p:spPr>
          </p:sp>
          <p:sp>
            <p:nvSpPr>
              <p:cNvPr name="TextBox 160" id="160"/>
              <p:cNvSpPr txBox="true"/>
              <p:nvPr/>
            </p:nvSpPr>
            <p:spPr>
              <a:xfrm>
                <a:off x="0" y="-9525"/>
                <a:ext cx="1511808" cy="3021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260"/>
                  </a:lnSpc>
                </a:pPr>
                <a:r>
                  <a:rPr lang="en-US" sz="105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Returns pool</a:t>
                </a:r>
              </a:p>
            </p:txBody>
          </p:sp>
        </p:grpSp>
      </p:grpSp>
      <p:grpSp>
        <p:nvGrpSpPr>
          <p:cNvPr name="Group 161" id="161"/>
          <p:cNvGrpSpPr/>
          <p:nvPr/>
        </p:nvGrpSpPr>
        <p:grpSpPr>
          <a:xfrm rot="0">
            <a:off x="10254344" y="5252614"/>
            <a:ext cx="3145536" cy="182880"/>
            <a:chOff x="0" y="0"/>
            <a:chExt cx="4194048" cy="24384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4194048" cy="243840"/>
            </a:xfrm>
            <a:custGeom>
              <a:avLst/>
              <a:gdLst/>
              <a:ahLst/>
              <a:cxnLst/>
              <a:rect r="r" b="b" t="t" l="l"/>
              <a:pathLst>
                <a:path h="24384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142" r="0" b="-285142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9525"/>
              <a:ext cx="4194048" cy="253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"/>
                </a:lnSpc>
              </a:pPr>
              <a:r>
                <a:rPr lang="en-US" sz="900" b="true">
                  <a:solidFill>
                    <a:srgbClr val="7A647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EFFORT →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-5400000">
            <a:off x="8531600" y="3686599"/>
            <a:ext cx="2852928" cy="182880"/>
            <a:chOff x="0" y="0"/>
            <a:chExt cx="3803904" cy="24384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3803904" cy="243840"/>
            </a:xfrm>
            <a:custGeom>
              <a:avLst/>
              <a:gdLst/>
              <a:ahLst/>
              <a:cxnLst/>
              <a:rect r="r" b="b" t="t" l="l"/>
              <a:pathLst>
                <a:path h="243840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966" r="0" b="-25396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9525"/>
              <a:ext cx="3803904" cy="253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"/>
                </a:lnSpc>
              </a:pPr>
              <a:r>
                <a:rPr lang="en-US" sz="900" b="true">
                  <a:solidFill>
                    <a:srgbClr val="7A647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 →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740670" y="5477256"/>
            <a:ext cx="3817563" cy="274320"/>
            <a:chOff x="0" y="0"/>
            <a:chExt cx="5090084" cy="36576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5090084" cy="365760"/>
            </a:xfrm>
            <a:custGeom>
              <a:avLst/>
              <a:gdLst/>
              <a:ahLst/>
              <a:cxnLst/>
              <a:rect r="r" b="b" t="t" l="l"/>
              <a:pathLst>
                <a:path h="365760" w="5090084">
                  <a:moveTo>
                    <a:pt x="0" y="0"/>
                  </a:moveTo>
                  <a:lnTo>
                    <a:pt x="5090084" y="0"/>
                  </a:lnTo>
                  <a:lnTo>
                    <a:pt x="509008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3697" r="2753" b="-213697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9525"/>
              <a:ext cx="5090084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26"/>
                </a:lnSpc>
              </a:pPr>
              <a:r>
                <a:rPr lang="en-US" sz="950" i="true">
                  <a:solidFill>
                    <a:srgbClr val="7A64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Build top-left before top-right. Everything in HOLD waits for the Day-90 gate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3737079" y="1877311"/>
            <a:ext cx="4319521" cy="3926329"/>
            <a:chOff x="0" y="0"/>
            <a:chExt cx="5759361" cy="5235105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5759323" cy="5235067"/>
            </a:xfrm>
            <a:custGeom>
              <a:avLst/>
              <a:gdLst/>
              <a:ahLst/>
              <a:cxnLst/>
              <a:rect r="r" b="b" t="t" l="l"/>
              <a:pathLst>
                <a:path h="5235067" w="5759323">
                  <a:moveTo>
                    <a:pt x="0" y="61087"/>
                  </a:moveTo>
                  <a:cubicBezTo>
                    <a:pt x="0" y="27432"/>
                    <a:pt x="27432" y="0"/>
                    <a:pt x="61087" y="0"/>
                  </a:cubicBezTo>
                  <a:lnTo>
                    <a:pt x="5698236" y="0"/>
                  </a:lnTo>
                  <a:cubicBezTo>
                    <a:pt x="5732018" y="0"/>
                    <a:pt x="5759323" y="27432"/>
                    <a:pt x="5759323" y="61087"/>
                  </a:cubicBezTo>
                  <a:lnTo>
                    <a:pt x="5759323" y="5173980"/>
                  </a:lnTo>
                  <a:cubicBezTo>
                    <a:pt x="5759323" y="5207762"/>
                    <a:pt x="5731891" y="5235067"/>
                    <a:pt x="5698236" y="5235067"/>
                  </a:cubicBezTo>
                  <a:lnTo>
                    <a:pt x="61087" y="5235067"/>
                  </a:lnTo>
                  <a:cubicBezTo>
                    <a:pt x="27305" y="5235067"/>
                    <a:pt x="0" y="5207635"/>
                    <a:pt x="0" y="517398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737079" y="1877311"/>
            <a:ext cx="4319530" cy="334566"/>
            <a:chOff x="0" y="0"/>
            <a:chExt cx="5759374" cy="446087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5759386" cy="446048"/>
            </a:xfrm>
            <a:custGeom>
              <a:avLst/>
              <a:gdLst/>
              <a:ahLst/>
              <a:cxnLst/>
              <a:rect r="r" b="b" t="t" l="l"/>
              <a:pathLst>
                <a:path h="446048" w="5759386">
                  <a:moveTo>
                    <a:pt x="37906" y="0"/>
                  </a:moveTo>
                  <a:lnTo>
                    <a:pt x="5721480" y="0"/>
                  </a:lnTo>
                  <a:cubicBezTo>
                    <a:pt x="5731533" y="0"/>
                    <a:pt x="5741175" y="3994"/>
                    <a:pt x="5748284" y="11103"/>
                  </a:cubicBezTo>
                  <a:cubicBezTo>
                    <a:pt x="5755393" y="18211"/>
                    <a:pt x="5759386" y="27853"/>
                    <a:pt x="5759386" y="37906"/>
                  </a:cubicBezTo>
                  <a:lnTo>
                    <a:pt x="5759386" y="408142"/>
                  </a:lnTo>
                  <a:cubicBezTo>
                    <a:pt x="5759386" y="429077"/>
                    <a:pt x="5742415" y="446048"/>
                    <a:pt x="5721480" y="446048"/>
                  </a:cubicBezTo>
                  <a:lnTo>
                    <a:pt x="37906" y="446048"/>
                  </a:lnTo>
                  <a:cubicBezTo>
                    <a:pt x="16971" y="446048"/>
                    <a:pt x="0" y="429077"/>
                    <a:pt x="0" y="408142"/>
                  </a:cubicBezTo>
                  <a:lnTo>
                    <a:pt x="0" y="37906"/>
                  </a:lnTo>
                  <a:cubicBezTo>
                    <a:pt x="0" y="16971"/>
                    <a:pt x="16971" y="0"/>
                    <a:pt x="37906" y="0"/>
                  </a:cubicBezTo>
                  <a:close/>
                </a:path>
              </a:pathLst>
            </a:custGeom>
            <a:solidFill>
              <a:srgbClr val="8A245E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62304" y="1894637"/>
            <a:ext cx="4069080" cy="310896"/>
            <a:chOff x="0" y="0"/>
            <a:chExt cx="5425440" cy="414528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5425440" cy="414528"/>
            </a:xfrm>
            <a:custGeom>
              <a:avLst/>
              <a:gdLst/>
              <a:ahLst/>
              <a:cxnLst/>
              <a:rect r="r" b="b" t="t" l="l"/>
              <a:pathLst>
                <a:path h="414528" w="5425440">
                  <a:moveTo>
                    <a:pt x="0" y="0"/>
                  </a:moveTo>
                  <a:lnTo>
                    <a:pt x="5425440" y="0"/>
                  </a:lnTo>
                  <a:lnTo>
                    <a:pt x="54254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024" r="0" b="-205024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9525"/>
              <a:ext cx="542544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These Weights, and What We Reject</a:t>
              </a:r>
            </a:p>
          </p:txBody>
        </p:sp>
      </p:grpSp>
      <p:graphicFrame>
        <p:nvGraphicFramePr>
          <p:cNvPr name="Table 177" id="177"/>
          <p:cNvGraphicFramePr>
            <a:graphicFrameLocks noGrp="true"/>
          </p:cNvGraphicFramePr>
          <p:nvPr/>
        </p:nvGraphicFramePr>
        <p:xfrm>
          <a:off x="13853160" y="2286000"/>
          <a:ext cx="4076700" cy="2286000"/>
        </p:xfrm>
        <a:graphic>
          <a:graphicData uri="http://schemas.openxmlformats.org/drawingml/2006/table">
            <a:tbl>
              <a:tblPr/>
              <a:tblGrid>
                <a:gridCol w="877236"/>
                <a:gridCol w="3199464"/>
              </a:tblGrid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Scoring input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How it is set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Reach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Share of the 11,645 addressable manufacturers a lever touches, not share of all 9.6 lakh sellers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Impact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= removes friction. 2 = changes the price. 3 = changes the manufacturer's risk model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Confidence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Anchored on whether a comparable platform has already shipped the mechanic at scale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Effort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Combined engineering and operations weeks. 8 means physical infrastructure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78" id="178"/>
          <p:cNvGrpSpPr/>
          <p:nvPr/>
        </p:nvGrpSpPr>
        <p:grpSpPr>
          <a:xfrm rot="0">
            <a:off x="13845540" y="4648200"/>
            <a:ext cx="4102608" cy="1065276"/>
            <a:chOff x="0" y="0"/>
            <a:chExt cx="5470144" cy="1420368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5470144" cy="1420368"/>
            </a:xfrm>
            <a:custGeom>
              <a:avLst/>
              <a:gdLst/>
              <a:ahLst/>
              <a:cxnLst/>
              <a:rect r="r" b="b" t="t" l="l"/>
              <a:pathLst>
                <a:path h="1420368" w="5470144">
                  <a:moveTo>
                    <a:pt x="0" y="40061"/>
                  </a:moveTo>
                  <a:cubicBezTo>
                    <a:pt x="0" y="17919"/>
                    <a:pt x="22098" y="0"/>
                    <a:pt x="49403" y="0"/>
                  </a:cubicBezTo>
                  <a:lnTo>
                    <a:pt x="5420741" y="0"/>
                  </a:lnTo>
                  <a:cubicBezTo>
                    <a:pt x="5448046" y="0"/>
                    <a:pt x="5470144" y="17919"/>
                    <a:pt x="5470144" y="40061"/>
                  </a:cubicBezTo>
                  <a:lnTo>
                    <a:pt x="5470144" y="1380307"/>
                  </a:lnTo>
                  <a:cubicBezTo>
                    <a:pt x="5470144" y="1402449"/>
                    <a:pt x="5448046" y="1420368"/>
                    <a:pt x="5420741" y="1420368"/>
                  </a:cubicBezTo>
                  <a:lnTo>
                    <a:pt x="49403" y="1420368"/>
                  </a:lnTo>
                  <a:cubicBezTo>
                    <a:pt x="22098" y="1420368"/>
                    <a:pt x="0" y="1402449"/>
                    <a:pt x="0" y="1380307"/>
                  </a:cubicBezTo>
                  <a:close/>
                </a:path>
              </a:pathLst>
            </a:custGeom>
            <a:solidFill>
              <a:srgbClr val="FBEAE8"/>
            </a:solidFill>
            <a:ln w="1524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180" id="180"/>
          <p:cNvGrpSpPr/>
          <p:nvPr/>
        </p:nvGrpSpPr>
        <p:grpSpPr>
          <a:xfrm rot="0">
            <a:off x="13926560" y="4667250"/>
            <a:ext cx="3904488" cy="201168"/>
            <a:chOff x="0" y="0"/>
            <a:chExt cx="5205984" cy="268224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205984" cy="268224"/>
            </a:xfrm>
            <a:custGeom>
              <a:avLst/>
              <a:gdLst/>
              <a:ahLst/>
              <a:cxnLst/>
              <a:rect r="r" b="b" t="t" l="l"/>
              <a:pathLst>
                <a:path h="268224" w="5205984">
                  <a:moveTo>
                    <a:pt x="0" y="0"/>
                  </a:moveTo>
                  <a:lnTo>
                    <a:pt x="5205984" y="0"/>
                  </a:lnTo>
                  <a:lnTo>
                    <a:pt x="5205984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8186" r="0" b="-328186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9525"/>
              <a:ext cx="5205984" cy="27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40"/>
                </a:lnSpc>
              </a:pPr>
              <a:r>
                <a:rPr lang="en-US" sz="950" b="true">
                  <a:solidFill>
                    <a:srgbClr val="C039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EXPLICITLY REJECTED</a:t>
              </a:r>
            </a:p>
          </p:txBody>
        </p:sp>
      </p:grpSp>
      <p:sp>
        <p:nvSpPr>
          <p:cNvPr name="TextBox 183" id="183"/>
          <p:cNvSpPr txBox="true"/>
          <p:nvPr/>
        </p:nvSpPr>
        <p:spPr>
          <a:xfrm rot="0">
            <a:off x="13944600" y="4825365"/>
            <a:ext cx="3976624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4618" indent="-57309" lvl="1">
              <a:lnSpc>
                <a:spcPts val="1140"/>
              </a:lnSpc>
              <a:buFont typeface="Arial"/>
              <a:buChar char="•"/>
            </a:pPr>
            <a:r>
              <a:rPr lang="en-US" b="true" sz="9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Order subsidy or paid boosts.  </a:t>
            </a:r>
            <a:r>
              <a:rPr lang="en-US" sz="9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Buys volume, not conviction. Stops the day funding stops.</a:t>
            </a:r>
          </a:p>
          <a:p>
            <a:pPr algn="just" marL="114618" indent="-57309" lvl="1">
              <a:lnSpc>
                <a:spcPts val="1140"/>
              </a:lnSpc>
              <a:buFont typeface="Arial"/>
              <a:buChar char="•"/>
            </a:pPr>
            <a:r>
              <a:rPr lang="en-US" b="true" sz="9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Manual account handholding.  </a:t>
            </a:r>
            <a:r>
              <a:rPr lang="en-US" sz="9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Works at 20 sellers, breaks at 200, cannot reach 900.</a:t>
            </a:r>
          </a:p>
          <a:p>
            <a:pPr algn="just" marL="114618" indent="-57309" lvl="1">
              <a:lnSpc>
                <a:spcPts val="1140"/>
              </a:lnSpc>
              <a:buFont typeface="Arial"/>
              <a:buChar char="•"/>
            </a:pPr>
            <a:r>
              <a:rPr lang="en-US" b="true" sz="9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Onboarding by turnover threshold.  </a:t>
            </a:r>
            <a:r>
              <a:rPr lang="en-US" sz="9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That is the signal the brief already says is unreliable.</a:t>
            </a:r>
          </a:p>
        </p:txBody>
      </p:sp>
      <p:grpSp>
        <p:nvGrpSpPr>
          <p:cNvPr name="Group 184" id="184"/>
          <p:cNvGrpSpPr/>
          <p:nvPr/>
        </p:nvGrpSpPr>
        <p:grpSpPr>
          <a:xfrm rot="0">
            <a:off x="633727" y="5900671"/>
            <a:ext cx="17411900" cy="1076449"/>
            <a:chOff x="0" y="0"/>
            <a:chExt cx="23215867" cy="1435265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23215828" cy="1435231"/>
            </a:xfrm>
            <a:custGeom>
              <a:avLst/>
              <a:gdLst/>
              <a:ahLst/>
              <a:cxnLst/>
              <a:rect r="r" b="b" t="t" l="l"/>
              <a:pathLst>
                <a:path h="1435231" w="23215828">
                  <a:moveTo>
                    <a:pt x="0" y="54361"/>
                  </a:moveTo>
                  <a:cubicBezTo>
                    <a:pt x="0" y="24322"/>
                    <a:pt x="27542" y="0"/>
                    <a:pt x="61556" y="0"/>
                  </a:cubicBezTo>
                  <a:lnTo>
                    <a:pt x="23154272" y="0"/>
                  </a:lnTo>
                  <a:cubicBezTo>
                    <a:pt x="23188287" y="0"/>
                    <a:pt x="23215828" y="24322"/>
                    <a:pt x="23215828" y="54361"/>
                  </a:cubicBezTo>
                  <a:lnTo>
                    <a:pt x="23215828" y="1380871"/>
                  </a:lnTo>
                  <a:cubicBezTo>
                    <a:pt x="23215828" y="1410909"/>
                    <a:pt x="23188287" y="1435231"/>
                    <a:pt x="23154272" y="1435231"/>
                  </a:cubicBezTo>
                  <a:lnTo>
                    <a:pt x="61556" y="1435231"/>
                  </a:lnTo>
                  <a:cubicBezTo>
                    <a:pt x="27542" y="1435231"/>
                    <a:pt x="0" y="1410909"/>
                    <a:pt x="0" y="1380871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86" id="186"/>
          <p:cNvGrpSpPr/>
          <p:nvPr/>
        </p:nvGrpSpPr>
        <p:grpSpPr>
          <a:xfrm rot="0">
            <a:off x="633727" y="5900671"/>
            <a:ext cx="17411900" cy="334566"/>
            <a:chOff x="0" y="0"/>
            <a:chExt cx="23215867" cy="446087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3215879" cy="446048"/>
            </a:xfrm>
            <a:custGeom>
              <a:avLst/>
              <a:gdLst/>
              <a:ahLst/>
              <a:cxnLst/>
              <a:rect r="r" b="b" t="t" l="l"/>
              <a:pathLst>
                <a:path h="446048" w="23215879">
                  <a:moveTo>
                    <a:pt x="38076" y="0"/>
                  </a:moveTo>
                  <a:lnTo>
                    <a:pt x="23177804" y="0"/>
                  </a:lnTo>
                  <a:cubicBezTo>
                    <a:pt x="23187901" y="0"/>
                    <a:pt x="23197586" y="4012"/>
                    <a:pt x="23204726" y="11152"/>
                  </a:cubicBezTo>
                  <a:cubicBezTo>
                    <a:pt x="23211867" y="18293"/>
                    <a:pt x="23215879" y="27978"/>
                    <a:pt x="23215879" y="38076"/>
                  </a:cubicBezTo>
                  <a:lnTo>
                    <a:pt x="23215879" y="407972"/>
                  </a:lnTo>
                  <a:cubicBezTo>
                    <a:pt x="23215879" y="429001"/>
                    <a:pt x="23198832" y="446048"/>
                    <a:pt x="23177804" y="446048"/>
                  </a:cubicBezTo>
                  <a:lnTo>
                    <a:pt x="38076" y="446048"/>
                  </a:lnTo>
                  <a:cubicBezTo>
                    <a:pt x="27978" y="446048"/>
                    <a:pt x="18293" y="442037"/>
                    <a:pt x="11152" y="434896"/>
                  </a:cubicBezTo>
                  <a:cubicBezTo>
                    <a:pt x="4012" y="427755"/>
                    <a:pt x="0" y="418071"/>
                    <a:pt x="0" y="407972"/>
                  </a:cubicBezTo>
                  <a:lnTo>
                    <a:pt x="0" y="38076"/>
                  </a:lnTo>
                  <a:cubicBezTo>
                    <a:pt x="0" y="27978"/>
                    <a:pt x="4012" y="18293"/>
                    <a:pt x="11152" y="11152"/>
                  </a:cubicBezTo>
                  <a:cubicBezTo>
                    <a:pt x="18293" y="4012"/>
                    <a:pt x="27978" y="0"/>
                    <a:pt x="38076" y="0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188" id="188"/>
          <p:cNvGrpSpPr/>
          <p:nvPr/>
        </p:nvGrpSpPr>
        <p:grpSpPr>
          <a:xfrm rot="0">
            <a:off x="758952" y="5917992"/>
            <a:ext cx="15744913" cy="310896"/>
            <a:chOff x="0" y="0"/>
            <a:chExt cx="20993217" cy="41452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0993218" cy="414528"/>
            </a:xfrm>
            <a:custGeom>
              <a:avLst/>
              <a:gdLst/>
              <a:ahLst/>
              <a:cxnLst/>
              <a:rect r="r" b="b" t="t" l="l"/>
              <a:pathLst>
                <a:path h="414528" w="20993218">
                  <a:moveTo>
                    <a:pt x="0" y="0"/>
                  </a:moveTo>
                  <a:lnTo>
                    <a:pt x="20993218" y="0"/>
                  </a:lnTo>
                  <a:lnTo>
                    <a:pt x="20993218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26261" r="-9066" b="-102626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9525"/>
              <a:ext cx="20993217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Dependency · why the order cannot be shuffled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743455" y="6303007"/>
            <a:ext cx="2311765" cy="634489"/>
            <a:chOff x="0" y="0"/>
            <a:chExt cx="3082354" cy="845985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082417" cy="846074"/>
            </a:xfrm>
            <a:custGeom>
              <a:avLst/>
              <a:gdLst/>
              <a:ahLst/>
              <a:cxnLst/>
              <a:rect r="r" b="b" t="t" l="l"/>
              <a:pathLst>
                <a:path h="846074" w="3082417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3007741" y="0"/>
                  </a:lnTo>
                  <a:cubicBezTo>
                    <a:pt x="3049016" y="0"/>
                    <a:pt x="3082417" y="33401"/>
                    <a:pt x="3082417" y="74676"/>
                  </a:cubicBezTo>
                  <a:lnTo>
                    <a:pt x="3082417" y="771398"/>
                  </a:lnTo>
                  <a:cubicBezTo>
                    <a:pt x="3082417" y="812673"/>
                    <a:pt x="3049016" y="846074"/>
                    <a:pt x="3007741" y="846074"/>
                  </a:cubicBezTo>
                  <a:lnTo>
                    <a:pt x="74676" y="846074"/>
                  </a:lnTo>
                  <a:cubicBezTo>
                    <a:pt x="33401" y="845947"/>
                    <a:pt x="0" y="812546"/>
                    <a:pt x="0" y="771398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193" id="193"/>
          <p:cNvGrpSpPr/>
          <p:nvPr/>
        </p:nvGrpSpPr>
        <p:grpSpPr>
          <a:xfrm rot="0">
            <a:off x="804672" y="6345936"/>
            <a:ext cx="2189331" cy="323332"/>
            <a:chOff x="0" y="0"/>
            <a:chExt cx="2919108" cy="431109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2919113" cy="431104"/>
            </a:xfrm>
            <a:custGeom>
              <a:avLst/>
              <a:gdLst/>
              <a:ahLst/>
              <a:cxnLst/>
              <a:rect r="r" b="b" t="t" l="l"/>
              <a:pathLst>
                <a:path h="431104" w="2919113">
                  <a:moveTo>
                    <a:pt x="0" y="0"/>
                  </a:moveTo>
                  <a:lnTo>
                    <a:pt x="2919113" y="0"/>
                  </a:lnTo>
                  <a:lnTo>
                    <a:pt x="2919113" y="431104"/>
                  </a:lnTo>
                  <a:lnTo>
                    <a:pt x="0" y="431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936" r="0" b="-81938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-9525"/>
              <a:ext cx="2919108" cy="440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9"/>
                </a:lnSpc>
              </a:pPr>
              <a:r>
                <a:rPr lang="en-US" sz="12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 · Price gate</a:t>
              </a:r>
            </a:p>
          </p:txBody>
        </p:sp>
      </p:grpSp>
      <p:sp>
        <p:nvSpPr>
          <p:cNvPr name="TextBox 196" id="196"/>
          <p:cNvSpPr txBox="true"/>
          <p:nvPr/>
        </p:nvSpPr>
        <p:spPr>
          <a:xfrm rot="0">
            <a:off x="804672" y="6601206"/>
            <a:ext cx="2189331" cy="1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who actually has a cost advantage</a:t>
            </a:r>
          </a:p>
        </p:txBody>
      </p:sp>
      <p:grpSp>
        <p:nvGrpSpPr>
          <p:cNvPr name="Group 197" id="197"/>
          <p:cNvGrpSpPr/>
          <p:nvPr/>
        </p:nvGrpSpPr>
        <p:grpSpPr>
          <a:xfrm rot="0">
            <a:off x="3079099" y="6508747"/>
            <a:ext cx="122425" cy="223009"/>
            <a:chOff x="0" y="0"/>
            <a:chExt cx="163233" cy="297345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63322" cy="297307"/>
            </a:xfrm>
            <a:custGeom>
              <a:avLst/>
              <a:gdLst/>
              <a:ahLst/>
              <a:cxnLst/>
              <a:rect r="r" b="b" t="t" l="l"/>
              <a:pathLst>
                <a:path h="297307" w="163322">
                  <a:moveTo>
                    <a:pt x="0" y="0"/>
                  </a:moveTo>
                  <a:lnTo>
                    <a:pt x="81661" y="0"/>
                  </a:lnTo>
                  <a:lnTo>
                    <a:pt x="163322" y="148717"/>
                  </a:lnTo>
                  <a:lnTo>
                    <a:pt x="81661" y="297307"/>
                  </a:lnTo>
                  <a:lnTo>
                    <a:pt x="0" y="297307"/>
                  </a:lnTo>
                  <a:lnTo>
                    <a:pt x="81661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99" id="199"/>
          <p:cNvGrpSpPr/>
          <p:nvPr/>
        </p:nvGrpSpPr>
        <p:grpSpPr>
          <a:xfrm rot="0">
            <a:off x="3225403" y="6303007"/>
            <a:ext cx="2311765" cy="634489"/>
            <a:chOff x="0" y="0"/>
            <a:chExt cx="3082354" cy="845985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3082417" cy="846074"/>
            </a:xfrm>
            <a:custGeom>
              <a:avLst/>
              <a:gdLst/>
              <a:ahLst/>
              <a:cxnLst/>
              <a:rect r="r" b="b" t="t" l="l"/>
              <a:pathLst>
                <a:path h="846074" w="3082417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3007741" y="0"/>
                  </a:lnTo>
                  <a:cubicBezTo>
                    <a:pt x="3049016" y="0"/>
                    <a:pt x="3082417" y="33401"/>
                    <a:pt x="3082417" y="74676"/>
                  </a:cubicBezTo>
                  <a:lnTo>
                    <a:pt x="3082417" y="771398"/>
                  </a:lnTo>
                  <a:cubicBezTo>
                    <a:pt x="3082417" y="812673"/>
                    <a:pt x="3049016" y="846074"/>
                    <a:pt x="3007741" y="846074"/>
                  </a:cubicBezTo>
                  <a:lnTo>
                    <a:pt x="74676" y="846074"/>
                  </a:lnTo>
                  <a:cubicBezTo>
                    <a:pt x="33401" y="845947"/>
                    <a:pt x="0" y="812546"/>
                    <a:pt x="0" y="771398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201" id="201"/>
          <p:cNvGrpSpPr/>
          <p:nvPr/>
        </p:nvGrpSpPr>
        <p:grpSpPr>
          <a:xfrm rot="0">
            <a:off x="3286611" y="6345936"/>
            <a:ext cx="2189331" cy="323332"/>
            <a:chOff x="0" y="0"/>
            <a:chExt cx="2919108" cy="431109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2919113" cy="431104"/>
            </a:xfrm>
            <a:custGeom>
              <a:avLst/>
              <a:gdLst/>
              <a:ahLst/>
              <a:cxnLst/>
              <a:rect r="r" b="b" t="t" l="l"/>
              <a:pathLst>
                <a:path h="431104" w="2919113">
                  <a:moveTo>
                    <a:pt x="0" y="0"/>
                  </a:moveTo>
                  <a:lnTo>
                    <a:pt x="2919113" y="0"/>
                  </a:lnTo>
                  <a:lnTo>
                    <a:pt x="2919113" y="431104"/>
                  </a:lnTo>
                  <a:lnTo>
                    <a:pt x="0" y="431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936" r="0" b="-81938"/>
              </a:stretch>
            </a:blipFill>
          </p:spPr>
        </p:sp>
        <p:sp>
          <p:nvSpPr>
            <p:cNvPr name="TextBox 203" id="203"/>
            <p:cNvSpPr txBox="true"/>
            <p:nvPr/>
          </p:nvSpPr>
          <p:spPr>
            <a:xfrm>
              <a:off x="0" y="-9525"/>
              <a:ext cx="2919108" cy="440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9"/>
                </a:lnSpc>
              </a:pPr>
              <a:r>
                <a:rPr lang="en-US" sz="12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· Health score</a:t>
              </a:r>
            </a:p>
          </p:txBody>
        </p:sp>
      </p:grpSp>
      <p:sp>
        <p:nvSpPr>
          <p:cNvPr name="TextBox 204" id="204"/>
          <p:cNvSpPr txBox="true"/>
          <p:nvPr/>
        </p:nvSpPr>
        <p:spPr>
          <a:xfrm rot="0">
            <a:off x="3286611" y="6601206"/>
            <a:ext cx="2189331" cy="1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whether that advantage holds</a:t>
            </a:r>
          </a:p>
        </p:txBody>
      </p:sp>
      <p:grpSp>
        <p:nvGrpSpPr>
          <p:cNvPr name="Group 205" id="205"/>
          <p:cNvGrpSpPr/>
          <p:nvPr/>
        </p:nvGrpSpPr>
        <p:grpSpPr>
          <a:xfrm rot="0">
            <a:off x="5561038" y="6508747"/>
            <a:ext cx="122425" cy="223009"/>
            <a:chOff x="0" y="0"/>
            <a:chExt cx="163233" cy="297345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163322" cy="297307"/>
            </a:xfrm>
            <a:custGeom>
              <a:avLst/>
              <a:gdLst/>
              <a:ahLst/>
              <a:cxnLst/>
              <a:rect r="r" b="b" t="t" l="l"/>
              <a:pathLst>
                <a:path h="297307" w="163322">
                  <a:moveTo>
                    <a:pt x="0" y="0"/>
                  </a:moveTo>
                  <a:lnTo>
                    <a:pt x="81661" y="0"/>
                  </a:lnTo>
                  <a:lnTo>
                    <a:pt x="163322" y="148717"/>
                  </a:lnTo>
                  <a:lnTo>
                    <a:pt x="81661" y="297307"/>
                  </a:lnTo>
                  <a:lnTo>
                    <a:pt x="0" y="297307"/>
                  </a:lnTo>
                  <a:lnTo>
                    <a:pt x="81661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207" id="207"/>
          <p:cNvGrpSpPr/>
          <p:nvPr/>
        </p:nvGrpSpPr>
        <p:grpSpPr>
          <a:xfrm rot="0">
            <a:off x="5707342" y="6303007"/>
            <a:ext cx="2311765" cy="634489"/>
            <a:chOff x="0" y="0"/>
            <a:chExt cx="3082354" cy="845985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3082417" cy="846074"/>
            </a:xfrm>
            <a:custGeom>
              <a:avLst/>
              <a:gdLst/>
              <a:ahLst/>
              <a:cxnLst/>
              <a:rect r="r" b="b" t="t" l="l"/>
              <a:pathLst>
                <a:path h="846074" w="3082417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3007741" y="0"/>
                  </a:lnTo>
                  <a:cubicBezTo>
                    <a:pt x="3049016" y="0"/>
                    <a:pt x="3082417" y="33401"/>
                    <a:pt x="3082417" y="74676"/>
                  </a:cubicBezTo>
                  <a:lnTo>
                    <a:pt x="3082417" y="771398"/>
                  </a:lnTo>
                  <a:cubicBezTo>
                    <a:pt x="3082417" y="812673"/>
                    <a:pt x="3049016" y="846074"/>
                    <a:pt x="3007741" y="846074"/>
                  </a:cubicBezTo>
                  <a:lnTo>
                    <a:pt x="74676" y="846074"/>
                  </a:lnTo>
                  <a:cubicBezTo>
                    <a:pt x="33401" y="845947"/>
                    <a:pt x="0" y="812546"/>
                    <a:pt x="0" y="771398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209" id="209"/>
          <p:cNvGrpSpPr/>
          <p:nvPr/>
        </p:nvGrpSpPr>
        <p:grpSpPr>
          <a:xfrm rot="0">
            <a:off x="5768559" y="6345936"/>
            <a:ext cx="2189331" cy="323332"/>
            <a:chOff x="0" y="0"/>
            <a:chExt cx="2919108" cy="431109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2919113" cy="431104"/>
            </a:xfrm>
            <a:custGeom>
              <a:avLst/>
              <a:gdLst/>
              <a:ahLst/>
              <a:cxnLst/>
              <a:rect r="r" b="b" t="t" l="l"/>
              <a:pathLst>
                <a:path h="431104" w="2919113">
                  <a:moveTo>
                    <a:pt x="0" y="0"/>
                  </a:moveTo>
                  <a:lnTo>
                    <a:pt x="2919113" y="0"/>
                  </a:lnTo>
                  <a:lnTo>
                    <a:pt x="2919113" y="431104"/>
                  </a:lnTo>
                  <a:lnTo>
                    <a:pt x="0" y="431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936" r="0" b="-81938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9525"/>
              <a:ext cx="2919108" cy="440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9"/>
                </a:lnSpc>
              </a:pPr>
              <a:r>
                <a:rPr lang="en-US" sz="12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· Cluster co-ops</a:t>
              </a:r>
            </a:p>
          </p:txBody>
        </p:sp>
      </p:grpSp>
      <p:sp>
        <p:nvSpPr>
          <p:cNvPr name="TextBox 212" id="212"/>
          <p:cNvSpPr txBox="true"/>
          <p:nvPr/>
        </p:nvSpPr>
        <p:spPr>
          <a:xfrm rot="0">
            <a:off x="5768559" y="6601206"/>
            <a:ext cx="2189331" cy="1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how we reach them 40-60 at a time</a:t>
            </a:r>
          </a:p>
        </p:txBody>
      </p:sp>
      <p:grpSp>
        <p:nvGrpSpPr>
          <p:cNvPr name="Group 213" id="213"/>
          <p:cNvGrpSpPr/>
          <p:nvPr/>
        </p:nvGrpSpPr>
        <p:grpSpPr>
          <a:xfrm rot="0">
            <a:off x="8042986" y="6508747"/>
            <a:ext cx="122425" cy="223009"/>
            <a:chOff x="0" y="0"/>
            <a:chExt cx="163233" cy="297345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163322" cy="297307"/>
            </a:xfrm>
            <a:custGeom>
              <a:avLst/>
              <a:gdLst/>
              <a:ahLst/>
              <a:cxnLst/>
              <a:rect r="r" b="b" t="t" l="l"/>
              <a:pathLst>
                <a:path h="297307" w="163322">
                  <a:moveTo>
                    <a:pt x="0" y="0"/>
                  </a:moveTo>
                  <a:lnTo>
                    <a:pt x="81661" y="0"/>
                  </a:lnTo>
                  <a:lnTo>
                    <a:pt x="163322" y="148717"/>
                  </a:lnTo>
                  <a:lnTo>
                    <a:pt x="81661" y="297307"/>
                  </a:lnTo>
                  <a:lnTo>
                    <a:pt x="0" y="297307"/>
                  </a:lnTo>
                  <a:lnTo>
                    <a:pt x="81661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215" id="215"/>
          <p:cNvGrpSpPr/>
          <p:nvPr/>
        </p:nvGrpSpPr>
        <p:grpSpPr>
          <a:xfrm rot="0">
            <a:off x="8189290" y="6303007"/>
            <a:ext cx="2311765" cy="634489"/>
            <a:chOff x="0" y="0"/>
            <a:chExt cx="3082354" cy="845985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082417" cy="846074"/>
            </a:xfrm>
            <a:custGeom>
              <a:avLst/>
              <a:gdLst/>
              <a:ahLst/>
              <a:cxnLst/>
              <a:rect r="r" b="b" t="t" l="l"/>
              <a:pathLst>
                <a:path h="846074" w="3082417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3007741" y="0"/>
                  </a:lnTo>
                  <a:cubicBezTo>
                    <a:pt x="3049016" y="0"/>
                    <a:pt x="3082417" y="33401"/>
                    <a:pt x="3082417" y="74676"/>
                  </a:cubicBezTo>
                  <a:lnTo>
                    <a:pt x="3082417" y="771398"/>
                  </a:lnTo>
                  <a:cubicBezTo>
                    <a:pt x="3082417" y="812673"/>
                    <a:pt x="3049016" y="846074"/>
                    <a:pt x="3007741" y="846074"/>
                  </a:cubicBezTo>
                  <a:lnTo>
                    <a:pt x="74676" y="846074"/>
                  </a:lnTo>
                  <a:cubicBezTo>
                    <a:pt x="33401" y="845947"/>
                    <a:pt x="0" y="812546"/>
                    <a:pt x="0" y="771398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217" id="217"/>
          <p:cNvGrpSpPr/>
          <p:nvPr/>
        </p:nvGrpSpPr>
        <p:grpSpPr>
          <a:xfrm rot="0">
            <a:off x="8250498" y="6345936"/>
            <a:ext cx="2189331" cy="323332"/>
            <a:chOff x="0" y="0"/>
            <a:chExt cx="2919108" cy="431109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2919113" cy="431104"/>
            </a:xfrm>
            <a:custGeom>
              <a:avLst/>
              <a:gdLst/>
              <a:ahLst/>
              <a:cxnLst/>
              <a:rect r="r" b="b" t="t" l="l"/>
              <a:pathLst>
                <a:path h="431104" w="2919113">
                  <a:moveTo>
                    <a:pt x="0" y="0"/>
                  </a:moveTo>
                  <a:lnTo>
                    <a:pt x="2919113" y="0"/>
                  </a:lnTo>
                  <a:lnTo>
                    <a:pt x="2919113" y="431104"/>
                  </a:lnTo>
                  <a:lnTo>
                    <a:pt x="0" y="431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936" r="0" b="-81938"/>
              </a:stretch>
            </a:blipFill>
          </p:spPr>
        </p:sp>
        <p:sp>
          <p:nvSpPr>
            <p:cNvPr name="TextBox 219" id="219"/>
            <p:cNvSpPr txBox="true"/>
            <p:nvPr/>
          </p:nvSpPr>
          <p:spPr>
            <a:xfrm>
              <a:off x="0" y="-9525"/>
              <a:ext cx="2919108" cy="440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9"/>
                </a:lnSpc>
              </a:pPr>
              <a:r>
                <a:rPr lang="en-US" sz="12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 · Demand Brief</a:t>
              </a:r>
            </a:p>
          </p:txBody>
        </p:sp>
      </p:grpSp>
      <p:sp>
        <p:nvSpPr>
          <p:cNvPr name="TextBox 220" id="220"/>
          <p:cNvSpPr txBox="true"/>
          <p:nvPr/>
        </p:nvSpPr>
        <p:spPr>
          <a:xfrm rot="0">
            <a:off x="8250498" y="6601206"/>
            <a:ext cx="2189331" cy="34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what they should make, by </a:t>
            </a:r>
          </a:p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pin-code</a:t>
            </a:r>
          </a:p>
        </p:txBody>
      </p:sp>
      <p:grpSp>
        <p:nvGrpSpPr>
          <p:cNvPr name="Group 221" id="221"/>
          <p:cNvGrpSpPr/>
          <p:nvPr/>
        </p:nvGrpSpPr>
        <p:grpSpPr>
          <a:xfrm rot="0">
            <a:off x="10524925" y="6508747"/>
            <a:ext cx="122425" cy="223009"/>
            <a:chOff x="0" y="0"/>
            <a:chExt cx="163233" cy="297345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163322" cy="297307"/>
            </a:xfrm>
            <a:custGeom>
              <a:avLst/>
              <a:gdLst/>
              <a:ahLst/>
              <a:cxnLst/>
              <a:rect r="r" b="b" t="t" l="l"/>
              <a:pathLst>
                <a:path h="297307" w="163322">
                  <a:moveTo>
                    <a:pt x="0" y="0"/>
                  </a:moveTo>
                  <a:lnTo>
                    <a:pt x="81661" y="0"/>
                  </a:lnTo>
                  <a:lnTo>
                    <a:pt x="163322" y="148717"/>
                  </a:lnTo>
                  <a:lnTo>
                    <a:pt x="81661" y="297307"/>
                  </a:lnTo>
                  <a:lnTo>
                    <a:pt x="0" y="297307"/>
                  </a:lnTo>
                  <a:lnTo>
                    <a:pt x="81661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223" id="223"/>
          <p:cNvGrpSpPr/>
          <p:nvPr/>
        </p:nvGrpSpPr>
        <p:grpSpPr>
          <a:xfrm rot="0">
            <a:off x="10671229" y="6303007"/>
            <a:ext cx="2311765" cy="634489"/>
            <a:chOff x="0" y="0"/>
            <a:chExt cx="3082354" cy="84598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082417" cy="846074"/>
            </a:xfrm>
            <a:custGeom>
              <a:avLst/>
              <a:gdLst/>
              <a:ahLst/>
              <a:cxnLst/>
              <a:rect r="r" b="b" t="t" l="l"/>
              <a:pathLst>
                <a:path h="846074" w="3082417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3007741" y="0"/>
                  </a:lnTo>
                  <a:cubicBezTo>
                    <a:pt x="3049016" y="0"/>
                    <a:pt x="3082417" y="33401"/>
                    <a:pt x="3082417" y="74676"/>
                  </a:cubicBezTo>
                  <a:lnTo>
                    <a:pt x="3082417" y="771398"/>
                  </a:lnTo>
                  <a:cubicBezTo>
                    <a:pt x="3082417" y="812673"/>
                    <a:pt x="3049016" y="846074"/>
                    <a:pt x="3007741" y="846074"/>
                  </a:cubicBezTo>
                  <a:lnTo>
                    <a:pt x="74676" y="846074"/>
                  </a:lnTo>
                  <a:cubicBezTo>
                    <a:pt x="33401" y="845947"/>
                    <a:pt x="0" y="812546"/>
                    <a:pt x="0" y="771398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225" id="225"/>
          <p:cNvGrpSpPr/>
          <p:nvPr/>
        </p:nvGrpSpPr>
        <p:grpSpPr>
          <a:xfrm rot="0">
            <a:off x="10732446" y="6345936"/>
            <a:ext cx="2189331" cy="323332"/>
            <a:chOff x="0" y="0"/>
            <a:chExt cx="2919108" cy="431109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2919113" cy="431104"/>
            </a:xfrm>
            <a:custGeom>
              <a:avLst/>
              <a:gdLst/>
              <a:ahLst/>
              <a:cxnLst/>
              <a:rect r="r" b="b" t="t" l="l"/>
              <a:pathLst>
                <a:path h="431104" w="2919113">
                  <a:moveTo>
                    <a:pt x="0" y="0"/>
                  </a:moveTo>
                  <a:lnTo>
                    <a:pt x="2919113" y="0"/>
                  </a:lnTo>
                  <a:lnTo>
                    <a:pt x="2919113" y="431104"/>
                  </a:lnTo>
                  <a:lnTo>
                    <a:pt x="0" y="431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936" r="0" b="-81938"/>
              </a:stretch>
            </a:blipFill>
          </p:spPr>
        </p:sp>
        <p:sp>
          <p:nvSpPr>
            <p:cNvPr name="TextBox 227" id="227"/>
            <p:cNvSpPr txBox="true"/>
            <p:nvPr/>
          </p:nvSpPr>
          <p:spPr>
            <a:xfrm>
              <a:off x="0" y="-9525"/>
              <a:ext cx="2919108" cy="440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9"/>
                </a:lnSpc>
              </a:pPr>
              <a:r>
                <a:rPr lang="en-US" sz="12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 · Prepayment</a:t>
              </a:r>
            </a:p>
          </p:txBody>
        </p:sp>
      </p:grpSp>
      <p:sp>
        <p:nvSpPr>
          <p:cNvPr name="TextBox 228" id="228"/>
          <p:cNvSpPr txBox="true"/>
          <p:nvPr/>
        </p:nvSpPr>
        <p:spPr>
          <a:xfrm rot="0">
            <a:off x="10732446" y="6601206"/>
            <a:ext cx="2189331" cy="1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the cash to run the first batch</a:t>
            </a:r>
          </a:p>
        </p:txBody>
      </p:sp>
      <p:grpSp>
        <p:nvGrpSpPr>
          <p:cNvPr name="Group 229" id="229"/>
          <p:cNvGrpSpPr/>
          <p:nvPr/>
        </p:nvGrpSpPr>
        <p:grpSpPr>
          <a:xfrm rot="0">
            <a:off x="13006864" y="6508747"/>
            <a:ext cx="122425" cy="223009"/>
            <a:chOff x="0" y="0"/>
            <a:chExt cx="163233" cy="297345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163322" cy="297307"/>
            </a:xfrm>
            <a:custGeom>
              <a:avLst/>
              <a:gdLst/>
              <a:ahLst/>
              <a:cxnLst/>
              <a:rect r="r" b="b" t="t" l="l"/>
              <a:pathLst>
                <a:path h="297307" w="163322">
                  <a:moveTo>
                    <a:pt x="0" y="0"/>
                  </a:moveTo>
                  <a:lnTo>
                    <a:pt x="81661" y="0"/>
                  </a:lnTo>
                  <a:lnTo>
                    <a:pt x="163322" y="148717"/>
                  </a:lnTo>
                  <a:lnTo>
                    <a:pt x="81661" y="297307"/>
                  </a:lnTo>
                  <a:lnTo>
                    <a:pt x="0" y="297307"/>
                  </a:lnTo>
                  <a:lnTo>
                    <a:pt x="81661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231" id="231"/>
          <p:cNvGrpSpPr/>
          <p:nvPr/>
        </p:nvGrpSpPr>
        <p:grpSpPr>
          <a:xfrm rot="0">
            <a:off x="13153168" y="6303007"/>
            <a:ext cx="2311765" cy="634489"/>
            <a:chOff x="0" y="0"/>
            <a:chExt cx="3082354" cy="845985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3082417" cy="846074"/>
            </a:xfrm>
            <a:custGeom>
              <a:avLst/>
              <a:gdLst/>
              <a:ahLst/>
              <a:cxnLst/>
              <a:rect r="r" b="b" t="t" l="l"/>
              <a:pathLst>
                <a:path h="846074" w="3082417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3007741" y="0"/>
                  </a:lnTo>
                  <a:cubicBezTo>
                    <a:pt x="3049016" y="0"/>
                    <a:pt x="3082417" y="33401"/>
                    <a:pt x="3082417" y="74676"/>
                  </a:cubicBezTo>
                  <a:lnTo>
                    <a:pt x="3082417" y="771398"/>
                  </a:lnTo>
                  <a:cubicBezTo>
                    <a:pt x="3082417" y="812673"/>
                    <a:pt x="3049016" y="846074"/>
                    <a:pt x="3007741" y="846074"/>
                  </a:cubicBezTo>
                  <a:lnTo>
                    <a:pt x="74676" y="846074"/>
                  </a:lnTo>
                  <a:cubicBezTo>
                    <a:pt x="33401" y="845947"/>
                    <a:pt x="0" y="812546"/>
                    <a:pt x="0" y="771398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233" id="233"/>
          <p:cNvGrpSpPr/>
          <p:nvPr/>
        </p:nvGrpSpPr>
        <p:grpSpPr>
          <a:xfrm rot="0">
            <a:off x="13214385" y="6345936"/>
            <a:ext cx="2189331" cy="323332"/>
            <a:chOff x="0" y="0"/>
            <a:chExt cx="2919108" cy="431109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2919113" cy="431104"/>
            </a:xfrm>
            <a:custGeom>
              <a:avLst/>
              <a:gdLst/>
              <a:ahLst/>
              <a:cxnLst/>
              <a:rect r="r" b="b" t="t" l="l"/>
              <a:pathLst>
                <a:path h="431104" w="2919113">
                  <a:moveTo>
                    <a:pt x="0" y="0"/>
                  </a:moveTo>
                  <a:lnTo>
                    <a:pt x="2919113" y="0"/>
                  </a:lnTo>
                  <a:lnTo>
                    <a:pt x="2919113" y="431104"/>
                  </a:lnTo>
                  <a:lnTo>
                    <a:pt x="0" y="431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936" r="0" b="-81938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-9525"/>
              <a:ext cx="2919108" cy="440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9"/>
                </a:lnSpc>
              </a:pPr>
              <a:r>
                <a:rPr lang="en-US" sz="12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 · Batch window</a:t>
              </a:r>
            </a:p>
          </p:txBody>
        </p:sp>
      </p:grpSp>
      <p:sp>
        <p:nvSpPr>
          <p:cNvPr name="TextBox 236" id="236"/>
          <p:cNvSpPr txBox="true"/>
          <p:nvPr/>
        </p:nvSpPr>
        <p:spPr>
          <a:xfrm rot="0">
            <a:off x="13214385" y="6601206"/>
            <a:ext cx="2189331" cy="34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production against confirmed demand</a:t>
            </a:r>
          </a:p>
        </p:txBody>
      </p:sp>
      <p:grpSp>
        <p:nvGrpSpPr>
          <p:cNvPr name="Group 237" id="237"/>
          <p:cNvGrpSpPr/>
          <p:nvPr/>
        </p:nvGrpSpPr>
        <p:grpSpPr>
          <a:xfrm rot="0">
            <a:off x="15488812" y="6508747"/>
            <a:ext cx="122425" cy="223009"/>
            <a:chOff x="0" y="0"/>
            <a:chExt cx="163233" cy="297345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163322" cy="297307"/>
            </a:xfrm>
            <a:custGeom>
              <a:avLst/>
              <a:gdLst/>
              <a:ahLst/>
              <a:cxnLst/>
              <a:rect r="r" b="b" t="t" l="l"/>
              <a:pathLst>
                <a:path h="297307" w="163322">
                  <a:moveTo>
                    <a:pt x="0" y="0"/>
                  </a:moveTo>
                  <a:lnTo>
                    <a:pt x="81661" y="0"/>
                  </a:lnTo>
                  <a:lnTo>
                    <a:pt x="163322" y="148717"/>
                  </a:lnTo>
                  <a:lnTo>
                    <a:pt x="81661" y="297307"/>
                  </a:lnTo>
                  <a:lnTo>
                    <a:pt x="0" y="297307"/>
                  </a:lnTo>
                  <a:lnTo>
                    <a:pt x="81661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239" id="239"/>
          <p:cNvGrpSpPr/>
          <p:nvPr/>
        </p:nvGrpSpPr>
        <p:grpSpPr>
          <a:xfrm rot="0">
            <a:off x="15635116" y="6303007"/>
            <a:ext cx="2311765" cy="634489"/>
            <a:chOff x="0" y="0"/>
            <a:chExt cx="3082354" cy="845985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082417" cy="846074"/>
            </a:xfrm>
            <a:custGeom>
              <a:avLst/>
              <a:gdLst/>
              <a:ahLst/>
              <a:cxnLst/>
              <a:rect r="r" b="b" t="t" l="l"/>
              <a:pathLst>
                <a:path h="846074" w="3082417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3007741" y="0"/>
                  </a:lnTo>
                  <a:cubicBezTo>
                    <a:pt x="3049016" y="0"/>
                    <a:pt x="3082417" y="33401"/>
                    <a:pt x="3082417" y="74676"/>
                  </a:cubicBezTo>
                  <a:lnTo>
                    <a:pt x="3082417" y="771398"/>
                  </a:lnTo>
                  <a:cubicBezTo>
                    <a:pt x="3082417" y="812673"/>
                    <a:pt x="3049016" y="846074"/>
                    <a:pt x="3007741" y="846074"/>
                  </a:cubicBezTo>
                  <a:lnTo>
                    <a:pt x="74676" y="846074"/>
                  </a:lnTo>
                  <a:cubicBezTo>
                    <a:pt x="33401" y="845947"/>
                    <a:pt x="0" y="812546"/>
                    <a:pt x="0" y="771398"/>
                  </a:cubicBezTo>
                  <a:close/>
                </a:path>
              </a:pathLst>
            </a:custGeom>
            <a:solidFill>
              <a:srgbClr val="FFF3D8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241" id="241"/>
          <p:cNvGrpSpPr/>
          <p:nvPr/>
        </p:nvGrpSpPr>
        <p:grpSpPr>
          <a:xfrm rot="0">
            <a:off x="15696333" y="6345936"/>
            <a:ext cx="2189331" cy="323332"/>
            <a:chOff x="0" y="0"/>
            <a:chExt cx="2919108" cy="431109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2919113" cy="431104"/>
            </a:xfrm>
            <a:custGeom>
              <a:avLst/>
              <a:gdLst/>
              <a:ahLst/>
              <a:cxnLst/>
              <a:rect r="r" b="b" t="t" l="l"/>
              <a:pathLst>
                <a:path h="431104" w="2919113">
                  <a:moveTo>
                    <a:pt x="0" y="0"/>
                  </a:moveTo>
                  <a:lnTo>
                    <a:pt x="2919113" y="0"/>
                  </a:lnTo>
                  <a:lnTo>
                    <a:pt x="2919113" y="431104"/>
                  </a:lnTo>
                  <a:lnTo>
                    <a:pt x="0" y="431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936" r="0" b="-81938"/>
              </a:stretch>
            </a:blipFill>
          </p:spPr>
        </p:sp>
        <p:sp>
          <p:nvSpPr>
            <p:cNvPr name="TextBox 243" id="243"/>
            <p:cNvSpPr txBox="true"/>
            <p:nvPr/>
          </p:nvSpPr>
          <p:spPr>
            <a:xfrm>
              <a:off x="0" y="-9525"/>
              <a:ext cx="2919108" cy="440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9"/>
                </a:lnSpc>
              </a:pPr>
              <a:r>
                <a:rPr lang="en-US" sz="12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 · Node + firewall</a:t>
              </a:r>
            </a:p>
          </p:txBody>
        </p:sp>
      </p:grpSp>
      <p:sp>
        <p:nvSpPr>
          <p:cNvPr name="TextBox 244" id="244"/>
          <p:cNvSpPr txBox="true"/>
          <p:nvPr/>
        </p:nvSpPr>
        <p:spPr>
          <a:xfrm rot="0">
            <a:off x="15696333" y="6601206"/>
            <a:ext cx="2189331" cy="1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only now is capital justified</a:t>
            </a:r>
          </a:p>
        </p:txBody>
      </p:sp>
      <p:grpSp>
        <p:nvGrpSpPr>
          <p:cNvPr name="Group 245" id="245"/>
          <p:cNvGrpSpPr/>
          <p:nvPr/>
        </p:nvGrpSpPr>
        <p:grpSpPr>
          <a:xfrm rot="0">
            <a:off x="633727" y="7003971"/>
            <a:ext cx="8928097" cy="2484701"/>
            <a:chOff x="0" y="0"/>
            <a:chExt cx="11904129" cy="3312935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11904218" cy="3313024"/>
            </a:xfrm>
            <a:custGeom>
              <a:avLst/>
              <a:gdLst/>
              <a:ahLst/>
              <a:cxnLst/>
              <a:rect r="r" b="b" t="t" l="l"/>
              <a:pathLst>
                <a:path h="3313024" w="11904218">
                  <a:moveTo>
                    <a:pt x="0" y="67105"/>
                  </a:moveTo>
                  <a:cubicBezTo>
                    <a:pt x="0" y="30010"/>
                    <a:pt x="27432" y="0"/>
                    <a:pt x="61341" y="0"/>
                  </a:cubicBezTo>
                  <a:lnTo>
                    <a:pt x="11842877" y="0"/>
                  </a:lnTo>
                  <a:cubicBezTo>
                    <a:pt x="11876786" y="0"/>
                    <a:pt x="11904218" y="30010"/>
                    <a:pt x="11904218" y="67105"/>
                  </a:cubicBezTo>
                  <a:lnTo>
                    <a:pt x="11904218" y="3245927"/>
                  </a:lnTo>
                  <a:cubicBezTo>
                    <a:pt x="11904218" y="3283022"/>
                    <a:pt x="11876786" y="3313024"/>
                    <a:pt x="11842877" y="3313024"/>
                  </a:cubicBezTo>
                  <a:lnTo>
                    <a:pt x="61341" y="3313024"/>
                  </a:lnTo>
                  <a:cubicBezTo>
                    <a:pt x="27432" y="3313024"/>
                    <a:pt x="0" y="3283022"/>
                    <a:pt x="0" y="324592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247" id="247"/>
          <p:cNvGrpSpPr/>
          <p:nvPr/>
        </p:nvGrpSpPr>
        <p:grpSpPr>
          <a:xfrm rot="0">
            <a:off x="633727" y="7003971"/>
            <a:ext cx="8928097" cy="366006"/>
            <a:chOff x="0" y="0"/>
            <a:chExt cx="11904129" cy="488007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0" y="0"/>
              <a:ext cx="11904142" cy="487964"/>
            </a:xfrm>
            <a:custGeom>
              <a:avLst/>
              <a:gdLst/>
              <a:ahLst/>
              <a:cxnLst/>
              <a:rect r="r" b="b" t="t" l="l"/>
              <a:pathLst>
                <a:path h="487964" w="11904142">
                  <a:moveTo>
                    <a:pt x="38006" y="0"/>
                  </a:moveTo>
                  <a:lnTo>
                    <a:pt x="11866136" y="0"/>
                  </a:lnTo>
                  <a:cubicBezTo>
                    <a:pt x="11887126" y="0"/>
                    <a:pt x="11904142" y="17016"/>
                    <a:pt x="11904142" y="38006"/>
                  </a:cubicBezTo>
                  <a:lnTo>
                    <a:pt x="11904142" y="449958"/>
                  </a:lnTo>
                  <a:cubicBezTo>
                    <a:pt x="11904142" y="470948"/>
                    <a:pt x="11887126" y="487964"/>
                    <a:pt x="11866136" y="487964"/>
                  </a:cubicBezTo>
                  <a:lnTo>
                    <a:pt x="38006" y="487964"/>
                  </a:lnTo>
                  <a:cubicBezTo>
                    <a:pt x="17016" y="487964"/>
                    <a:pt x="0" y="470948"/>
                    <a:pt x="0" y="449958"/>
                  </a:cubicBezTo>
                  <a:lnTo>
                    <a:pt x="0" y="38006"/>
                  </a:lnTo>
                  <a:cubicBezTo>
                    <a:pt x="0" y="17016"/>
                    <a:pt x="17016" y="0"/>
                    <a:pt x="38006" y="0"/>
                  </a:cubicBezTo>
                  <a:close/>
                </a:path>
              </a:pathLst>
            </a:custGeom>
            <a:solidFill>
              <a:srgbClr val="6E1251"/>
            </a:solidFill>
            <a:ln w="12700" cap="sq">
              <a:solidFill>
                <a:srgbClr val="6E1251"/>
              </a:solidFill>
              <a:prstDash val="solid"/>
              <a:miter/>
            </a:ln>
          </p:spPr>
        </p:sp>
      </p:grpSp>
      <p:grpSp>
        <p:nvGrpSpPr>
          <p:cNvPr name="Group 249" id="249"/>
          <p:cNvGrpSpPr/>
          <p:nvPr/>
        </p:nvGrpSpPr>
        <p:grpSpPr>
          <a:xfrm rot="0">
            <a:off x="758952" y="7022925"/>
            <a:ext cx="8677656" cy="340112"/>
            <a:chOff x="0" y="0"/>
            <a:chExt cx="11570208" cy="453482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11570208" cy="453482"/>
            </a:xfrm>
            <a:custGeom>
              <a:avLst/>
              <a:gdLst/>
              <a:ahLst/>
              <a:cxnLst/>
              <a:rect r="r" b="b" t="t" l="l"/>
              <a:pathLst>
                <a:path h="453482" w="11570208">
                  <a:moveTo>
                    <a:pt x="0" y="0"/>
                  </a:moveTo>
                  <a:lnTo>
                    <a:pt x="11570208" y="0"/>
                  </a:lnTo>
                  <a:lnTo>
                    <a:pt x="11570208" y="453482"/>
                  </a:lnTo>
                  <a:lnTo>
                    <a:pt x="0" y="4534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1438" r="0" b="-442848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-9525"/>
              <a:ext cx="11570208" cy="463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Global Precedent · every platform that won C2M built the cheap diagnostic layer before the expensive physical one</a:t>
              </a:r>
            </a:p>
          </p:txBody>
        </p:sp>
      </p:grpSp>
      <p:graphicFrame>
        <p:nvGraphicFramePr>
          <p:cNvPr name="Table 252" id="252"/>
          <p:cNvGraphicFramePr>
            <a:graphicFrameLocks noGrp="true"/>
          </p:cNvGraphicFramePr>
          <p:nvPr/>
        </p:nvGraphicFramePr>
        <p:xfrm>
          <a:off x="633727" y="7350309"/>
          <a:ext cx="8928097" cy="2181884"/>
        </p:xfrm>
        <a:graphic>
          <a:graphicData uri="http://schemas.openxmlformats.org/drawingml/2006/table">
            <a:tbl>
              <a:tblPr/>
              <a:tblGrid>
                <a:gridCol w="1318442"/>
                <a:gridCol w="2665515"/>
                <a:gridCol w="2026704"/>
                <a:gridCol w="2026704"/>
                <a:gridCol w="890732"/>
              </a:tblGrid>
              <a:tr h="3062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Platform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Built first (cheap, diagnostic)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Built second (data)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Built last (capital)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Elapsed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</a:tr>
              <a:tr h="4689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Pinduoduo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Group-buy price mechanic on existing catalogue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Anonymised demand data to factories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New Brand Initiative co-investment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~2 yrs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9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Shein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Trend scraping and price-point testing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MES pushing orders to supplier network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Supplier parks and prepayment float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~4 yrs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9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Temu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Reverse-auction bidding on supply price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Algorithmic retail pricing and ranking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60 consolidation warehouses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~2 yrs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9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Meesho · proposed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Price Truth Index on existing sellers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Cluster Demand Brief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Valmo Factory Nodes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90 days to gate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</a:tr>
            </a:tbl>
          </a:graphicData>
        </a:graphic>
      </p:graphicFrame>
      <p:grpSp>
        <p:nvGrpSpPr>
          <p:cNvPr name="Group 253" id="253"/>
          <p:cNvGrpSpPr/>
          <p:nvPr/>
        </p:nvGrpSpPr>
        <p:grpSpPr>
          <a:xfrm rot="0">
            <a:off x="9636247" y="7003971"/>
            <a:ext cx="8414999" cy="387731"/>
            <a:chOff x="0" y="0"/>
            <a:chExt cx="11148099" cy="513661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0" y="0"/>
              <a:ext cx="11148112" cy="513616"/>
            </a:xfrm>
            <a:custGeom>
              <a:avLst/>
              <a:gdLst/>
              <a:ahLst/>
              <a:cxnLst/>
              <a:rect r="r" b="b" t="t" l="l"/>
              <a:pathLst>
                <a:path h="513616" w="11148112">
                  <a:moveTo>
                    <a:pt x="37840" y="0"/>
                  </a:moveTo>
                  <a:lnTo>
                    <a:pt x="11110272" y="0"/>
                  </a:lnTo>
                  <a:cubicBezTo>
                    <a:pt x="11120308" y="0"/>
                    <a:pt x="11129932" y="3987"/>
                    <a:pt x="11137029" y="11083"/>
                  </a:cubicBezTo>
                  <a:cubicBezTo>
                    <a:pt x="11144125" y="18179"/>
                    <a:pt x="11148112" y="27804"/>
                    <a:pt x="11148112" y="37840"/>
                  </a:cubicBezTo>
                  <a:lnTo>
                    <a:pt x="11148112" y="475776"/>
                  </a:lnTo>
                  <a:cubicBezTo>
                    <a:pt x="11148112" y="485812"/>
                    <a:pt x="11144125" y="495437"/>
                    <a:pt x="11137029" y="502533"/>
                  </a:cubicBezTo>
                  <a:cubicBezTo>
                    <a:pt x="11129932" y="509629"/>
                    <a:pt x="11120308" y="513616"/>
                    <a:pt x="11110272" y="513616"/>
                  </a:cubicBezTo>
                  <a:lnTo>
                    <a:pt x="37840" y="513616"/>
                  </a:lnTo>
                  <a:cubicBezTo>
                    <a:pt x="16941" y="513616"/>
                    <a:pt x="0" y="496675"/>
                    <a:pt x="0" y="475776"/>
                  </a:cubicBezTo>
                  <a:lnTo>
                    <a:pt x="0" y="37840"/>
                  </a:lnTo>
                  <a:cubicBezTo>
                    <a:pt x="0" y="16941"/>
                    <a:pt x="16941" y="0"/>
                    <a:pt x="37840" y="0"/>
                  </a:cubicBezTo>
                  <a:close/>
                </a:path>
              </a:pathLst>
            </a:custGeom>
            <a:solidFill>
              <a:srgbClr val="8A245E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255" id="255"/>
          <p:cNvGrpSpPr/>
          <p:nvPr/>
        </p:nvGrpSpPr>
        <p:grpSpPr>
          <a:xfrm rot="0">
            <a:off x="9756648" y="7042388"/>
            <a:ext cx="3739896" cy="310896"/>
            <a:chOff x="0" y="0"/>
            <a:chExt cx="4986528" cy="414528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4986528" cy="414528"/>
            </a:xfrm>
            <a:custGeom>
              <a:avLst/>
              <a:gdLst/>
              <a:ahLst/>
              <a:cxnLst/>
              <a:rect r="r" b="b" t="t" l="l"/>
              <a:pathLst>
                <a:path h="414528" w="4986528">
                  <a:moveTo>
                    <a:pt x="0" y="0"/>
                  </a:moveTo>
                  <a:lnTo>
                    <a:pt x="4986528" y="0"/>
                  </a:lnTo>
                  <a:lnTo>
                    <a:pt x="4986528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476" r="-117359" b="-459476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-9525"/>
              <a:ext cx="4986528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the Sequence Buys, Quarter by Quarter</a:t>
              </a:r>
            </a:p>
          </p:txBody>
        </p:sp>
      </p:grpSp>
      <p:graphicFrame>
        <p:nvGraphicFramePr>
          <p:cNvPr name="Table 258" id="258"/>
          <p:cNvGraphicFramePr>
            <a:graphicFrameLocks noGrp="true"/>
          </p:cNvGraphicFramePr>
          <p:nvPr/>
        </p:nvGraphicFramePr>
        <p:xfrm>
          <a:off x="9636247" y="7350969"/>
          <a:ext cx="8418586" cy="2181225"/>
        </p:xfrm>
        <a:graphic>
          <a:graphicData uri="http://schemas.openxmlformats.org/drawingml/2006/table">
            <a:tbl>
              <a:tblPr/>
              <a:tblGrid>
                <a:gridCol w="865459"/>
                <a:gridCol w="851064"/>
                <a:gridCol w="5440223"/>
                <a:gridCol w="1261840"/>
              </a:tblGrid>
              <a:tr h="3061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Horizon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Levers live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What is true at the end of it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Spend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</a:tr>
              <a:tr h="4687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Days 0-30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1, 2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ranked list of manufacturers who genuinely convert cost ownership into shelf price, and a measured NMV lift on the badged cohort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1B7F4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₹0 capex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7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Days 31-60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3, 4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Two cluster associations signed, 60 Cohort-A manufacturers catalogued, demand briefs shipped for 5 categories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₹4 cr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7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Days 61-90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5, 6, 7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First confirmed batches dispatched inside SLA, returns terminating at the node, four gate numbers on the table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₹8 cr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7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Quarter 2+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scale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Five clusters, six nodes, 450 sellers, and a cost per activated seller falling by design rather than by negotiation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₹10 cr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8"/>
                    </a:solidFill>
                  </a:tcPr>
                </a:tc>
              </a:tr>
            </a:tbl>
          </a:graphicData>
        </a:graphic>
      </p:graphicFrame>
      <p:grpSp>
        <p:nvGrpSpPr>
          <p:cNvPr name="Group 259" id="259"/>
          <p:cNvGrpSpPr/>
          <p:nvPr/>
        </p:nvGrpSpPr>
        <p:grpSpPr>
          <a:xfrm rot="0">
            <a:off x="231391" y="9603991"/>
            <a:ext cx="17819856" cy="579625"/>
            <a:chOff x="0" y="0"/>
            <a:chExt cx="23759808" cy="772833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23759770" cy="772795"/>
            </a:xfrm>
            <a:custGeom>
              <a:avLst/>
              <a:gdLst/>
              <a:ahLst/>
              <a:cxnLst/>
              <a:rect r="r" b="b" t="t" l="l"/>
              <a:pathLst>
                <a:path h="772795" w="23759770">
                  <a:moveTo>
                    <a:pt x="0" y="74803"/>
                  </a:moveTo>
                  <a:cubicBezTo>
                    <a:pt x="0" y="33528"/>
                    <a:pt x="33518" y="0"/>
                    <a:pt x="74781" y="0"/>
                  </a:cubicBezTo>
                  <a:lnTo>
                    <a:pt x="23684990" y="0"/>
                  </a:lnTo>
                  <a:cubicBezTo>
                    <a:pt x="23726253" y="0"/>
                    <a:pt x="23759770" y="33528"/>
                    <a:pt x="23759770" y="74803"/>
                  </a:cubicBezTo>
                  <a:lnTo>
                    <a:pt x="23759770" y="697992"/>
                  </a:lnTo>
                  <a:cubicBezTo>
                    <a:pt x="23759770" y="739267"/>
                    <a:pt x="23726253" y="772795"/>
                    <a:pt x="23684990" y="772795"/>
                  </a:cubicBezTo>
                  <a:lnTo>
                    <a:pt x="74781" y="772795"/>
                  </a:lnTo>
                  <a:cubicBezTo>
                    <a:pt x="33518" y="772795"/>
                    <a:pt x="0" y="739394"/>
                    <a:pt x="0" y="697992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261" id="261"/>
          <p:cNvGrpSpPr/>
          <p:nvPr/>
        </p:nvGrpSpPr>
        <p:grpSpPr>
          <a:xfrm rot="0">
            <a:off x="432559" y="9786871"/>
            <a:ext cx="204721" cy="204721"/>
            <a:chOff x="0" y="0"/>
            <a:chExt cx="272961" cy="272961"/>
          </a:xfrm>
        </p:grpSpPr>
        <p:sp>
          <p:nvSpPr>
            <p:cNvPr name="Freeform 262" id="262"/>
            <p:cNvSpPr/>
            <p:nvPr/>
          </p:nvSpPr>
          <p:spPr>
            <a:xfrm flipH="false" flipV="false" rot="0">
              <a:off x="0" y="0"/>
              <a:ext cx="272923" cy="272923"/>
            </a:xfrm>
            <a:custGeom>
              <a:avLst/>
              <a:gdLst/>
              <a:ahLst/>
              <a:cxnLst/>
              <a:rect r="r" b="b" t="t" l="l"/>
              <a:pathLst>
                <a:path h="272923" w="272923">
                  <a:moveTo>
                    <a:pt x="0" y="0"/>
                  </a:moveTo>
                  <a:lnTo>
                    <a:pt x="272923" y="0"/>
                  </a:lnTo>
                  <a:lnTo>
                    <a:pt x="272923" y="272923"/>
                  </a:lnTo>
                  <a:lnTo>
                    <a:pt x="0" y="272923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263" id="263"/>
          <p:cNvGrpSpPr/>
          <p:nvPr/>
        </p:nvGrpSpPr>
        <p:grpSpPr>
          <a:xfrm rot="0">
            <a:off x="768096" y="9610344"/>
            <a:ext cx="17035272" cy="566928"/>
            <a:chOff x="0" y="0"/>
            <a:chExt cx="22713696" cy="755904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0" y="0"/>
              <a:ext cx="22713696" cy="755904"/>
            </a:xfrm>
            <a:custGeom>
              <a:avLst/>
              <a:gdLst/>
              <a:ahLst/>
              <a:cxnLst/>
              <a:rect r="r" b="b" t="t" l="l"/>
              <a:pathLst>
                <a:path h="755904" w="22713696">
                  <a:moveTo>
                    <a:pt x="0" y="0"/>
                  </a:moveTo>
                  <a:lnTo>
                    <a:pt x="22713696" y="0"/>
                  </a:lnTo>
                  <a:lnTo>
                    <a:pt x="22713696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5493" r="0" b="-535493"/>
              </a:stretch>
            </a:blipFill>
          </p:spPr>
        </p:sp>
        <p:sp>
          <p:nvSpPr>
            <p:cNvPr name="TextBox 265" id="265"/>
            <p:cNvSpPr txBox="true"/>
            <p:nvPr/>
          </p:nvSpPr>
          <p:spPr>
            <a:xfrm>
              <a:off x="0" y="-19050"/>
              <a:ext cx="22713696" cy="774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Sequence by what is diagnostic and free before what is capital-heavy. Every platform that has won C2M (Pinduoduo, Shein, Temu, JD) built the cheap price-discovery layer first and the warehouses last. The price gate scores 0.900 and costs nothing, so it goes first.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8300697" cy="799081"/>
            <a:chOff x="0" y="0"/>
            <a:chExt cx="24400929" cy="10654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065403"/>
            </a:xfrm>
            <a:custGeom>
              <a:avLst/>
              <a:gdLst/>
              <a:ahLst/>
              <a:cxnLst/>
              <a:rect r="r" b="b" t="t" l="l"/>
              <a:pathLst>
                <a:path h="1065403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065403"/>
                  </a:lnTo>
                  <a:lnTo>
                    <a:pt x="0" y="1065403"/>
                  </a:lnTo>
                  <a:close/>
                </a:path>
              </a:pathLst>
            </a:custGeom>
            <a:solidFill>
              <a:srgbClr val="FFF3D8"/>
            </a:solidFill>
            <a:ln w="12700" cap="sq">
              <a:solidFill>
                <a:srgbClr val="FFF3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780031"/>
            <a:ext cx="18300697" cy="49273"/>
            <a:chOff x="0" y="0"/>
            <a:chExt cx="24400929" cy="656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0890" cy="65659"/>
            </a:xfrm>
            <a:custGeom>
              <a:avLst/>
              <a:gdLst/>
              <a:ahLst/>
              <a:cxnLst/>
              <a:rect r="r" b="b" t="t" l="l"/>
              <a:pathLst>
                <a:path h="65659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65659"/>
                  </a:lnTo>
                  <a:lnTo>
                    <a:pt x="0" y="65659"/>
                  </a:ln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19456" y="91440"/>
            <a:ext cx="1188720" cy="591617"/>
            <a:chOff x="0" y="0"/>
            <a:chExt cx="1584960" cy="788822"/>
          </a:xfrm>
        </p:grpSpPr>
        <p:sp>
          <p:nvSpPr>
            <p:cNvPr name="Freeform 7" id="7" descr="assets/dice_logo.png"/>
            <p:cNvSpPr/>
            <p:nvPr/>
          </p:nvSpPr>
          <p:spPr>
            <a:xfrm flipH="false" flipV="false" rot="0">
              <a:off x="0" y="0"/>
              <a:ext cx="1584960" cy="788797"/>
            </a:xfrm>
            <a:custGeom>
              <a:avLst/>
              <a:gdLst/>
              <a:ahLst/>
              <a:cxnLst/>
              <a:rect r="r" b="b" t="t" l="l"/>
              <a:pathLst>
                <a:path h="788797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788797"/>
                  </a:lnTo>
                  <a:lnTo>
                    <a:pt x="0" y="788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91888" y="82296"/>
            <a:ext cx="621792" cy="621792"/>
            <a:chOff x="0" y="0"/>
            <a:chExt cx="829056" cy="829056"/>
          </a:xfrm>
        </p:grpSpPr>
        <p:sp>
          <p:nvSpPr>
            <p:cNvPr name="Freeform 9" id="9" descr="assets/meesho_logo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1279" y="98803"/>
            <a:ext cx="5169913" cy="570481"/>
            <a:chOff x="0" y="0"/>
            <a:chExt cx="6893217" cy="7606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93306" cy="760730"/>
            </a:xfrm>
            <a:custGeom>
              <a:avLst/>
              <a:gdLst/>
              <a:ahLst/>
              <a:cxnLst/>
              <a:rect r="r" b="b" t="t" l="l"/>
              <a:pathLst>
                <a:path h="760730" w="6893306">
                  <a:moveTo>
                    <a:pt x="0" y="99822"/>
                  </a:moveTo>
                  <a:cubicBezTo>
                    <a:pt x="0" y="44704"/>
                    <a:pt x="44704" y="0"/>
                    <a:pt x="99822" y="0"/>
                  </a:cubicBezTo>
                  <a:lnTo>
                    <a:pt x="6793484" y="0"/>
                  </a:lnTo>
                  <a:cubicBezTo>
                    <a:pt x="6848602" y="0"/>
                    <a:pt x="6893306" y="44704"/>
                    <a:pt x="6893306" y="99822"/>
                  </a:cubicBezTo>
                  <a:lnTo>
                    <a:pt x="6893306" y="660908"/>
                  </a:lnTo>
                  <a:cubicBezTo>
                    <a:pt x="6893306" y="716026"/>
                    <a:pt x="6848602" y="760730"/>
                    <a:pt x="6793484" y="760730"/>
                  </a:cubicBezTo>
                  <a:lnTo>
                    <a:pt x="99822" y="760730"/>
                  </a:lnTo>
                  <a:cubicBezTo>
                    <a:pt x="44704" y="760603"/>
                    <a:pt x="0" y="716026"/>
                    <a:pt x="0" y="66090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27632" y="105156"/>
            <a:ext cx="5157216" cy="557784"/>
            <a:chOff x="0" y="0"/>
            <a:chExt cx="6876288" cy="7437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76288" cy="743712"/>
            </a:xfrm>
            <a:custGeom>
              <a:avLst/>
              <a:gdLst/>
              <a:ahLst/>
              <a:cxnLst/>
              <a:rect r="r" b="b" t="t" l="l"/>
              <a:pathLst>
                <a:path h="74371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156" r="0" b="-13015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876288" cy="762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6E125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 · SEGMENT &amp; BARRIER MAP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69935" y="98803"/>
            <a:ext cx="5169913" cy="570481"/>
            <a:chOff x="0" y="0"/>
            <a:chExt cx="6893217" cy="7606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93306" cy="760730"/>
            </a:xfrm>
            <a:custGeom>
              <a:avLst/>
              <a:gdLst/>
              <a:ahLst/>
              <a:cxnLst/>
              <a:rect r="r" b="b" t="t" l="l"/>
              <a:pathLst>
                <a:path h="760730" w="6893306">
                  <a:moveTo>
                    <a:pt x="0" y="99822"/>
                  </a:moveTo>
                  <a:cubicBezTo>
                    <a:pt x="0" y="44704"/>
                    <a:pt x="44704" y="0"/>
                    <a:pt x="99822" y="0"/>
                  </a:cubicBezTo>
                  <a:lnTo>
                    <a:pt x="6793484" y="0"/>
                  </a:lnTo>
                  <a:cubicBezTo>
                    <a:pt x="6848602" y="0"/>
                    <a:pt x="6893306" y="44704"/>
                    <a:pt x="6893306" y="99822"/>
                  </a:cubicBezTo>
                  <a:lnTo>
                    <a:pt x="6893306" y="660908"/>
                  </a:lnTo>
                  <a:cubicBezTo>
                    <a:pt x="6893306" y="716026"/>
                    <a:pt x="6848602" y="760730"/>
                    <a:pt x="6793484" y="760730"/>
                  </a:cubicBezTo>
                  <a:lnTo>
                    <a:pt x="99822" y="760730"/>
                  </a:lnTo>
                  <a:cubicBezTo>
                    <a:pt x="44704" y="760603"/>
                    <a:pt x="0" y="716026"/>
                    <a:pt x="0" y="66090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76288" y="105156"/>
            <a:ext cx="5157216" cy="557784"/>
            <a:chOff x="0" y="0"/>
            <a:chExt cx="6876288" cy="7437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76288" cy="743712"/>
            </a:xfrm>
            <a:custGeom>
              <a:avLst/>
              <a:gdLst/>
              <a:ahLst/>
              <a:cxnLst/>
              <a:rect r="r" b="b" t="t" l="l"/>
              <a:pathLst>
                <a:path h="74371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156" r="0" b="-13015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876288" cy="762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sz="1250" b="true">
                  <a:solidFill>
                    <a:srgbClr val="6E125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· PRIORITISATION FRAMEWORK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18591" y="98803"/>
            <a:ext cx="5169913" cy="570481"/>
            <a:chOff x="0" y="0"/>
            <a:chExt cx="6893217" cy="7606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93306" cy="760730"/>
            </a:xfrm>
            <a:custGeom>
              <a:avLst/>
              <a:gdLst/>
              <a:ahLst/>
              <a:cxnLst/>
              <a:rect r="r" b="b" t="t" l="l"/>
              <a:pathLst>
                <a:path h="760730" w="6893306">
                  <a:moveTo>
                    <a:pt x="0" y="99822"/>
                  </a:moveTo>
                  <a:cubicBezTo>
                    <a:pt x="0" y="44704"/>
                    <a:pt x="44704" y="0"/>
                    <a:pt x="99822" y="0"/>
                  </a:cubicBezTo>
                  <a:lnTo>
                    <a:pt x="6793484" y="0"/>
                  </a:lnTo>
                  <a:cubicBezTo>
                    <a:pt x="6848602" y="0"/>
                    <a:pt x="6893306" y="44704"/>
                    <a:pt x="6893306" y="99822"/>
                  </a:cubicBezTo>
                  <a:lnTo>
                    <a:pt x="6893306" y="660908"/>
                  </a:lnTo>
                  <a:cubicBezTo>
                    <a:pt x="6893306" y="716026"/>
                    <a:pt x="6848602" y="760730"/>
                    <a:pt x="6793484" y="760730"/>
                  </a:cubicBezTo>
                  <a:lnTo>
                    <a:pt x="99822" y="760730"/>
                  </a:lnTo>
                  <a:cubicBezTo>
                    <a:pt x="44704" y="760603"/>
                    <a:pt x="0" y="716026"/>
                    <a:pt x="0" y="660908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124944" y="105156"/>
            <a:ext cx="5157216" cy="557784"/>
            <a:chOff x="0" y="0"/>
            <a:chExt cx="6876288" cy="7437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76288" cy="743712"/>
            </a:xfrm>
            <a:custGeom>
              <a:avLst/>
              <a:gdLst/>
              <a:ahLst/>
              <a:cxnLst/>
              <a:rect r="r" b="b" t="t" l="l"/>
              <a:pathLst>
                <a:path h="74371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156" r="0" b="-13015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876288" cy="762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· QUICK-WIN LEVER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31391" y="908047"/>
            <a:ext cx="323593" cy="8580625"/>
            <a:chOff x="0" y="0"/>
            <a:chExt cx="431457" cy="114408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1546" cy="11440922"/>
            </a:xfrm>
            <a:custGeom>
              <a:avLst/>
              <a:gdLst/>
              <a:ahLst/>
              <a:cxnLst/>
              <a:rect r="r" b="b" t="t" l="l"/>
              <a:pathLst>
                <a:path h="11440922" w="431546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368046" y="0"/>
                  </a:lnTo>
                  <a:cubicBezTo>
                    <a:pt x="403098" y="0"/>
                    <a:pt x="431546" y="28448"/>
                    <a:pt x="431546" y="63500"/>
                  </a:cubicBezTo>
                  <a:lnTo>
                    <a:pt x="431546" y="11377422"/>
                  </a:lnTo>
                  <a:cubicBezTo>
                    <a:pt x="431546" y="11412474"/>
                    <a:pt x="403098" y="11440922"/>
                    <a:pt x="368046" y="11440922"/>
                  </a:cubicBezTo>
                  <a:lnTo>
                    <a:pt x="63500" y="11440922"/>
                  </a:lnTo>
                  <a:cubicBezTo>
                    <a:pt x="28448" y="11440922"/>
                    <a:pt x="0" y="11412474"/>
                    <a:pt x="0" y="11377422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-5400000">
            <a:off x="-3890772" y="5042916"/>
            <a:ext cx="8567928" cy="310896"/>
            <a:chOff x="0" y="0"/>
            <a:chExt cx="11423904" cy="4145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423904" cy="414528"/>
            </a:xfrm>
            <a:custGeom>
              <a:avLst/>
              <a:gdLst/>
              <a:ahLst/>
              <a:cxnLst/>
              <a:rect r="r" b="b" t="t" l="l"/>
              <a:pathLst>
                <a:path h="414528" w="11423904">
                  <a:moveTo>
                    <a:pt x="0" y="0"/>
                  </a:moveTo>
                  <a:lnTo>
                    <a:pt x="11423904" y="0"/>
                  </a:lnTo>
                  <a:lnTo>
                    <a:pt x="11423904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6984" r="0" b="-48698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1423904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b="true" sz="1149" spc="199">
                  <a:solidFill>
                    <a:srgbClr val="FFF3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DAY 0 TO 30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4700" y="905504"/>
            <a:ext cx="17400927" cy="967598"/>
            <a:chOff x="0" y="0"/>
            <a:chExt cx="23201236" cy="129013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201198" cy="1290100"/>
            </a:xfrm>
            <a:custGeom>
              <a:avLst/>
              <a:gdLst/>
              <a:ahLst/>
              <a:cxnLst/>
              <a:rect r="r" b="b" t="t" l="l"/>
              <a:pathLst>
                <a:path h="1290100" w="23201198">
                  <a:moveTo>
                    <a:pt x="0" y="48864"/>
                  </a:moveTo>
                  <a:cubicBezTo>
                    <a:pt x="0" y="21863"/>
                    <a:pt x="27524" y="0"/>
                    <a:pt x="61517" y="0"/>
                  </a:cubicBezTo>
                  <a:lnTo>
                    <a:pt x="23139681" y="0"/>
                  </a:lnTo>
                  <a:cubicBezTo>
                    <a:pt x="23173674" y="0"/>
                    <a:pt x="23201198" y="21863"/>
                    <a:pt x="23201198" y="48864"/>
                  </a:cubicBezTo>
                  <a:lnTo>
                    <a:pt x="23201198" y="1241237"/>
                  </a:lnTo>
                  <a:cubicBezTo>
                    <a:pt x="23201198" y="1268238"/>
                    <a:pt x="23173674" y="1290100"/>
                    <a:pt x="23139681" y="1290100"/>
                  </a:cubicBezTo>
                  <a:lnTo>
                    <a:pt x="61517" y="1290100"/>
                  </a:lnTo>
                  <a:cubicBezTo>
                    <a:pt x="27524" y="1290100"/>
                    <a:pt x="0" y="1268238"/>
                    <a:pt x="0" y="124123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44673" y="905504"/>
            <a:ext cx="17400954" cy="323593"/>
            <a:chOff x="0" y="0"/>
            <a:chExt cx="23201272" cy="4314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201285" cy="431419"/>
            </a:xfrm>
            <a:custGeom>
              <a:avLst/>
              <a:gdLst/>
              <a:ahLst/>
              <a:cxnLst/>
              <a:rect r="r" b="b" t="t" l="l"/>
              <a:pathLst>
                <a:path h="431419" w="23201285">
                  <a:moveTo>
                    <a:pt x="38100" y="0"/>
                  </a:moveTo>
                  <a:lnTo>
                    <a:pt x="23163185" y="0"/>
                  </a:lnTo>
                  <a:cubicBezTo>
                    <a:pt x="23184227" y="0"/>
                    <a:pt x="23201285" y="17058"/>
                    <a:pt x="23201285" y="38100"/>
                  </a:cubicBezTo>
                  <a:lnTo>
                    <a:pt x="23201285" y="393319"/>
                  </a:lnTo>
                  <a:cubicBezTo>
                    <a:pt x="23201285" y="403424"/>
                    <a:pt x="23197271" y="413115"/>
                    <a:pt x="23190126" y="420260"/>
                  </a:cubicBezTo>
                  <a:cubicBezTo>
                    <a:pt x="23182980" y="427405"/>
                    <a:pt x="23173289" y="431419"/>
                    <a:pt x="23163185" y="431419"/>
                  </a:cubicBezTo>
                  <a:lnTo>
                    <a:pt x="38100" y="431419"/>
                  </a:lnTo>
                  <a:cubicBezTo>
                    <a:pt x="27995" y="431419"/>
                    <a:pt x="18304" y="427405"/>
                    <a:pt x="11159" y="420260"/>
                  </a:cubicBezTo>
                  <a:cubicBezTo>
                    <a:pt x="4014" y="413115"/>
                    <a:pt x="0" y="403424"/>
                    <a:pt x="0" y="39331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43455" y="911852"/>
            <a:ext cx="3395702" cy="310896"/>
            <a:chOff x="0" y="0"/>
            <a:chExt cx="4527603" cy="4145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27603" cy="414528"/>
            </a:xfrm>
            <a:custGeom>
              <a:avLst/>
              <a:gdLst/>
              <a:ahLst/>
              <a:cxnLst/>
              <a:rect r="r" b="b" t="t" l="l"/>
              <a:pathLst>
                <a:path h="414528" w="4527603">
                  <a:moveTo>
                    <a:pt x="0" y="0"/>
                  </a:moveTo>
                  <a:lnTo>
                    <a:pt x="4527603" y="0"/>
                  </a:lnTo>
                  <a:lnTo>
                    <a:pt x="4527603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26261" r="-405710" b="-102626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527603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LEVER · first 30 days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56231" y="1293485"/>
            <a:ext cx="3192780" cy="508741"/>
            <a:chOff x="0" y="0"/>
            <a:chExt cx="6156960" cy="9810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56960" cy="981056"/>
            </a:xfrm>
            <a:custGeom>
              <a:avLst/>
              <a:gdLst/>
              <a:ahLst/>
              <a:cxnLst/>
              <a:rect r="r" b="b" t="t" l="l"/>
              <a:pathLst>
                <a:path h="981056" w="6156960">
                  <a:moveTo>
                    <a:pt x="0" y="0"/>
                  </a:moveTo>
                  <a:lnTo>
                    <a:pt x="6156960" y="0"/>
                  </a:lnTo>
                  <a:lnTo>
                    <a:pt x="6156960" y="981056"/>
                  </a:lnTo>
                  <a:lnTo>
                    <a:pt x="0" y="981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604" r="0" b="-7696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6156960" cy="990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0"/>
                </a:lnSpc>
              </a:pPr>
              <a:r>
                <a:rPr lang="en-US" sz="24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PRICE TRUTH INDEX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099811" y="1328448"/>
            <a:ext cx="7356986" cy="438814"/>
            <a:chOff x="0" y="0"/>
            <a:chExt cx="9809315" cy="58508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809314" cy="585086"/>
            </a:xfrm>
            <a:custGeom>
              <a:avLst/>
              <a:gdLst/>
              <a:ahLst/>
              <a:cxnLst/>
              <a:rect r="r" b="b" t="t" l="l"/>
              <a:pathLst>
                <a:path h="585086" w="9809314">
                  <a:moveTo>
                    <a:pt x="0" y="0"/>
                  </a:moveTo>
                  <a:lnTo>
                    <a:pt x="9809314" y="0"/>
                  </a:lnTo>
                  <a:lnTo>
                    <a:pt x="9809314" y="585086"/>
                  </a:lnTo>
                  <a:lnTo>
                    <a:pt x="0" y="5850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593" r="11754" b="-27996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9809315" cy="6136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50">
                  <a:solidFill>
                    <a:srgbClr val="2B12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 every existing large seller's live SKUs against the category landed-price median. Badge and re-rank the ones carrying a real delta, and flag the ones whose scale never became price.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713913" y="1371476"/>
            <a:ext cx="1561843" cy="352758"/>
            <a:chOff x="0" y="0"/>
            <a:chExt cx="2082457" cy="4703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82546" cy="470433"/>
            </a:xfrm>
            <a:custGeom>
              <a:avLst/>
              <a:gdLst/>
              <a:ahLst/>
              <a:cxnLst/>
              <a:rect r="r" b="b" t="t" l="l"/>
              <a:pathLst>
                <a:path h="470433" w="2082546">
                  <a:moveTo>
                    <a:pt x="0" y="26747"/>
                  </a:moveTo>
                  <a:cubicBezTo>
                    <a:pt x="0" y="11949"/>
                    <a:pt x="31134" y="0"/>
                    <a:pt x="69695" y="0"/>
                  </a:cubicBezTo>
                  <a:lnTo>
                    <a:pt x="2012862" y="0"/>
                  </a:lnTo>
                  <a:cubicBezTo>
                    <a:pt x="2051280" y="0"/>
                    <a:pt x="2082546" y="11949"/>
                    <a:pt x="2082546" y="26747"/>
                  </a:cubicBezTo>
                  <a:lnTo>
                    <a:pt x="2082546" y="443635"/>
                  </a:lnTo>
                  <a:cubicBezTo>
                    <a:pt x="2082546" y="458379"/>
                    <a:pt x="2051423" y="470433"/>
                    <a:pt x="2012862" y="470433"/>
                  </a:cubicBezTo>
                  <a:lnTo>
                    <a:pt x="69695" y="470433"/>
                  </a:lnTo>
                  <a:cubicBezTo>
                    <a:pt x="31134" y="470328"/>
                    <a:pt x="0" y="458379"/>
                    <a:pt x="0" y="443635"/>
                  </a:cubicBezTo>
                  <a:close/>
                </a:path>
              </a:pathLst>
            </a:custGeom>
            <a:solidFill>
              <a:srgbClr val="FFF3D8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758467" y="1347387"/>
            <a:ext cx="539262" cy="386243"/>
            <a:chOff x="0" y="0"/>
            <a:chExt cx="719015" cy="5149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9015" cy="514996"/>
            </a:xfrm>
            <a:custGeom>
              <a:avLst/>
              <a:gdLst/>
              <a:ahLst/>
              <a:cxnLst/>
              <a:rect r="r" b="b" t="t" l="l"/>
              <a:pathLst>
                <a:path h="514996" w="719015">
                  <a:moveTo>
                    <a:pt x="0" y="0"/>
                  </a:moveTo>
                  <a:lnTo>
                    <a:pt x="719015" y="0"/>
                  </a:lnTo>
                  <a:lnTo>
                    <a:pt x="719015" y="514996"/>
                  </a:lnTo>
                  <a:lnTo>
                    <a:pt x="0" y="5149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34" r="-141630" b="-1573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719015" cy="534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0.900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134537" y="1416791"/>
            <a:ext cx="1266444" cy="26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950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RICE score</a:t>
            </a:r>
          </a:p>
          <a:p>
            <a:pPr algn="ctr">
              <a:lnSpc>
                <a:spcPts val="980"/>
              </a:lnSpc>
            </a:pPr>
            <a:r>
              <a:rPr lang="en-US" sz="950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highest of eight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3374058" y="1371476"/>
            <a:ext cx="1388869" cy="352758"/>
            <a:chOff x="0" y="0"/>
            <a:chExt cx="1851825" cy="4703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51914" cy="470433"/>
            </a:xfrm>
            <a:custGeom>
              <a:avLst/>
              <a:gdLst/>
              <a:ahLst/>
              <a:cxnLst/>
              <a:rect r="r" b="b" t="t" l="l"/>
              <a:pathLst>
                <a:path h="470433" w="1851914">
                  <a:moveTo>
                    <a:pt x="0" y="26747"/>
                  </a:moveTo>
                  <a:cubicBezTo>
                    <a:pt x="0" y="11949"/>
                    <a:pt x="27686" y="0"/>
                    <a:pt x="61976" y="0"/>
                  </a:cubicBezTo>
                  <a:lnTo>
                    <a:pt x="1789938" y="0"/>
                  </a:lnTo>
                  <a:cubicBezTo>
                    <a:pt x="1824101" y="0"/>
                    <a:pt x="1851914" y="11949"/>
                    <a:pt x="1851914" y="26747"/>
                  </a:cubicBezTo>
                  <a:lnTo>
                    <a:pt x="1851914" y="443635"/>
                  </a:lnTo>
                  <a:cubicBezTo>
                    <a:pt x="1851914" y="458379"/>
                    <a:pt x="1824228" y="470433"/>
                    <a:pt x="1789938" y="470433"/>
                  </a:cubicBezTo>
                  <a:lnTo>
                    <a:pt x="61976" y="470433"/>
                  </a:lnTo>
                  <a:cubicBezTo>
                    <a:pt x="27686" y="470328"/>
                    <a:pt x="0" y="458379"/>
                    <a:pt x="0" y="443635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3391837" y="1395290"/>
            <a:ext cx="365680" cy="310921"/>
            <a:chOff x="0" y="0"/>
            <a:chExt cx="487573" cy="41456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7574" cy="414566"/>
            </a:xfrm>
            <a:custGeom>
              <a:avLst/>
              <a:gdLst/>
              <a:ahLst/>
              <a:cxnLst/>
              <a:rect r="r" b="b" t="t" l="l"/>
              <a:pathLst>
                <a:path h="414566" w="487574">
                  <a:moveTo>
                    <a:pt x="0" y="0"/>
                  </a:moveTo>
                  <a:lnTo>
                    <a:pt x="487574" y="0"/>
                  </a:lnTo>
                  <a:lnTo>
                    <a:pt x="487574" y="414566"/>
                  </a:lnTo>
                  <a:lnTo>
                    <a:pt x="0" y="4145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546" r="-256327" b="-4376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487573" cy="4336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B7F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₹0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3871817" y="1416791"/>
            <a:ext cx="778804" cy="26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950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capex, subsidy</a:t>
            </a:r>
          </a:p>
          <a:p>
            <a:pPr algn="ctr">
              <a:lnSpc>
                <a:spcPts val="980"/>
              </a:lnSpc>
            </a:pPr>
            <a:r>
              <a:rPr lang="en-US" sz="950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or new logistics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4841121" y="1371476"/>
            <a:ext cx="1425102" cy="352758"/>
            <a:chOff x="0" y="0"/>
            <a:chExt cx="1900136" cy="47034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00225" cy="470433"/>
            </a:xfrm>
            <a:custGeom>
              <a:avLst/>
              <a:gdLst/>
              <a:ahLst/>
              <a:cxnLst/>
              <a:rect r="r" b="b" t="t" l="l"/>
              <a:pathLst>
                <a:path h="470433" w="1900225">
                  <a:moveTo>
                    <a:pt x="0" y="26747"/>
                  </a:moveTo>
                  <a:cubicBezTo>
                    <a:pt x="0" y="11949"/>
                    <a:pt x="28408" y="0"/>
                    <a:pt x="63593" y="0"/>
                  </a:cubicBezTo>
                  <a:lnTo>
                    <a:pt x="1836634" y="0"/>
                  </a:lnTo>
                  <a:cubicBezTo>
                    <a:pt x="1871689" y="0"/>
                    <a:pt x="1900225" y="11949"/>
                    <a:pt x="1900225" y="26747"/>
                  </a:cubicBezTo>
                  <a:lnTo>
                    <a:pt x="1900225" y="443635"/>
                  </a:lnTo>
                  <a:cubicBezTo>
                    <a:pt x="1900225" y="458379"/>
                    <a:pt x="1871819" y="470433"/>
                    <a:pt x="1836634" y="470433"/>
                  </a:cubicBezTo>
                  <a:lnTo>
                    <a:pt x="63593" y="470433"/>
                  </a:lnTo>
                  <a:cubicBezTo>
                    <a:pt x="28408" y="470328"/>
                    <a:pt x="0" y="458379"/>
                    <a:pt x="0" y="443635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4870558" y="1354733"/>
            <a:ext cx="590429" cy="386243"/>
            <a:chOff x="0" y="0"/>
            <a:chExt cx="787239" cy="51499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87239" cy="514996"/>
            </a:xfrm>
            <a:custGeom>
              <a:avLst/>
              <a:gdLst/>
              <a:ahLst/>
              <a:cxnLst/>
              <a:rect r="r" b="b" t="t" l="l"/>
              <a:pathLst>
                <a:path h="514996" w="787239">
                  <a:moveTo>
                    <a:pt x="0" y="0"/>
                  </a:moveTo>
                  <a:lnTo>
                    <a:pt x="787239" y="0"/>
                  </a:lnTo>
                  <a:lnTo>
                    <a:pt x="787239" y="514996"/>
                  </a:lnTo>
                  <a:lnTo>
                    <a:pt x="0" y="5149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34" r="-120690" b="-1573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787239" cy="534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wks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5226980" y="1413895"/>
            <a:ext cx="1266444" cy="26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950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one squad</a:t>
            </a:r>
          </a:p>
          <a:p>
            <a:pPr algn="ctr">
              <a:lnSpc>
                <a:spcPts val="980"/>
              </a:lnSpc>
            </a:pPr>
            <a:r>
              <a:rPr lang="en-US" sz="950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effort score 2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6342423" y="1371476"/>
            <a:ext cx="1388869" cy="352758"/>
            <a:chOff x="0" y="0"/>
            <a:chExt cx="1851825" cy="4703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51914" cy="470433"/>
            </a:xfrm>
            <a:custGeom>
              <a:avLst/>
              <a:gdLst/>
              <a:ahLst/>
              <a:cxnLst/>
              <a:rect r="r" b="b" t="t" l="l"/>
              <a:pathLst>
                <a:path h="470433" w="1851914">
                  <a:moveTo>
                    <a:pt x="0" y="26747"/>
                  </a:moveTo>
                  <a:cubicBezTo>
                    <a:pt x="0" y="11949"/>
                    <a:pt x="27686" y="0"/>
                    <a:pt x="61976" y="0"/>
                  </a:cubicBezTo>
                  <a:lnTo>
                    <a:pt x="1789938" y="0"/>
                  </a:lnTo>
                  <a:cubicBezTo>
                    <a:pt x="1824101" y="0"/>
                    <a:pt x="1851914" y="11949"/>
                    <a:pt x="1851914" y="26747"/>
                  </a:cubicBezTo>
                  <a:lnTo>
                    <a:pt x="1851914" y="443635"/>
                  </a:lnTo>
                  <a:cubicBezTo>
                    <a:pt x="1851914" y="458379"/>
                    <a:pt x="1824228" y="470433"/>
                    <a:pt x="1789938" y="470433"/>
                  </a:cubicBezTo>
                  <a:lnTo>
                    <a:pt x="61976" y="470433"/>
                  </a:lnTo>
                  <a:cubicBezTo>
                    <a:pt x="27686" y="470328"/>
                    <a:pt x="0" y="458379"/>
                    <a:pt x="0" y="443635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6398174" y="1395290"/>
            <a:ext cx="190500" cy="310921"/>
            <a:chOff x="0" y="0"/>
            <a:chExt cx="254000" cy="41456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54000" cy="414566"/>
            </a:xfrm>
            <a:custGeom>
              <a:avLst/>
              <a:gdLst/>
              <a:ahLst/>
              <a:cxnLst/>
              <a:rect r="r" b="b" t="t" l="l"/>
              <a:pathLst>
                <a:path h="414566" w="254000">
                  <a:moveTo>
                    <a:pt x="0" y="0"/>
                  </a:moveTo>
                  <a:lnTo>
                    <a:pt x="254000" y="0"/>
                  </a:lnTo>
                  <a:lnTo>
                    <a:pt x="254000" y="414566"/>
                  </a:lnTo>
                  <a:lnTo>
                    <a:pt x="0" y="4145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546" r="-583999" b="-4376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254000" cy="4336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6617249" y="1416791"/>
            <a:ext cx="1066417" cy="26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950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screened categories</a:t>
            </a:r>
          </a:p>
          <a:p>
            <a:pPr algn="ctr">
              <a:lnSpc>
                <a:spcPts val="980"/>
              </a:lnSpc>
            </a:pPr>
            <a:r>
              <a:rPr lang="en-US" sz="950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in scope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633727" y="1939777"/>
            <a:ext cx="17422873" cy="1604303"/>
            <a:chOff x="0" y="0"/>
            <a:chExt cx="23230497" cy="213907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230458" cy="2139039"/>
            </a:xfrm>
            <a:custGeom>
              <a:avLst/>
              <a:gdLst/>
              <a:ahLst/>
              <a:cxnLst/>
              <a:rect r="r" b="b" t="t" l="l"/>
              <a:pathLst>
                <a:path h="2139039" w="23230458">
                  <a:moveTo>
                    <a:pt x="0" y="52145"/>
                  </a:moveTo>
                  <a:cubicBezTo>
                    <a:pt x="0" y="23320"/>
                    <a:pt x="27432" y="0"/>
                    <a:pt x="61341" y="0"/>
                  </a:cubicBezTo>
                  <a:lnTo>
                    <a:pt x="23169118" y="0"/>
                  </a:lnTo>
                  <a:cubicBezTo>
                    <a:pt x="23203027" y="0"/>
                    <a:pt x="23230458" y="23320"/>
                    <a:pt x="23230458" y="52145"/>
                  </a:cubicBezTo>
                  <a:lnTo>
                    <a:pt x="23230458" y="2086893"/>
                  </a:lnTo>
                  <a:cubicBezTo>
                    <a:pt x="23230458" y="2115719"/>
                    <a:pt x="23203027" y="2139039"/>
                    <a:pt x="23169118" y="2139039"/>
                  </a:cubicBezTo>
                  <a:lnTo>
                    <a:pt x="61341" y="2139039"/>
                  </a:lnTo>
                  <a:cubicBezTo>
                    <a:pt x="27432" y="2139039"/>
                    <a:pt x="0" y="2115719"/>
                    <a:pt x="0" y="2086893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444095" y="2341017"/>
            <a:ext cx="2710177" cy="1109977"/>
            <a:chOff x="0" y="0"/>
            <a:chExt cx="3613569" cy="147996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13658" cy="1480058"/>
            </a:xfrm>
            <a:custGeom>
              <a:avLst/>
              <a:gdLst/>
              <a:ahLst/>
              <a:cxnLst/>
              <a:rect r="r" b="b" t="t" l="l"/>
              <a:pathLst>
                <a:path h="1480058" w="3613658">
                  <a:moveTo>
                    <a:pt x="0" y="74041"/>
                  </a:moveTo>
                  <a:cubicBezTo>
                    <a:pt x="0" y="33147"/>
                    <a:pt x="33147" y="0"/>
                    <a:pt x="74041" y="0"/>
                  </a:cubicBezTo>
                  <a:lnTo>
                    <a:pt x="3539617" y="0"/>
                  </a:lnTo>
                  <a:cubicBezTo>
                    <a:pt x="3580511" y="0"/>
                    <a:pt x="3613658" y="33147"/>
                    <a:pt x="3613658" y="74041"/>
                  </a:cubicBezTo>
                  <a:lnTo>
                    <a:pt x="3613658" y="1406017"/>
                  </a:lnTo>
                  <a:cubicBezTo>
                    <a:pt x="3613658" y="1446911"/>
                    <a:pt x="3580511" y="1480058"/>
                    <a:pt x="3539617" y="1480058"/>
                  </a:cubicBezTo>
                  <a:lnTo>
                    <a:pt x="74041" y="1480058"/>
                  </a:lnTo>
                  <a:cubicBezTo>
                    <a:pt x="33147" y="1480058"/>
                    <a:pt x="0" y="1446911"/>
                    <a:pt x="0" y="1406017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633727" y="1939777"/>
            <a:ext cx="17422873" cy="334566"/>
            <a:chOff x="0" y="0"/>
            <a:chExt cx="23230497" cy="4460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3230509" cy="446048"/>
            </a:xfrm>
            <a:custGeom>
              <a:avLst/>
              <a:gdLst/>
              <a:ahLst/>
              <a:cxnLst/>
              <a:rect r="r" b="b" t="t" l="l"/>
              <a:pathLst>
                <a:path h="446048" w="23230509">
                  <a:moveTo>
                    <a:pt x="38052" y="0"/>
                  </a:moveTo>
                  <a:lnTo>
                    <a:pt x="23192457" y="0"/>
                  </a:lnTo>
                  <a:cubicBezTo>
                    <a:pt x="23202550" y="0"/>
                    <a:pt x="23212228" y="4009"/>
                    <a:pt x="23219364" y="11145"/>
                  </a:cubicBezTo>
                  <a:cubicBezTo>
                    <a:pt x="23226500" y="18281"/>
                    <a:pt x="23230509" y="27960"/>
                    <a:pt x="23230509" y="38052"/>
                  </a:cubicBezTo>
                  <a:lnTo>
                    <a:pt x="23230509" y="407996"/>
                  </a:lnTo>
                  <a:cubicBezTo>
                    <a:pt x="23230509" y="418088"/>
                    <a:pt x="23226500" y="427767"/>
                    <a:pt x="23219364" y="434903"/>
                  </a:cubicBezTo>
                  <a:cubicBezTo>
                    <a:pt x="23212228" y="442039"/>
                    <a:pt x="23202550" y="446048"/>
                    <a:pt x="23192457" y="446048"/>
                  </a:cubicBezTo>
                  <a:lnTo>
                    <a:pt x="38052" y="446048"/>
                  </a:lnTo>
                  <a:cubicBezTo>
                    <a:pt x="27960" y="446048"/>
                    <a:pt x="18281" y="442039"/>
                    <a:pt x="11145" y="434903"/>
                  </a:cubicBezTo>
                  <a:cubicBezTo>
                    <a:pt x="4009" y="427767"/>
                    <a:pt x="0" y="418088"/>
                    <a:pt x="0" y="407996"/>
                  </a:cubicBezTo>
                  <a:lnTo>
                    <a:pt x="0" y="38052"/>
                  </a:lnTo>
                  <a:cubicBezTo>
                    <a:pt x="0" y="27960"/>
                    <a:pt x="4009" y="18281"/>
                    <a:pt x="11145" y="11145"/>
                  </a:cubicBezTo>
                  <a:cubicBezTo>
                    <a:pt x="18281" y="4009"/>
                    <a:pt x="27960" y="0"/>
                    <a:pt x="38052" y="0"/>
                  </a:cubicBezTo>
                  <a:close/>
                </a:path>
              </a:pathLst>
            </a:custGeom>
            <a:solidFill>
              <a:srgbClr val="6E1251"/>
            </a:solidFill>
            <a:ln w="12700" cap="sq">
              <a:solidFill>
                <a:srgbClr val="6E1251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758952" y="1949302"/>
            <a:ext cx="17172432" cy="310896"/>
            <a:chOff x="0" y="0"/>
            <a:chExt cx="22896576" cy="41452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896576" cy="414528"/>
            </a:xfrm>
            <a:custGeom>
              <a:avLst/>
              <a:gdLst/>
              <a:ahLst/>
              <a:cxnLst/>
              <a:rect r="r" b="b" t="t" l="l"/>
              <a:pathLst>
                <a:path h="414528" w="22896576">
                  <a:moveTo>
                    <a:pt x="0" y="0"/>
                  </a:moveTo>
                  <a:lnTo>
                    <a:pt x="22896576" y="0"/>
                  </a:lnTo>
                  <a:lnTo>
                    <a:pt x="22896576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26261" r="0" b="-102626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22896576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It Works · the pipeline, end to end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43455" y="2342113"/>
            <a:ext cx="2710177" cy="1109977"/>
            <a:chOff x="0" y="0"/>
            <a:chExt cx="3613569" cy="147996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13658" cy="1480058"/>
            </a:xfrm>
            <a:custGeom>
              <a:avLst/>
              <a:gdLst/>
              <a:ahLst/>
              <a:cxnLst/>
              <a:rect r="r" b="b" t="t" l="l"/>
              <a:pathLst>
                <a:path h="1480058" w="3613658">
                  <a:moveTo>
                    <a:pt x="0" y="74041"/>
                  </a:moveTo>
                  <a:cubicBezTo>
                    <a:pt x="0" y="33147"/>
                    <a:pt x="33147" y="0"/>
                    <a:pt x="74041" y="0"/>
                  </a:cubicBezTo>
                  <a:lnTo>
                    <a:pt x="3539617" y="0"/>
                  </a:lnTo>
                  <a:cubicBezTo>
                    <a:pt x="3580511" y="0"/>
                    <a:pt x="3613658" y="33147"/>
                    <a:pt x="3613658" y="74041"/>
                  </a:cubicBezTo>
                  <a:lnTo>
                    <a:pt x="3613658" y="1406017"/>
                  </a:lnTo>
                  <a:cubicBezTo>
                    <a:pt x="3613658" y="1446911"/>
                    <a:pt x="3580511" y="1480058"/>
                    <a:pt x="3539617" y="1480058"/>
                  </a:cubicBezTo>
                  <a:lnTo>
                    <a:pt x="74041" y="1480058"/>
                  </a:lnTo>
                  <a:cubicBezTo>
                    <a:pt x="33147" y="1480058"/>
                    <a:pt x="0" y="1446911"/>
                    <a:pt x="0" y="1406017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804672" y="2385042"/>
            <a:ext cx="2587752" cy="570586"/>
            <a:chOff x="0" y="0"/>
            <a:chExt cx="3450336" cy="76078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450336" cy="760782"/>
            </a:xfrm>
            <a:custGeom>
              <a:avLst/>
              <a:gdLst/>
              <a:ahLst/>
              <a:cxnLst/>
              <a:rect r="r" b="b" t="t" l="l"/>
              <a:pathLst>
                <a:path h="760782" w="3450336">
                  <a:moveTo>
                    <a:pt x="0" y="0"/>
                  </a:moveTo>
                  <a:lnTo>
                    <a:pt x="3450336" y="0"/>
                  </a:lnTo>
                  <a:lnTo>
                    <a:pt x="3450336" y="760782"/>
                  </a:lnTo>
                  <a:lnTo>
                    <a:pt x="0" y="7607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369" r="0" b="-3836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3450336" cy="779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19"/>
                </a:lnSpc>
              </a:pPr>
              <a:r>
                <a:rPr lang="en-US" sz="13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Landed-price median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804672" y="2878056"/>
            <a:ext cx="2587752" cy="4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Compute a live median per</a:t>
            </a:r>
          </a:p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category from delivered orders,</a:t>
            </a:r>
          </a:p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not list price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3477511" y="2785597"/>
            <a:ext cx="140713" cy="223009"/>
            <a:chOff x="0" y="0"/>
            <a:chExt cx="187617" cy="29734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87706" cy="297307"/>
            </a:xfrm>
            <a:custGeom>
              <a:avLst/>
              <a:gdLst/>
              <a:ahLst/>
              <a:cxnLst/>
              <a:rect r="r" b="b" t="t" l="l"/>
              <a:pathLst>
                <a:path h="297307" w="187706">
                  <a:moveTo>
                    <a:pt x="0" y="0"/>
                  </a:moveTo>
                  <a:lnTo>
                    <a:pt x="93853" y="0"/>
                  </a:lnTo>
                  <a:lnTo>
                    <a:pt x="187706" y="148717"/>
                  </a:lnTo>
                  <a:lnTo>
                    <a:pt x="93853" y="297307"/>
                  </a:lnTo>
                  <a:lnTo>
                    <a:pt x="0" y="297307"/>
                  </a:lnTo>
                  <a:lnTo>
                    <a:pt x="93853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3642103" y="2342113"/>
            <a:ext cx="2710177" cy="1109977"/>
            <a:chOff x="0" y="0"/>
            <a:chExt cx="3613569" cy="147996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613658" cy="1480058"/>
            </a:xfrm>
            <a:custGeom>
              <a:avLst/>
              <a:gdLst/>
              <a:ahLst/>
              <a:cxnLst/>
              <a:rect r="r" b="b" t="t" l="l"/>
              <a:pathLst>
                <a:path h="1480058" w="3613658">
                  <a:moveTo>
                    <a:pt x="0" y="74041"/>
                  </a:moveTo>
                  <a:cubicBezTo>
                    <a:pt x="0" y="33147"/>
                    <a:pt x="33147" y="0"/>
                    <a:pt x="74041" y="0"/>
                  </a:cubicBezTo>
                  <a:lnTo>
                    <a:pt x="3539617" y="0"/>
                  </a:lnTo>
                  <a:cubicBezTo>
                    <a:pt x="3580511" y="0"/>
                    <a:pt x="3613658" y="33147"/>
                    <a:pt x="3613658" y="74041"/>
                  </a:cubicBezTo>
                  <a:lnTo>
                    <a:pt x="3613658" y="1406017"/>
                  </a:lnTo>
                  <a:cubicBezTo>
                    <a:pt x="3613658" y="1446911"/>
                    <a:pt x="3580511" y="1480058"/>
                    <a:pt x="3539617" y="1480058"/>
                  </a:cubicBezTo>
                  <a:lnTo>
                    <a:pt x="74041" y="1480058"/>
                  </a:lnTo>
                  <a:cubicBezTo>
                    <a:pt x="33147" y="1480058"/>
                    <a:pt x="0" y="1446911"/>
                    <a:pt x="0" y="1406017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3703320" y="2385042"/>
            <a:ext cx="2587752" cy="570586"/>
            <a:chOff x="0" y="0"/>
            <a:chExt cx="3450336" cy="76078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450336" cy="760782"/>
            </a:xfrm>
            <a:custGeom>
              <a:avLst/>
              <a:gdLst/>
              <a:ahLst/>
              <a:cxnLst/>
              <a:rect r="r" b="b" t="t" l="l"/>
              <a:pathLst>
                <a:path h="760782" w="3450336">
                  <a:moveTo>
                    <a:pt x="0" y="0"/>
                  </a:moveTo>
                  <a:lnTo>
                    <a:pt x="3450336" y="0"/>
                  </a:lnTo>
                  <a:lnTo>
                    <a:pt x="3450336" y="760782"/>
                  </a:lnTo>
                  <a:lnTo>
                    <a:pt x="0" y="7607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369" r="0" b="-3836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3450336" cy="779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19"/>
                </a:lnSpc>
              </a:pPr>
              <a:r>
                <a:rPr lang="en-US" sz="13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Seller SKU delta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3703320" y="2878056"/>
            <a:ext cx="2587752" cy="4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Score every seller above ₹5 cr:</a:t>
            </a:r>
          </a:p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(median − seller price) ÷ median,</a:t>
            </a:r>
          </a:p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SKU by SKU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6376159" y="2785597"/>
            <a:ext cx="140713" cy="223009"/>
            <a:chOff x="0" y="0"/>
            <a:chExt cx="187617" cy="29734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7706" cy="297307"/>
            </a:xfrm>
            <a:custGeom>
              <a:avLst/>
              <a:gdLst/>
              <a:ahLst/>
              <a:cxnLst/>
              <a:rect r="r" b="b" t="t" l="l"/>
              <a:pathLst>
                <a:path h="297307" w="187706">
                  <a:moveTo>
                    <a:pt x="0" y="0"/>
                  </a:moveTo>
                  <a:lnTo>
                    <a:pt x="93853" y="0"/>
                  </a:lnTo>
                  <a:lnTo>
                    <a:pt x="187706" y="148717"/>
                  </a:lnTo>
                  <a:lnTo>
                    <a:pt x="93853" y="297307"/>
                  </a:lnTo>
                  <a:lnTo>
                    <a:pt x="0" y="297307"/>
                  </a:lnTo>
                  <a:lnTo>
                    <a:pt x="93853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6540751" y="2342113"/>
            <a:ext cx="2710177" cy="1109977"/>
            <a:chOff x="0" y="0"/>
            <a:chExt cx="3613569" cy="147996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613658" cy="1480058"/>
            </a:xfrm>
            <a:custGeom>
              <a:avLst/>
              <a:gdLst/>
              <a:ahLst/>
              <a:cxnLst/>
              <a:rect r="r" b="b" t="t" l="l"/>
              <a:pathLst>
                <a:path h="1480058" w="3613658">
                  <a:moveTo>
                    <a:pt x="0" y="74041"/>
                  </a:moveTo>
                  <a:cubicBezTo>
                    <a:pt x="0" y="33147"/>
                    <a:pt x="33147" y="0"/>
                    <a:pt x="74041" y="0"/>
                  </a:cubicBezTo>
                  <a:lnTo>
                    <a:pt x="3539617" y="0"/>
                  </a:lnTo>
                  <a:cubicBezTo>
                    <a:pt x="3580511" y="0"/>
                    <a:pt x="3613658" y="33147"/>
                    <a:pt x="3613658" y="74041"/>
                  </a:cubicBezTo>
                  <a:lnTo>
                    <a:pt x="3613658" y="1406017"/>
                  </a:lnTo>
                  <a:cubicBezTo>
                    <a:pt x="3613658" y="1446911"/>
                    <a:pt x="3580511" y="1480058"/>
                    <a:pt x="3539617" y="1480058"/>
                  </a:cubicBezTo>
                  <a:lnTo>
                    <a:pt x="74041" y="1480058"/>
                  </a:lnTo>
                  <a:cubicBezTo>
                    <a:pt x="33147" y="1480058"/>
                    <a:pt x="0" y="1446911"/>
                    <a:pt x="0" y="1406017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6601968" y="2385042"/>
            <a:ext cx="2587752" cy="570586"/>
            <a:chOff x="0" y="0"/>
            <a:chExt cx="3450336" cy="76078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450336" cy="760782"/>
            </a:xfrm>
            <a:custGeom>
              <a:avLst/>
              <a:gdLst/>
              <a:ahLst/>
              <a:cxnLst/>
              <a:rect r="r" b="b" t="t" l="l"/>
              <a:pathLst>
                <a:path h="760782" w="3450336">
                  <a:moveTo>
                    <a:pt x="0" y="0"/>
                  </a:moveTo>
                  <a:lnTo>
                    <a:pt x="3450336" y="0"/>
                  </a:lnTo>
                  <a:lnTo>
                    <a:pt x="3450336" y="760782"/>
                  </a:lnTo>
                  <a:lnTo>
                    <a:pt x="0" y="7607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369" r="0" b="-3836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3450336" cy="779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19"/>
                </a:lnSpc>
              </a:pPr>
              <a:r>
                <a:rPr lang="en-US" sz="13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Catalogue-level gate</a:t>
              </a:r>
            </a:p>
          </p:txBody>
        </p:sp>
      </p:grpSp>
      <p:sp>
        <p:nvSpPr>
          <p:cNvPr name="TextBox 97" id="97"/>
          <p:cNvSpPr txBox="true"/>
          <p:nvPr/>
        </p:nvSpPr>
        <p:spPr>
          <a:xfrm rot="0">
            <a:off x="6601968" y="2878056"/>
            <a:ext cx="2587752" cy="4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≥ 8% delta on ≥ 60% of live SKUs.</a:t>
            </a:r>
          </a:p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One loss-leader cannot buy</a:t>
            </a:r>
          </a:p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the badge</a:t>
            </a:r>
          </a:p>
        </p:txBody>
      </p:sp>
      <p:grpSp>
        <p:nvGrpSpPr>
          <p:cNvPr name="Group 98" id="98"/>
          <p:cNvGrpSpPr/>
          <p:nvPr/>
        </p:nvGrpSpPr>
        <p:grpSpPr>
          <a:xfrm rot="0">
            <a:off x="9274807" y="2785597"/>
            <a:ext cx="140713" cy="223009"/>
            <a:chOff x="0" y="0"/>
            <a:chExt cx="187617" cy="29734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87706" cy="297307"/>
            </a:xfrm>
            <a:custGeom>
              <a:avLst/>
              <a:gdLst/>
              <a:ahLst/>
              <a:cxnLst/>
              <a:rect r="r" b="b" t="t" l="l"/>
              <a:pathLst>
                <a:path h="297307" w="187706">
                  <a:moveTo>
                    <a:pt x="0" y="0"/>
                  </a:moveTo>
                  <a:lnTo>
                    <a:pt x="93853" y="0"/>
                  </a:lnTo>
                  <a:lnTo>
                    <a:pt x="187706" y="148717"/>
                  </a:lnTo>
                  <a:lnTo>
                    <a:pt x="93853" y="297307"/>
                  </a:lnTo>
                  <a:lnTo>
                    <a:pt x="0" y="297307"/>
                  </a:lnTo>
                  <a:lnTo>
                    <a:pt x="93853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9500616" y="2385042"/>
            <a:ext cx="2587752" cy="570586"/>
            <a:chOff x="0" y="0"/>
            <a:chExt cx="3450336" cy="76078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450336" cy="760782"/>
            </a:xfrm>
            <a:custGeom>
              <a:avLst/>
              <a:gdLst/>
              <a:ahLst/>
              <a:cxnLst/>
              <a:rect r="r" b="b" t="t" l="l"/>
              <a:pathLst>
                <a:path h="760782" w="3450336">
                  <a:moveTo>
                    <a:pt x="0" y="0"/>
                  </a:moveTo>
                  <a:lnTo>
                    <a:pt x="3450336" y="0"/>
                  </a:lnTo>
                  <a:lnTo>
                    <a:pt x="3450336" y="760782"/>
                  </a:lnTo>
                  <a:lnTo>
                    <a:pt x="0" y="7607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369" r="0" b="-3836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3450336" cy="779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19"/>
                </a:lnSpc>
              </a:pPr>
              <a:r>
                <a:rPr lang="en-US" sz="13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Badge + re-rank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9500616" y="2878056"/>
            <a:ext cx="2587752" cy="4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C2M badge and ranking</a:t>
            </a:r>
          </a:p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treatment. The feed is already</a:t>
            </a:r>
          </a:p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price-sorted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12173455" y="2785597"/>
            <a:ext cx="140713" cy="223009"/>
            <a:chOff x="0" y="0"/>
            <a:chExt cx="187617" cy="29734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87706" cy="297307"/>
            </a:xfrm>
            <a:custGeom>
              <a:avLst/>
              <a:gdLst/>
              <a:ahLst/>
              <a:cxnLst/>
              <a:rect r="r" b="b" t="t" l="l"/>
              <a:pathLst>
                <a:path h="297307" w="187706">
                  <a:moveTo>
                    <a:pt x="0" y="0"/>
                  </a:moveTo>
                  <a:lnTo>
                    <a:pt x="93853" y="0"/>
                  </a:lnTo>
                  <a:lnTo>
                    <a:pt x="187706" y="148717"/>
                  </a:lnTo>
                  <a:lnTo>
                    <a:pt x="93853" y="297307"/>
                  </a:lnTo>
                  <a:lnTo>
                    <a:pt x="0" y="297307"/>
                  </a:lnTo>
                  <a:lnTo>
                    <a:pt x="93853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338047" y="2342113"/>
            <a:ext cx="2710177" cy="1109977"/>
            <a:chOff x="0" y="0"/>
            <a:chExt cx="3613569" cy="147996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613658" cy="1480058"/>
            </a:xfrm>
            <a:custGeom>
              <a:avLst/>
              <a:gdLst/>
              <a:ahLst/>
              <a:cxnLst/>
              <a:rect r="r" b="b" t="t" l="l"/>
              <a:pathLst>
                <a:path h="1480058" w="3613658">
                  <a:moveTo>
                    <a:pt x="0" y="74041"/>
                  </a:moveTo>
                  <a:cubicBezTo>
                    <a:pt x="0" y="33147"/>
                    <a:pt x="33147" y="0"/>
                    <a:pt x="74041" y="0"/>
                  </a:cubicBezTo>
                  <a:lnTo>
                    <a:pt x="3539617" y="0"/>
                  </a:lnTo>
                  <a:cubicBezTo>
                    <a:pt x="3580511" y="0"/>
                    <a:pt x="3613658" y="33147"/>
                    <a:pt x="3613658" y="74041"/>
                  </a:cubicBezTo>
                  <a:lnTo>
                    <a:pt x="3613658" y="1406017"/>
                  </a:lnTo>
                  <a:cubicBezTo>
                    <a:pt x="3613658" y="1446911"/>
                    <a:pt x="3580511" y="1480058"/>
                    <a:pt x="3539617" y="1480058"/>
                  </a:cubicBezTo>
                  <a:lnTo>
                    <a:pt x="74041" y="1480058"/>
                  </a:lnTo>
                  <a:cubicBezTo>
                    <a:pt x="33147" y="1480058"/>
                    <a:pt x="0" y="1446911"/>
                    <a:pt x="0" y="1406017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12399264" y="2385042"/>
            <a:ext cx="2587752" cy="570586"/>
            <a:chOff x="0" y="0"/>
            <a:chExt cx="3450336" cy="76078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450336" cy="760782"/>
            </a:xfrm>
            <a:custGeom>
              <a:avLst/>
              <a:gdLst/>
              <a:ahLst/>
              <a:cxnLst/>
              <a:rect r="r" b="b" t="t" l="l"/>
              <a:pathLst>
                <a:path h="760782" w="3450336">
                  <a:moveTo>
                    <a:pt x="0" y="0"/>
                  </a:moveTo>
                  <a:lnTo>
                    <a:pt x="3450336" y="0"/>
                  </a:lnTo>
                  <a:lnTo>
                    <a:pt x="3450336" y="760782"/>
                  </a:lnTo>
                  <a:lnTo>
                    <a:pt x="0" y="7607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369" r="0" b="-38369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3450336" cy="779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19"/>
                </a:lnSpc>
              </a:pPr>
              <a:r>
                <a:rPr lang="en-US" sz="13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Matched control</a:t>
              </a:r>
            </a:p>
          </p:txBody>
        </p:sp>
      </p:grpSp>
      <p:sp>
        <p:nvSpPr>
          <p:cNvPr name="TextBox 111" id="111"/>
          <p:cNvSpPr txBox="true"/>
          <p:nvPr/>
        </p:nvSpPr>
        <p:spPr>
          <a:xfrm rot="0">
            <a:off x="12399264" y="2878056"/>
            <a:ext cx="2587752" cy="4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Hold back an unbadged cohort</a:t>
            </a:r>
          </a:p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at the same price band and</a:t>
            </a:r>
          </a:p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category mix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15072103" y="2785597"/>
            <a:ext cx="140713" cy="223009"/>
            <a:chOff x="0" y="0"/>
            <a:chExt cx="187617" cy="297345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87706" cy="297307"/>
            </a:xfrm>
            <a:custGeom>
              <a:avLst/>
              <a:gdLst/>
              <a:ahLst/>
              <a:cxnLst/>
              <a:rect r="r" b="b" t="t" l="l"/>
              <a:pathLst>
                <a:path h="297307" w="187706">
                  <a:moveTo>
                    <a:pt x="0" y="0"/>
                  </a:moveTo>
                  <a:lnTo>
                    <a:pt x="93853" y="0"/>
                  </a:lnTo>
                  <a:lnTo>
                    <a:pt x="187706" y="148717"/>
                  </a:lnTo>
                  <a:lnTo>
                    <a:pt x="93853" y="297307"/>
                  </a:lnTo>
                  <a:lnTo>
                    <a:pt x="0" y="297307"/>
                  </a:lnTo>
                  <a:lnTo>
                    <a:pt x="93853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5236695" y="2342113"/>
            <a:ext cx="2710177" cy="1109977"/>
            <a:chOff x="0" y="0"/>
            <a:chExt cx="3613569" cy="1479969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613658" cy="1480058"/>
            </a:xfrm>
            <a:custGeom>
              <a:avLst/>
              <a:gdLst/>
              <a:ahLst/>
              <a:cxnLst/>
              <a:rect r="r" b="b" t="t" l="l"/>
              <a:pathLst>
                <a:path h="1480058" w="3613658">
                  <a:moveTo>
                    <a:pt x="0" y="74041"/>
                  </a:moveTo>
                  <a:cubicBezTo>
                    <a:pt x="0" y="33147"/>
                    <a:pt x="33147" y="0"/>
                    <a:pt x="74041" y="0"/>
                  </a:cubicBezTo>
                  <a:lnTo>
                    <a:pt x="3539617" y="0"/>
                  </a:lnTo>
                  <a:cubicBezTo>
                    <a:pt x="3580511" y="0"/>
                    <a:pt x="3613658" y="33147"/>
                    <a:pt x="3613658" y="74041"/>
                  </a:cubicBezTo>
                  <a:lnTo>
                    <a:pt x="3613658" y="1406017"/>
                  </a:lnTo>
                  <a:cubicBezTo>
                    <a:pt x="3613658" y="1446911"/>
                    <a:pt x="3580511" y="1480058"/>
                    <a:pt x="3539617" y="1480058"/>
                  </a:cubicBezTo>
                  <a:lnTo>
                    <a:pt x="74041" y="1480058"/>
                  </a:lnTo>
                  <a:cubicBezTo>
                    <a:pt x="33147" y="1480058"/>
                    <a:pt x="0" y="1446911"/>
                    <a:pt x="0" y="1406017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15297912" y="2385042"/>
            <a:ext cx="2587752" cy="570586"/>
            <a:chOff x="0" y="0"/>
            <a:chExt cx="3450336" cy="76078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450336" cy="760782"/>
            </a:xfrm>
            <a:custGeom>
              <a:avLst/>
              <a:gdLst/>
              <a:ahLst/>
              <a:cxnLst/>
              <a:rect r="r" b="b" t="t" l="l"/>
              <a:pathLst>
                <a:path h="760782" w="3450336">
                  <a:moveTo>
                    <a:pt x="0" y="0"/>
                  </a:moveTo>
                  <a:lnTo>
                    <a:pt x="3450336" y="0"/>
                  </a:lnTo>
                  <a:lnTo>
                    <a:pt x="3450336" y="760782"/>
                  </a:lnTo>
                  <a:lnTo>
                    <a:pt x="0" y="7607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369" r="0" b="-38369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3450336" cy="779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19"/>
                </a:lnSpc>
              </a:pPr>
              <a:r>
                <a:rPr lang="en-US" sz="13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Read the lift</a:t>
              </a: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15297912" y="2878056"/>
            <a:ext cx="2587752" cy="4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NMV, conversion and delta</a:t>
            </a:r>
          </a:p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retention on badged vs control</a:t>
            </a:r>
          </a:p>
          <a:p>
            <a:pPr algn="ctr">
              <a:lnSpc>
                <a:spcPts val="1241"/>
              </a:lnSpc>
            </a:pPr>
            <a:r>
              <a:rPr lang="en-US" sz="11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at day 30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633727" y="3630464"/>
            <a:ext cx="4282945" cy="2774185"/>
            <a:chOff x="0" y="0"/>
            <a:chExt cx="5710593" cy="3698913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710555" cy="3698875"/>
            </a:xfrm>
            <a:custGeom>
              <a:avLst/>
              <a:gdLst/>
              <a:ahLst/>
              <a:cxnLst/>
              <a:rect r="r" b="b" t="t" l="l"/>
              <a:pathLst>
                <a:path h="3698875" w="5710555">
                  <a:moveTo>
                    <a:pt x="0" y="61214"/>
                  </a:moveTo>
                  <a:cubicBezTo>
                    <a:pt x="0" y="27432"/>
                    <a:pt x="27432" y="0"/>
                    <a:pt x="61214" y="0"/>
                  </a:cubicBezTo>
                  <a:lnTo>
                    <a:pt x="5649341" y="0"/>
                  </a:lnTo>
                  <a:cubicBezTo>
                    <a:pt x="5683123" y="0"/>
                    <a:pt x="5710555" y="27432"/>
                    <a:pt x="5710555" y="61214"/>
                  </a:cubicBezTo>
                  <a:lnTo>
                    <a:pt x="5710555" y="3637661"/>
                  </a:lnTo>
                  <a:cubicBezTo>
                    <a:pt x="5710555" y="3671443"/>
                    <a:pt x="5683123" y="3698875"/>
                    <a:pt x="5649341" y="3698875"/>
                  </a:cubicBezTo>
                  <a:lnTo>
                    <a:pt x="61214" y="3698875"/>
                  </a:lnTo>
                  <a:cubicBezTo>
                    <a:pt x="27432" y="3698875"/>
                    <a:pt x="0" y="3671443"/>
                    <a:pt x="0" y="3637661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633727" y="3630464"/>
            <a:ext cx="4282945" cy="334566"/>
            <a:chOff x="0" y="0"/>
            <a:chExt cx="5710593" cy="44608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710606" cy="446048"/>
            </a:xfrm>
            <a:custGeom>
              <a:avLst/>
              <a:gdLst/>
              <a:ahLst/>
              <a:cxnLst/>
              <a:rect r="r" b="b" t="t" l="l"/>
              <a:pathLst>
                <a:path h="446048" w="5710606">
                  <a:moveTo>
                    <a:pt x="37905" y="0"/>
                  </a:moveTo>
                  <a:lnTo>
                    <a:pt x="5672701" y="0"/>
                  </a:lnTo>
                  <a:cubicBezTo>
                    <a:pt x="5693635" y="0"/>
                    <a:pt x="5710606" y="16971"/>
                    <a:pt x="5710606" y="37905"/>
                  </a:cubicBezTo>
                  <a:lnTo>
                    <a:pt x="5710606" y="408143"/>
                  </a:lnTo>
                  <a:cubicBezTo>
                    <a:pt x="5710606" y="429078"/>
                    <a:pt x="5693635" y="446048"/>
                    <a:pt x="5672701" y="446048"/>
                  </a:cubicBezTo>
                  <a:lnTo>
                    <a:pt x="37905" y="446048"/>
                  </a:lnTo>
                  <a:cubicBezTo>
                    <a:pt x="16971" y="446048"/>
                    <a:pt x="0" y="429078"/>
                    <a:pt x="0" y="408143"/>
                  </a:cubicBezTo>
                  <a:lnTo>
                    <a:pt x="0" y="37905"/>
                  </a:lnTo>
                  <a:cubicBezTo>
                    <a:pt x="0" y="16971"/>
                    <a:pt x="16971" y="0"/>
                    <a:pt x="37905" y="0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758952" y="3642299"/>
            <a:ext cx="4032504" cy="310896"/>
            <a:chOff x="0" y="0"/>
            <a:chExt cx="5376672" cy="41452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376672" cy="414528"/>
            </a:xfrm>
            <a:custGeom>
              <a:avLst/>
              <a:gdLst/>
              <a:ahLst/>
              <a:cxnLst/>
              <a:rect r="r" b="b" t="t" l="l"/>
              <a:pathLst>
                <a:path h="414528" w="5376672">
                  <a:moveTo>
                    <a:pt x="0" y="0"/>
                  </a:moveTo>
                  <a:lnTo>
                    <a:pt x="5376672" y="0"/>
                  </a:lnTo>
                  <a:lnTo>
                    <a:pt x="5376672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2732" r="0" b="-202732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5376672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THIS LEVER</a:t>
              </a:r>
            </a:p>
          </p:txBody>
        </p:sp>
      </p:grpSp>
      <p:sp>
        <p:nvSpPr>
          <p:cNvPr name="TextBox 127" id="127"/>
          <p:cNvSpPr txBox="true"/>
          <p:nvPr/>
        </p:nvSpPr>
        <p:spPr>
          <a:xfrm rot="0">
            <a:off x="682242" y="4031704"/>
            <a:ext cx="4155891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 answers the brief's own diagnosis.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The case states scale does not reliably become a lower price. This measures the translation directly, on day one.</a:t>
            </a:r>
          </a:p>
          <a:p>
            <a:pPr algn="just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 is the gate everything depends on.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Nodes, batches and returns pooling are only worth building for manufacturers who convert cost ownership into shelf price.</a:t>
            </a:r>
          </a:p>
          <a:p>
            <a:pPr algn="just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moat it defends is gone otherwise.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0% commission is now matched by Amazon and Flipkart under ₹1,000. Cost structure is the only advantage a rate card cannot copy.</a:t>
            </a:r>
          </a:p>
          <a:p>
            <a:pPr algn="just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 is reversible.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A ranking rule switches off in an afternoon. A factory node does not.</a:t>
            </a:r>
          </a:p>
          <a:p>
            <a:pPr algn="just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Precedent is unanimous.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Pinduoduo, Shein, Temu and JD all built price discovery before they built warehouses.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5013703" y="3630464"/>
            <a:ext cx="4282945" cy="1982171"/>
            <a:chOff x="0" y="0"/>
            <a:chExt cx="5710593" cy="2642895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710555" cy="2642868"/>
            </a:xfrm>
            <a:custGeom>
              <a:avLst/>
              <a:gdLst/>
              <a:ahLst/>
              <a:cxnLst/>
              <a:rect r="r" b="b" t="t" l="l"/>
              <a:pathLst>
                <a:path h="2642868" w="5710555">
                  <a:moveTo>
                    <a:pt x="0" y="43738"/>
                  </a:moveTo>
                  <a:cubicBezTo>
                    <a:pt x="0" y="19600"/>
                    <a:pt x="27432" y="0"/>
                    <a:pt x="61214" y="0"/>
                  </a:cubicBezTo>
                  <a:lnTo>
                    <a:pt x="5649341" y="0"/>
                  </a:lnTo>
                  <a:cubicBezTo>
                    <a:pt x="5683123" y="0"/>
                    <a:pt x="5710555" y="19600"/>
                    <a:pt x="5710555" y="43738"/>
                  </a:cubicBezTo>
                  <a:lnTo>
                    <a:pt x="5710555" y="2599130"/>
                  </a:lnTo>
                  <a:cubicBezTo>
                    <a:pt x="5710555" y="2623267"/>
                    <a:pt x="5683123" y="2642868"/>
                    <a:pt x="5649341" y="2642868"/>
                  </a:cubicBezTo>
                  <a:lnTo>
                    <a:pt x="61214" y="2642868"/>
                  </a:lnTo>
                  <a:cubicBezTo>
                    <a:pt x="27432" y="2642868"/>
                    <a:pt x="0" y="2623267"/>
                    <a:pt x="0" y="25991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5013703" y="3630464"/>
            <a:ext cx="4282945" cy="334566"/>
            <a:chOff x="0" y="0"/>
            <a:chExt cx="5710593" cy="446087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710606" cy="446048"/>
            </a:xfrm>
            <a:custGeom>
              <a:avLst/>
              <a:gdLst/>
              <a:ahLst/>
              <a:cxnLst/>
              <a:rect r="r" b="b" t="t" l="l"/>
              <a:pathLst>
                <a:path h="446048" w="5710606">
                  <a:moveTo>
                    <a:pt x="37905" y="0"/>
                  </a:moveTo>
                  <a:lnTo>
                    <a:pt x="5672701" y="0"/>
                  </a:lnTo>
                  <a:cubicBezTo>
                    <a:pt x="5693635" y="0"/>
                    <a:pt x="5710606" y="16971"/>
                    <a:pt x="5710606" y="37905"/>
                  </a:cubicBezTo>
                  <a:lnTo>
                    <a:pt x="5710606" y="408143"/>
                  </a:lnTo>
                  <a:cubicBezTo>
                    <a:pt x="5710606" y="429078"/>
                    <a:pt x="5693635" y="446048"/>
                    <a:pt x="5672701" y="446048"/>
                  </a:cubicBezTo>
                  <a:lnTo>
                    <a:pt x="37905" y="446048"/>
                  </a:lnTo>
                  <a:cubicBezTo>
                    <a:pt x="16971" y="446048"/>
                    <a:pt x="0" y="429078"/>
                    <a:pt x="0" y="408143"/>
                  </a:cubicBezTo>
                  <a:lnTo>
                    <a:pt x="0" y="37905"/>
                  </a:lnTo>
                  <a:cubicBezTo>
                    <a:pt x="0" y="16971"/>
                    <a:pt x="16971" y="0"/>
                    <a:pt x="37905" y="0"/>
                  </a:cubicBezTo>
                  <a:close/>
                </a:path>
              </a:pathLst>
            </a:custGeom>
            <a:solidFill>
              <a:srgbClr val="6E1251"/>
            </a:solidFill>
            <a:ln w="12700" cap="sq">
              <a:solidFill>
                <a:srgbClr val="6E1251"/>
              </a:solidFill>
              <a:prstDash val="solid"/>
              <a:miter/>
            </a:ln>
          </p:spPr>
        </p:sp>
      </p:grpSp>
      <p:grpSp>
        <p:nvGrpSpPr>
          <p:cNvPr name="Group 132" id="132"/>
          <p:cNvGrpSpPr/>
          <p:nvPr/>
        </p:nvGrpSpPr>
        <p:grpSpPr>
          <a:xfrm rot="0">
            <a:off x="5138923" y="3642299"/>
            <a:ext cx="4032504" cy="310896"/>
            <a:chOff x="0" y="0"/>
            <a:chExt cx="5376672" cy="41452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376672" cy="414528"/>
            </a:xfrm>
            <a:custGeom>
              <a:avLst/>
              <a:gdLst/>
              <a:ahLst/>
              <a:cxnLst/>
              <a:rect r="r" b="b" t="t" l="l"/>
              <a:pathLst>
                <a:path h="414528" w="5376672">
                  <a:moveTo>
                    <a:pt x="0" y="0"/>
                  </a:moveTo>
                  <a:lnTo>
                    <a:pt x="5376672" y="0"/>
                  </a:lnTo>
                  <a:lnTo>
                    <a:pt x="5376672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2732" r="0" b="-202732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9525"/>
              <a:ext cx="5376672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IT COSTS</a:t>
              </a:r>
            </a:p>
          </p:txBody>
        </p:sp>
      </p:grpSp>
      <p:sp>
        <p:nvSpPr>
          <p:cNvPr name="TextBox 135" id="135"/>
          <p:cNvSpPr txBox="true"/>
          <p:nvPr/>
        </p:nvSpPr>
        <p:spPr>
          <a:xfrm rot="0">
            <a:off x="5129784" y="4010578"/>
            <a:ext cx="405079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capex.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No nodes, no logistics change, no headcount. One ranking rule and one dashboard.</a:t>
            </a:r>
          </a:p>
          <a:p>
            <a:pPr algn="l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subsidy.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Not a rupee of order funding. The badge changes rank, and the feed is already sorted on price.</a:t>
            </a:r>
          </a:p>
          <a:p>
            <a:pPr algn="l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already held.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Category landed-price medians and seller SKU prices both sit on the platform today. This is an analysis, not an integration.</a:t>
            </a:r>
          </a:p>
          <a:p>
            <a:pPr algn="l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promise to sellers.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Nothing is committed to any manufacturer before the delta is proven, so nothing has to be walked back.</a:t>
            </a:r>
          </a:p>
          <a:p>
            <a:pPr algn="l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org change.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Pricing owns the median engine, growth owns the badge. No new team, no new P&amp;L line.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9393679" y="3630464"/>
            <a:ext cx="4282945" cy="1982171"/>
            <a:chOff x="0" y="0"/>
            <a:chExt cx="5710593" cy="2642895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710555" cy="2642868"/>
            </a:xfrm>
            <a:custGeom>
              <a:avLst/>
              <a:gdLst/>
              <a:ahLst/>
              <a:cxnLst/>
              <a:rect r="r" b="b" t="t" l="l"/>
              <a:pathLst>
                <a:path h="2642868" w="5710555">
                  <a:moveTo>
                    <a:pt x="0" y="43738"/>
                  </a:moveTo>
                  <a:cubicBezTo>
                    <a:pt x="0" y="19600"/>
                    <a:pt x="27432" y="0"/>
                    <a:pt x="61214" y="0"/>
                  </a:cubicBezTo>
                  <a:lnTo>
                    <a:pt x="5649341" y="0"/>
                  </a:lnTo>
                  <a:cubicBezTo>
                    <a:pt x="5683123" y="0"/>
                    <a:pt x="5710555" y="19600"/>
                    <a:pt x="5710555" y="43738"/>
                  </a:cubicBezTo>
                  <a:lnTo>
                    <a:pt x="5710555" y="2599130"/>
                  </a:lnTo>
                  <a:cubicBezTo>
                    <a:pt x="5710555" y="2623267"/>
                    <a:pt x="5683123" y="2642868"/>
                    <a:pt x="5649341" y="2642868"/>
                  </a:cubicBezTo>
                  <a:lnTo>
                    <a:pt x="61214" y="2642868"/>
                  </a:lnTo>
                  <a:cubicBezTo>
                    <a:pt x="27432" y="2642868"/>
                    <a:pt x="0" y="2623267"/>
                    <a:pt x="0" y="25991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9393679" y="3630464"/>
            <a:ext cx="4282945" cy="334566"/>
            <a:chOff x="0" y="0"/>
            <a:chExt cx="5710593" cy="44608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710606" cy="446048"/>
            </a:xfrm>
            <a:custGeom>
              <a:avLst/>
              <a:gdLst/>
              <a:ahLst/>
              <a:cxnLst/>
              <a:rect r="r" b="b" t="t" l="l"/>
              <a:pathLst>
                <a:path h="446048" w="5710606">
                  <a:moveTo>
                    <a:pt x="37905" y="0"/>
                  </a:moveTo>
                  <a:lnTo>
                    <a:pt x="5672701" y="0"/>
                  </a:lnTo>
                  <a:cubicBezTo>
                    <a:pt x="5693635" y="0"/>
                    <a:pt x="5710606" y="16971"/>
                    <a:pt x="5710606" y="37905"/>
                  </a:cubicBezTo>
                  <a:lnTo>
                    <a:pt x="5710606" y="408143"/>
                  </a:lnTo>
                  <a:cubicBezTo>
                    <a:pt x="5710606" y="429078"/>
                    <a:pt x="5693635" y="446048"/>
                    <a:pt x="5672701" y="446048"/>
                  </a:cubicBezTo>
                  <a:lnTo>
                    <a:pt x="37905" y="446048"/>
                  </a:lnTo>
                  <a:cubicBezTo>
                    <a:pt x="16971" y="446048"/>
                    <a:pt x="0" y="429078"/>
                    <a:pt x="0" y="408143"/>
                  </a:cubicBezTo>
                  <a:lnTo>
                    <a:pt x="0" y="37905"/>
                  </a:lnTo>
                  <a:cubicBezTo>
                    <a:pt x="0" y="16971"/>
                    <a:pt x="16971" y="0"/>
                    <a:pt x="37905" y="0"/>
                  </a:cubicBezTo>
                  <a:close/>
                </a:path>
              </a:pathLst>
            </a:custGeom>
            <a:solidFill>
              <a:srgbClr val="8A245E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140" id="140"/>
          <p:cNvGrpSpPr/>
          <p:nvPr/>
        </p:nvGrpSpPr>
        <p:grpSpPr>
          <a:xfrm rot="0">
            <a:off x="9518904" y="3642299"/>
            <a:ext cx="4032504" cy="310896"/>
            <a:chOff x="0" y="0"/>
            <a:chExt cx="5376672" cy="41452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376672" cy="414528"/>
            </a:xfrm>
            <a:custGeom>
              <a:avLst/>
              <a:gdLst/>
              <a:ahLst/>
              <a:cxnLst/>
              <a:rect r="r" b="b" t="t" l="l"/>
              <a:pathLst>
                <a:path h="414528" w="5376672">
                  <a:moveTo>
                    <a:pt x="0" y="0"/>
                  </a:moveTo>
                  <a:lnTo>
                    <a:pt x="5376672" y="0"/>
                  </a:lnTo>
                  <a:lnTo>
                    <a:pt x="5376672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2732" r="0" b="-20273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9525"/>
              <a:ext cx="5376672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IT PROVES BY DAY 30</a:t>
              </a:r>
            </a:p>
          </p:txBody>
        </p:sp>
      </p:grpSp>
      <p:sp>
        <p:nvSpPr>
          <p:cNvPr name="TextBox 143" id="143"/>
          <p:cNvSpPr txBox="true"/>
          <p:nvPr/>
        </p:nvSpPr>
        <p:spPr>
          <a:xfrm rot="0">
            <a:off x="9523885" y="4010578"/>
            <a:ext cx="405079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ranked C2M-ready list.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The manufacturers already carrying a real advantage, sized and sorted: the acquisition list for days 31 to 90.</a:t>
            </a:r>
          </a:p>
          <a:p>
            <a:pPr algn="l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measured NMV lift.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The first honest read on what price rank alone is worth, before any capital is committed.</a:t>
            </a:r>
          </a:p>
          <a:p>
            <a:pPr algn="l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size of the gap.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How many large sellers have scale but no price delta. That number scopes everything downstream.</a:t>
            </a:r>
          </a:p>
          <a:p>
            <a:pPr algn="l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live health-score baseline.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Delta retention starts being tracked in week one, not after the first node opens.</a:t>
            </a:r>
          </a:p>
          <a:p>
            <a:pPr algn="l" marL="126682" indent="-63341" lvl="1">
              <a:lnSpc>
                <a:spcPts val="1260"/>
              </a:lnSpc>
              <a:buFont typeface="Arial"/>
              <a:buChar char="•"/>
            </a:pPr>
            <a:r>
              <a:rPr lang="en-US" b="true" sz="1050">
                <a:solidFill>
                  <a:srgbClr val="5605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defensible kill criterion.  </a:t>
            </a:r>
            <a:r>
              <a:rPr lang="en-US" sz="1050">
                <a:solidFill>
                  <a:srgbClr val="2B1226"/>
                </a:solidFill>
                <a:latin typeface="Calibri (MS)"/>
                <a:ea typeface="Calibri (MS)"/>
                <a:cs typeface="Calibri (MS)"/>
                <a:sym typeface="Calibri (MS)"/>
              </a:rPr>
              <a:t>If the delta decays inside 14 days the thesis is wrong, and we learn that for ₹0 rather than ₹22 cr.</a:t>
            </a:r>
          </a:p>
        </p:txBody>
      </p:sp>
      <p:grpSp>
        <p:nvGrpSpPr>
          <p:cNvPr name="Group 144" id="144"/>
          <p:cNvGrpSpPr/>
          <p:nvPr/>
        </p:nvGrpSpPr>
        <p:grpSpPr>
          <a:xfrm rot="0">
            <a:off x="13773655" y="3630464"/>
            <a:ext cx="4282945" cy="2774185"/>
            <a:chOff x="0" y="0"/>
            <a:chExt cx="5710593" cy="3698913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710555" cy="3698875"/>
            </a:xfrm>
            <a:custGeom>
              <a:avLst/>
              <a:gdLst/>
              <a:ahLst/>
              <a:cxnLst/>
              <a:rect r="r" b="b" t="t" l="l"/>
              <a:pathLst>
                <a:path h="3698875" w="5710555">
                  <a:moveTo>
                    <a:pt x="0" y="61214"/>
                  </a:moveTo>
                  <a:cubicBezTo>
                    <a:pt x="0" y="27432"/>
                    <a:pt x="27432" y="0"/>
                    <a:pt x="61214" y="0"/>
                  </a:cubicBezTo>
                  <a:lnTo>
                    <a:pt x="5649341" y="0"/>
                  </a:lnTo>
                  <a:cubicBezTo>
                    <a:pt x="5683123" y="0"/>
                    <a:pt x="5710555" y="27432"/>
                    <a:pt x="5710555" y="61214"/>
                  </a:cubicBezTo>
                  <a:lnTo>
                    <a:pt x="5710555" y="3637661"/>
                  </a:lnTo>
                  <a:cubicBezTo>
                    <a:pt x="5710555" y="3671443"/>
                    <a:pt x="5683123" y="3698875"/>
                    <a:pt x="5649341" y="3698875"/>
                  </a:cubicBezTo>
                  <a:lnTo>
                    <a:pt x="61214" y="3698875"/>
                  </a:lnTo>
                  <a:cubicBezTo>
                    <a:pt x="27432" y="3698875"/>
                    <a:pt x="0" y="3671443"/>
                    <a:pt x="0" y="3637661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46" id="146"/>
          <p:cNvGrpSpPr/>
          <p:nvPr/>
        </p:nvGrpSpPr>
        <p:grpSpPr>
          <a:xfrm rot="0">
            <a:off x="13773655" y="3630464"/>
            <a:ext cx="4282945" cy="334566"/>
            <a:chOff x="0" y="0"/>
            <a:chExt cx="5710593" cy="446087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710606" cy="446048"/>
            </a:xfrm>
            <a:custGeom>
              <a:avLst/>
              <a:gdLst/>
              <a:ahLst/>
              <a:cxnLst/>
              <a:rect r="r" b="b" t="t" l="l"/>
              <a:pathLst>
                <a:path h="446048" w="5710606">
                  <a:moveTo>
                    <a:pt x="37905" y="0"/>
                  </a:moveTo>
                  <a:lnTo>
                    <a:pt x="5672701" y="0"/>
                  </a:lnTo>
                  <a:cubicBezTo>
                    <a:pt x="5693635" y="0"/>
                    <a:pt x="5710606" y="16971"/>
                    <a:pt x="5710606" y="37905"/>
                  </a:cubicBezTo>
                  <a:lnTo>
                    <a:pt x="5710606" y="408143"/>
                  </a:lnTo>
                  <a:cubicBezTo>
                    <a:pt x="5710606" y="429078"/>
                    <a:pt x="5693635" y="446048"/>
                    <a:pt x="5672701" y="446048"/>
                  </a:cubicBezTo>
                  <a:lnTo>
                    <a:pt x="37905" y="446048"/>
                  </a:lnTo>
                  <a:cubicBezTo>
                    <a:pt x="16971" y="446048"/>
                    <a:pt x="0" y="429078"/>
                    <a:pt x="0" y="408143"/>
                  </a:cubicBezTo>
                  <a:lnTo>
                    <a:pt x="0" y="37905"/>
                  </a:lnTo>
                  <a:cubicBezTo>
                    <a:pt x="0" y="16971"/>
                    <a:pt x="16971" y="0"/>
                    <a:pt x="37905" y="0"/>
                  </a:cubicBezTo>
                  <a:close/>
                </a:path>
              </a:pathLst>
            </a:custGeom>
            <a:solidFill>
              <a:srgbClr val="8A245E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148" id="148"/>
          <p:cNvGrpSpPr/>
          <p:nvPr/>
        </p:nvGrpSpPr>
        <p:grpSpPr>
          <a:xfrm rot="0">
            <a:off x="13898880" y="3642299"/>
            <a:ext cx="1914419" cy="310896"/>
            <a:chOff x="0" y="0"/>
            <a:chExt cx="2552558" cy="41452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552559" cy="414528"/>
            </a:xfrm>
            <a:custGeom>
              <a:avLst/>
              <a:gdLst/>
              <a:ahLst/>
              <a:cxnLst/>
              <a:rect r="r" b="b" t="t" l="l"/>
              <a:pathLst>
                <a:path h="414528" w="2552559">
                  <a:moveTo>
                    <a:pt x="0" y="0"/>
                  </a:moveTo>
                  <a:lnTo>
                    <a:pt x="2552559" y="0"/>
                  </a:lnTo>
                  <a:lnTo>
                    <a:pt x="255255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2732" r="-110638" b="-202732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9525"/>
              <a:ext cx="2552558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Experiment Design</a:t>
              </a:r>
            </a:p>
          </p:txBody>
        </p:sp>
      </p:grpSp>
      <p:graphicFrame>
        <p:nvGraphicFramePr>
          <p:cNvPr name="Table 151" id="151"/>
          <p:cNvGraphicFramePr>
            <a:graphicFrameLocks noGrp="true"/>
          </p:cNvGraphicFramePr>
          <p:nvPr/>
        </p:nvGraphicFramePr>
        <p:xfrm>
          <a:off x="13889736" y="4039153"/>
          <a:ext cx="4038600" cy="2194983"/>
        </p:xfrm>
        <a:graphic>
          <a:graphicData uri="http://schemas.openxmlformats.org/drawingml/2006/table">
            <a:tbl>
              <a:tblPr/>
              <a:tblGrid>
                <a:gridCol w="1301293"/>
                <a:gridCol w="2737307"/>
              </a:tblGrid>
              <a:tr h="2157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Parameter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9"/>
                        </a:lnSpc>
                        <a:defRPr/>
                      </a:pPr>
                      <a:r>
                        <a:rPr lang="en-US" sz="9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Setting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</a:tr>
              <a:tr h="2157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Unit of analysis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Seller catalogue, not SKU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57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Population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Sellers above ₹5 cr in 9 screened categories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57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Treatment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C2M badge + ranking treatment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57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Control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Matched on category, price band, RTO rate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57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Primary metric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NMV per live SKU, badged vs control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57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Secondary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Conversion, delta retention at D14 and D30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57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Duration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28 days, weekly re-score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7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Guardrail metric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60"/>
                        </a:lnSpc>
                        <a:defRPr/>
                      </a:pPr>
                      <a:r>
                        <a:rPr lang="en-US" sz="1050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Category NMV, so we measure the category, not the seller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52" id="152"/>
          <p:cNvGrpSpPr/>
          <p:nvPr/>
        </p:nvGrpSpPr>
        <p:grpSpPr>
          <a:xfrm rot="0">
            <a:off x="633727" y="6585624"/>
            <a:ext cx="7356188" cy="2896704"/>
            <a:chOff x="0" y="0"/>
            <a:chExt cx="9832472" cy="387181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9832560" cy="3871899"/>
            </a:xfrm>
            <a:custGeom>
              <a:avLst/>
              <a:gdLst/>
              <a:ahLst/>
              <a:cxnLst/>
              <a:rect r="r" b="b" t="t" l="l"/>
              <a:pathLst>
                <a:path h="3871899" w="9832560">
                  <a:moveTo>
                    <a:pt x="0" y="74525"/>
                  </a:moveTo>
                  <a:cubicBezTo>
                    <a:pt x="0" y="33328"/>
                    <a:pt x="41633" y="0"/>
                    <a:pt x="93095" y="0"/>
                  </a:cubicBezTo>
                  <a:lnTo>
                    <a:pt x="9739512" y="0"/>
                  </a:lnTo>
                  <a:cubicBezTo>
                    <a:pt x="9790974" y="0"/>
                    <a:pt x="9832560" y="33328"/>
                    <a:pt x="9832560" y="74525"/>
                  </a:cubicBezTo>
                  <a:lnTo>
                    <a:pt x="9832560" y="3797393"/>
                  </a:lnTo>
                  <a:cubicBezTo>
                    <a:pt x="9832560" y="3838591"/>
                    <a:pt x="9790974" y="3871899"/>
                    <a:pt x="9739512" y="3871899"/>
                  </a:cubicBezTo>
                  <a:lnTo>
                    <a:pt x="93095" y="3871899"/>
                  </a:lnTo>
                  <a:cubicBezTo>
                    <a:pt x="41633" y="3871899"/>
                    <a:pt x="0" y="3838591"/>
                    <a:pt x="0" y="3797393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54" id="154"/>
          <p:cNvGrpSpPr/>
          <p:nvPr/>
        </p:nvGrpSpPr>
        <p:grpSpPr>
          <a:xfrm rot="0">
            <a:off x="633727" y="6499899"/>
            <a:ext cx="7356188" cy="333741"/>
            <a:chOff x="0" y="0"/>
            <a:chExt cx="9832472" cy="446087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9832484" cy="446048"/>
            </a:xfrm>
            <a:custGeom>
              <a:avLst/>
              <a:gdLst/>
              <a:ahLst/>
              <a:cxnLst/>
              <a:rect r="r" b="b" t="t" l="l"/>
              <a:pathLst>
                <a:path h="446048" w="9832484">
                  <a:moveTo>
                    <a:pt x="38077" y="0"/>
                  </a:moveTo>
                  <a:lnTo>
                    <a:pt x="9794408" y="0"/>
                  </a:lnTo>
                  <a:cubicBezTo>
                    <a:pt x="9804506" y="0"/>
                    <a:pt x="9814191" y="4012"/>
                    <a:pt x="9821332" y="11152"/>
                  </a:cubicBezTo>
                  <a:cubicBezTo>
                    <a:pt x="9828473" y="18293"/>
                    <a:pt x="9832484" y="27978"/>
                    <a:pt x="9832484" y="38077"/>
                  </a:cubicBezTo>
                  <a:lnTo>
                    <a:pt x="9832484" y="407972"/>
                  </a:lnTo>
                  <a:cubicBezTo>
                    <a:pt x="9832484" y="418070"/>
                    <a:pt x="9828473" y="427755"/>
                    <a:pt x="9821332" y="434896"/>
                  </a:cubicBezTo>
                  <a:cubicBezTo>
                    <a:pt x="9814191" y="442036"/>
                    <a:pt x="9804506" y="446048"/>
                    <a:pt x="9794408" y="446048"/>
                  </a:cubicBezTo>
                  <a:lnTo>
                    <a:pt x="38077" y="446048"/>
                  </a:lnTo>
                  <a:cubicBezTo>
                    <a:pt x="27978" y="446048"/>
                    <a:pt x="18293" y="442036"/>
                    <a:pt x="11152" y="434896"/>
                  </a:cubicBezTo>
                  <a:cubicBezTo>
                    <a:pt x="4012" y="427755"/>
                    <a:pt x="0" y="418070"/>
                    <a:pt x="0" y="407972"/>
                  </a:cubicBezTo>
                  <a:lnTo>
                    <a:pt x="0" y="38077"/>
                  </a:lnTo>
                  <a:cubicBezTo>
                    <a:pt x="0" y="27978"/>
                    <a:pt x="4012" y="18293"/>
                    <a:pt x="11152" y="11152"/>
                  </a:cubicBezTo>
                  <a:cubicBezTo>
                    <a:pt x="18293" y="4012"/>
                    <a:pt x="27978" y="0"/>
                    <a:pt x="38077" y="0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156" id="156"/>
          <p:cNvGrpSpPr/>
          <p:nvPr/>
        </p:nvGrpSpPr>
        <p:grpSpPr>
          <a:xfrm rot="0">
            <a:off x="758644" y="6517182"/>
            <a:ext cx="7105629" cy="310130"/>
            <a:chOff x="0" y="0"/>
            <a:chExt cx="9497568" cy="414528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9497568" cy="414528"/>
            </a:xfrm>
            <a:custGeom>
              <a:avLst/>
              <a:gdLst/>
              <a:ahLst/>
              <a:cxnLst/>
              <a:rect r="r" b="b" t="t" l="l"/>
              <a:pathLst>
                <a:path h="414528" w="9497568">
                  <a:moveTo>
                    <a:pt x="0" y="0"/>
                  </a:moveTo>
                  <a:lnTo>
                    <a:pt x="9497568" y="0"/>
                  </a:lnTo>
                  <a:lnTo>
                    <a:pt x="9497568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436" r="0" b="-396436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9525"/>
              <a:ext cx="9497568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4-Week Run Plan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743185" y="7114482"/>
            <a:ext cx="1674267" cy="1232454"/>
            <a:chOff x="0" y="0"/>
            <a:chExt cx="2232825" cy="1643617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232787" cy="1643545"/>
            </a:xfrm>
            <a:custGeom>
              <a:avLst/>
              <a:gdLst/>
              <a:ahLst/>
              <a:cxnLst/>
              <a:rect r="r" b="b" t="t" l="l"/>
              <a:pathLst>
                <a:path h="1643545" w="2232787">
                  <a:moveTo>
                    <a:pt x="0" y="140779"/>
                  </a:moveTo>
                  <a:cubicBezTo>
                    <a:pt x="0" y="63075"/>
                    <a:pt x="33401" y="0"/>
                    <a:pt x="74549" y="0"/>
                  </a:cubicBezTo>
                  <a:lnTo>
                    <a:pt x="2158238" y="0"/>
                  </a:lnTo>
                  <a:cubicBezTo>
                    <a:pt x="2199386" y="0"/>
                    <a:pt x="2232787" y="63075"/>
                    <a:pt x="2232787" y="140779"/>
                  </a:cubicBezTo>
                  <a:lnTo>
                    <a:pt x="2232787" y="1502766"/>
                  </a:lnTo>
                  <a:cubicBezTo>
                    <a:pt x="2232787" y="1580470"/>
                    <a:pt x="2199386" y="1643545"/>
                    <a:pt x="2158238" y="1643545"/>
                  </a:cubicBezTo>
                  <a:lnTo>
                    <a:pt x="74549" y="1643545"/>
                  </a:lnTo>
                  <a:cubicBezTo>
                    <a:pt x="33401" y="1643545"/>
                    <a:pt x="0" y="1580470"/>
                    <a:pt x="0" y="1502766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161" id="161"/>
          <p:cNvGrpSpPr/>
          <p:nvPr/>
        </p:nvGrpSpPr>
        <p:grpSpPr>
          <a:xfrm rot="0">
            <a:off x="804389" y="7157402"/>
            <a:ext cx="1551868" cy="332772"/>
            <a:chOff x="0" y="0"/>
            <a:chExt cx="2069592" cy="44378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069592" cy="443789"/>
            </a:xfrm>
            <a:custGeom>
              <a:avLst/>
              <a:gdLst/>
              <a:ahLst/>
              <a:cxnLst/>
              <a:rect r="r" b="b" t="t" l="l"/>
              <a:pathLst>
                <a:path h="443789" w="2069592">
                  <a:moveTo>
                    <a:pt x="38108" y="0"/>
                  </a:moveTo>
                  <a:lnTo>
                    <a:pt x="2031484" y="0"/>
                  </a:lnTo>
                  <a:cubicBezTo>
                    <a:pt x="2052531" y="0"/>
                    <a:pt x="2069592" y="17062"/>
                    <a:pt x="2069592" y="38108"/>
                  </a:cubicBezTo>
                  <a:lnTo>
                    <a:pt x="2069592" y="405681"/>
                  </a:lnTo>
                  <a:cubicBezTo>
                    <a:pt x="2069592" y="415788"/>
                    <a:pt x="2065577" y="425481"/>
                    <a:pt x="2058431" y="432628"/>
                  </a:cubicBezTo>
                  <a:cubicBezTo>
                    <a:pt x="2051284" y="439774"/>
                    <a:pt x="2041591" y="443789"/>
                    <a:pt x="2031484" y="443789"/>
                  </a:cubicBezTo>
                  <a:lnTo>
                    <a:pt x="38108" y="443789"/>
                  </a:lnTo>
                  <a:cubicBezTo>
                    <a:pt x="17062" y="443789"/>
                    <a:pt x="0" y="426728"/>
                    <a:pt x="0" y="405681"/>
                  </a:cubicBezTo>
                  <a:lnTo>
                    <a:pt x="0" y="38108"/>
                  </a:lnTo>
                  <a:cubicBezTo>
                    <a:pt x="0" y="28001"/>
                    <a:pt x="4015" y="18308"/>
                    <a:pt x="11162" y="11162"/>
                  </a:cubicBezTo>
                  <a:cubicBezTo>
                    <a:pt x="18308" y="4015"/>
                    <a:pt x="28001" y="0"/>
                    <a:pt x="38108" y="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867" r="0" b="-40867"/>
              </a:stretch>
            </a:blipFill>
            <a:ln w="9525" cap="sq">
              <a:solidFill>
                <a:srgbClr val="5A0F48"/>
              </a:solidFill>
              <a:prstDash val="solid"/>
              <a:miter/>
            </a:ln>
          </p:spPr>
        </p:sp>
        <p:sp>
          <p:nvSpPr>
            <p:cNvPr name="TextBox 163" id="163"/>
            <p:cNvSpPr txBox="true"/>
            <p:nvPr/>
          </p:nvSpPr>
          <p:spPr>
            <a:xfrm>
              <a:off x="0" y="-9525"/>
              <a:ext cx="2069592" cy="453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39"/>
                </a:lnSpc>
              </a:pPr>
              <a:r>
                <a:rPr lang="en-US" sz="14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Week 1</a:t>
              </a:r>
            </a:p>
          </p:txBody>
        </p:sp>
      </p:grpSp>
      <p:sp>
        <p:nvSpPr>
          <p:cNvPr name="TextBox 164" id="164"/>
          <p:cNvSpPr txBox="true"/>
          <p:nvPr/>
        </p:nvSpPr>
        <p:spPr>
          <a:xfrm rot="0">
            <a:off x="788847" y="7623524"/>
            <a:ext cx="1551868" cy="35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Compute landed-price</a:t>
            </a:r>
          </a:p>
          <a:p>
            <a:pPr algn="ctr">
              <a:lnSpc>
                <a:spcPts val="134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medians, 9 categories</a:t>
            </a:r>
          </a:p>
        </p:txBody>
      </p:sp>
      <p:grpSp>
        <p:nvGrpSpPr>
          <p:cNvPr name="Group 165" id="165"/>
          <p:cNvGrpSpPr/>
          <p:nvPr/>
        </p:nvGrpSpPr>
        <p:grpSpPr>
          <a:xfrm rot="0">
            <a:off x="2437498" y="7328836"/>
            <a:ext cx="103880" cy="222459"/>
            <a:chOff x="0" y="0"/>
            <a:chExt cx="138849" cy="297345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38938" cy="297307"/>
            </a:xfrm>
            <a:custGeom>
              <a:avLst/>
              <a:gdLst/>
              <a:ahLst/>
              <a:cxnLst/>
              <a:rect r="r" b="b" t="t" l="l"/>
              <a:pathLst>
                <a:path h="297307" w="138938">
                  <a:moveTo>
                    <a:pt x="0" y="0"/>
                  </a:moveTo>
                  <a:lnTo>
                    <a:pt x="69469" y="0"/>
                  </a:lnTo>
                  <a:lnTo>
                    <a:pt x="138938" y="148717"/>
                  </a:lnTo>
                  <a:lnTo>
                    <a:pt x="69469" y="297307"/>
                  </a:lnTo>
                  <a:lnTo>
                    <a:pt x="0" y="297307"/>
                  </a:lnTo>
                  <a:lnTo>
                    <a:pt x="69469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67" id="167"/>
          <p:cNvGrpSpPr/>
          <p:nvPr/>
        </p:nvGrpSpPr>
        <p:grpSpPr>
          <a:xfrm rot="0">
            <a:off x="2569315" y="7114482"/>
            <a:ext cx="1674267" cy="1232454"/>
            <a:chOff x="0" y="0"/>
            <a:chExt cx="2232825" cy="1643617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232787" cy="1643545"/>
            </a:xfrm>
            <a:custGeom>
              <a:avLst/>
              <a:gdLst/>
              <a:ahLst/>
              <a:cxnLst/>
              <a:rect r="r" b="b" t="t" l="l"/>
              <a:pathLst>
                <a:path h="1643545" w="2232787">
                  <a:moveTo>
                    <a:pt x="0" y="140779"/>
                  </a:moveTo>
                  <a:cubicBezTo>
                    <a:pt x="0" y="63075"/>
                    <a:pt x="33401" y="0"/>
                    <a:pt x="74549" y="0"/>
                  </a:cubicBezTo>
                  <a:lnTo>
                    <a:pt x="2158238" y="0"/>
                  </a:lnTo>
                  <a:cubicBezTo>
                    <a:pt x="2199386" y="0"/>
                    <a:pt x="2232787" y="63075"/>
                    <a:pt x="2232787" y="140779"/>
                  </a:cubicBezTo>
                  <a:lnTo>
                    <a:pt x="2232787" y="1502766"/>
                  </a:lnTo>
                  <a:cubicBezTo>
                    <a:pt x="2232787" y="1580470"/>
                    <a:pt x="2199386" y="1643545"/>
                    <a:pt x="2158238" y="1643545"/>
                  </a:cubicBezTo>
                  <a:lnTo>
                    <a:pt x="74549" y="1643545"/>
                  </a:lnTo>
                  <a:cubicBezTo>
                    <a:pt x="33401" y="1643545"/>
                    <a:pt x="0" y="1580470"/>
                    <a:pt x="0" y="1502766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169" id="169"/>
          <p:cNvGrpSpPr/>
          <p:nvPr/>
        </p:nvGrpSpPr>
        <p:grpSpPr>
          <a:xfrm rot="0">
            <a:off x="2630520" y="7157402"/>
            <a:ext cx="1551868" cy="332772"/>
            <a:chOff x="0" y="0"/>
            <a:chExt cx="2069592" cy="443789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069592" cy="443789"/>
            </a:xfrm>
            <a:custGeom>
              <a:avLst/>
              <a:gdLst/>
              <a:ahLst/>
              <a:cxnLst/>
              <a:rect r="r" b="b" t="t" l="l"/>
              <a:pathLst>
                <a:path h="443789" w="2069592">
                  <a:moveTo>
                    <a:pt x="38108" y="0"/>
                  </a:moveTo>
                  <a:lnTo>
                    <a:pt x="2031484" y="0"/>
                  </a:lnTo>
                  <a:cubicBezTo>
                    <a:pt x="2052531" y="0"/>
                    <a:pt x="2069592" y="17062"/>
                    <a:pt x="2069592" y="38108"/>
                  </a:cubicBezTo>
                  <a:lnTo>
                    <a:pt x="2069592" y="405681"/>
                  </a:lnTo>
                  <a:cubicBezTo>
                    <a:pt x="2069592" y="415788"/>
                    <a:pt x="2065577" y="425481"/>
                    <a:pt x="2058431" y="432628"/>
                  </a:cubicBezTo>
                  <a:cubicBezTo>
                    <a:pt x="2051284" y="439774"/>
                    <a:pt x="2041591" y="443789"/>
                    <a:pt x="2031484" y="443789"/>
                  </a:cubicBezTo>
                  <a:lnTo>
                    <a:pt x="38108" y="443789"/>
                  </a:lnTo>
                  <a:cubicBezTo>
                    <a:pt x="17062" y="443789"/>
                    <a:pt x="0" y="426728"/>
                    <a:pt x="0" y="405681"/>
                  </a:cubicBezTo>
                  <a:lnTo>
                    <a:pt x="0" y="38108"/>
                  </a:lnTo>
                  <a:cubicBezTo>
                    <a:pt x="0" y="28001"/>
                    <a:pt x="4015" y="18308"/>
                    <a:pt x="11162" y="11162"/>
                  </a:cubicBezTo>
                  <a:cubicBezTo>
                    <a:pt x="18308" y="4015"/>
                    <a:pt x="28001" y="0"/>
                    <a:pt x="38108" y="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867" r="0" b="-40867"/>
              </a:stretch>
            </a:blipFill>
            <a:ln w="9525" cap="sq">
              <a:solidFill>
                <a:srgbClr val="5A0F48"/>
              </a:solidFill>
              <a:prstDash val="solid"/>
              <a:miter/>
            </a:ln>
          </p:spPr>
        </p:sp>
        <p:sp>
          <p:nvSpPr>
            <p:cNvPr name="TextBox 171" id="171"/>
            <p:cNvSpPr txBox="true"/>
            <p:nvPr/>
          </p:nvSpPr>
          <p:spPr>
            <a:xfrm>
              <a:off x="0" y="-9525"/>
              <a:ext cx="2069592" cy="453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39"/>
                </a:lnSpc>
              </a:pPr>
              <a:r>
                <a:rPr lang="en-US" sz="14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Week 2</a:t>
              </a:r>
            </a:p>
          </p:txBody>
        </p:sp>
      </p:grpSp>
      <p:sp>
        <p:nvSpPr>
          <p:cNvPr name="TextBox 172" id="172"/>
          <p:cNvSpPr txBox="true"/>
          <p:nvPr/>
        </p:nvSpPr>
        <p:spPr>
          <a:xfrm rot="0">
            <a:off x="2634028" y="7623524"/>
            <a:ext cx="1551868" cy="35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Score every seller</a:t>
            </a:r>
          </a:p>
          <a:p>
            <a:pPr algn="ctr">
              <a:lnSpc>
                <a:spcPts val="134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above ₹5 cr</a:t>
            </a:r>
          </a:p>
        </p:txBody>
      </p:sp>
      <p:grpSp>
        <p:nvGrpSpPr>
          <p:cNvPr name="Group 173" id="173"/>
          <p:cNvGrpSpPr/>
          <p:nvPr/>
        </p:nvGrpSpPr>
        <p:grpSpPr>
          <a:xfrm rot="0">
            <a:off x="4259513" y="7677907"/>
            <a:ext cx="103880" cy="222459"/>
            <a:chOff x="0" y="0"/>
            <a:chExt cx="138849" cy="297345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38938" cy="297307"/>
            </a:xfrm>
            <a:custGeom>
              <a:avLst/>
              <a:gdLst/>
              <a:ahLst/>
              <a:cxnLst/>
              <a:rect r="r" b="b" t="t" l="l"/>
              <a:pathLst>
                <a:path h="297307" w="138938">
                  <a:moveTo>
                    <a:pt x="0" y="0"/>
                  </a:moveTo>
                  <a:lnTo>
                    <a:pt x="69469" y="0"/>
                  </a:lnTo>
                  <a:lnTo>
                    <a:pt x="138938" y="148717"/>
                  </a:lnTo>
                  <a:lnTo>
                    <a:pt x="69469" y="297307"/>
                  </a:lnTo>
                  <a:lnTo>
                    <a:pt x="0" y="297307"/>
                  </a:lnTo>
                  <a:lnTo>
                    <a:pt x="69469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75" id="175"/>
          <p:cNvGrpSpPr/>
          <p:nvPr/>
        </p:nvGrpSpPr>
        <p:grpSpPr>
          <a:xfrm rot="0">
            <a:off x="4395446" y="7114482"/>
            <a:ext cx="1674267" cy="1232454"/>
            <a:chOff x="0" y="0"/>
            <a:chExt cx="2232825" cy="1643617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232787" cy="1643545"/>
            </a:xfrm>
            <a:custGeom>
              <a:avLst/>
              <a:gdLst/>
              <a:ahLst/>
              <a:cxnLst/>
              <a:rect r="r" b="b" t="t" l="l"/>
              <a:pathLst>
                <a:path h="1643545" w="2232787">
                  <a:moveTo>
                    <a:pt x="0" y="140779"/>
                  </a:moveTo>
                  <a:cubicBezTo>
                    <a:pt x="0" y="63075"/>
                    <a:pt x="33401" y="0"/>
                    <a:pt x="74549" y="0"/>
                  </a:cubicBezTo>
                  <a:lnTo>
                    <a:pt x="2158238" y="0"/>
                  </a:lnTo>
                  <a:cubicBezTo>
                    <a:pt x="2199386" y="0"/>
                    <a:pt x="2232787" y="63075"/>
                    <a:pt x="2232787" y="140779"/>
                  </a:cubicBezTo>
                  <a:lnTo>
                    <a:pt x="2232787" y="1502766"/>
                  </a:lnTo>
                  <a:cubicBezTo>
                    <a:pt x="2232787" y="1580470"/>
                    <a:pt x="2199386" y="1643545"/>
                    <a:pt x="2158238" y="1643545"/>
                  </a:cubicBezTo>
                  <a:lnTo>
                    <a:pt x="74549" y="1643545"/>
                  </a:lnTo>
                  <a:cubicBezTo>
                    <a:pt x="33401" y="1643545"/>
                    <a:pt x="0" y="1580470"/>
                    <a:pt x="0" y="1502766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177" id="177"/>
          <p:cNvGrpSpPr/>
          <p:nvPr/>
        </p:nvGrpSpPr>
        <p:grpSpPr>
          <a:xfrm rot="0">
            <a:off x="4456650" y="7157402"/>
            <a:ext cx="1551868" cy="332772"/>
            <a:chOff x="0" y="0"/>
            <a:chExt cx="2069592" cy="443789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069592" cy="443789"/>
            </a:xfrm>
            <a:custGeom>
              <a:avLst/>
              <a:gdLst/>
              <a:ahLst/>
              <a:cxnLst/>
              <a:rect r="r" b="b" t="t" l="l"/>
              <a:pathLst>
                <a:path h="443789" w="2069592">
                  <a:moveTo>
                    <a:pt x="38108" y="0"/>
                  </a:moveTo>
                  <a:lnTo>
                    <a:pt x="2031484" y="0"/>
                  </a:lnTo>
                  <a:cubicBezTo>
                    <a:pt x="2052531" y="0"/>
                    <a:pt x="2069592" y="17062"/>
                    <a:pt x="2069592" y="38108"/>
                  </a:cubicBezTo>
                  <a:lnTo>
                    <a:pt x="2069592" y="405681"/>
                  </a:lnTo>
                  <a:cubicBezTo>
                    <a:pt x="2069592" y="415788"/>
                    <a:pt x="2065577" y="425481"/>
                    <a:pt x="2058431" y="432628"/>
                  </a:cubicBezTo>
                  <a:cubicBezTo>
                    <a:pt x="2051284" y="439774"/>
                    <a:pt x="2041591" y="443789"/>
                    <a:pt x="2031484" y="443789"/>
                  </a:cubicBezTo>
                  <a:lnTo>
                    <a:pt x="38108" y="443789"/>
                  </a:lnTo>
                  <a:cubicBezTo>
                    <a:pt x="17062" y="443789"/>
                    <a:pt x="0" y="426728"/>
                    <a:pt x="0" y="405681"/>
                  </a:cubicBezTo>
                  <a:lnTo>
                    <a:pt x="0" y="38108"/>
                  </a:lnTo>
                  <a:cubicBezTo>
                    <a:pt x="0" y="28001"/>
                    <a:pt x="4015" y="18308"/>
                    <a:pt x="11162" y="11162"/>
                  </a:cubicBezTo>
                  <a:cubicBezTo>
                    <a:pt x="18308" y="4015"/>
                    <a:pt x="28001" y="0"/>
                    <a:pt x="38108" y="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867" r="0" b="-40867"/>
              </a:stretch>
            </a:blipFill>
            <a:ln w="9525" cap="sq">
              <a:solidFill>
                <a:srgbClr val="5A0F48"/>
              </a:solidFill>
              <a:prstDash val="solid"/>
              <a:miter/>
            </a:ln>
          </p:spPr>
        </p:sp>
        <p:sp>
          <p:nvSpPr>
            <p:cNvPr name="TextBox 179" id="179"/>
            <p:cNvSpPr txBox="true"/>
            <p:nvPr/>
          </p:nvSpPr>
          <p:spPr>
            <a:xfrm>
              <a:off x="0" y="-9525"/>
              <a:ext cx="2069592" cy="453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39"/>
                </a:lnSpc>
              </a:pPr>
              <a:r>
                <a:rPr lang="en-US" sz="14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Week 3</a:t>
              </a:r>
            </a:p>
          </p:txBody>
        </p:sp>
      </p:grpSp>
      <p:sp>
        <p:nvSpPr>
          <p:cNvPr name="TextBox 180" id="180"/>
          <p:cNvSpPr txBox="true"/>
          <p:nvPr/>
        </p:nvSpPr>
        <p:spPr>
          <a:xfrm rot="0">
            <a:off x="4481708" y="7623524"/>
            <a:ext cx="1551868" cy="35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Badge, re-rank,</a:t>
            </a:r>
          </a:p>
          <a:p>
            <a:pPr algn="ctr">
              <a:lnSpc>
                <a:spcPts val="1349"/>
              </a:lnSpc>
            </a:pPr>
            <a:r>
              <a:rPr lang="en-US" sz="1249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hold the control group</a:t>
            </a:r>
          </a:p>
        </p:txBody>
      </p:sp>
      <p:grpSp>
        <p:nvGrpSpPr>
          <p:cNvPr name="Group 181" id="181"/>
          <p:cNvGrpSpPr/>
          <p:nvPr/>
        </p:nvGrpSpPr>
        <p:grpSpPr>
          <a:xfrm rot="0">
            <a:off x="6093705" y="7677907"/>
            <a:ext cx="103880" cy="222459"/>
            <a:chOff x="0" y="0"/>
            <a:chExt cx="138849" cy="297345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138938" cy="297307"/>
            </a:xfrm>
            <a:custGeom>
              <a:avLst/>
              <a:gdLst/>
              <a:ahLst/>
              <a:cxnLst/>
              <a:rect r="r" b="b" t="t" l="l"/>
              <a:pathLst>
                <a:path h="297307" w="138938">
                  <a:moveTo>
                    <a:pt x="0" y="0"/>
                  </a:moveTo>
                  <a:lnTo>
                    <a:pt x="69469" y="0"/>
                  </a:lnTo>
                  <a:lnTo>
                    <a:pt x="138938" y="148717"/>
                  </a:lnTo>
                  <a:lnTo>
                    <a:pt x="69469" y="297307"/>
                  </a:lnTo>
                  <a:lnTo>
                    <a:pt x="0" y="297307"/>
                  </a:lnTo>
                  <a:lnTo>
                    <a:pt x="69469" y="148717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183" id="183"/>
          <p:cNvGrpSpPr/>
          <p:nvPr/>
        </p:nvGrpSpPr>
        <p:grpSpPr>
          <a:xfrm rot="0">
            <a:off x="6221577" y="7114482"/>
            <a:ext cx="1674267" cy="1232454"/>
            <a:chOff x="0" y="0"/>
            <a:chExt cx="2232825" cy="164361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232787" cy="1643545"/>
            </a:xfrm>
            <a:custGeom>
              <a:avLst/>
              <a:gdLst/>
              <a:ahLst/>
              <a:cxnLst/>
              <a:rect r="r" b="b" t="t" l="l"/>
              <a:pathLst>
                <a:path h="1643545" w="2232787">
                  <a:moveTo>
                    <a:pt x="0" y="140779"/>
                  </a:moveTo>
                  <a:cubicBezTo>
                    <a:pt x="0" y="63075"/>
                    <a:pt x="33401" y="0"/>
                    <a:pt x="74549" y="0"/>
                  </a:cubicBezTo>
                  <a:lnTo>
                    <a:pt x="2158238" y="0"/>
                  </a:lnTo>
                  <a:cubicBezTo>
                    <a:pt x="2199386" y="0"/>
                    <a:pt x="2232787" y="63075"/>
                    <a:pt x="2232787" y="140779"/>
                  </a:cubicBezTo>
                  <a:lnTo>
                    <a:pt x="2232787" y="1502766"/>
                  </a:lnTo>
                  <a:cubicBezTo>
                    <a:pt x="2232787" y="1580470"/>
                    <a:pt x="2199386" y="1643545"/>
                    <a:pt x="2158238" y="1643545"/>
                  </a:cubicBezTo>
                  <a:lnTo>
                    <a:pt x="74549" y="1643545"/>
                  </a:lnTo>
                  <a:cubicBezTo>
                    <a:pt x="33401" y="1643545"/>
                    <a:pt x="0" y="1580470"/>
                    <a:pt x="0" y="1502766"/>
                  </a:cubicBezTo>
                  <a:close/>
                </a:path>
              </a:pathLst>
            </a:custGeom>
            <a:solidFill>
              <a:srgbClr val="FBF1F7"/>
            </a:solidFill>
            <a:ln w="12700" cap="sq">
              <a:solidFill>
                <a:srgbClr val="5A0F48"/>
              </a:solidFill>
              <a:prstDash val="solid"/>
              <a:miter/>
            </a:ln>
          </p:spPr>
        </p:sp>
      </p:grpSp>
      <p:grpSp>
        <p:nvGrpSpPr>
          <p:cNvPr name="Group 185" id="185"/>
          <p:cNvGrpSpPr/>
          <p:nvPr/>
        </p:nvGrpSpPr>
        <p:grpSpPr>
          <a:xfrm rot="0">
            <a:off x="6282781" y="7157402"/>
            <a:ext cx="1551868" cy="332772"/>
            <a:chOff x="0" y="0"/>
            <a:chExt cx="2069592" cy="443789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069592" cy="443789"/>
            </a:xfrm>
            <a:custGeom>
              <a:avLst/>
              <a:gdLst/>
              <a:ahLst/>
              <a:cxnLst/>
              <a:rect r="r" b="b" t="t" l="l"/>
              <a:pathLst>
                <a:path h="443789" w="2069592">
                  <a:moveTo>
                    <a:pt x="38108" y="0"/>
                  </a:moveTo>
                  <a:lnTo>
                    <a:pt x="2031484" y="0"/>
                  </a:lnTo>
                  <a:cubicBezTo>
                    <a:pt x="2052531" y="0"/>
                    <a:pt x="2069592" y="17062"/>
                    <a:pt x="2069592" y="38108"/>
                  </a:cubicBezTo>
                  <a:lnTo>
                    <a:pt x="2069592" y="405681"/>
                  </a:lnTo>
                  <a:cubicBezTo>
                    <a:pt x="2069592" y="415788"/>
                    <a:pt x="2065577" y="425481"/>
                    <a:pt x="2058431" y="432628"/>
                  </a:cubicBezTo>
                  <a:cubicBezTo>
                    <a:pt x="2051284" y="439774"/>
                    <a:pt x="2041591" y="443789"/>
                    <a:pt x="2031484" y="443789"/>
                  </a:cubicBezTo>
                  <a:lnTo>
                    <a:pt x="38108" y="443789"/>
                  </a:lnTo>
                  <a:cubicBezTo>
                    <a:pt x="17062" y="443789"/>
                    <a:pt x="0" y="426728"/>
                    <a:pt x="0" y="405681"/>
                  </a:cubicBezTo>
                  <a:lnTo>
                    <a:pt x="0" y="38108"/>
                  </a:lnTo>
                  <a:cubicBezTo>
                    <a:pt x="0" y="28001"/>
                    <a:pt x="4015" y="18308"/>
                    <a:pt x="11162" y="11162"/>
                  </a:cubicBezTo>
                  <a:cubicBezTo>
                    <a:pt x="18308" y="4015"/>
                    <a:pt x="28001" y="0"/>
                    <a:pt x="38108" y="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867" r="0" b="-40867"/>
              </a:stretch>
            </a:blipFill>
            <a:ln w="9525" cap="sq">
              <a:solidFill>
                <a:srgbClr val="5A0F48"/>
              </a:solidFill>
              <a:prstDash val="solid"/>
              <a:miter/>
            </a:ln>
          </p:spPr>
        </p:sp>
        <p:sp>
          <p:nvSpPr>
            <p:cNvPr name="TextBox 187" id="187"/>
            <p:cNvSpPr txBox="true"/>
            <p:nvPr/>
          </p:nvSpPr>
          <p:spPr>
            <a:xfrm>
              <a:off x="0" y="-9525"/>
              <a:ext cx="2069592" cy="453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39"/>
                </a:lnSpc>
              </a:pPr>
              <a:r>
                <a:rPr lang="en-US" sz="1449" b="true">
                  <a:solidFill>
                    <a:srgbClr val="56054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Week 4</a:t>
              </a:r>
            </a:p>
          </p:txBody>
        </p:sp>
      </p:grpSp>
      <p:sp>
        <p:nvSpPr>
          <p:cNvPr name="TextBox 188" id="188"/>
          <p:cNvSpPr txBox="true"/>
          <p:nvPr/>
        </p:nvSpPr>
        <p:spPr>
          <a:xfrm rot="0">
            <a:off x="6291072" y="7632424"/>
            <a:ext cx="151158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250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Read the lift, publish</a:t>
            </a:r>
          </a:p>
          <a:p>
            <a:pPr algn="ctr">
              <a:lnSpc>
                <a:spcPts val="1350"/>
              </a:lnSpc>
            </a:pPr>
            <a:r>
              <a:rPr lang="en-US" sz="1250">
                <a:solidFill>
                  <a:srgbClr val="7A6470"/>
                </a:solidFill>
                <a:latin typeface="Calibri (MS)"/>
                <a:ea typeface="Calibri (MS)"/>
                <a:cs typeface="Calibri (MS)"/>
                <a:sym typeface="Calibri (MS)"/>
              </a:rPr>
              <a:t>the list, brief 2 clusters</a:t>
            </a:r>
          </a:p>
        </p:txBody>
      </p:sp>
      <p:graphicFrame>
        <p:nvGraphicFramePr>
          <p:cNvPr name="Table 189" id="189"/>
          <p:cNvGraphicFramePr>
            <a:graphicFrameLocks noGrp="true"/>
          </p:cNvGraphicFramePr>
          <p:nvPr/>
        </p:nvGraphicFramePr>
        <p:xfrm>
          <a:off x="769792" y="8464880"/>
          <a:ext cx="7094480" cy="913378"/>
        </p:xfrm>
        <a:graphic>
          <a:graphicData uri="http://schemas.openxmlformats.org/drawingml/2006/table">
            <a:tbl>
              <a:tblPr/>
              <a:tblGrid>
                <a:gridCol w="1052338"/>
                <a:gridCol w="2355589"/>
                <a:gridCol w="1996072"/>
                <a:gridCol w="1690482"/>
              </a:tblGrid>
              <a:tr h="3080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7"/>
                        </a:lnSpc>
                        <a:defRPr/>
                      </a:pPr>
                      <a:r>
                        <a:rPr lang="en-US" sz="997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Owner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7"/>
                        </a:lnSpc>
                        <a:defRPr/>
                      </a:pPr>
                      <a:r>
                        <a:rPr lang="en-US" sz="997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Pricing / data science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7"/>
                        </a:lnSpc>
                        <a:defRPr/>
                      </a:pPr>
                      <a:r>
                        <a:rPr lang="en-US" sz="997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Growth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7"/>
                        </a:lnSpc>
                        <a:defRPr/>
                      </a:pPr>
                      <a:r>
                        <a:rPr lang="en-US" sz="997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Category / cluster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</a:tr>
              <a:tr h="6053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Deliverable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Median engine + delta scorer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Badge, ranking rule, control split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C2M-ready list, association briefs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90" id="190"/>
          <p:cNvGrpSpPr/>
          <p:nvPr/>
        </p:nvGrpSpPr>
        <p:grpSpPr>
          <a:xfrm rot="0">
            <a:off x="8104215" y="6499899"/>
            <a:ext cx="4847047" cy="2982429"/>
            <a:chOff x="0" y="0"/>
            <a:chExt cx="6478689" cy="3986393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6478778" cy="3986482"/>
            </a:xfrm>
            <a:custGeom>
              <a:avLst/>
              <a:gdLst/>
              <a:ahLst/>
              <a:cxnLst/>
              <a:rect r="r" b="b" t="t" l="l"/>
              <a:pathLst>
                <a:path h="3986482" w="6478778">
                  <a:moveTo>
                    <a:pt x="0" y="76731"/>
                  </a:moveTo>
                  <a:cubicBezTo>
                    <a:pt x="0" y="34314"/>
                    <a:pt x="27432" y="0"/>
                    <a:pt x="61341" y="0"/>
                  </a:cubicBezTo>
                  <a:lnTo>
                    <a:pt x="6417437" y="0"/>
                  </a:lnTo>
                  <a:cubicBezTo>
                    <a:pt x="6451346" y="0"/>
                    <a:pt x="6478778" y="34314"/>
                    <a:pt x="6478778" y="76731"/>
                  </a:cubicBezTo>
                  <a:lnTo>
                    <a:pt x="6478778" y="3909773"/>
                  </a:lnTo>
                  <a:cubicBezTo>
                    <a:pt x="6478778" y="3952189"/>
                    <a:pt x="6451346" y="3986482"/>
                    <a:pt x="6417437" y="3986482"/>
                  </a:cubicBezTo>
                  <a:lnTo>
                    <a:pt x="61341" y="3986482"/>
                  </a:lnTo>
                  <a:cubicBezTo>
                    <a:pt x="27432" y="3986482"/>
                    <a:pt x="0" y="3952189"/>
                    <a:pt x="0" y="3909773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192" id="192"/>
          <p:cNvGrpSpPr/>
          <p:nvPr/>
        </p:nvGrpSpPr>
        <p:grpSpPr>
          <a:xfrm rot="0">
            <a:off x="8104215" y="6499899"/>
            <a:ext cx="4847047" cy="333741"/>
            <a:chOff x="0" y="0"/>
            <a:chExt cx="6478689" cy="44608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6478701" cy="446048"/>
            </a:xfrm>
            <a:custGeom>
              <a:avLst/>
              <a:gdLst/>
              <a:ahLst/>
              <a:cxnLst/>
              <a:rect r="r" b="b" t="t" l="l"/>
              <a:pathLst>
                <a:path h="446048" w="6478701">
                  <a:moveTo>
                    <a:pt x="38022" y="0"/>
                  </a:moveTo>
                  <a:lnTo>
                    <a:pt x="6440680" y="0"/>
                  </a:lnTo>
                  <a:cubicBezTo>
                    <a:pt x="6461678" y="0"/>
                    <a:pt x="6478701" y="17023"/>
                    <a:pt x="6478701" y="38022"/>
                  </a:cubicBezTo>
                  <a:lnTo>
                    <a:pt x="6478701" y="408027"/>
                  </a:lnTo>
                  <a:cubicBezTo>
                    <a:pt x="6478701" y="429025"/>
                    <a:pt x="6461678" y="446048"/>
                    <a:pt x="6440680" y="446048"/>
                  </a:cubicBezTo>
                  <a:lnTo>
                    <a:pt x="38022" y="446048"/>
                  </a:lnTo>
                  <a:cubicBezTo>
                    <a:pt x="17023" y="446048"/>
                    <a:pt x="0" y="429025"/>
                    <a:pt x="0" y="408027"/>
                  </a:cubicBezTo>
                  <a:lnTo>
                    <a:pt x="0" y="38022"/>
                  </a:lnTo>
                  <a:cubicBezTo>
                    <a:pt x="0" y="17023"/>
                    <a:pt x="17023" y="0"/>
                    <a:pt x="38022" y="0"/>
                  </a:cubicBezTo>
                  <a:close/>
                </a:path>
              </a:pathLst>
            </a:custGeom>
            <a:solidFill>
              <a:srgbClr val="6E1251"/>
            </a:solidFill>
            <a:ln w="12700" cap="sq">
              <a:solidFill>
                <a:srgbClr val="6E1251"/>
              </a:solidFill>
              <a:prstDash val="solid"/>
              <a:miter/>
            </a:ln>
          </p:spPr>
        </p:sp>
      </p:grpSp>
      <p:grpSp>
        <p:nvGrpSpPr>
          <p:cNvPr name="Group 194" id="194"/>
          <p:cNvGrpSpPr/>
          <p:nvPr/>
        </p:nvGrpSpPr>
        <p:grpSpPr>
          <a:xfrm rot="0">
            <a:off x="8229131" y="6517182"/>
            <a:ext cx="4597223" cy="310130"/>
            <a:chOff x="0" y="0"/>
            <a:chExt cx="6144768" cy="41452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6144768" cy="414528"/>
            </a:xfrm>
            <a:custGeom>
              <a:avLst/>
              <a:gdLst/>
              <a:ahLst/>
              <a:cxnLst/>
              <a:rect r="r" b="b" t="t" l="l"/>
              <a:pathLst>
                <a:path h="414528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837" r="0" b="-238837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9525"/>
              <a:ext cx="6144768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Decision Rule at Day 30</a:t>
              </a:r>
            </a:p>
          </p:txBody>
        </p:sp>
      </p:grpSp>
      <p:graphicFrame>
        <p:nvGraphicFramePr>
          <p:cNvPr name="Table 197" id="197"/>
          <p:cNvGraphicFramePr>
            <a:graphicFrameLocks noGrp="true"/>
          </p:cNvGraphicFramePr>
          <p:nvPr/>
        </p:nvGraphicFramePr>
        <p:xfrm>
          <a:off x="8220010" y="6907581"/>
          <a:ext cx="4598743" cy="2476129"/>
        </p:xfrm>
        <a:graphic>
          <a:graphicData uri="http://schemas.openxmlformats.org/drawingml/2006/table">
            <a:tbl>
              <a:tblPr/>
              <a:tblGrid>
                <a:gridCol w="1725162"/>
                <a:gridCol w="2873581"/>
              </a:tblGrid>
              <a:tr h="3851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7"/>
                        </a:lnSpc>
                        <a:defRPr/>
                      </a:pPr>
                      <a:r>
                        <a:rPr lang="en-US" sz="997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Read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7"/>
                        </a:lnSpc>
                        <a:defRPr/>
                      </a:pPr>
                      <a:r>
                        <a:rPr lang="en-US" sz="997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Then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</a:tr>
              <a:tr h="7209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Badged cohort NMV/SKU beats control by ≥ 12%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 b="true">
                          <a:solidFill>
                            <a:srgbClr val="1B7F4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Fund clusters and nodes. Move to days 31-90 in full.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09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Lift is positive but under 12%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Tighten the gate to 10% delta and re-run for 28 days before committing capex.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0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No lift, or delta decays inside 14 days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Stop. The advantage was a promotion, and no amount of infrastructure fixes that.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98" id="198"/>
          <p:cNvGrpSpPr/>
          <p:nvPr/>
        </p:nvGrpSpPr>
        <p:grpSpPr>
          <a:xfrm rot="0">
            <a:off x="13066297" y="6499899"/>
            <a:ext cx="4990303" cy="2982429"/>
            <a:chOff x="0" y="0"/>
            <a:chExt cx="6670169" cy="3986393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6670258" cy="3986482"/>
            </a:xfrm>
            <a:custGeom>
              <a:avLst/>
              <a:gdLst/>
              <a:ahLst/>
              <a:cxnLst/>
              <a:rect r="r" b="b" t="t" l="l"/>
              <a:pathLst>
                <a:path h="3986482" w="6670258">
                  <a:moveTo>
                    <a:pt x="0" y="76731"/>
                  </a:moveTo>
                  <a:cubicBezTo>
                    <a:pt x="0" y="34314"/>
                    <a:pt x="27670" y="0"/>
                    <a:pt x="61873" y="0"/>
                  </a:cubicBezTo>
                  <a:lnTo>
                    <a:pt x="6608385" y="0"/>
                  </a:lnTo>
                  <a:cubicBezTo>
                    <a:pt x="6642588" y="0"/>
                    <a:pt x="6670258" y="34314"/>
                    <a:pt x="6670258" y="76731"/>
                  </a:cubicBezTo>
                  <a:lnTo>
                    <a:pt x="6670258" y="3909773"/>
                  </a:lnTo>
                  <a:cubicBezTo>
                    <a:pt x="6670258" y="3952189"/>
                    <a:pt x="6642588" y="3986482"/>
                    <a:pt x="6608385" y="3986482"/>
                  </a:cubicBezTo>
                  <a:lnTo>
                    <a:pt x="61873" y="3986482"/>
                  </a:lnTo>
                  <a:cubicBezTo>
                    <a:pt x="27670" y="3986482"/>
                    <a:pt x="0" y="3952189"/>
                    <a:pt x="0" y="3909773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200" id="200"/>
          <p:cNvGrpSpPr/>
          <p:nvPr/>
        </p:nvGrpSpPr>
        <p:grpSpPr>
          <a:xfrm rot="0">
            <a:off x="13066297" y="6499899"/>
            <a:ext cx="4990303" cy="333741"/>
            <a:chOff x="0" y="0"/>
            <a:chExt cx="6670169" cy="446087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6670181" cy="446048"/>
            </a:xfrm>
            <a:custGeom>
              <a:avLst/>
              <a:gdLst/>
              <a:ahLst/>
              <a:cxnLst/>
              <a:rect r="r" b="b" t="t" l="l"/>
              <a:pathLst>
                <a:path h="446048" w="6670181">
                  <a:moveTo>
                    <a:pt x="37698" y="0"/>
                  </a:moveTo>
                  <a:lnTo>
                    <a:pt x="6632484" y="0"/>
                  </a:lnTo>
                  <a:cubicBezTo>
                    <a:pt x="6642481" y="0"/>
                    <a:pt x="6652070" y="3972"/>
                    <a:pt x="6659140" y="11042"/>
                  </a:cubicBezTo>
                  <a:cubicBezTo>
                    <a:pt x="6666209" y="18111"/>
                    <a:pt x="6670181" y="27700"/>
                    <a:pt x="6670181" y="37698"/>
                  </a:cubicBezTo>
                  <a:lnTo>
                    <a:pt x="6670181" y="408350"/>
                  </a:lnTo>
                  <a:cubicBezTo>
                    <a:pt x="6670181" y="418348"/>
                    <a:pt x="6666209" y="427937"/>
                    <a:pt x="6659140" y="435007"/>
                  </a:cubicBezTo>
                  <a:cubicBezTo>
                    <a:pt x="6652070" y="442076"/>
                    <a:pt x="6642481" y="446048"/>
                    <a:pt x="6632484" y="446048"/>
                  </a:cubicBezTo>
                  <a:lnTo>
                    <a:pt x="37698" y="446048"/>
                  </a:lnTo>
                  <a:cubicBezTo>
                    <a:pt x="27700" y="446048"/>
                    <a:pt x="18111" y="442076"/>
                    <a:pt x="11042" y="435007"/>
                  </a:cubicBezTo>
                  <a:cubicBezTo>
                    <a:pt x="3972" y="427937"/>
                    <a:pt x="0" y="418348"/>
                    <a:pt x="0" y="408350"/>
                  </a:cubicBezTo>
                  <a:lnTo>
                    <a:pt x="0" y="37698"/>
                  </a:lnTo>
                  <a:cubicBezTo>
                    <a:pt x="0" y="27700"/>
                    <a:pt x="3972" y="18111"/>
                    <a:pt x="11042" y="11042"/>
                  </a:cubicBezTo>
                  <a:cubicBezTo>
                    <a:pt x="18111" y="3972"/>
                    <a:pt x="27700" y="0"/>
                    <a:pt x="37698" y="0"/>
                  </a:cubicBezTo>
                  <a:close/>
                </a:path>
              </a:pathLst>
            </a:custGeom>
            <a:solidFill>
              <a:srgbClr val="8A245E"/>
            </a:solidFill>
            <a:ln w="12700" cap="sq">
              <a:solidFill>
                <a:srgbClr val="8A245E"/>
              </a:solidFill>
              <a:prstDash val="solid"/>
              <a:miter/>
            </a:ln>
          </p:spPr>
        </p:sp>
      </p:grpSp>
      <p:grpSp>
        <p:nvGrpSpPr>
          <p:cNvPr name="Group 202" id="202"/>
          <p:cNvGrpSpPr/>
          <p:nvPr/>
        </p:nvGrpSpPr>
        <p:grpSpPr>
          <a:xfrm rot="0">
            <a:off x="13191213" y="6517182"/>
            <a:ext cx="4697559" cy="310130"/>
            <a:chOff x="0" y="0"/>
            <a:chExt cx="6278880" cy="414528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6278880" cy="414528"/>
            </a:xfrm>
            <a:custGeom>
              <a:avLst/>
              <a:gdLst/>
              <a:ahLst/>
              <a:cxnLst/>
              <a:rect r="r" b="b" t="t" l="l"/>
              <a:pathLst>
                <a:path h="414528" w="6278880">
                  <a:moveTo>
                    <a:pt x="0" y="0"/>
                  </a:moveTo>
                  <a:lnTo>
                    <a:pt x="6278880" y="0"/>
                  </a:lnTo>
                  <a:lnTo>
                    <a:pt x="627888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141" r="0" b="-245141"/>
              </a:stretch>
            </a:blipFill>
          </p:spPr>
        </p:sp>
        <p:sp>
          <p:nvSpPr>
            <p:cNvPr name="TextBox 204" id="204"/>
            <p:cNvSpPr txBox="true"/>
            <p:nvPr/>
          </p:nvSpPr>
          <p:spPr>
            <a:xfrm>
              <a:off x="0" y="-19050"/>
              <a:ext cx="6278880" cy="433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Risks in the First 30 Days</a:t>
              </a:r>
            </a:p>
          </p:txBody>
        </p:sp>
      </p:grpSp>
      <p:graphicFrame>
        <p:nvGraphicFramePr>
          <p:cNvPr name="Table 205" id="205"/>
          <p:cNvGraphicFramePr>
            <a:graphicFrameLocks noGrp="true"/>
          </p:cNvGraphicFramePr>
          <p:nvPr/>
        </p:nvGraphicFramePr>
        <p:xfrm>
          <a:off x="13163558" y="6907581"/>
          <a:ext cx="4752870" cy="2476129"/>
        </p:xfrm>
        <a:graphic>
          <a:graphicData uri="http://schemas.openxmlformats.org/drawingml/2006/table">
            <a:tbl>
              <a:tblPr/>
              <a:tblGrid>
                <a:gridCol w="1803779"/>
                <a:gridCol w="2949091"/>
              </a:tblGrid>
              <a:tr h="3986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7"/>
                        </a:lnSpc>
                        <a:defRPr/>
                      </a:pPr>
                      <a:r>
                        <a:rPr lang="en-US" sz="997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Risk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97"/>
                        </a:lnSpc>
                        <a:defRPr/>
                      </a:pPr>
                      <a:r>
                        <a:rPr lang="en-US" sz="997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Guardrail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251"/>
                    </a:solidFill>
                  </a:tcPr>
                </a:tc>
              </a:tr>
              <a:tr h="6030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Loss-leader SKU games the gate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Catalogue-level test: ≥ 60% of live SKUs must clear it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0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Re-rank hurts existing reseller sellers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Badged listings capped at 20% of category impressions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Median is distorted by outliers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Trimmed median on delivered orders, not list price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96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 b="true">
                          <a:solidFill>
                            <a:srgbClr val="2B122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Quality falls with the price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56"/>
                        </a:lnSpc>
                        <a:defRPr/>
                      </a:pPr>
                      <a:r>
                        <a:rPr lang="en-US" sz="1047">
                          <a:solidFill>
                            <a:srgbClr val="2B12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Quality-reason return rate is a badge revocation trigger</a:t>
                      </a:r>
                      <a:endParaRPr lang="en-US" sz="1100"/>
                    </a:p>
                  </a:txBody>
                  <a:tcPr marL="45607" marR="45607" marT="45607" marB="45607" anchor="ctr">
                    <a:lnL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02">
                      <a:solidFill>
                        <a:srgbClr val="E0C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06" id="206"/>
          <p:cNvGrpSpPr/>
          <p:nvPr/>
        </p:nvGrpSpPr>
        <p:grpSpPr>
          <a:xfrm rot="0">
            <a:off x="231391" y="9603991"/>
            <a:ext cx="17825209" cy="579625"/>
            <a:chOff x="0" y="0"/>
            <a:chExt cx="23766945" cy="772833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23766907" cy="772795"/>
            </a:xfrm>
            <a:custGeom>
              <a:avLst/>
              <a:gdLst/>
              <a:ahLst/>
              <a:cxnLst/>
              <a:rect r="r" b="b" t="t" l="l"/>
              <a:pathLst>
                <a:path h="772795" w="23766907">
                  <a:moveTo>
                    <a:pt x="0" y="74803"/>
                  </a:moveTo>
                  <a:cubicBezTo>
                    <a:pt x="0" y="33528"/>
                    <a:pt x="33528" y="0"/>
                    <a:pt x="74803" y="0"/>
                  </a:cubicBezTo>
                  <a:lnTo>
                    <a:pt x="23692104" y="0"/>
                  </a:lnTo>
                  <a:cubicBezTo>
                    <a:pt x="23733379" y="0"/>
                    <a:pt x="23766907" y="33528"/>
                    <a:pt x="23766907" y="74803"/>
                  </a:cubicBezTo>
                  <a:lnTo>
                    <a:pt x="23766907" y="697992"/>
                  </a:lnTo>
                  <a:cubicBezTo>
                    <a:pt x="23766907" y="739267"/>
                    <a:pt x="23733379" y="772795"/>
                    <a:pt x="23692104" y="772795"/>
                  </a:cubicBezTo>
                  <a:lnTo>
                    <a:pt x="74803" y="772795"/>
                  </a:lnTo>
                  <a:cubicBezTo>
                    <a:pt x="33528" y="772795"/>
                    <a:pt x="0" y="739394"/>
                    <a:pt x="0" y="697992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208" id="208"/>
          <p:cNvGrpSpPr/>
          <p:nvPr/>
        </p:nvGrpSpPr>
        <p:grpSpPr>
          <a:xfrm rot="0">
            <a:off x="432559" y="9786871"/>
            <a:ext cx="204721" cy="204721"/>
            <a:chOff x="0" y="0"/>
            <a:chExt cx="272961" cy="272961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272923" cy="272923"/>
            </a:xfrm>
            <a:custGeom>
              <a:avLst/>
              <a:gdLst/>
              <a:ahLst/>
              <a:cxnLst/>
              <a:rect r="r" b="b" t="t" l="l"/>
              <a:pathLst>
                <a:path h="272923" w="272923">
                  <a:moveTo>
                    <a:pt x="0" y="0"/>
                  </a:moveTo>
                  <a:lnTo>
                    <a:pt x="272923" y="0"/>
                  </a:lnTo>
                  <a:lnTo>
                    <a:pt x="272923" y="272923"/>
                  </a:lnTo>
                  <a:lnTo>
                    <a:pt x="0" y="272923"/>
                  </a:lnTo>
                  <a:close/>
                </a:path>
              </a:pathLst>
            </a:custGeom>
            <a:solidFill>
              <a:srgbClr val="FF9D00"/>
            </a:solidFill>
            <a:ln w="12700" cap="sq">
              <a:solidFill>
                <a:srgbClr val="FF9D00"/>
              </a:solidFill>
              <a:prstDash val="solid"/>
              <a:miter/>
            </a:ln>
          </p:spPr>
        </p:sp>
      </p:grpSp>
      <p:grpSp>
        <p:nvGrpSpPr>
          <p:cNvPr name="Group 210" id="210"/>
          <p:cNvGrpSpPr/>
          <p:nvPr/>
        </p:nvGrpSpPr>
        <p:grpSpPr>
          <a:xfrm rot="0">
            <a:off x="768039" y="9616688"/>
            <a:ext cx="17035272" cy="566928"/>
            <a:chOff x="0" y="0"/>
            <a:chExt cx="22713696" cy="755904"/>
          </a:xfrm>
        </p:grpSpPr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22713696" cy="755904"/>
            </a:xfrm>
            <a:custGeom>
              <a:avLst/>
              <a:gdLst/>
              <a:ahLst/>
              <a:cxnLst/>
              <a:rect r="r" b="b" t="t" l="l"/>
              <a:pathLst>
                <a:path h="755904" w="22713696">
                  <a:moveTo>
                    <a:pt x="0" y="0"/>
                  </a:moveTo>
                  <a:lnTo>
                    <a:pt x="22713696" y="0"/>
                  </a:lnTo>
                  <a:lnTo>
                    <a:pt x="22713696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5493" r="0" b="-535493"/>
              </a:stretch>
            </a:blipFill>
          </p:spPr>
        </p:sp>
        <p:sp>
          <p:nvSpPr>
            <p:cNvPr name="TextBox 212" id="212"/>
            <p:cNvSpPr txBox="true"/>
            <p:nvPr/>
          </p:nvSpPr>
          <p:spPr>
            <a:xfrm>
              <a:off x="0" y="-19050"/>
              <a:ext cx="22713696" cy="774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Start where the answer is cheapest to find. Prove which manufacturers actually turn cost ownership into a lower shelf price, with a matched control and a stated kill criterion, before spending a rupee of capital on the ones that do not.</a:t>
              </a:r>
            </a:p>
          </p:txBody>
        </p:sp>
      </p:grpSp>
      <p:grpSp>
        <p:nvGrpSpPr>
          <p:cNvPr name="Group 213" id="213"/>
          <p:cNvGrpSpPr/>
          <p:nvPr/>
        </p:nvGrpSpPr>
        <p:grpSpPr>
          <a:xfrm rot="0">
            <a:off x="5013703" y="5786682"/>
            <a:ext cx="8662921" cy="617966"/>
            <a:chOff x="0" y="0"/>
            <a:chExt cx="11550561" cy="823955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11550484" cy="823946"/>
            </a:xfrm>
            <a:custGeom>
              <a:avLst/>
              <a:gdLst/>
              <a:ahLst/>
              <a:cxnLst/>
              <a:rect r="r" b="b" t="t" l="l"/>
              <a:pathLst>
                <a:path h="823946" w="11550484">
                  <a:moveTo>
                    <a:pt x="0" y="13636"/>
                  </a:moveTo>
                  <a:cubicBezTo>
                    <a:pt x="0" y="6111"/>
                    <a:pt x="55485" y="0"/>
                    <a:pt x="123815" y="0"/>
                  </a:cubicBezTo>
                  <a:lnTo>
                    <a:pt x="11426669" y="0"/>
                  </a:lnTo>
                  <a:cubicBezTo>
                    <a:pt x="11494998" y="0"/>
                    <a:pt x="11550484" y="6111"/>
                    <a:pt x="11550484" y="13636"/>
                  </a:cubicBezTo>
                  <a:lnTo>
                    <a:pt x="11550484" y="810310"/>
                  </a:lnTo>
                  <a:cubicBezTo>
                    <a:pt x="11550484" y="817836"/>
                    <a:pt x="11494998" y="823946"/>
                    <a:pt x="11426669" y="823946"/>
                  </a:cubicBezTo>
                  <a:lnTo>
                    <a:pt x="123815" y="823946"/>
                  </a:lnTo>
                  <a:cubicBezTo>
                    <a:pt x="55485" y="823946"/>
                    <a:pt x="0" y="817836"/>
                    <a:pt x="0" y="81031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0CEDA"/>
              </a:solidFill>
              <a:prstDash val="solid"/>
              <a:miter/>
            </a:ln>
          </p:spPr>
        </p:sp>
      </p:grpSp>
      <p:grpSp>
        <p:nvGrpSpPr>
          <p:cNvPr name="Group 215" id="215"/>
          <p:cNvGrpSpPr/>
          <p:nvPr/>
        </p:nvGrpSpPr>
        <p:grpSpPr>
          <a:xfrm rot="0">
            <a:off x="5013703" y="5679310"/>
            <a:ext cx="8662921" cy="279050"/>
            <a:chOff x="0" y="0"/>
            <a:chExt cx="11550561" cy="37206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11550574" cy="372034"/>
            </a:xfrm>
            <a:custGeom>
              <a:avLst/>
              <a:gdLst/>
              <a:ahLst/>
              <a:cxnLst/>
              <a:rect r="r" b="b" t="t" l="l"/>
              <a:pathLst>
                <a:path h="372034" w="11550574">
                  <a:moveTo>
                    <a:pt x="18740" y="0"/>
                  </a:moveTo>
                  <a:lnTo>
                    <a:pt x="11531834" y="0"/>
                  </a:lnTo>
                  <a:cubicBezTo>
                    <a:pt x="11542184" y="0"/>
                    <a:pt x="11550574" y="8390"/>
                    <a:pt x="11550574" y="18740"/>
                  </a:cubicBezTo>
                  <a:lnTo>
                    <a:pt x="11550574" y="353293"/>
                  </a:lnTo>
                  <a:cubicBezTo>
                    <a:pt x="11550574" y="358264"/>
                    <a:pt x="11548600" y="363030"/>
                    <a:pt x="11545085" y="366545"/>
                  </a:cubicBezTo>
                  <a:cubicBezTo>
                    <a:pt x="11541571" y="370059"/>
                    <a:pt x="11536804" y="372034"/>
                    <a:pt x="11531834" y="372034"/>
                  </a:cubicBezTo>
                  <a:lnTo>
                    <a:pt x="18740" y="372034"/>
                  </a:lnTo>
                  <a:cubicBezTo>
                    <a:pt x="13770" y="372034"/>
                    <a:pt x="9003" y="370059"/>
                    <a:pt x="5489" y="366545"/>
                  </a:cubicBezTo>
                  <a:cubicBezTo>
                    <a:pt x="1974" y="363030"/>
                    <a:pt x="0" y="358264"/>
                    <a:pt x="0" y="353293"/>
                  </a:cubicBezTo>
                  <a:lnTo>
                    <a:pt x="0" y="18740"/>
                  </a:lnTo>
                  <a:cubicBezTo>
                    <a:pt x="0" y="13770"/>
                    <a:pt x="1974" y="9003"/>
                    <a:pt x="5489" y="5489"/>
                  </a:cubicBezTo>
                  <a:cubicBezTo>
                    <a:pt x="9003" y="1974"/>
                    <a:pt x="13770" y="0"/>
                    <a:pt x="18740" y="0"/>
                  </a:cubicBezTo>
                  <a:close/>
                </a:path>
              </a:pathLst>
            </a:custGeom>
            <a:solidFill>
              <a:srgbClr val="560547"/>
            </a:solidFill>
            <a:ln w="12700" cap="sq">
              <a:solidFill>
                <a:srgbClr val="560547"/>
              </a:solidFill>
              <a:prstDash val="solid"/>
              <a:miter/>
            </a:ln>
          </p:spPr>
        </p:sp>
      </p:grpSp>
      <p:grpSp>
        <p:nvGrpSpPr>
          <p:cNvPr name="Group 217" id="217"/>
          <p:cNvGrpSpPr/>
          <p:nvPr/>
        </p:nvGrpSpPr>
        <p:grpSpPr>
          <a:xfrm rot="0">
            <a:off x="5162572" y="6022650"/>
            <a:ext cx="1584344" cy="291202"/>
            <a:chOff x="0" y="0"/>
            <a:chExt cx="2112458" cy="388269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2112547" cy="388358"/>
            </a:xfrm>
            <a:custGeom>
              <a:avLst/>
              <a:gdLst/>
              <a:ahLst/>
              <a:cxnLst/>
              <a:rect r="r" b="b" t="t" l="l"/>
              <a:pathLst>
                <a:path h="388358" w="2112547">
                  <a:moveTo>
                    <a:pt x="0" y="13593"/>
                  </a:moveTo>
                  <a:cubicBezTo>
                    <a:pt x="0" y="6085"/>
                    <a:pt x="28921" y="0"/>
                    <a:pt x="64609" y="0"/>
                  </a:cubicBezTo>
                  <a:lnTo>
                    <a:pt x="2047915" y="0"/>
                  </a:lnTo>
                  <a:cubicBezTo>
                    <a:pt x="2083602" y="0"/>
                    <a:pt x="2112547" y="6085"/>
                    <a:pt x="2112547" y="13593"/>
                  </a:cubicBezTo>
                  <a:lnTo>
                    <a:pt x="2112547" y="374690"/>
                  </a:lnTo>
                  <a:cubicBezTo>
                    <a:pt x="2112547" y="382198"/>
                    <a:pt x="2083602" y="388358"/>
                    <a:pt x="2047915" y="388358"/>
                  </a:cubicBezTo>
                  <a:lnTo>
                    <a:pt x="64609" y="388358"/>
                  </a:lnTo>
                  <a:cubicBezTo>
                    <a:pt x="28921" y="388358"/>
                    <a:pt x="0" y="382198"/>
                    <a:pt x="0" y="37469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D6DE"/>
              </a:solidFill>
              <a:prstDash val="solid"/>
              <a:miter/>
            </a:ln>
          </p:spPr>
        </p:sp>
      </p:grpSp>
      <p:sp>
        <p:nvSpPr>
          <p:cNvPr name="TextBox 219" id="219"/>
          <p:cNvSpPr txBox="true"/>
          <p:nvPr/>
        </p:nvSpPr>
        <p:spPr>
          <a:xfrm rot="0">
            <a:off x="5584474" y="6073954"/>
            <a:ext cx="692522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9"/>
              </a:lnSpc>
            </a:pPr>
            <a:r>
              <a:rPr lang="en-US" sz="999" b="true">
                <a:solidFill>
                  <a:srgbClr val="4512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 QUALIFY</a:t>
            </a:r>
          </a:p>
        </p:txBody>
      </p:sp>
      <p:grpSp>
        <p:nvGrpSpPr>
          <p:cNvPr name="Group 220" id="220"/>
          <p:cNvGrpSpPr/>
          <p:nvPr/>
        </p:nvGrpSpPr>
        <p:grpSpPr>
          <a:xfrm rot="5400000">
            <a:off x="6772357" y="6101511"/>
            <a:ext cx="59985" cy="133481"/>
            <a:chOff x="0" y="0"/>
            <a:chExt cx="79979" cy="17797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79979" cy="177975"/>
            </a:xfrm>
            <a:custGeom>
              <a:avLst/>
              <a:gdLst/>
              <a:ahLst/>
              <a:cxnLst/>
              <a:rect r="r" b="b" t="t" l="l"/>
              <a:pathLst>
                <a:path h="177975" w="79979">
                  <a:moveTo>
                    <a:pt x="0" y="177975"/>
                  </a:moveTo>
                  <a:lnTo>
                    <a:pt x="39990" y="0"/>
                  </a:lnTo>
                  <a:lnTo>
                    <a:pt x="79979" y="177975"/>
                  </a:lnTo>
                  <a:close/>
                </a:path>
              </a:pathLst>
            </a:custGeom>
            <a:solidFill>
              <a:srgbClr val="6B6B78"/>
            </a:solidFill>
          </p:spPr>
        </p:sp>
      </p:grpSp>
      <p:grpSp>
        <p:nvGrpSpPr>
          <p:cNvPr name="Group 222" id="222"/>
          <p:cNvGrpSpPr/>
          <p:nvPr/>
        </p:nvGrpSpPr>
        <p:grpSpPr>
          <a:xfrm rot="0">
            <a:off x="6857782" y="6022650"/>
            <a:ext cx="1584344" cy="291202"/>
            <a:chOff x="0" y="0"/>
            <a:chExt cx="2112458" cy="388269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2112547" cy="388358"/>
            </a:xfrm>
            <a:custGeom>
              <a:avLst/>
              <a:gdLst/>
              <a:ahLst/>
              <a:cxnLst/>
              <a:rect r="r" b="b" t="t" l="l"/>
              <a:pathLst>
                <a:path h="388358" w="2112547">
                  <a:moveTo>
                    <a:pt x="0" y="13593"/>
                  </a:moveTo>
                  <a:cubicBezTo>
                    <a:pt x="0" y="6085"/>
                    <a:pt x="28921" y="0"/>
                    <a:pt x="64609" y="0"/>
                  </a:cubicBezTo>
                  <a:lnTo>
                    <a:pt x="2047915" y="0"/>
                  </a:lnTo>
                  <a:cubicBezTo>
                    <a:pt x="2083602" y="0"/>
                    <a:pt x="2112547" y="6085"/>
                    <a:pt x="2112547" y="13593"/>
                  </a:cubicBezTo>
                  <a:lnTo>
                    <a:pt x="2112547" y="374690"/>
                  </a:lnTo>
                  <a:cubicBezTo>
                    <a:pt x="2112547" y="382198"/>
                    <a:pt x="2083602" y="388358"/>
                    <a:pt x="2047915" y="388358"/>
                  </a:cubicBezTo>
                  <a:lnTo>
                    <a:pt x="64609" y="388358"/>
                  </a:lnTo>
                  <a:cubicBezTo>
                    <a:pt x="28921" y="388358"/>
                    <a:pt x="0" y="382198"/>
                    <a:pt x="0" y="37469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D6DE"/>
              </a:solidFill>
              <a:prstDash val="solid"/>
              <a:miter/>
            </a:ln>
          </p:spPr>
        </p:sp>
      </p:grpSp>
      <p:sp>
        <p:nvSpPr>
          <p:cNvPr name="TextBox 224" id="224"/>
          <p:cNvSpPr txBox="true"/>
          <p:nvPr/>
        </p:nvSpPr>
        <p:spPr>
          <a:xfrm rot="0">
            <a:off x="7280992" y="6073954"/>
            <a:ext cx="737923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9"/>
              </a:lnSpc>
            </a:pPr>
            <a:r>
              <a:rPr lang="en-US" sz="999" b="true">
                <a:solidFill>
                  <a:srgbClr val="4512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 ALLOCATE</a:t>
            </a:r>
          </a:p>
        </p:txBody>
      </p:sp>
      <p:grpSp>
        <p:nvGrpSpPr>
          <p:cNvPr name="Group 225" id="225"/>
          <p:cNvGrpSpPr/>
          <p:nvPr/>
        </p:nvGrpSpPr>
        <p:grpSpPr>
          <a:xfrm rot="5400000">
            <a:off x="8467566" y="6101511"/>
            <a:ext cx="59985" cy="133481"/>
            <a:chOff x="0" y="0"/>
            <a:chExt cx="79979" cy="177975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79979" cy="177975"/>
            </a:xfrm>
            <a:custGeom>
              <a:avLst/>
              <a:gdLst/>
              <a:ahLst/>
              <a:cxnLst/>
              <a:rect r="r" b="b" t="t" l="l"/>
              <a:pathLst>
                <a:path h="177975" w="79979">
                  <a:moveTo>
                    <a:pt x="0" y="177975"/>
                  </a:moveTo>
                  <a:lnTo>
                    <a:pt x="39990" y="0"/>
                  </a:lnTo>
                  <a:lnTo>
                    <a:pt x="79979" y="177975"/>
                  </a:lnTo>
                  <a:close/>
                </a:path>
              </a:pathLst>
            </a:custGeom>
            <a:solidFill>
              <a:srgbClr val="6B6B78"/>
            </a:solid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8552991" y="6022650"/>
            <a:ext cx="1584344" cy="291202"/>
            <a:chOff x="0" y="0"/>
            <a:chExt cx="2112458" cy="388269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2112547" cy="388358"/>
            </a:xfrm>
            <a:custGeom>
              <a:avLst/>
              <a:gdLst/>
              <a:ahLst/>
              <a:cxnLst/>
              <a:rect r="r" b="b" t="t" l="l"/>
              <a:pathLst>
                <a:path h="388358" w="2112547">
                  <a:moveTo>
                    <a:pt x="0" y="13593"/>
                  </a:moveTo>
                  <a:cubicBezTo>
                    <a:pt x="0" y="6085"/>
                    <a:pt x="28921" y="0"/>
                    <a:pt x="64609" y="0"/>
                  </a:cubicBezTo>
                  <a:lnTo>
                    <a:pt x="2047915" y="0"/>
                  </a:lnTo>
                  <a:cubicBezTo>
                    <a:pt x="2083602" y="0"/>
                    <a:pt x="2112547" y="6085"/>
                    <a:pt x="2112547" y="13593"/>
                  </a:cubicBezTo>
                  <a:lnTo>
                    <a:pt x="2112547" y="374690"/>
                  </a:lnTo>
                  <a:cubicBezTo>
                    <a:pt x="2112547" y="382198"/>
                    <a:pt x="2083602" y="388358"/>
                    <a:pt x="2047915" y="388358"/>
                  </a:cubicBezTo>
                  <a:lnTo>
                    <a:pt x="64609" y="388358"/>
                  </a:lnTo>
                  <a:cubicBezTo>
                    <a:pt x="28921" y="388358"/>
                    <a:pt x="0" y="382198"/>
                    <a:pt x="0" y="37469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D6DE"/>
              </a:solidFill>
              <a:prstDash val="solid"/>
              <a:miter/>
            </a:ln>
          </p:spPr>
        </p:sp>
      </p:grpSp>
      <p:sp>
        <p:nvSpPr>
          <p:cNvPr name="TextBox 229" id="229"/>
          <p:cNvSpPr txBox="true"/>
          <p:nvPr/>
        </p:nvSpPr>
        <p:spPr>
          <a:xfrm rot="0">
            <a:off x="8975526" y="6073954"/>
            <a:ext cx="726573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9"/>
              </a:lnSpc>
            </a:pPr>
            <a:r>
              <a:rPr lang="en-US" sz="999" b="true">
                <a:solidFill>
                  <a:srgbClr val="4512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 DIAGNOSE</a:t>
            </a:r>
          </a:p>
        </p:txBody>
      </p:sp>
      <p:grpSp>
        <p:nvGrpSpPr>
          <p:cNvPr name="Group 230" id="230"/>
          <p:cNvGrpSpPr/>
          <p:nvPr/>
        </p:nvGrpSpPr>
        <p:grpSpPr>
          <a:xfrm rot="5400000">
            <a:off x="10162776" y="6101511"/>
            <a:ext cx="59985" cy="133481"/>
            <a:chOff x="0" y="0"/>
            <a:chExt cx="79979" cy="177975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79979" cy="177975"/>
            </a:xfrm>
            <a:custGeom>
              <a:avLst/>
              <a:gdLst/>
              <a:ahLst/>
              <a:cxnLst/>
              <a:rect r="r" b="b" t="t" l="l"/>
              <a:pathLst>
                <a:path h="177975" w="79979">
                  <a:moveTo>
                    <a:pt x="0" y="177975"/>
                  </a:moveTo>
                  <a:lnTo>
                    <a:pt x="39990" y="0"/>
                  </a:lnTo>
                  <a:lnTo>
                    <a:pt x="79979" y="177975"/>
                  </a:lnTo>
                  <a:close/>
                </a:path>
              </a:pathLst>
            </a:custGeom>
            <a:solidFill>
              <a:srgbClr val="6B6B78"/>
            </a:solidFill>
          </p:spPr>
        </p:sp>
      </p:grpSp>
      <p:grpSp>
        <p:nvGrpSpPr>
          <p:cNvPr name="Group 232" id="232"/>
          <p:cNvGrpSpPr/>
          <p:nvPr/>
        </p:nvGrpSpPr>
        <p:grpSpPr>
          <a:xfrm rot="0">
            <a:off x="10248201" y="6022650"/>
            <a:ext cx="1584344" cy="291202"/>
            <a:chOff x="0" y="0"/>
            <a:chExt cx="2112458" cy="388269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2112547" cy="388358"/>
            </a:xfrm>
            <a:custGeom>
              <a:avLst/>
              <a:gdLst/>
              <a:ahLst/>
              <a:cxnLst/>
              <a:rect r="r" b="b" t="t" l="l"/>
              <a:pathLst>
                <a:path h="388358" w="2112547">
                  <a:moveTo>
                    <a:pt x="0" y="13593"/>
                  </a:moveTo>
                  <a:cubicBezTo>
                    <a:pt x="0" y="6085"/>
                    <a:pt x="28921" y="0"/>
                    <a:pt x="64609" y="0"/>
                  </a:cubicBezTo>
                  <a:lnTo>
                    <a:pt x="2047915" y="0"/>
                  </a:lnTo>
                  <a:cubicBezTo>
                    <a:pt x="2083602" y="0"/>
                    <a:pt x="2112547" y="6085"/>
                    <a:pt x="2112547" y="13593"/>
                  </a:cubicBezTo>
                  <a:lnTo>
                    <a:pt x="2112547" y="374690"/>
                  </a:lnTo>
                  <a:cubicBezTo>
                    <a:pt x="2112547" y="382198"/>
                    <a:pt x="2083602" y="388358"/>
                    <a:pt x="2047915" y="388358"/>
                  </a:cubicBezTo>
                  <a:lnTo>
                    <a:pt x="64609" y="388358"/>
                  </a:lnTo>
                  <a:cubicBezTo>
                    <a:pt x="28921" y="388358"/>
                    <a:pt x="0" y="382198"/>
                    <a:pt x="0" y="37469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D6DE"/>
              </a:solidFill>
              <a:prstDash val="solid"/>
              <a:miter/>
            </a:ln>
          </p:spPr>
        </p:sp>
      </p:grpSp>
      <p:sp>
        <p:nvSpPr>
          <p:cNvPr name="TextBox 234" id="234"/>
          <p:cNvSpPr txBox="true"/>
          <p:nvPr/>
        </p:nvSpPr>
        <p:spPr>
          <a:xfrm rot="0">
            <a:off x="10728162" y="6073954"/>
            <a:ext cx="624420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9"/>
              </a:lnSpc>
            </a:pPr>
            <a:r>
              <a:rPr lang="en-US" sz="999" b="true">
                <a:solidFill>
                  <a:srgbClr val="4512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 REMEDY</a:t>
            </a:r>
          </a:p>
        </p:txBody>
      </p:sp>
      <p:grpSp>
        <p:nvGrpSpPr>
          <p:cNvPr name="Group 235" id="235"/>
          <p:cNvGrpSpPr/>
          <p:nvPr/>
        </p:nvGrpSpPr>
        <p:grpSpPr>
          <a:xfrm rot="5400000">
            <a:off x="11857985" y="6101511"/>
            <a:ext cx="59985" cy="133481"/>
            <a:chOff x="0" y="0"/>
            <a:chExt cx="79979" cy="177975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79979" cy="177975"/>
            </a:xfrm>
            <a:custGeom>
              <a:avLst/>
              <a:gdLst/>
              <a:ahLst/>
              <a:cxnLst/>
              <a:rect r="r" b="b" t="t" l="l"/>
              <a:pathLst>
                <a:path h="177975" w="79979">
                  <a:moveTo>
                    <a:pt x="0" y="177975"/>
                  </a:moveTo>
                  <a:lnTo>
                    <a:pt x="39990" y="0"/>
                  </a:lnTo>
                  <a:lnTo>
                    <a:pt x="79979" y="177975"/>
                  </a:lnTo>
                  <a:close/>
                </a:path>
              </a:pathLst>
            </a:custGeom>
            <a:solidFill>
              <a:srgbClr val="6B6B78"/>
            </a:solidFill>
          </p:spPr>
        </p:sp>
      </p:grpSp>
      <p:grpSp>
        <p:nvGrpSpPr>
          <p:cNvPr name="Group 237" id="237"/>
          <p:cNvGrpSpPr/>
          <p:nvPr/>
        </p:nvGrpSpPr>
        <p:grpSpPr>
          <a:xfrm rot="0">
            <a:off x="11943410" y="6022650"/>
            <a:ext cx="1584344" cy="291202"/>
            <a:chOff x="0" y="0"/>
            <a:chExt cx="2112458" cy="388269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2112547" cy="388358"/>
            </a:xfrm>
            <a:custGeom>
              <a:avLst/>
              <a:gdLst/>
              <a:ahLst/>
              <a:cxnLst/>
              <a:rect r="r" b="b" t="t" l="l"/>
              <a:pathLst>
                <a:path h="388358" w="2112547">
                  <a:moveTo>
                    <a:pt x="0" y="13593"/>
                  </a:moveTo>
                  <a:cubicBezTo>
                    <a:pt x="0" y="6085"/>
                    <a:pt x="28921" y="0"/>
                    <a:pt x="64609" y="0"/>
                  </a:cubicBezTo>
                  <a:lnTo>
                    <a:pt x="2047915" y="0"/>
                  </a:lnTo>
                  <a:cubicBezTo>
                    <a:pt x="2083602" y="0"/>
                    <a:pt x="2112547" y="6085"/>
                    <a:pt x="2112547" y="13593"/>
                  </a:cubicBezTo>
                  <a:lnTo>
                    <a:pt x="2112547" y="374690"/>
                  </a:lnTo>
                  <a:cubicBezTo>
                    <a:pt x="2112547" y="382198"/>
                    <a:pt x="2083602" y="388358"/>
                    <a:pt x="2047915" y="388358"/>
                  </a:cubicBezTo>
                  <a:lnTo>
                    <a:pt x="64609" y="388358"/>
                  </a:lnTo>
                  <a:cubicBezTo>
                    <a:pt x="28921" y="388358"/>
                    <a:pt x="0" y="382198"/>
                    <a:pt x="0" y="37469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ED6DE"/>
              </a:solidFill>
              <a:prstDash val="solid"/>
              <a:miter/>
            </a:ln>
          </p:spPr>
        </p:sp>
      </p:grpSp>
      <p:sp>
        <p:nvSpPr>
          <p:cNvPr name="TextBox 239" id="239"/>
          <p:cNvSpPr txBox="true"/>
          <p:nvPr/>
        </p:nvSpPr>
        <p:spPr>
          <a:xfrm rot="0">
            <a:off x="12292327" y="6073954"/>
            <a:ext cx="794675" cy="16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9"/>
              </a:lnSpc>
            </a:pPr>
            <a:r>
              <a:rPr lang="en-US" sz="999" b="true">
                <a:solidFill>
                  <a:srgbClr val="4512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 GRADUATE</a:t>
            </a:r>
          </a:p>
        </p:txBody>
      </p:sp>
      <p:grpSp>
        <p:nvGrpSpPr>
          <p:cNvPr name="Group 240" id="240"/>
          <p:cNvGrpSpPr/>
          <p:nvPr/>
        </p:nvGrpSpPr>
        <p:grpSpPr>
          <a:xfrm rot="0">
            <a:off x="5093600" y="5663387"/>
            <a:ext cx="6441551" cy="310896"/>
            <a:chOff x="0" y="0"/>
            <a:chExt cx="8588735" cy="414528"/>
          </a:xfrm>
        </p:grpSpPr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8588735" cy="414528"/>
            </a:xfrm>
            <a:custGeom>
              <a:avLst/>
              <a:gdLst/>
              <a:ahLst/>
              <a:cxnLst/>
              <a:rect r="r" b="b" t="t" l="l"/>
              <a:pathLst>
                <a:path h="414528" w="8588735">
                  <a:moveTo>
                    <a:pt x="0" y="0"/>
                  </a:moveTo>
                  <a:lnTo>
                    <a:pt x="8588735" y="0"/>
                  </a:lnTo>
                  <a:lnTo>
                    <a:pt x="8588735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2732" r="37398" b="-202732"/>
              </a:stretch>
            </a:blipFill>
          </p:spPr>
        </p:sp>
        <p:sp>
          <p:nvSpPr>
            <p:cNvPr name="TextBox 242" id="242"/>
            <p:cNvSpPr txBox="true"/>
            <p:nvPr/>
          </p:nvSpPr>
          <p:spPr>
            <a:xfrm>
              <a:off x="0" y="-9525"/>
              <a:ext cx="8588735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79"/>
                </a:lnSpc>
              </a:pP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MEC</a:t>
              </a:r>
              <a:r>
                <a:rPr lang="en-US" sz="114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HANISM : five automated steps, no account manager in the loop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DAHUzp2-MNI</dc:identifier>
  <dcterms:modified xsi:type="dcterms:W3CDTF">2011-08-01T06:04:30Z</dcterms:modified>
  <cp:revision>1</cp:revision>
  <dc:title>meesho_dice_round1.pptx</dc:title>
</cp:coreProperties>
</file>