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listings</c:v>
                </c:pt>
              </c:strCache>
            </c:strRef>
          </c:tx>
          <c:spPr>
            <a:solidFill>
              <a:srgbClr val="7B2A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1F1F1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&lt; ₹200</c:v>
                  </c:pt>
                  <c:pt idx="1">
                    <c:v>₹200–249</c:v>
                  </c:pt>
                  <c:pt idx="2">
                    <c:v>₹250–299</c:v>
                  </c:pt>
                  <c:pt idx="3">
                    <c:v>₹300–399</c:v>
                  </c:pt>
                  <c:pt idx="4">
                    <c:v>₹400–599</c:v>
                  </c:pt>
                  <c:pt idx="5">
                    <c:v>₹600+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</c:v>
                </c:pt>
                <c:pt idx="1">
                  <c:v>23</c:v>
                </c:pt>
                <c:pt idx="2">
                  <c:v>9</c:v>
                </c:pt>
                <c:pt idx="3">
                  <c:v>27</c:v>
                </c:pt>
                <c:pt idx="4">
                  <c:v>18</c:v>
                </c:pt>
                <c:pt idx="5">
                  <c:v>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Share of reviews</c:v>
                </c:pt>
              </c:strCache>
            </c:strRef>
          </c:tx>
          <c:spPr>
            <a:solidFill>
              <a:srgbClr val="E843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1F1F1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&lt; ₹200</c:v>
                  </c:pt>
                  <c:pt idx="1">
                    <c:v>₹200–249</c:v>
                  </c:pt>
                  <c:pt idx="2">
                    <c:v>₹250–299</c:v>
                  </c:pt>
                  <c:pt idx="3">
                    <c:v>₹300–399</c:v>
                  </c:pt>
                  <c:pt idx="4">
                    <c:v>₹400–599</c:v>
                  </c:pt>
                  <c:pt idx="5">
                    <c:v>₹600+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43</c:v>
                </c:pt>
                <c:pt idx="1">
                  <c:v>24</c:v>
                </c:pt>
                <c:pt idx="2">
                  <c:v>1</c:v>
                </c:pt>
                <c:pt idx="3">
                  <c:v>26</c:v>
                </c:pt>
                <c:pt idx="4">
                  <c:v>5</c:v>
                </c:pt>
                <c:pt idx="5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1F1F1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F1F1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Governing thought: screen on price, not size; make only what is sold; 1,400 factories by Year 4; ₹1,995 cr NMV 8–12% below market; NPV from model.mjs.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Stakeholder voice uses published interviews. Add 1–2 rows from the team’s own Round 1 interviews (data/primary_research.json → interviews[]) when the notes arrive.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0A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rathmeshwalimbe/Downloads/Meesho/02_round2_detailed_submission/deck/source/assets/meesho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274320"/>
            <a:ext cx="566928" cy="566928"/>
          </a:xfrm>
          <a:prstGeom prst="rect">
            <a:avLst/>
          </a:prstGeom>
        </p:spPr>
      </p:pic>
      <p:pic>
        <p:nvPicPr>
          <p:cNvPr id="3" name="Image 1" descr="/Users/prathmeshwalimbe/Downloads/Meesho/02_round2_detailed_submission/deck/source/assets/iitb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201168"/>
            <a:ext cx="713232" cy="694944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02920" y="1051560"/>
            <a:ext cx="5120640" cy="5120640"/>
          </a:xfrm>
          <a:prstGeom prst="ellipse">
            <a:avLst/>
          </a:prstGeom>
          <a:solidFill>
            <a:srgbClr val="F7A21B"/>
          </a:solidFill>
          <a:ln w="12700">
            <a:solidFill>
              <a:srgbClr val="F7A21B"/>
            </a:solidFill>
            <a:prstDash val="solid"/>
          </a:ln>
        </p:spPr>
      </p:sp>
      <p:pic>
        <p:nvPicPr>
          <p:cNvPr id="5" name="Image 2" descr="/Users/prathmeshwalimbe/Downloads/Meesho/02_round2_detailed_submission/deck/source/assets/cover_banner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" y="1188720"/>
            <a:ext cx="4846320" cy="4846320"/>
          </a:xfrm>
          <a:prstGeom prst="ellipse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035040" y="4114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7A2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TRACK  ·  DETAILED SUBMISSION  ·  ROUND 2</a:t>
            </a:r>
            <a:endParaRPr lang="en-US" sz="1100" dirty="0"/>
          </a:p>
        </p:txBody>
      </p:sp>
      <p:sp>
        <p:nvSpPr>
          <p:cNvPr id="7" name="Shape 2"/>
          <p:cNvSpPr/>
          <p:nvPr/>
        </p:nvSpPr>
        <p:spPr>
          <a:xfrm>
            <a:off x="6309360" y="868680"/>
            <a:ext cx="4754880" cy="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035040" y="960120"/>
            <a:ext cx="5852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7A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Meesho’s Consumer-to-Manufacturer (C2M) Base</a:t>
            </a:r>
            <a:endParaRPr lang="en-US" sz="2600" dirty="0"/>
          </a:p>
        </p:txBody>
      </p:sp>
      <p:sp>
        <p:nvSpPr>
          <p:cNvPr id="9" name="Shape 4"/>
          <p:cNvSpPr/>
          <p:nvPr/>
        </p:nvSpPr>
        <p:spPr>
          <a:xfrm>
            <a:off x="7452360" y="2103120"/>
            <a:ext cx="3017520" cy="420624"/>
          </a:xfrm>
          <a:prstGeom prst="roundRect">
            <a:avLst>
              <a:gd name="adj" fmla="val 1087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7488936" y="2103120"/>
            <a:ext cx="29443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DIRECT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6172200" y="265176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manufacturers on price, not size, and let them make only what is already sold. </a:t>
            </a:r>
            <a:pPr algn="ctr" indent="0" marL="0">
              <a:buNone/>
            </a:pPr>
            <a:r>
              <a:rPr lang="en-US" sz="1300" b="1" i="1" dirty="0">
                <a:solidFill>
                  <a:srgbClr val="F7A2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1,400 factories by Year 4 put ₹1,995 cr of NMV 8%–12% below market, </a:t>
            </a:r>
            <a:pPr algn="ctr" indent="0" marL="0">
              <a:buNone/>
            </a:pPr>
            <a:r>
              <a:rPr lang="en-US" sz="1300" b="1" i="1" dirty="0">
                <a:solidFill>
                  <a:srgbClr val="F7A2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five-year NPV of ₹75 cr on ₹22.2 cr of capped Year-1 cash.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6400800" y="3657600"/>
            <a:ext cx="5120640" cy="0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6903720" y="3822192"/>
            <a:ext cx="4114800" cy="384048"/>
          </a:xfrm>
          <a:prstGeom prst="roundRect">
            <a:avLst>
              <a:gd name="adj" fmla="val 11905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940296" y="3822192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23B0747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7360920" y="4315968"/>
            <a:ext cx="1005840" cy="1005840"/>
          </a:xfrm>
          <a:prstGeom prst="ellipse">
            <a:avLst/>
          </a:prstGeom>
          <a:solidFill>
            <a:srgbClr val="F7A21B"/>
          </a:solidFill>
          <a:ln w="19050">
            <a:solidFill>
              <a:srgbClr val="FFFFFF"/>
            </a:solidFill>
            <a:prstDash val="dash"/>
          </a:ln>
        </p:spPr>
      </p:sp>
      <p:sp>
        <p:nvSpPr>
          <p:cNvPr id="16" name="Text 11"/>
          <p:cNvSpPr txBox="1"/>
          <p:nvPr/>
        </p:nvSpPr>
        <p:spPr>
          <a:xfrm>
            <a:off x="7360920" y="4315968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photo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6812280" y="53583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Prathmesh Walimbe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9555480" y="4315968"/>
            <a:ext cx="1005840" cy="1005840"/>
          </a:xfrm>
          <a:prstGeom prst="ellipse">
            <a:avLst/>
          </a:prstGeom>
          <a:solidFill>
            <a:srgbClr val="F7A21B"/>
          </a:solidFill>
          <a:ln w="19050">
            <a:solidFill>
              <a:srgbClr val="FFFFFF"/>
            </a:solidFill>
            <a:prstDash val="dash"/>
          </a:ln>
        </p:spPr>
      </p:sp>
      <p:sp>
        <p:nvSpPr>
          <p:cNvPr id="19" name="Text 14"/>
          <p:cNvSpPr txBox="1"/>
          <p:nvPr/>
        </p:nvSpPr>
        <p:spPr>
          <a:xfrm>
            <a:off x="9555480" y="4315968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photo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9006840" y="53583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Krishna Kanta Mondal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6903720" y="5724144"/>
            <a:ext cx="4114800" cy="384048"/>
          </a:xfrm>
          <a:prstGeom prst="roundRect">
            <a:avLst>
              <a:gd name="adj" fmla="val 11905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940296" y="5724144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Institute of Technology Bombay</a:t>
            </a:r>
            <a:endParaRPr lang="en-US" sz="1300" dirty="0"/>
          </a:p>
        </p:txBody>
      </p:sp>
      <p:pic>
        <p:nvPicPr>
          <p:cNvPr id="23" name="Image 3" descr="/Users/prathmeshwalimbe/Downloads/Meesho/02_round2_detailed_submission/deck/source/assets/qr_liv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5680" y="5532120"/>
            <a:ext cx="731520" cy="73152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035040" y="627278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prototype: meesho-dice-c2m-iitb.vercel.app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pic>
        <p:nvPicPr>
          <p:cNvPr id="3" name="Image 0" descr="/Users/prathmeshwalimbe/Downloads/Meesho/02_round2_detailed_submission/deck/source/assets/dice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97280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E8434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97280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2071116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071116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Segments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3044952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044952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Sizing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018788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018788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Truth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992624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992624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5966460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66460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Benchmarks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6940296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940296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Sustainable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Scale-up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7914132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914132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KPIs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8887968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887968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9861804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861804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Risks</a:t>
            </a:r>
            <a:endParaRPr lang="en-US" sz="850" dirty="0"/>
          </a:p>
        </p:txBody>
      </p:sp>
      <p:pic>
        <p:nvPicPr>
          <p:cNvPr id="24" name="Image 1" descr="/Users/prathmeshwalimbe/Downloads/Meesho/02_round2_detailed_submission/deck/source/assets/meesho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25" name="Image 2" descr="/Users/prathmeshwalimbe/Downloads/Meesho/02_round2_detailed_submission/deck/source/assets/iitb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follows price on Meesho and 35% of MSMEs want online sales, but returns and know-how push out those who try</a:t>
            </a:r>
            <a:endParaRPr lang="en-US" sz="1700" dirty="0"/>
          </a:p>
        </p:txBody>
      </p:sp>
      <p:sp>
        <p:nvSpPr>
          <p:cNvPr id="27" name="Shape 22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228600" y="6199632"/>
            <a:ext cx="11731752" cy="365760"/>
          </a:xfrm>
          <a:prstGeom prst="roundRect">
            <a:avLst>
              <a:gd name="adj" fmla="val 15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365760" y="619963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design Factory Direct around returns, stock risk and know-how (pages 6, 8); price the pre-order discount from the buyer survey. Owner: Category + Product.</a:t>
            </a:r>
            <a:endParaRPr lang="en-US" sz="1050" dirty="0"/>
          </a:p>
        </p:txBody>
      </p:sp>
      <p:sp>
        <p:nvSpPr>
          <p:cNvPr id="31" name="Text 26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S2 Meesho Q4 FY26 call · S3 FY26 results · S4 ICRIER 2025 · S6 RBI · S8 Tiruppur · S9 Panipat · S10 team teardown · S21 Apparel Resources   |   Assumptions: A6, A22–A24   |   Workings and method: Appendix B</a:t>
            </a:r>
            <a:endParaRPr lang="en-US" sz="800" dirty="0"/>
          </a:p>
        </p:txBody>
      </p:sp>
      <p:sp>
        <p:nvSpPr>
          <p:cNvPr id="32" name="Text 27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548640" y="1051560"/>
            <a:ext cx="4518965" cy="246888"/>
          </a:xfrm>
          <a:prstGeom prst="roundRect">
            <a:avLst>
              <a:gd name="adj" fmla="val 18519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621792" y="1051560"/>
            <a:ext cx="437266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Problem, objective and size of the prize</a:t>
            </a:r>
            <a:endParaRPr lang="en-US" sz="1050" dirty="0"/>
          </a:p>
        </p:txBody>
      </p:sp>
      <p:sp>
        <p:nvSpPr>
          <p:cNvPr id="35" name="Shape 30"/>
          <p:cNvSpPr/>
          <p:nvPr/>
        </p:nvSpPr>
        <p:spPr>
          <a:xfrm>
            <a:off x="548640" y="1325880"/>
            <a:ext cx="4518965" cy="2014423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21792" y="1380744"/>
            <a:ext cx="437266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 </a:t>
            </a:r>
            <a:pPr indent="0" marL="0">
              <a:buNone/>
            </a:pPr>
            <a:r>
              <a:rPr lang="en-US" sz="10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of factories that sell direct at a real price edge, and stay.</a:t>
            </a:r>
            <a:endParaRPr lang="en-US" sz="1000" dirty="0"/>
          </a:p>
        </p:txBody>
      </p:sp>
      <p:sp>
        <p:nvSpPr>
          <p:cNvPr id="37" name="Text 32"/>
          <p:cNvSpPr txBox="1"/>
          <p:nvPr/>
        </p:nvSpPr>
        <p:spPr>
          <a:xfrm>
            <a:off x="621792" y="16276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B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As-is</a:t>
            </a:r>
            <a:endParaRPr lang="en-US" sz="900" dirty="0"/>
          </a:p>
        </p:txBody>
      </p:sp>
      <p:sp>
        <p:nvSpPr>
          <p:cNvPr id="38" name="Shape 33"/>
          <p:cNvSpPr/>
          <p:nvPr/>
        </p:nvSpPr>
        <p:spPr>
          <a:xfrm>
            <a:off x="1078992" y="1645920"/>
            <a:ext cx="869137" cy="274320"/>
          </a:xfrm>
          <a:prstGeom prst="roundRect">
            <a:avLst>
              <a:gd name="adj" fmla="val 16667"/>
            </a:avLst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1115568" y="1645920"/>
            <a:ext cx="7959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</a:t>
            </a:r>
            <a:endParaRPr lang="en-US" sz="850" dirty="0"/>
          </a:p>
        </p:txBody>
      </p:sp>
      <p:sp>
        <p:nvSpPr>
          <p:cNvPr id="40" name="Text 35"/>
          <p:cNvSpPr txBox="1"/>
          <p:nvPr/>
        </p:nvSpPr>
        <p:spPr>
          <a:xfrm>
            <a:off x="1948129" y="1627632"/>
            <a:ext cx="146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B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41" name="Shape 36"/>
          <p:cNvSpPr/>
          <p:nvPr/>
        </p:nvSpPr>
        <p:spPr>
          <a:xfrm>
            <a:off x="2094433" y="1645920"/>
            <a:ext cx="869137" cy="274320"/>
          </a:xfrm>
          <a:prstGeom prst="roundRect">
            <a:avLst>
              <a:gd name="adj" fmla="val 16667"/>
            </a:avLst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2131009" y="1645920"/>
            <a:ext cx="7959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Wholesaler +15%</a:t>
            </a:r>
            <a:endParaRPr lang="en-US" sz="850" dirty="0"/>
          </a:p>
        </p:txBody>
      </p:sp>
      <p:sp>
        <p:nvSpPr>
          <p:cNvPr id="43" name="Text 38"/>
          <p:cNvSpPr txBox="1"/>
          <p:nvPr/>
        </p:nvSpPr>
        <p:spPr>
          <a:xfrm>
            <a:off x="2963570" y="1627632"/>
            <a:ext cx="146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B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44" name="Shape 39"/>
          <p:cNvSpPr/>
          <p:nvPr/>
        </p:nvSpPr>
        <p:spPr>
          <a:xfrm>
            <a:off x="3109874" y="1645920"/>
            <a:ext cx="869137" cy="274320"/>
          </a:xfrm>
          <a:prstGeom prst="roundRect">
            <a:avLst>
              <a:gd name="adj" fmla="val 16667"/>
            </a:avLst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3146450" y="1645920"/>
            <a:ext cx="7959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Reseller</a:t>
            </a:r>
            <a:endParaRPr lang="en-US" sz="850" dirty="0"/>
          </a:p>
        </p:txBody>
      </p:sp>
      <p:sp>
        <p:nvSpPr>
          <p:cNvPr id="46" name="Text 41"/>
          <p:cNvSpPr txBox="1"/>
          <p:nvPr/>
        </p:nvSpPr>
        <p:spPr>
          <a:xfrm>
            <a:off x="3979012" y="1627632"/>
            <a:ext cx="146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B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47" name="Shape 42"/>
          <p:cNvSpPr/>
          <p:nvPr/>
        </p:nvSpPr>
        <p:spPr>
          <a:xfrm>
            <a:off x="4125316" y="1645920"/>
            <a:ext cx="869137" cy="274320"/>
          </a:xfrm>
          <a:prstGeom prst="roundRect">
            <a:avLst>
              <a:gd name="adj" fmla="val 16667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4161892" y="1645920"/>
            <a:ext cx="7959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</a:t>
            </a:r>
            <a:endParaRPr lang="en-US" sz="850" dirty="0"/>
          </a:p>
        </p:txBody>
      </p:sp>
      <p:sp>
        <p:nvSpPr>
          <p:cNvPr id="49" name="Text 44"/>
          <p:cNvSpPr txBox="1"/>
          <p:nvPr/>
        </p:nvSpPr>
        <p:spPr>
          <a:xfrm>
            <a:off x="1078992" y="1956816"/>
            <a:ext cx="391546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B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Reseller’s lowest viable price ₹220: 5.4% above the ₹209 market</a:t>
            </a:r>
            <a:endParaRPr lang="en-US" sz="850" dirty="0"/>
          </a:p>
        </p:txBody>
      </p:sp>
      <p:sp>
        <p:nvSpPr>
          <p:cNvPr id="50" name="Text 45"/>
          <p:cNvSpPr txBox="1"/>
          <p:nvPr/>
        </p:nvSpPr>
        <p:spPr>
          <a:xfrm>
            <a:off x="621792" y="216712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To-be</a:t>
            </a:r>
            <a:endParaRPr lang="en-US" sz="900" dirty="0"/>
          </a:p>
        </p:txBody>
      </p:sp>
      <p:sp>
        <p:nvSpPr>
          <p:cNvPr id="51" name="Shape 46"/>
          <p:cNvSpPr/>
          <p:nvPr/>
        </p:nvSpPr>
        <p:spPr>
          <a:xfrm>
            <a:off x="1078992" y="2185416"/>
            <a:ext cx="869137" cy="274320"/>
          </a:xfrm>
          <a:prstGeom prst="roundRect">
            <a:avLst>
              <a:gd name="adj" fmla="val 16667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1115568" y="2185416"/>
            <a:ext cx="7959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</a:t>
            </a:r>
            <a:endParaRPr lang="en-US" sz="850" dirty="0"/>
          </a:p>
        </p:txBody>
      </p:sp>
      <p:sp>
        <p:nvSpPr>
          <p:cNvPr id="53" name="Text 48"/>
          <p:cNvSpPr txBox="1"/>
          <p:nvPr/>
        </p:nvSpPr>
        <p:spPr>
          <a:xfrm>
            <a:off x="1948129" y="2167128"/>
            <a:ext cx="146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54" name="Shape 49"/>
          <p:cNvSpPr/>
          <p:nvPr/>
        </p:nvSpPr>
        <p:spPr>
          <a:xfrm>
            <a:off x="2094433" y="2185416"/>
            <a:ext cx="869137" cy="274320"/>
          </a:xfrm>
          <a:prstGeom prst="roundRect">
            <a:avLst>
              <a:gd name="adj" fmla="val 16667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55" name="Text 50"/>
          <p:cNvSpPr txBox="1"/>
          <p:nvPr/>
        </p:nvSpPr>
        <p:spPr>
          <a:xfrm>
            <a:off x="2131009" y="2185416"/>
            <a:ext cx="7959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Node</a:t>
            </a:r>
            <a:endParaRPr lang="en-US" sz="850" dirty="0"/>
          </a:p>
        </p:txBody>
      </p:sp>
      <p:sp>
        <p:nvSpPr>
          <p:cNvPr id="56" name="Text 51"/>
          <p:cNvSpPr txBox="1"/>
          <p:nvPr/>
        </p:nvSpPr>
        <p:spPr>
          <a:xfrm>
            <a:off x="2963570" y="2167128"/>
            <a:ext cx="146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57" name="Shape 52"/>
          <p:cNvSpPr/>
          <p:nvPr/>
        </p:nvSpPr>
        <p:spPr>
          <a:xfrm>
            <a:off x="3109874" y="2185416"/>
            <a:ext cx="869137" cy="274320"/>
          </a:xfrm>
          <a:prstGeom prst="roundRect">
            <a:avLst>
              <a:gd name="adj" fmla="val 16667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58" name="Text 53"/>
          <p:cNvSpPr txBox="1"/>
          <p:nvPr/>
        </p:nvSpPr>
        <p:spPr>
          <a:xfrm>
            <a:off x="3146450" y="2185416"/>
            <a:ext cx="7959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Pre-order</a:t>
            </a:r>
            <a:endParaRPr lang="en-US" sz="850" dirty="0"/>
          </a:p>
        </p:txBody>
      </p:sp>
      <p:sp>
        <p:nvSpPr>
          <p:cNvPr id="59" name="Text 54"/>
          <p:cNvSpPr txBox="1"/>
          <p:nvPr/>
        </p:nvSpPr>
        <p:spPr>
          <a:xfrm>
            <a:off x="3979012" y="2167128"/>
            <a:ext cx="146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60" name="Shape 55"/>
          <p:cNvSpPr/>
          <p:nvPr/>
        </p:nvSpPr>
        <p:spPr>
          <a:xfrm>
            <a:off x="4125316" y="2185416"/>
            <a:ext cx="869137" cy="274320"/>
          </a:xfrm>
          <a:prstGeom prst="roundRect">
            <a:avLst>
              <a:gd name="adj" fmla="val 16667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61" name="Text 56"/>
          <p:cNvSpPr txBox="1"/>
          <p:nvPr/>
        </p:nvSpPr>
        <p:spPr>
          <a:xfrm>
            <a:off x="4161892" y="2185416"/>
            <a:ext cx="7959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</a:t>
            </a:r>
            <a:endParaRPr lang="en-US" sz="850" dirty="0"/>
          </a:p>
        </p:txBody>
      </p:sp>
      <p:sp>
        <p:nvSpPr>
          <p:cNvPr id="62" name="Text 57"/>
          <p:cNvSpPr txBox="1"/>
          <p:nvPr/>
        </p:nvSpPr>
        <p:spPr>
          <a:xfrm>
            <a:off x="1078992" y="2496312"/>
            <a:ext cx="391546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Factory’s lowest viable price ₹180: 13.8% below market, made to order</a:t>
            </a:r>
            <a:endParaRPr lang="en-US" sz="850" dirty="0"/>
          </a:p>
        </p:txBody>
      </p:sp>
      <p:sp>
        <p:nvSpPr>
          <p:cNvPr id="63" name="Shape 58"/>
          <p:cNvSpPr/>
          <p:nvPr/>
        </p:nvSpPr>
        <p:spPr>
          <a:xfrm>
            <a:off x="621792" y="2734056"/>
            <a:ext cx="4372661" cy="551383"/>
          </a:xfrm>
          <a:prstGeom prst="roundRect">
            <a:avLst>
              <a:gd name="adj" fmla="val 6634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64" name="Text 59"/>
          <p:cNvSpPr txBox="1"/>
          <p:nvPr/>
        </p:nvSpPr>
        <p:spPr>
          <a:xfrm>
            <a:off x="676656" y="2734056"/>
            <a:ext cx="1600200" cy="5513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4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₹1,049 cr</a:t>
            </a:r>
            <a:endParaRPr lang="en-US" sz="950" dirty="0"/>
          </a:p>
          <a:p>
            <a:pPr indent="0" marL="0">
              <a:buNone/>
            </a:pPr>
            <a:r>
              <a:rPr lang="en-US" sz="1000" b="1" dirty="0">
                <a:solidFill>
                  <a:srgbClr val="E84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year</a:t>
            </a:r>
            <a:endParaRPr lang="en-US" sz="950" dirty="0"/>
          </a:p>
        </p:txBody>
      </p:sp>
      <p:sp>
        <p:nvSpPr>
          <p:cNvPr id="65" name="Text 60"/>
          <p:cNvSpPr txBox="1"/>
          <p:nvPr/>
        </p:nvSpPr>
        <p:spPr>
          <a:xfrm>
            <a:off x="2313432" y="2752344"/>
            <a:ext cx="2617013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wholesaler mark-up sits inside Meesho’s nine C2M categories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₹41,560 cr FY26 NMV [S3] × 40% in C2M categories [A6] × 6.3% mark-up share of a ₹209 pack [A24]</a:t>
            </a:r>
            <a:endParaRPr lang="en-US" sz="850" dirty="0"/>
          </a:p>
        </p:txBody>
      </p:sp>
      <p:sp>
        <p:nvSpPr>
          <p:cNvPr id="66" name="Shape 61"/>
          <p:cNvSpPr/>
          <p:nvPr/>
        </p:nvSpPr>
        <p:spPr>
          <a:xfrm>
            <a:off x="548640" y="3431743"/>
            <a:ext cx="4518965" cy="246888"/>
          </a:xfrm>
          <a:prstGeom prst="roundRect">
            <a:avLst>
              <a:gd name="adj" fmla="val 18519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67" name="Text 62"/>
          <p:cNvSpPr txBox="1"/>
          <p:nvPr/>
        </p:nvSpPr>
        <p:spPr>
          <a:xfrm>
            <a:off x="621792" y="3431743"/>
            <a:ext cx="437266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to solve, and where the deck answers them</a:t>
            </a:r>
            <a:endParaRPr lang="en-US" sz="1050" dirty="0"/>
          </a:p>
        </p:txBody>
      </p:sp>
      <p:sp>
        <p:nvSpPr>
          <p:cNvPr id="68" name="Shape 63"/>
          <p:cNvSpPr/>
          <p:nvPr/>
        </p:nvSpPr>
        <p:spPr>
          <a:xfrm>
            <a:off x="548640" y="3706063"/>
            <a:ext cx="4518965" cy="547726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69" name="Text 64"/>
          <p:cNvSpPr txBox="1"/>
          <p:nvPr/>
        </p:nvSpPr>
        <p:spPr>
          <a:xfrm>
            <a:off x="621792" y="3760927"/>
            <a:ext cx="2140610" cy="145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9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real price edge</a:t>
            </a:r>
            <a:pPr indent="0" marL="0">
              <a:buNone/>
            </a:pPr>
            <a:r>
              <a:rPr lang="en-US" sz="9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p5</a:t>
            </a:r>
            <a:endParaRPr lang="en-US" sz="900" dirty="0"/>
          </a:p>
        </p:txBody>
      </p:sp>
      <p:sp>
        <p:nvSpPr>
          <p:cNvPr id="70" name="Text 65"/>
          <p:cNvSpPr txBox="1"/>
          <p:nvPr/>
        </p:nvSpPr>
        <p:spPr>
          <a:xfrm>
            <a:off x="2808122" y="3760927"/>
            <a:ext cx="2140610" cy="145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9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shipping and returns off factories</a:t>
            </a:r>
            <a:pPr indent="0" marL="0">
              <a:buNone/>
            </a:pPr>
            <a:r>
              <a:rPr lang="en-US" sz="9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p6</a:t>
            </a:r>
            <a:endParaRPr lang="en-US" sz="900" dirty="0"/>
          </a:p>
        </p:txBody>
      </p:sp>
      <p:sp>
        <p:nvSpPr>
          <p:cNvPr id="71" name="Text 66"/>
          <p:cNvSpPr txBox="1"/>
          <p:nvPr/>
        </p:nvSpPr>
        <p:spPr>
          <a:xfrm>
            <a:off x="621792" y="3906926"/>
            <a:ext cx="2140610" cy="145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9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build-to-stock risk</a:t>
            </a:r>
            <a:pPr indent="0" marL="0">
              <a:buNone/>
            </a:pPr>
            <a:r>
              <a:rPr lang="en-US" sz="9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p6</a:t>
            </a:r>
            <a:endParaRPr lang="en-US" sz="900" dirty="0"/>
          </a:p>
        </p:txBody>
      </p:sp>
      <p:sp>
        <p:nvSpPr>
          <p:cNvPr id="72" name="Text 67"/>
          <p:cNvSpPr txBox="1"/>
          <p:nvPr/>
        </p:nvSpPr>
        <p:spPr>
          <a:xfrm>
            <a:off x="2808122" y="3906926"/>
            <a:ext cx="2140610" cy="145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9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the 45–60 day cash cycle</a:t>
            </a:r>
            <a:pPr indent="0" marL="0">
              <a:buNone/>
            </a:pPr>
            <a:r>
              <a:rPr lang="en-US" sz="9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p6</a:t>
            </a:r>
            <a:endParaRPr lang="en-US" sz="900" dirty="0"/>
          </a:p>
        </p:txBody>
      </p:sp>
      <p:sp>
        <p:nvSpPr>
          <p:cNvPr id="73" name="Text 68"/>
          <p:cNvSpPr txBox="1"/>
          <p:nvPr/>
        </p:nvSpPr>
        <p:spPr>
          <a:xfrm>
            <a:off x="621792" y="4052926"/>
            <a:ext cx="2140610" cy="145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9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cold start without subsidy</a:t>
            </a:r>
            <a:pPr indent="0" marL="0">
              <a:buNone/>
            </a:pPr>
            <a:r>
              <a:rPr lang="en-US" sz="9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p8</a:t>
            </a:r>
            <a:endParaRPr lang="en-US" sz="900" dirty="0"/>
          </a:p>
        </p:txBody>
      </p:sp>
      <p:sp>
        <p:nvSpPr>
          <p:cNvPr id="74" name="Text 69"/>
          <p:cNvSpPr txBox="1"/>
          <p:nvPr/>
        </p:nvSpPr>
        <p:spPr>
          <a:xfrm>
            <a:off x="2808122" y="4052926"/>
            <a:ext cx="2140610" cy="145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9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the price gap decaying</a:t>
            </a:r>
            <a:pPr indent="0" marL="0">
              <a:buNone/>
            </a:pPr>
            <a:r>
              <a:rPr lang="en-US" sz="9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p9</a:t>
            </a:r>
            <a:endParaRPr lang="en-US" sz="900" dirty="0"/>
          </a:p>
        </p:txBody>
      </p:sp>
      <p:sp>
        <p:nvSpPr>
          <p:cNvPr id="75" name="Shape 70"/>
          <p:cNvSpPr/>
          <p:nvPr/>
        </p:nvSpPr>
        <p:spPr>
          <a:xfrm>
            <a:off x="5159045" y="1051560"/>
            <a:ext cx="6801307" cy="246888"/>
          </a:xfrm>
          <a:prstGeom prst="roundRect">
            <a:avLst>
              <a:gd name="adj" fmla="val 18519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76" name="Text 71"/>
          <p:cNvSpPr txBox="1"/>
          <p:nvPr/>
        </p:nvSpPr>
        <p:spPr>
          <a:xfrm>
            <a:off x="5232197" y="1051560"/>
            <a:ext cx="665500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data sets: why factories quit, what buyers pay, what buyers would trade</a:t>
            </a:r>
            <a:endParaRPr lang="en-US" sz="1050" dirty="0"/>
          </a:p>
        </p:txBody>
      </p:sp>
      <p:sp>
        <p:nvSpPr>
          <p:cNvPr id="77" name="Shape 72"/>
          <p:cNvSpPr/>
          <p:nvPr/>
        </p:nvSpPr>
        <p:spPr>
          <a:xfrm>
            <a:off x="5159045" y="1325880"/>
            <a:ext cx="6801307" cy="2927909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78" name="Shape 73"/>
          <p:cNvSpPr/>
          <p:nvPr/>
        </p:nvSpPr>
        <p:spPr>
          <a:xfrm>
            <a:off x="7435291" y="1380744"/>
            <a:ext cx="0" cy="2818181"/>
          </a:xfrm>
          <a:prstGeom prst="line">
            <a:avLst/>
          </a:prstGeom>
          <a:noFill/>
          <a:ln w="9525">
            <a:solidFill>
              <a:srgbClr val="D8C2D0"/>
            </a:solidFill>
            <a:prstDash val="dash"/>
          </a:ln>
        </p:spPr>
      </p:sp>
      <p:sp>
        <p:nvSpPr>
          <p:cNvPr id="79" name="Shape 74"/>
          <p:cNvSpPr/>
          <p:nvPr/>
        </p:nvSpPr>
        <p:spPr>
          <a:xfrm>
            <a:off x="9684106" y="1380744"/>
            <a:ext cx="0" cy="2818181"/>
          </a:xfrm>
          <a:prstGeom prst="line">
            <a:avLst/>
          </a:prstGeom>
          <a:noFill/>
          <a:ln w="9525">
            <a:solidFill>
              <a:srgbClr val="D8C2D0"/>
            </a:solidFill>
            <a:prstDash val="dash"/>
          </a:ln>
        </p:spPr>
      </p:sp>
      <p:sp>
        <p:nvSpPr>
          <p:cNvPr id="80" name="Shape 75"/>
          <p:cNvSpPr/>
          <p:nvPr/>
        </p:nvSpPr>
        <p:spPr>
          <a:xfrm>
            <a:off x="5232197" y="1380744"/>
            <a:ext cx="566928" cy="56692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434F"/>
            </a:solidFill>
            <a:prstDash val="solid"/>
          </a:ln>
        </p:spPr>
      </p:sp>
      <p:sp>
        <p:nvSpPr>
          <p:cNvPr id="81" name="Text 76"/>
          <p:cNvSpPr txBox="1"/>
          <p:nvPr/>
        </p:nvSpPr>
        <p:spPr>
          <a:xfrm>
            <a:off x="5140757" y="1380744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2,365</a:t>
            </a:r>
            <a:endParaRPr lang="en-US" sz="1100" dirty="0"/>
          </a:p>
        </p:txBody>
      </p:sp>
      <p:sp>
        <p:nvSpPr>
          <p:cNvPr id="82" name="Text 77"/>
          <p:cNvSpPr txBox="1"/>
          <p:nvPr/>
        </p:nvSpPr>
        <p:spPr>
          <a:xfrm>
            <a:off x="5835701" y="1380744"/>
            <a:ext cx="15538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ICRIER MSME survey [S4]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firms that joined e-commerce quit (% of quitters)</a:t>
            </a:r>
            <a:endParaRPr lang="en-US" sz="850" dirty="0"/>
          </a:p>
        </p:txBody>
      </p:sp>
      <p:sp>
        <p:nvSpPr>
          <p:cNvPr id="83" name="Text 78"/>
          <p:cNvSpPr txBox="1"/>
          <p:nvPr/>
        </p:nvSpPr>
        <p:spPr>
          <a:xfrm>
            <a:off x="5232197" y="2057400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Lacked knowledge</a:t>
            </a:r>
            <a:endParaRPr lang="en-US" sz="850" dirty="0"/>
          </a:p>
        </p:txBody>
      </p:sp>
      <p:sp>
        <p:nvSpPr>
          <p:cNvPr id="84" name="Shape 79"/>
          <p:cNvSpPr/>
          <p:nvPr/>
        </p:nvSpPr>
        <p:spPr>
          <a:xfrm>
            <a:off x="6393485" y="2089404"/>
            <a:ext cx="619787" cy="137160"/>
          </a:xfrm>
          <a:prstGeom prst="rect">
            <a:avLst/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85" name="Text 80"/>
          <p:cNvSpPr txBox="1"/>
          <p:nvPr/>
        </p:nvSpPr>
        <p:spPr>
          <a:xfrm>
            <a:off x="7040704" y="2057400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43%</a:t>
            </a:r>
            <a:endParaRPr lang="en-US" sz="850" dirty="0"/>
          </a:p>
        </p:txBody>
      </p:sp>
      <p:sp>
        <p:nvSpPr>
          <p:cNvPr id="86" name="Text 81"/>
          <p:cNvSpPr txBox="1"/>
          <p:nvPr/>
        </p:nvSpPr>
        <p:spPr>
          <a:xfrm>
            <a:off x="5232197" y="2281428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returns</a:t>
            </a:r>
            <a:endParaRPr lang="en-US" sz="850" dirty="0"/>
          </a:p>
        </p:txBody>
      </p:sp>
      <p:sp>
        <p:nvSpPr>
          <p:cNvPr id="87" name="Shape 82"/>
          <p:cNvSpPr/>
          <p:nvPr/>
        </p:nvSpPr>
        <p:spPr>
          <a:xfrm>
            <a:off x="6393485" y="2313432"/>
            <a:ext cx="619787" cy="137160"/>
          </a:xfrm>
          <a:prstGeom prst="rect">
            <a:avLst/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88" name="Text 83"/>
          <p:cNvSpPr txBox="1"/>
          <p:nvPr/>
        </p:nvSpPr>
        <p:spPr>
          <a:xfrm>
            <a:off x="7040704" y="2281428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43%</a:t>
            </a:r>
            <a:endParaRPr lang="en-US" sz="850" dirty="0"/>
          </a:p>
        </p:txBody>
      </p:sp>
      <p:sp>
        <p:nvSpPr>
          <p:cNvPr id="89" name="Text 84"/>
          <p:cNvSpPr txBox="1"/>
          <p:nvPr/>
        </p:nvSpPr>
        <p:spPr>
          <a:xfrm>
            <a:off x="5232197" y="250545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charges</a:t>
            </a:r>
            <a:endParaRPr lang="en-US" sz="850" dirty="0"/>
          </a:p>
        </p:txBody>
      </p:sp>
      <p:sp>
        <p:nvSpPr>
          <p:cNvPr id="90" name="Shape 85"/>
          <p:cNvSpPr/>
          <p:nvPr/>
        </p:nvSpPr>
        <p:spPr>
          <a:xfrm>
            <a:off x="6393485" y="2537460"/>
            <a:ext cx="605373" cy="137160"/>
          </a:xfrm>
          <a:prstGeom prst="rect">
            <a:avLst/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91" name="Text 86"/>
          <p:cNvSpPr txBox="1"/>
          <p:nvPr/>
        </p:nvSpPr>
        <p:spPr>
          <a:xfrm>
            <a:off x="7026290" y="25054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endParaRPr lang="en-US" sz="850" dirty="0"/>
          </a:p>
        </p:txBody>
      </p:sp>
      <p:sp>
        <p:nvSpPr>
          <p:cNvPr id="92" name="Text 87"/>
          <p:cNvSpPr txBox="1"/>
          <p:nvPr/>
        </p:nvSpPr>
        <p:spPr>
          <a:xfrm>
            <a:off x="5232197" y="272948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competition</a:t>
            </a:r>
            <a:endParaRPr lang="en-US" sz="850" dirty="0"/>
          </a:p>
        </p:txBody>
      </p:sp>
      <p:sp>
        <p:nvSpPr>
          <p:cNvPr id="93" name="Shape 88"/>
          <p:cNvSpPr/>
          <p:nvPr/>
        </p:nvSpPr>
        <p:spPr>
          <a:xfrm>
            <a:off x="6393485" y="2761488"/>
            <a:ext cx="576546" cy="137160"/>
          </a:xfrm>
          <a:prstGeom prst="rect">
            <a:avLst/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94" name="Text 89"/>
          <p:cNvSpPr txBox="1"/>
          <p:nvPr/>
        </p:nvSpPr>
        <p:spPr>
          <a:xfrm>
            <a:off x="6997463" y="272948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850" dirty="0"/>
          </a:p>
        </p:txBody>
      </p:sp>
      <p:sp>
        <p:nvSpPr>
          <p:cNvPr id="95" name="Text 90"/>
          <p:cNvSpPr txBox="1"/>
          <p:nvPr/>
        </p:nvSpPr>
        <p:spPr>
          <a:xfrm>
            <a:off x="5232197" y="2953512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/ inventory skills</a:t>
            </a:r>
            <a:endParaRPr lang="en-US" sz="850" dirty="0"/>
          </a:p>
        </p:txBody>
      </p:sp>
      <p:sp>
        <p:nvSpPr>
          <p:cNvPr id="96" name="Shape 91"/>
          <p:cNvSpPr/>
          <p:nvPr/>
        </p:nvSpPr>
        <p:spPr>
          <a:xfrm>
            <a:off x="6393485" y="2985516"/>
            <a:ext cx="562132" cy="137160"/>
          </a:xfrm>
          <a:prstGeom prst="rect">
            <a:avLst/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97" name="Text 92"/>
          <p:cNvSpPr txBox="1"/>
          <p:nvPr/>
        </p:nvSpPr>
        <p:spPr>
          <a:xfrm>
            <a:off x="6983049" y="295351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</a:t>
            </a:r>
            <a:endParaRPr lang="en-US" sz="850" dirty="0"/>
          </a:p>
        </p:txBody>
      </p:sp>
      <p:sp>
        <p:nvSpPr>
          <p:cNvPr id="98" name="Text 93"/>
          <p:cNvSpPr txBox="1"/>
          <p:nvPr/>
        </p:nvSpPr>
        <p:spPr>
          <a:xfrm>
            <a:off x="5232197" y="3177540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profitable</a:t>
            </a:r>
            <a:endParaRPr lang="en-US" sz="850" dirty="0"/>
          </a:p>
        </p:txBody>
      </p:sp>
      <p:sp>
        <p:nvSpPr>
          <p:cNvPr id="99" name="Shape 94"/>
          <p:cNvSpPr/>
          <p:nvPr/>
        </p:nvSpPr>
        <p:spPr>
          <a:xfrm>
            <a:off x="6393485" y="3209544"/>
            <a:ext cx="504478" cy="137160"/>
          </a:xfrm>
          <a:prstGeom prst="rect">
            <a:avLst/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100" name="Text 95"/>
          <p:cNvSpPr txBox="1"/>
          <p:nvPr/>
        </p:nvSpPr>
        <p:spPr>
          <a:xfrm>
            <a:off x="6925395" y="3177540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850" dirty="0"/>
          </a:p>
        </p:txBody>
      </p:sp>
      <p:sp>
        <p:nvSpPr>
          <p:cNvPr id="101" name="Text 96"/>
          <p:cNvSpPr txBox="1"/>
          <p:nvPr/>
        </p:nvSpPr>
        <p:spPr>
          <a:xfrm>
            <a:off x="5232197" y="3401568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enough staff</a:t>
            </a:r>
            <a:endParaRPr lang="en-US" sz="850" dirty="0"/>
          </a:p>
        </p:txBody>
      </p:sp>
      <p:sp>
        <p:nvSpPr>
          <p:cNvPr id="102" name="Shape 97"/>
          <p:cNvSpPr/>
          <p:nvPr/>
        </p:nvSpPr>
        <p:spPr>
          <a:xfrm>
            <a:off x="6393485" y="3433572"/>
            <a:ext cx="475651" cy="137160"/>
          </a:xfrm>
          <a:prstGeom prst="rect">
            <a:avLst/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03" name="Text 98"/>
          <p:cNvSpPr txBox="1"/>
          <p:nvPr/>
        </p:nvSpPr>
        <p:spPr>
          <a:xfrm>
            <a:off x="6896567" y="3401568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</a:t>
            </a:r>
            <a:endParaRPr lang="en-US" sz="850" dirty="0"/>
          </a:p>
        </p:txBody>
      </p:sp>
      <p:sp>
        <p:nvSpPr>
          <p:cNvPr id="104" name="Text 99"/>
          <p:cNvSpPr txBox="1"/>
          <p:nvPr/>
        </p:nvSpPr>
        <p:spPr>
          <a:xfrm>
            <a:off x="5232197" y="362559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capacity</a:t>
            </a:r>
            <a:endParaRPr lang="en-US" sz="850" dirty="0"/>
          </a:p>
        </p:txBody>
      </p:sp>
      <p:sp>
        <p:nvSpPr>
          <p:cNvPr id="105" name="Shape 100"/>
          <p:cNvSpPr/>
          <p:nvPr/>
        </p:nvSpPr>
        <p:spPr>
          <a:xfrm>
            <a:off x="6393485" y="3657600"/>
            <a:ext cx="432410" cy="137160"/>
          </a:xfrm>
          <a:prstGeom prst="rect">
            <a:avLst/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06" name="Text 101"/>
          <p:cNvSpPr txBox="1"/>
          <p:nvPr/>
        </p:nvSpPr>
        <p:spPr>
          <a:xfrm>
            <a:off x="6853326" y="362559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850" dirty="0"/>
          </a:p>
        </p:txBody>
      </p:sp>
      <p:sp>
        <p:nvSpPr>
          <p:cNvPr id="107" name="Text 102"/>
          <p:cNvSpPr txBox="1"/>
          <p:nvPr/>
        </p:nvSpPr>
        <p:spPr>
          <a:xfrm>
            <a:off x="5232197" y="3778301"/>
            <a:ext cx="215737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Coral = operational: </a:t>
            </a:r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barriers a node and batches remove. 1 in 5 firms that joined quit; 35% still want to join.</a:t>
            </a:r>
            <a:endParaRPr lang="en-US" sz="850" dirty="0"/>
          </a:p>
        </p:txBody>
      </p:sp>
      <p:sp>
        <p:nvSpPr>
          <p:cNvPr id="108" name="Shape 103"/>
          <p:cNvSpPr/>
          <p:nvPr/>
        </p:nvSpPr>
        <p:spPr>
          <a:xfrm>
            <a:off x="7481011" y="1380744"/>
            <a:ext cx="566928" cy="56692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434F"/>
            </a:solidFill>
            <a:prstDash val="solid"/>
          </a:ln>
        </p:spPr>
      </p:sp>
      <p:sp>
        <p:nvSpPr>
          <p:cNvPr id="109" name="Text 104"/>
          <p:cNvSpPr txBox="1"/>
          <p:nvPr/>
        </p:nvSpPr>
        <p:spPr>
          <a:xfrm>
            <a:off x="7389571" y="1380744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279</a:t>
            </a:r>
            <a:endParaRPr lang="en-US" sz="1300" dirty="0"/>
          </a:p>
        </p:txBody>
      </p:sp>
      <p:sp>
        <p:nvSpPr>
          <p:cNvPr id="110" name="Text 105"/>
          <p:cNvSpPr txBox="1"/>
          <p:nvPr/>
        </p:nvSpPr>
        <p:spPr>
          <a:xfrm>
            <a:off x="8084515" y="1380744"/>
            <a:ext cx="15538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teardown, meesho.com [S10]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listings, 5 product types, 2 Oct 2026</a:t>
            </a:r>
            <a:endParaRPr lang="en-US" sz="850" dirty="0"/>
          </a:p>
        </p:txBody>
      </p:sp>
      <p:sp>
        <p:nvSpPr>
          <p:cNvPr id="111" name="Text 106"/>
          <p:cNvSpPr txBox="1"/>
          <p:nvPr/>
        </p:nvSpPr>
        <p:spPr>
          <a:xfrm>
            <a:off x="7481011" y="2002536"/>
            <a:ext cx="215737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B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listings   </a:t>
            </a:r>
            <a:pPr indent="0" marL="0">
              <a:buNone/>
            </a:pPr>
            <a:r>
              <a:rPr lang="en-US" sz="750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reviews (demand proxy)</a:t>
            </a:r>
            <a:endParaRPr lang="en-US" sz="750" dirty="0"/>
          </a:p>
        </p:txBody>
      </p:sp>
      <p:sp>
        <p:nvSpPr>
          <p:cNvPr id="112" name="Text 107"/>
          <p:cNvSpPr txBox="1"/>
          <p:nvPr/>
        </p:nvSpPr>
        <p:spPr>
          <a:xfrm>
            <a:off x="7481011" y="2167128"/>
            <a:ext cx="215737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Men’s briefs, 3-pack, n = 56, by price band (₹)</a:t>
            </a:r>
            <a:endParaRPr lang="en-US" sz="750" dirty="0"/>
          </a:p>
        </p:txBody>
      </p:sp>
      <p:sp>
        <p:nvSpPr>
          <p:cNvPr id="113" name="Shape 108"/>
          <p:cNvSpPr/>
          <p:nvPr/>
        </p:nvSpPr>
        <p:spPr>
          <a:xfrm>
            <a:off x="7563307" y="3275595"/>
            <a:ext cx="126441" cy="258122"/>
          </a:xfrm>
          <a:prstGeom prst="rect">
            <a:avLst/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114" name="Shape 109"/>
          <p:cNvSpPr/>
          <p:nvPr/>
        </p:nvSpPr>
        <p:spPr>
          <a:xfrm>
            <a:off x="7698892" y="2486579"/>
            <a:ext cx="126441" cy="1047138"/>
          </a:xfrm>
          <a:prstGeom prst="rect">
            <a:avLst/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15" name="Text 110"/>
          <p:cNvSpPr txBox="1"/>
          <p:nvPr/>
        </p:nvSpPr>
        <p:spPr>
          <a:xfrm>
            <a:off x="7607452" y="2331131"/>
            <a:ext cx="300177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43%</a:t>
            </a:r>
            <a:endParaRPr lang="en-US" sz="750" dirty="0"/>
          </a:p>
        </p:txBody>
      </p:sp>
      <p:sp>
        <p:nvSpPr>
          <p:cNvPr id="116" name="Text 111"/>
          <p:cNvSpPr txBox="1"/>
          <p:nvPr/>
        </p:nvSpPr>
        <p:spPr>
          <a:xfrm>
            <a:off x="7490155" y="3552005"/>
            <a:ext cx="41747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&lt;200</a:t>
            </a:r>
            <a:endParaRPr lang="en-US" sz="700" dirty="0"/>
          </a:p>
        </p:txBody>
      </p:sp>
      <p:sp>
        <p:nvSpPr>
          <p:cNvPr id="117" name="Shape 112"/>
          <p:cNvSpPr/>
          <p:nvPr/>
        </p:nvSpPr>
        <p:spPr>
          <a:xfrm>
            <a:off x="7907630" y="2974453"/>
            <a:ext cx="126441" cy="559264"/>
          </a:xfrm>
          <a:prstGeom prst="rect">
            <a:avLst/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118" name="Shape 113"/>
          <p:cNvSpPr/>
          <p:nvPr/>
        </p:nvSpPr>
        <p:spPr>
          <a:xfrm>
            <a:off x="8043215" y="2956651"/>
            <a:ext cx="126441" cy="577066"/>
          </a:xfrm>
          <a:prstGeom prst="rect">
            <a:avLst/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19" name="Text 114"/>
          <p:cNvSpPr txBox="1"/>
          <p:nvPr/>
        </p:nvSpPr>
        <p:spPr>
          <a:xfrm>
            <a:off x="7951775" y="2801203"/>
            <a:ext cx="300177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</a:t>
            </a:r>
            <a:endParaRPr lang="en-US" sz="750" dirty="0"/>
          </a:p>
        </p:txBody>
      </p:sp>
      <p:sp>
        <p:nvSpPr>
          <p:cNvPr id="120" name="Text 115"/>
          <p:cNvSpPr txBox="1"/>
          <p:nvPr/>
        </p:nvSpPr>
        <p:spPr>
          <a:xfrm>
            <a:off x="7834478" y="3552005"/>
            <a:ext cx="41747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200–249</a:t>
            </a:r>
            <a:endParaRPr lang="en-US" sz="700" dirty="0"/>
          </a:p>
        </p:txBody>
      </p:sp>
      <p:sp>
        <p:nvSpPr>
          <p:cNvPr id="121" name="Shape 116"/>
          <p:cNvSpPr/>
          <p:nvPr/>
        </p:nvSpPr>
        <p:spPr>
          <a:xfrm>
            <a:off x="8251952" y="3318615"/>
            <a:ext cx="126441" cy="215102"/>
          </a:xfrm>
          <a:prstGeom prst="rect">
            <a:avLst/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122" name="Shape 117"/>
          <p:cNvSpPr/>
          <p:nvPr/>
        </p:nvSpPr>
        <p:spPr>
          <a:xfrm>
            <a:off x="8387537" y="3512872"/>
            <a:ext cx="126441" cy="20845"/>
          </a:xfrm>
          <a:prstGeom prst="rect">
            <a:avLst/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23" name="Text 118"/>
          <p:cNvSpPr txBox="1"/>
          <p:nvPr/>
        </p:nvSpPr>
        <p:spPr>
          <a:xfrm>
            <a:off x="8296097" y="3357424"/>
            <a:ext cx="300177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1%</a:t>
            </a:r>
            <a:endParaRPr lang="en-US" sz="750" dirty="0"/>
          </a:p>
        </p:txBody>
      </p:sp>
      <p:sp>
        <p:nvSpPr>
          <p:cNvPr id="124" name="Text 119"/>
          <p:cNvSpPr txBox="1"/>
          <p:nvPr/>
        </p:nvSpPr>
        <p:spPr>
          <a:xfrm>
            <a:off x="8178800" y="3552005"/>
            <a:ext cx="41747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250–299</a:t>
            </a:r>
            <a:endParaRPr lang="en-US" sz="700" dirty="0"/>
          </a:p>
        </p:txBody>
      </p:sp>
      <p:sp>
        <p:nvSpPr>
          <p:cNvPr id="125" name="Shape 120"/>
          <p:cNvSpPr/>
          <p:nvPr/>
        </p:nvSpPr>
        <p:spPr>
          <a:xfrm>
            <a:off x="8596274" y="2888412"/>
            <a:ext cx="126441" cy="645305"/>
          </a:xfrm>
          <a:prstGeom prst="rect">
            <a:avLst/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126" name="Shape 121"/>
          <p:cNvSpPr/>
          <p:nvPr/>
        </p:nvSpPr>
        <p:spPr>
          <a:xfrm>
            <a:off x="8731860" y="2899949"/>
            <a:ext cx="126441" cy="633768"/>
          </a:xfrm>
          <a:prstGeom prst="rect">
            <a:avLst/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27" name="Text 122"/>
          <p:cNvSpPr txBox="1"/>
          <p:nvPr/>
        </p:nvSpPr>
        <p:spPr>
          <a:xfrm>
            <a:off x="8640420" y="2744501"/>
            <a:ext cx="300177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</a:t>
            </a:r>
            <a:endParaRPr lang="en-US" sz="750" dirty="0"/>
          </a:p>
        </p:txBody>
      </p:sp>
      <p:sp>
        <p:nvSpPr>
          <p:cNvPr id="128" name="Text 123"/>
          <p:cNvSpPr txBox="1"/>
          <p:nvPr/>
        </p:nvSpPr>
        <p:spPr>
          <a:xfrm>
            <a:off x="8523122" y="3552005"/>
            <a:ext cx="41747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300–399</a:t>
            </a:r>
            <a:endParaRPr lang="en-US" sz="700" dirty="0"/>
          </a:p>
        </p:txBody>
      </p:sp>
      <p:sp>
        <p:nvSpPr>
          <p:cNvPr id="129" name="Shape 124"/>
          <p:cNvSpPr/>
          <p:nvPr/>
        </p:nvSpPr>
        <p:spPr>
          <a:xfrm>
            <a:off x="8940597" y="3103514"/>
            <a:ext cx="126441" cy="430203"/>
          </a:xfrm>
          <a:prstGeom prst="rect">
            <a:avLst/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130" name="Shape 125"/>
          <p:cNvSpPr/>
          <p:nvPr/>
        </p:nvSpPr>
        <p:spPr>
          <a:xfrm>
            <a:off x="9076182" y="3403395"/>
            <a:ext cx="126441" cy="130322"/>
          </a:xfrm>
          <a:prstGeom prst="rect">
            <a:avLst/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31" name="Text 126"/>
          <p:cNvSpPr txBox="1"/>
          <p:nvPr/>
        </p:nvSpPr>
        <p:spPr>
          <a:xfrm>
            <a:off x="8984742" y="3247947"/>
            <a:ext cx="300177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750" dirty="0"/>
          </a:p>
        </p:txBody>
      </p:sp>
      <p:sp>
        <p:nvSpPr>
          <p:cNvPr id="132" name="Text 127"/>
          <p:cNvSpPr txBox="1"/>
          <p:nvPr/>
        </p:nvSpPr>
        <p:spPr>
          <a:xfrm>
            <a:off x="8867445" y="3552005"/>
            <a:ext cx="41747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400–599</a:t>
            </a:r>
            <a:endParaRPr lang="en-US" sz="700" dirty="0"/>
          </a:p>
        </p:txBody>
      </p:sp>
      <p:sp>
        <p:nvSpPr>
          <p:cNvPr id="133" name="Shape 128"/>
          <p:cNvSpPr/>
          <p:nvPr/>
        </p:nvSpPr>
        <p:spPr>
          <a:xfrm>
            <a:off x="9284919" y="3232575"/>
            <a:ext cx="126441" cy="301142"/>
          </a:xfrm>
          <a:prstGeom prst="rect">
            <a:avLst/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134" name="Shape 129"/>
          <p:cNvSpPr/>
          <p:nvPr/>
        </p:nvSpPr>
        <p:spPr>
          <a:xfrm>
            <a:off x="9420504" y="3533717"/>
            <a:ext cx="126441" cy="9144"/>
          </a:xfrm>
          <a:prstGeom prst="rect">
            <a:avLst/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35" name="Text 130"/>
          <p:cNvSpPr txBox="1"/>
          <p:nvPr/>
        </p:nvSpPr>
        <p:spPr>
          <a:xfrm>
            <a:off x="9329064" y="3378269"/>
            <a:ext cx="300177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750" dirty="0"/>
          </a:p>
        </p:txBody>
      </p:sp>
      <p:sp>
        <p:nvSpPr>
          <p:cNvPr id="136" name="Text 131"/>
          <p:cNvSpPr txBox="1"/>
          <p:nvPr/>
        </p:nvSpPr>
        <p:spPr>
          <a:xfrm>
            <a:off x="9211767" y="3552005"/>
            <a:ext cx="41747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600+</a:t>
            </a:r>
            <a:endParaRPr lang="en-US" sz="700" dirty="0"/>
          </a:p>
        </p:txBody>
      </p:sp>
      <p:sp>
        <p:nvSpPr>
          <p:cNvPr id="137" name="Text 132"/>
          <p:cNvSpPr txBox="1"/>
          <p:nvPr/>
        </p:nvSpPr>
        <p:spPr>
          <a:xfrm>
            <a:off x="7481011" y="3778301"/>
            <a:ext cx="215737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under ₹200 are 11% of the shelf but 43% of reviews: volume follows price.</a:t>
            </a:r>
            <a:endParaRPr lang="en-US" sz="850" dirty="0"/>
          </a:p>
        </p:txBody>
      </p:sp>
      <p:sp>
        <p:nvSpPr>
          <p:cNvPr id="138" name="Shape 133"/>
          <p:cNvSpPr/>
          <p:nvPr/>
        </p:nvSpPr>
        <p:spPr>
          <a:xfrm>
            <a:off x="9729826" y="1380744"/>
            <a:ext cx="566928" cy="56692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434F"/>
            </a:solidFill>
            <a:prstDash val="solid"/>
          </a:ln>
        </p:spPr>
      </p:sp>
      <p:sp>
        <p:nvSpPr>
          <p:cNvPr id="139" name="Text 134"/>
          <p:cNvSpPr txBox="1"/>
          <p:nvPr/>
        </p:nvSpPr>
        <p:spPr>
          <a:xfrm>
            <a:off x="9638386" y="1380744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1400" dirty="0"/>
          </a:p>
        </p:txBody>
      </p:sp>
      <p:sp>
        <p:nvSpPr>
          <p:cNvPr id="140" name="Text 135"/>
          <p:cNvSpPr txBox="1"/>
          <p:nvPr/>
        </p:nvSpPr>
        <p:spPr>
          <a:xfrm>
            <a:off x="10333330" y="1380744"/>
            <a:ext cx="15538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buyer survey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Meesho buyers, last 3 months (kit: research/13)</a:t>
            </a:r>
            <a:endParaRPr lang="en-US" sz="850" dirty="0"/>
          </a:p>
        </p:txBody>
      </p:sp>
      <p:sp>
        <p:nvSpPr>
          <p:cNvPr id="141" name="Shape 136"/>
          <p:cNvSpPr/>
          <p:nvPr/>
        </p:nvSpPr>
        <p:spPr>
          <a:xfrm>
            <a:off x="9729826" y="2039112"/>
            <a:ext cx="2157374" cy="1684325"/>
          </a:xfrm>
          <a:prstGeom prst="rect">
            <a:avLst/>
          </a:prstGeom>
          <a:solidFill>
            <a:srgbClr val="FFFFFF"/>
          </a:solidFill>
          <a:ln w="9525">
            <a:solidFill>
              <a:srgbClr val="E8434F"/>
            </a:solidFill>
            <a:prstDash val="dash"/>
          </a:ln>
        </p:spPr>
      </p:sp>
      <p:sp>
        <p:nvSpPr>
          <p:cNvPr id="142" name="Text 137"/>
          <p:cNvSpPr txBox="1"/>
          <p:nvPr/>
        </p:nvSpPr>
        <p:spPr>
          <a:xfrm>
            <a:off x="9821266" y="2093976"/>
            <a:ext cx="1974494" cy="1574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[FILL: Q6–Q8 price ladder: % choosing 7–8 day delivery at ₹10 / ₹20 / ₹40 off · Q9 % paying in advance · Q10 trust in “Sold directly by the manufacturer” · base n on each chart]</a:t>
            </a:r>
            <a:endParaRPr lang="en-US" sz="850" dirty="0"/>
          </a:p>
        </p:txBody>
      </p:sp>
      <p:sp>
        <p:nvSpPr>
          <p:cNvPr id="143" name="Text 138"/>
          <p:cNvSpPr txBox="1"/>
          <p:nvPr/>
        </p:nvSpPr>
        <p:spPr>
          <a:xfrm>
            <a:off x="9729826" y="3778301"/>
            <a:ext cx="215737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[FILL: takeaway: the majority answer and its implication]</a:t>
            </a:r>
            <a:endParaRPr lang="en-US" sz="850" dirty="0"/>
          </a:p>
        </p:txBody>
      </p:sp>
      <p:sp>
        <p:nvSpPr>
          <p:cNvPr id="144" name="Shape 139"/>
          <p:cNvSpPr/>
          <p:nvPr/>
        </p:nvSpPr>
        <p:spPr>
          <a:xfrm>
            <a:off x="548640" y="4345229"/>
            <a:ext cx="11411712" cy="246888"/>
          </a:xfrm>
          <a:prstGeom prst="roundRect">
            <a:avLst>
              <a:gd name="adj" fmla="val 18519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145" name="Text 140"/>
          <p:cNvSpPr txBox="1"/>
          <p:nvPr/>
        </p:nvSpPr>
        <p:spPr>
          <a:xfrm>
            <a:off x="621792" y="4345229"/>
            <a:ext cx="112654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voice: published owner and leader interviews (verbatim, ≤ 25 words)</a:t>
            </a:r>
            <a:endParaRPr lang="en-US" sz="1050" dirty="0"/>
          </a:p>
        </p:txBody>
      </p:sp>
      <p:sp>
        <p:nvSpPr>
          <p:cNvPr id="146" name="Shape 141"/>
          <p:cNvSpPr/>
          <p:nvPr/>
        </p:nvSpPr>
        <p:spPr>
          <a:xfrm>
            <a:off x="548640" y="4619549"/>
            <a:ext cx="11411712" cy="1506931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4674413"/>
          <a:ext cx="11265408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4206240"/>
                <a:gridCol w="1691640"/>
                <a:gridCol w="777240"/>
                <a:gridCol w="2441448"/>
              </a:tblGrid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Stakeholder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Verbatim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Implication for Factory Direct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2944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Navamani, MD, Cossmo Tex (Tiruppur) [S21]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i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“Currently, domestic business is about 20%, and we are planning to increase it to 35–40% … because export markets are mostly volatile.”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 orders swing with tariffs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Pitch C2M as a permanent domestic hedge, not a rescue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44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Ashwin Kumar, Managing Partner, NASA Impex (Tiruppur) [S21]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i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“Orders of around 100 pieces tend to double costs … so 500 pieces is our preferred minimum.”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runs cost twice as much per piece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Brief pools district demand into batches of 500+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944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Vinod Dhamija, Chairman, HCCI Panipat chapter [S9]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i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“Panipat’s exports had shrunk by 50 per cent, while the domestic market had also been disturbed very badly.”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looms, weak orders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Demand, cash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Panipat is pilot cluster 2; 30% paid at handover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443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Vidit Aatrey, CEO, Meesho (Q4 FY26 call) [S2]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i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“If their quality is not that great, they do not get visibility for orders.”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sellers start with no orders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Visibility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Impression grants for new factories, not order subsidies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pic>
        <p:nvPicPr>
          <p:cNvPr id="3" name="Image 0" descr="/Users/prathmeshwalimbe/Downloads/Meesho/02_round2_detailed_submission/deck/source/assets/dice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97280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97280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2071116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E8434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071116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Segments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3044952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044952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Sizing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018788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018788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Truth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992624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992624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5966460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66460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Benchmarks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6940296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940296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Sustainable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Scale-up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7914132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914132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KPIs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8887968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887968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9861804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861804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Risks</a:t>
            </a:r>
            <a:endParaRPr lang="en-US" sz="850" dirty="0"/>
          </a:p>
        </p:txBody>
      </p:sp>
      <p:pic>
        <p:nvPicPr>
          <p:cNvPr id="24" name="Image 1" descr="/Users/prathmeshwalimbe/Downloads/Meesho/02_round2_detailed_submission/deck/source/assets/meesho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25" name="Image 2" descr="/Users/prathmeshwalimbe/Downloads/Meesho/02_round2_detailed_submission/deck/source/assets/iitb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offline B2B factories (8,400 firms, score 4.35 of 5) in hosiery and home textiles, piloting in Tiruppur and Panipat</a:t>
            </a:r>
            <a:endParaRPr lang="en-US" sz="1700" dirty="0"/>
          </a:p>
        </p:txBody>
      </p:sp>
      <p:sp>
        <p:nvSpPr>
          <p:cNvPr id="27" name="Shape 22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228600" y="6199632"/>
            <a:ext cx="11731752" cy="365760"/>
          </a:xfrm>
          <a:prstGeom prst="roundRect">
            <a:avLst>
              <a:gd name="adj" fmla="val 15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365760" y="619963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onboard Cohort A in Tiruppur and Panipat first; re-activate Cohort C in parallel; Cohort B only with value-tier SKUs. Owner: Category · KPI: 60 factories catalogued by Day 60.</a:t>
            </a:r>
            <a:endParaRPr lang="en-US" sz="1050" dirty="0"/>
          </a:p>
        </p:txBody>
      </p:sp>
      <p:sp>
        <p:nvSpPr>
          <p:cNvPr id="31" name="Text 26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S2, S20, S22 (24 interviews, 8 per cohort; cluster scores)   |   Weights and rubric: Appendix B · AHP matrix: Appendix C   |   ✓ = 5, – = 3, ✕ = 1</a:t>
            </a:r>
            <a:endParaRPr lang="en-US" sz="800" dirty="0"/>
          </a:p>
        </p:txBody>
      </p:sp>
      <p:sp>
        <p:nvSpPr>
          <p:cNvPr id="32" name="Text 27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548640" y="1051560"/>
            <a:ext cx="4176613" cy="246888"/>
          </a:xfrm>
          <a:prstGeom prst="roundRect">
            <a:avLst>
              <a:gd name="adj" fmla="val 18519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621792" y="1051560"/>
            <a:ext cx="403030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scoring: 3 cohorts × 5 criteria (1–5, higher = better)</a:t>
            </a:r>
            <a:endParaRPr lang="en-US" sz="1050" dirty="0"/>
          </a:p>
        </p:txBody>
      </p:sp>
      <p:sp>
        <p:nvSpPr>
          <p:cNvPr id="35" name="Shape 30"/>
          <p:cNvSpPr/>
          <p:nvPr/>
        </p:nvSpPr>
        <p:spPr>
          <a:xfrm>
            <a:off x="548640" y="1325880"/>
            <a:ext cx="4176613" cy="2420417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1380744"/>
          <a:ext cx="4030309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84048"/>
                <a:gridCol w="411480"/>
                <a:gridCol w="384048"/>
                <a:gridCol w="457200"/>
                <a:gridCol w="384048"/>
                <a:gridCol w="384048"/>
                <a:gridCol w="482437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Cohort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Firms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edge 30%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Pool size 25%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Fixable barriers 20%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 15%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supply 10%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· Offline B2B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· Churned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· Online elsewhere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Shape 31"/>
          <p:cNvSpPr/>
          <p:nvPr/>
        </p:nvSpPr>
        <p:spPr>
          <a:xfrm>
            <a:off x="621792" y="2642616"/>
            <a:ext cx="292608" cy="219456"/>
          </a:xfrm>
          <a:prstGeom prst="roundRect">
            <a:avLst>
              <a:gd name="adj" fmla="val 20833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658368" y="264261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Text 33"/>
          <p:cNvSpPr txBox="1"/>
          <p:nvPr/>
        </p:nvSpPr>
        <p:spPr>
          <a:xfrm>
            <a:off x="969264" y="2642616"/>
            <a:ext cx="366454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Beachhead: owns cost, sells ex-factory, needs ops</a:t>
            </a:r>
            <a:endParaRPr lang="en-US" sz="900" dirty="0"/>
          </a:p>
        </p:txBody>
      </p:sp>
      <p:sp>
        <p:nvSpPr>
          <p:cNvPr id="40" name="Shape 34"/>
          <p:cNvSpPr/>
          <p:nvPr/>
        </p:nvSpPr>
        <p:spPr>
          <a:xfrm>
            <a:off x="621792" y="2898648"/>
            <a:ext cx="292608" cy="219456"/>
          </a:xfrm>
          <a:prstGeom prst="roundRect">
            <a:avLst>
              <a:gd name="adj" fmla="val 20833"/>
            </a:avLst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658368" y="289864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Text 36"/>
          <p:cNvSpPr txBox="1"/>
          <p:nvPr/>
        </p:nvSpPr>
        <p:spPr>
          <a:xfrm>
            <a:off x="969264" y="2898648"/>
            <a:ext cx="366454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Re-activate now: KYC on file, left after a returns shock</a:t>
            </a:r>
            <a:endParaRPr lang="en-US" sz="900" dirty="0"/>
          </a:p>
        </p:txBody>
      </p:sp>
      <p:sp>
        <p:nvSpPr>
          <p:cNvPr id="43" name="Shape 37"/>
          <p:cNvSpPr/>
          <p:nvPr/>
        </p:nvSpPr>
        <p:spPr>
          <a:xfrm>
            <a:off x="621792" y="3154680"/>
            <a:ext cx="292608" cy="219456"/>
          </a:xfrm>
          <a:prstGeom prst="roundRect">
            <a:avLst>
              <a:gd name="adj" fmla="val 20833"/>
            </a:avLst>
          </a:prstGeom>
          <a:solidFill>
            <a:srgbClr val="6B6B6B"/>
          </a:solidFill>
          <a:ln w="9525">
            <a:solidFill>
              <a:srgbClr val="6B6B6B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658368" y="315468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900" dirty="0"/>
          </a:p>
        </p:txBody>
      </p:sp>
      <p:sp>
        <p:nvSpPr>
          <p:cNvPr id="45" name="Text 39"/>
          <p:cNvSpPr txBox="1"/>
          <p:nvPr/>
        </p:nvSpPr>
        <p:spPr>
          <a:xfrm>
            <a:off x="969264" y="3154680"/>
            <a:ext cx="366454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Value-tier SKUs only: ₹800+ baskets lose money at ₹265 AOV</a:t>
            </a:r>
            <a:endParaRPr lang="en-US" sz="900" dirty="0"/>
          </a:p>
        </p:txBody>
      </p:sp>
      <p:sp>
        <p:nvSpPr>
          <p:cNvPr id="46" name="Text 40"/>
          <p:cNvSpPr txBox="1"/>
          <p:nvPr/>
        </p:nvSpPr>
        <p:spPr>
          <a:xfrm>
            <a:off x="621792" y="3508553"/>
            <a:ext cx="40303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holds with equal weights (4.2 / 3.4 / 3.2). Firms = share of the 11,645 SAM [S22].</a:t>
            </a:r>
            <a:endParaRPr lang="en-US" sz="800" dirty="0"/>
          </a:p>
        </p:txBody>
      </p:sp>
      <p:sp>
        <p:nvSpPr>
          <p:cNvPr id="47" name="Shape 41"/>
          <p:cNvSpPr/>
          <p:nvPr/>
        </p:nvSpPr>
        <p:spPr>
          <a:xfrm>
            <a:off x="548640" y="3837737"/>
            <a:ext cx="4176613" cy="246888"/>
          </a:xfrm>
          <a:prstGeom prst="roundRect">
            <a:avLst>
              <a:gd name="adj" fmla="val 18519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621792" y="3837737"/>
            <a:ext cx="403030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Barrier severity × cohort (24 interviews, Round 1)</a:t>
            </a:r>
            <a:endParaRPr lang="en-US" sz="1050" dirty="0"/>
          </a:p>
        </p:txBody>
      </p:sp>
      <p:sp>
        <p:nvSpPr>
          <p:cNvPr id="49" name="Shape 43"/>
          <p:cNvSpPr/>
          <p:nvPr/>
        </p:nvSpPr>
        <p:spPr>
          <a:xfrm>
            <a:off x="548640" y="4112057"/>
            <a:ext cx="4176613" cy="2014423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4166921"/>
          <a:ext cx="4030309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57200"/>
                <a:gridCol w="457200"/>
                <a:gridCol w="457200"/>
                <a:gridCol w="921349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Barrier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Meesho can fix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Unit-level fulfilment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AA5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Inventory risk, build-to-stock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 and RTO exposure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Unproven demand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cycle, settlement lag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AA5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9B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Channel conflict, brand dilution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AA5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Text 44"/>
          <p:cNvSpPr txBox="1"/>
          <p:nvPr/>
        </p:nvSpPr>
        <p:spPr>
          <a:xfrm>
            <a:off x="621792" y="5739689"/>
            <a:ext cx="4030309" cy="3319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of six barriers are HIGH for Cohort A and all four are operational: Meesho can remove them with infrastructure, not money.</a:t>
            </a:r>
            <a:endParaRPr lang="en-US" sz="900" dirty="0"/>
          </a:p>
        </p:txBody>
      </p:sp>
      <p:sp>
        <p:nvSpPr>
          <p:cNvPr id="52" name="Shape 45"/>
          <p:cNvSpPr/>
          <p:nvPr/>
        </p:nvSpPr>
        <p:spPr>
          <a:xfrm>
            <a:off x="4816693" y="1051560"/>
            <a:ext cx="3674425" cy="246888"/>
          </a:xfrm>
          <a:prstGeom prst="roundRect">
            <a:avLst>
              <a:gd name="adj" fmla="val 18519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53" name="Text 46"/>
          <p:cNvSpPr txBox="1"/>
          <p:nvPr/>
        </p:nvSpPr>
        <p:spPr>
          <a:xfrm>
            <a:off x="4889845" y="1051560"/>
            <a:ext cx="352812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screen: 12 screened, 9 in scope</a:t>
            </a:r>
            <a:endParaRPr lang="en-US" sz="1050" dirty="0"/>
          </a:p>
        </p:txBody>
      </p:sp>
      <p:sp>
        <p:nvSpPr>
          <p:cNvPr id="54" name="Shape 47"/>
          <p:cNvSpPr/>
          <p:nvPr/>
        </p:nvSpPr>
        <p:spPr>
          <a:xfrm>
            <a:off x="4816693" y="1325880"/>
            <a:ext cx="3674425" cy="4800600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89845" y="1380744"/>
          <a:ext cx="3528121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841248"/>
                <a:gridCol w="301752"/>
                <a:gridCol w="301752"/>
                <a:gridCol w="301752"/>
                <a:gridCol w="301752"/>
                <a:gridCol w="382585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Frt.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Saree &amp; dress material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Erode, Bhiwandi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 textiles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Panipat, Solapur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Moulded plastics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Rajkot, Daman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Hosiery &amp; innerwear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Tiruppur, Ludhiana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Imitation jewellery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Rajkot, Coimbatore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 footwear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Agra, Bahadurgarh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Steel kitchenware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Jagadhri, Wazirpur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Brass décor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Moradabad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Bags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Nangloi, Kolkata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Fitted western wear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Gandhi Nagar, Bengaluru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Electronics accessories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Import-assembly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Ethnic wear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Surat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4"/>
                    </a:solidFill>
                  </a:tcPr>
                </a:tc>
              </a:tr>
            </a:tbl>
          </a:graphicData>
        </a:graphic>
      </p:graphicFrame>
      <p:sp>
        <p:nvSpPr>
          <p:cNvPr id="56" name="Text 48"/>
          <p:cNvSpPr txBox="1"/>
          <p:nvPr/>
        </p:nvSpPr>
        <p:spPr>
          <a:xfrm>
            <a:off x="4889845" y="5340096"/>
            <a:ext cx="352812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Weights: </a:t>
            </a:r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floor 40% · idle capacity 20% · low returns 25% · freight per ₹ 15%. </a:t>
            </a:r>
            <a:pPr indent="0" marL="0">
              <a:buNone/>
            </a:pPr>
            <a:r>
              <a:rPr lang="en-US" sz="8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10–12 fail two tests: not now. </a:t>
            </a:r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✓ = factory cost ≥ 12% under the demand-weighted median.</a:t>
            </a:r>
            <a:endParaRPr lang="en-US" sz="850" dirty="0"/>
          </a:p>
        </p:txBody>
      </p:sp>
      <p:sp>
        <p:nvSpPr>
          <p:cNvPr id="57" name="Shape 49"/>
          <p:cNvSpPr/>
          <p:nvPr/>
        </p:nvSpPr>
        <p:spPr>
          <a:xfrm>
            <a:off x="8582558" y="1051560"/>
            <a:ext cx="3377794" cy="246888"/>
          </a:xfrm>
          <a:prstGeom prst="roundRect">
            <a:avLst>
              <a:gd name="adj" fmla="val 18519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58" name="Text 50"/>
          <p:cNvSpPr txBox="1"/>
          <p:nvPr/>
        </p:nvSpPr>
        <p:spPr>
          <a:xfrm>
            <a:off x="8655710" y="1051560"/>
            <a:ext cx="323149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pilot: cluster AHP (CR 0.016)</a:t>
            </a:r>
            <a:endParaRPr lang="en-US" sz="1050" dirty="0"/>
          </a:p>
        </p:txBody>
      </p:sp>
      <p:sp>
        <p:nvSpPr>
          <p:cNvPr id="59" name="Shape 51"/>
          <p:cNvSpPr/>
          <p:nvPr/>
        </p:nvSpPr>
        <p:spPr>
          <a:xfrm>
            <a:off x="8582558" y="1325880"/>
            <a:ext cx="3377794" cy="2826410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60" name="Text 52"/>
          <p:cNvSpPr txBox="1"/>
          <p:nvPr/>
        </p:nvSpPr>
        <p:spPr>
          <a:xfrm>
            <a:off x="8655710" y="1380744"/>
            <a:ext cx="32314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ownership 0.34  ·  </a:t>
            </a:r>
            <a:pPr indent="0" marL="0">
              <a:buNone/>
            </a:pPr>
            <a:r>
              <a:rPr lang="en-US" sz="850" b="1" dirty="0">
                <a:solidFill>
                  <a:srgbClr val="7B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on Meesho 0.26  ·  </a:t>
            </a:r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band 0.18  ·  </a:t>
            </a:r>
            <a:pPr indent="0" marL="0">
              <a:buNone/>
            </a:pPr>
            <a:r>
              <a:rPr lang="en-US" sz="850" b="1" dirty="0">
                <a:solidFill>
                  <a:srgbClr val="7B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feasibility 0.14  ·  </a:t>
            </a:r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partner 0.08</a:t>
            </a:r>
            <a:endParaRPr lang="en-US" sz="850" dirty="0"/>
          </a:p>
        </p:txBody>
      </p:sp>
      <p:graphicFrame>
        <p:nvGraphicFramePr>
          <p:cNvPr id="1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55710" y="1746504"/>
          <a:ext cx="3231490" cy="914400"/>
        </p:xfrm>
        <a:graphic>
          <a:graphicData uri="http://schemas.openxmlformats.org/drawingml/2006/table">
            <a:tbl>
              <a:tblPr/>
              <a:tblGrid>
                <a:gridCol w="786384"/>
                <a:gridCol w="384048"/>
                <a:gridCol w="384048"/>
                <a:gridCol w="384048"/>
                <a:gridCol w="384048"/>
                <a:gridCol w="384048"/>
                <a:gridCol w="524866"/>
              </a:tblGrid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Tiruppur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Panipat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Ludhiana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Rajkot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Surat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Text 53"/>
          <p:cNvSpPr txBox="1"/>
          <p:nvPr/>
        </p:nvSpPr>
        <p:spPr>
          <a:xfrm>
            <a:off x="8655710" y="3191256"/>
            <a:ext cx="3231490" cy="906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Robust: </a:t>
            </a:r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Surat overtakes Panipat only if the weight on demand rises from 0.26 to 0.67; with equal weights the order holds (Tiruppur 4.6, Panipat 4.4, Ludhiana 3.8, Rajkot 3.6, Surat 3.4). Surat is India’s largest textile cluster and still ranks last: scale is the wrong screen.</a:t>
            </a:r>
            <a:endParaRPr lang="en-US" sz="850" dirty="0"/>
          </a:p>
        </p:txBody>
      </p:sp>
      <p:sp>
        <p:nvSpPr>
          <p:cNvPr id="63" name="Shape 54"/>
          <p:cNvSpPr/>
          <p:nvPr/>
        </p:nvSpPr>
        <p:spPr>
          <a:xfrm>
            <a:off x="8582558" y="4243730"/>
            <a:ext cx="3377794" cy="246888"/>
          </a:xfrm>
          <a:prstGeom prst="roundRect">
            <a:avLst>
              <a:gd name="adj" fmla="val 18519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64" name="Text 55"/>
          <p:cNvSpPr txBox="1"/>
          <p:nvPr/>
        </p:nvSpPr>
        <p:spPr>
          <a:xfrm>
            <a:off x="8655710" y="4243730"/>
            <a:ext cx="323149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now, and the evidence</a:t>
            </a:r>
            <a:endParaRPr lang="en-US" sz="1050" dirty="0"/>
          </a:p>
        </p:txBody>
      </p:sp>
      <p:sp>
        <p:nvSpPr>
          <p:cNvPr id="65" name="Shape 56"/>
          <p:cNvSpPr/>
          <p:nvPr/>
        </p:nvSpPr>
        <p:spPr>
          <a:xfrm>
            <a:off x="8582558" y="4518050"/>
            <a:ext cx="3377794" cy="1608430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66" name="Text 57"/>
          <p:cNvSpPr txBox="1"/>
          <p:nvPr/>
        </p:nvSpPr>
        <p:spPr>
          <a:xfrm>
            <a:off x="8655710" y="4572914"/>
            <a:ext cx="3231490" cy="1498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Surat ethnic wear: </a:t>
            </a:r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traders job out weaving and stitching; worst return band (AHP 3.28).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Electronics accessories: </a:t>
            </a:r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import-assembly, no cost ownership: any gap is a subsidy.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Fitted western wear: </a:t>
            </a:r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returns swallow the cost edge.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B premium lines: </a:t>
            </a:r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dilution is the one barrier Meesho cannot fix.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pic>
        <p:nvPicPr>
          <p:cNvPr id="3" name="Image 0" descr="/Users/prathmeshwalimbe/Downloads/Meesho/02_round2_detailed_submission/deck/source/assets/dice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97280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97280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2071116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071116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Segments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3044952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E8434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044952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Sizing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018788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018788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Truth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992624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992624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5966460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66460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Benchmarks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6940296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940296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Sustainable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Scale-up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7914132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914132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KPIs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8887968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887968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9861804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861804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Risks</a:t>
            </a:r>
            <a:endParaRPr lang="en-US" sz="850" dirty="0"/>
          </a:p>
        </p:txBody>
      </p:sp>
      <p:pic>
        <p:nvPicPr>
          <p:cNvPr id="24" name="Image 1" descr="/Users/prathmeshwalimbe/Downloads/Meesho/02_round2_detailed_submission/deck/source/assets/meesho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25" name="Image 2" descr="/Users/prathmeshwalimbe/Downloads/Meesho/02_round2_detailed_submission/deck/source/assets/iitb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11,645 manufacturers can carry a real price gap; 1,400 by Year 4 put ₹1,995 cr of NMV 8%–12% below market</a:t>
            </a:r>
            <a:endParaRPr lang="en-US" sz="1700" dirty="0"/>
          </a:p>
        </p:txBody>
      </p:sp>
      <p:sp>
        <p:nvSpPr>
          <p:cNvPr id="27" name="Shape 22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SIZING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228600" y="6199632"/>
            <a:ext cx="11731752" cy="365760"/>
          </a:xfrm>
          <a:prstGeom prst="roundRect">
            <a:avLst>
              <a:gd name="adj" fmla="val 15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365760" y="619963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plan for 1,400 C2M sellers and ₹1,995 cr run-rate NMV by Year 4 (4.8% of FY26 NMV). Owner: Category · KPI: NMV still clearing the 8% gate.</a:t>
            </a:r>
            <a:endParaRPr lang="en-US" sz="1050" dirty="0"/>
          </a:p>
        </p:txBody>
      </p:sp>
      <p:sp>
        <p:nvSpPr>
          <p:cNvPr id="31" name="Text 26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S3, S5, S6, S7 (Udyam 4.72 cr, team pull Jun 2026; PIB reports 7.83 cr incl. Udyam Assist), S14, S20, S22   |   Assumptions: A1, A2, A5–A9   |   Workings: Appendix B</a:t>
            </a:r>
            <a:endParaRPr lang="en-US" sz="800" dirty="0"/>
          </a:p>
        </p:txBody>
      </p:sp>
      <p:sp>
        <p:nvSpPr>
          <p:cNvPr id="32" name="Text 27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548640" y="1051560"/>
            <a:ext cx="4290731" cy="246888"/>
          </a:xfrm>
          <a:prstGeom prst="roundRect">
            <a:avLst>
              <a:gd name="adj" fmla="val 18519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621792" y="1051560"/>
            <a:ext cx="414442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Addressable base, bottom-up (firms)</a:t>
            </a:r>
            <a:endParaRPr lang="en-US" sz="1050" dirty="0"/>
          </a:p>
        </p:txBody>
      </p:sp>
      <p:sp>
        <p:nvSpPr>
          <p:cNvPr id="35" name="Shape 30"/>
          <p:cNvSpPr/>
          <p:nvPr/>
        </p:nvSpPr>
        <p:spPr>
          <a:xfrm>
            <a:off x="548640" y="1325880"/>
            <a:ext cx="4290731" cy="4800600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621792" y="1380744"/>
            <a:ext cx="1417320" cy="440218"/>
          </a:xfrm>
          <a:prstGeom prst="roundRect">
            <a:avLst>
              <a:gd name="adj" fmla="val 8309"/>
            </a:avLst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621792" y="1380744"/>
            <a:ext cx="1417320" cy="440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4.72 cr</a:t>
            </a:r>
            <a:endParaRPr lang="en-US" sz="1300" dirty="0"/>
          </a:p>
        </p:txBody>
      </p:sp>
      <p:sp>
        <p:nvSpPr>
          <p:cNvPr id="38" name="Text 33"/>
          <p:cNvSpPr txBox="1"/>
          <p:nvPr/>
        </p:nvSpPr>
        <p:spPr>
          <a:xfrm>
            <a:off x="2130552" y="1380744"/>
            <a:ext cx="2105315" cy="440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Udyam-registered MSMEs</a:t>
            </a:r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[S7]</a:t>
            </a:r>
            <a:endParaRPr lang="en-US" sz="900" dirty="0"/>
          </a:p>
        </p:txBody>
      </p:sp>
      <p:sp>
        <p:nvSpPr>
          <p:cNvPr id="39" name="Shape 34"/>
          <p:cNvSpPr/>
          <p:nvPr/>
        </p:nvSpPr>
        <p:spPr>
          <a:xfrm>
            <a:off x="658368" y="1894114"/>
            <a:ext cx="1344168" cy="440218"/>
          </a:xfrm>
          <a:prstGeom prst="roundRect">
            <a:avLst>
              <a:gd name="adj" fmla="val 8309"/>
            </a:avLst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658368" y="1894114"/>
            <a:ext cx="1344168" cy="440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5.28 lakh</a:t>
            </a:r>
            <a:endParaRPr lang="en-US" sz="1300" dirty="0"/>
          </a:p>
        </p:txBody>
      </p:sp>
      <p:sp>
        <p:nvSpPr>
          <p:cNvPr id="41" name="Text 36"/>
          <p:cNvSpPr txBox="1"/>
          <p:nvPr/>
        </p:nvSpPr>
        <p:spPr>
          <a:xfrm>
            <a:off x="2130552" y="1894114"/>
            <a:ext cx="2105315" cy="440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micro (small + medium)</a:t>
            </a:r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[S7]</a:t>
            </a:r>
            <a:endParaRPr lang="en-US" sz="900" dirty="0"/>
          </a:p>
        </p:txBody>
      </p:sp>
      <p:sp>
        <p:nvSpPr>
          <p:cNvPr id="42" name="Shape 37"/>
          <p:cNvSpPr/>
          <p:nvPr/>
        </p:nvSpPr>
        <p:spPr>
          <a:xfrm>
            <a:off x="4290731" y="2004495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4327307" y="2004495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1.1%</a:t>
            </a:r>
            <a:endParaRPr lang="en-US" sz="850" dirty="0"/>
          </a:p>
        </p:txBody>
      </p:sp>
      <p:sp>
        <p:nvSpPr>
          <p:cNvPr id="44" name="Shape 39"/>
          <p:cNvSpPr/>
          <p:nvPr/>
        </p:nvSpPr>
        <p:spPr>
          <a:xfrm>
            <a:off x="694944" y="2407485"/>
            <a:ext cx="1271016" cy="440218"/>
          </a:xfrm>
          <a:prstGeom prst="roundRect">
            <a:avLst>
              <a:gd name="adj" fmla="val 8309"/>
            </a:avLst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694944" y="2407485"/>
            <a:ext cx="1271016" cy="440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1.85 lakh</a:t>
            </a:r>
            <a:endParaRPr lang="en-US" sz="1300" dirty="0"/>
          </a:p>
        </p:txBody>
      </p:sp>
      <p:sp>
        <p:nvSpPr>
          <p:cNvPr id="46" name="Text 41"/>
          <p:cNvSpPr txBox="1"/>
          <p:nvPr/>
        </p:nvSpPr>
        <p:spPr>
          <a:xfrm>
            <a:off x="2130552" y="2407485"/>
            <a:ext cx="2105315" cy="440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manufacturing</a:t>
            </a:r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[S22]</a:t>
            </a:r>
            <a:endParaRPr lang="en-US" sz="900" dirty="0"/>
          </a:p>
        </p:txBody>
      </p:sp>
      <p:sp>
        <p:nvSpPr>
          <p:cNvPr id="47" name="Shape 42"/>
          <p:cNvSpPr/>
          <p:nvPr/>
        </p:nvSpPr>
        <p:spPr>
          <a:xfrm>
            <a:off x="4290731" y="2517866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4327307" y="251786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850" dirty="0"/>
          </a:p>
        </p:txBody>
      </p:sp>
      <p:sp>
        <p:nvSpPr>
          <p:cNvPr id="49" name="Shape 44"/>
          <p:cNvSpPr/>
          <p:nvPr/>
        </p:nvSpPr>
        <p:spPr>
          <a:xfrm>
            <a:off x="731520" y="2920855"/>
            <a:ext cx="1197864" cy="440218"/>
          </a:xfrm>
          <a:prstGeom prst="roundRect">
            <a:avLst>
              <a:gd name="adj" fmla="val 8309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731520" y="2920855"/>
            <a:ext cx="1197864" cy="440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55,451</a:t>
            </a:r>
            <a:endParaRPr lang="en-US" sz="1300" dirty="0"/>
          </a:p>
        </p:txBody>
      </p:sp>
      <p:sp>
        <p:nvSpPr>
          <p:cNvPr id="51" name="Text 46"/>
          <p:cNvSpPr txBox="1"/>
          <p:nvPr/>
        </p:nvSpPr>
        <p:spPr>
          <a:xfrm>
            <a:off x="2130552" y="2920855"/>
            <a:ext cx="2105315" cy="440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Meesho’s categories (TAM)</a:t>
            </a:r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[S22]</a:t>
            </a:r>
            <a:endParaRPr lang="en-US" sz="900" dirty="0"/>
          </a:p>
        </p:txBody>
      </p:sp>
      <p:sp>
        <p:nvSpPr>
          <p:cNvPr id="52" name="Shape 47"/>
          <p:cNvSpPr/>
          <p:nvPr/>
        </p:nvSpPr>
        <p:spPr>
          <a:xfrm>
            <a:off x="4290731" y="3031236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53" name="Text 48"/>
          <p:cNvSpPr txBox="1"/>
          <p:nvPr/>
        </p:nvSpPr>
        <p:spPr>
          <a:xfrm>
            <a:off x="4327307" y="303123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850" dirty="0"/>
          </a:p>
        </p:txBody>
      </p:sp>
      <p:sp>
        <p:nvSpPr>
          <p:cNvPr id="54" name="Shape 49"/>
          <p:cNvSpPr/>
          <p:nvPr/>
        </p:nvSpPr>
        <p:spPr>
          <a:xfrm>
            <a:off x="768096" y="3434225"/>
            <a:ext cx="1124712" cy="440218"/>
          </a:xfrm>
          <a:prstGeom prst="roundRect">
            <a:avLst>
              <a:gd name="adj" fmla="val 8309"/>
            </a:avLst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55" name="Text 50"/>
          <p:cNvSpPr txBox="1"/>
          <p:nvPr/>
        </p:nvSpPr>
        <p:spPr>
          <a:xfrm>
            <a:off x="768096" y="3434225"/>
            <a:ext cx="1124712" cy="440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19,408</a:t>
            </a:r>
            <a:endParaRPr lang="en-US" sz="1300" dirty="0"/>
          </a:p>
        </p:txBody>
      </p:sp>
      <p:sp>
        <p:nvSpPr>
          <p:cNvPr id="56" name="Text 51"/>
          <p:cNvSpPr txBox="1"/>
          <p:nvPr/>
        </p:nvSpPr>
        <p:spPr>
          <a:xfrm>
            <a:off x="2130552" y="3434225"/>
            <a:ext cx="2105315" cy="440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3+ of 4 cost levers</a:t>
            </a:r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[S22]</a:t>
            </a:r>
            <a:endParaRPr lang="en-US" sz="900" dirty="0"/>
          </a:p>
        </p:txBody>
      </p:sp>
      <p:sp>
        <p:nvSpPr>
          <p:cNvPr id="57" name="Shape 52"/>
          <p:cNvSpPr/>
          <p:nvPr/>
        </p:nvSpPr>
        <p:spPr>
          <a:xfrm>
            <a:off x="4290731" y="3544606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58" name="Text 53"/>
          <p:cNvSpPr txBox="1"/>
          <p:nvPr/>
        </p:nvSpPr>
        <p:spPr>
          <a:xfrm>
            <a:off x="4327307" y="354460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850" dirty="0"/>
          </a:p>
        </p:txBody>
      </p:sp>
      <p:sp>
        <p:nvSpPr>
          <p:cNvPr id="59" name="Shape 54"/>
          <p:cNvSpPr/>
          <p:nvPr/>
        </p:nvSpPr>
        <p:spPr>
          <a:xfrm>
            <a:off x="804672" y="3947595"/>
            <a:ext cx="1051560" cy="440218"/>
          </a:xfrm>
          <a:prstGeom prst="roundRect">
            <a:avLst>
              <a:gd name="adj" fmla="val 8309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804672" y="3947595"/>
            <a:ext cx="1051560" cy="440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11,645</a:t>
            </a:r>
            <a:endParaRPr lang="en-US" sz="1300" dirty="0"/>
          </a:p>
        </p:txBody>
      </p:sp>
      <p:sp>
        <p:nvSpPr>
          <p:cNvPr id="61" name="Text 56"/>
          <p:cNvSpPr txBox="1"/>
          <p:nvPr/>
        </p:nvSpPr>
        <p:spPr>
          <a:xfrm>
            <a:off x="2130552" y="3947595"/>
            <a:ext cx="2105315" cy="440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12 screened clusters (SAM)</a:t>
            </a:r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[S22]</a:t>
            </a:r>
            <a:endParaRPr lang="en-US" sz="900" dirty="0"/>
          </a:p>
        </p:txBody>
      </p:sp>
      <p:sp>
        <p:nvSpPr>
          <p:cNvPr id="62" name="Shape 57"/>
          <p:cNvSpPr/>
          <p:nvPr/>
        </p:nvSpPr>
        <p:spPr>
          <a:xfrm>
            <a:off x="4290731" y="4057977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63" name="Text 58"/>
          <p:cNvSpPr txBox="1"/>
          <p:nvPr/>
        </p:nvSpPr>
        <p:spPr>
          <a:xfrm>
            <a:off x="4327307" y="4057977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</a:t>
            </a:r>
            <a:endParaRPr lang="en-US" sz="850" dirty="0"/>
          </a:p>
        </p:txBody>
      </p:sp>
      <p:sp>
        <p:nvSpPr>
          <p:cNvPr id="64" name="Shape 59"/>
          <p:cNvSpPr/>
          <p:nvPr/>
        </p:nvSpPr>
        <p:spPr>
          <a:xfrm>
            <a:off x="841248" y="4460966"/>
            <a:ext cx="978408" cy="440218"/>
          </a:xfrm>
          <a:prstGeom prst="roundRect">
            <a:avLst>
              <a:gd name="adj" fmla="val 8309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65" name="Text 60"/>
          <p:cNvSpPr txBox="1"/>
          <p:nvPr/>
        </p:nvSpPr>
        <p:spPr>
          <a:xfrm>
            <a:off x="841248" y="4460966"/>
            <a:ext cx="978408" cy="440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1,400</a:t>
            </a:r>
            <a:endParaRPr lang="en-US" sz="1300" dirty="0"/>
          </a:p>
        </p:txBody>
      </p:sp>
      <p:sp>
        <p:nvSpPr>
          <p:cNvPr id="66" name="Text 61"/>
          <p:cNvSpPr txBox="1"/>
          <p:nvPr/>
        </p:nvSpPr>
        <p:spPr>
          <a:xfrm>
            <a:off x="2130552" y="4460966"/>
            <a:ext cx="2105315" cy="440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C2M sellers by Year 4 (SOM)</a:t>
            </a:r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[A2]</a:t>
            </a:r>
            <a:endParaRPr lang="en-US" sz="900" dirty="0"/>
          </a:p>
        </p:txBody>
      </p:sp>
      <p:sp>
        <p:nvSpPr>
          <p:cNvPr id="67" name="Shape 62"/>
          <p:cNvSpPr/>
          <p:nvPr/>
        </p:nvSpPr>
        <p:spPr>
          <a:xfrm>
            <a:off x="4290731" y="4571347"/>
            <a:ext cx="475488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68" name="Text 63"/>
          <p:cNvSpPr txBox="1"/>
          <p:nvPr/>
        </p:nvSpPr>
        <p:spPr>
          <a:xfrm>
            <a:off x="4327307" y="4571347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850" dirty="0"/>
          </a:p>
        </p:txBody>
      </p:sp>
      <p:sp>
        <p:nvSpPr>
          <p:cNvPr id="69" name="Text 64"/>
          <p:cNvSpPr txBox="1"/>
          <p:nvPr/>
        </p:nvSpPr>
        <p:spPr>
          <a:xfrm>
            <a:off x="621792" y="4992624"/>
            <a:ext cx="414442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 by cohort</a:t>
            </a:r>
            <a:endParaRPr lang="en-US" sz="900" dirty="0"/>
          </a:p>
        </p:txBody>
      </p:sp>
      <p:sp>
        <p:nvSpPr>
          <p:cNvPr id="70" name="Shape 65"/>
          <p:cNvSpPr/>
          <p:nvPr/>
        </p:nvSpPr>
        <p:spPr>
          <a:xfrm>
            <a:off x="621792" y="5193792"/>
            <a:ext cx="2899862" cy="292608"/>
          </a:xfrm>
          <a:prstGeom prst="rect">
            <a:avLst/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71" name="Text 66"/>
          <p:cNvSpPr txBox="1"/>
          <p:nvPr/>
        </p:nvSpPr>
        <p:spPr>
          <a:xfrm>
            <a:off x="621792" y="5193792"/>
            <a:ext cx="28998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8,400</a:t>
            </a:r>
            <a:endParaRPr lang="en-US" sz="850" dirty="0"/>
          </a:p>
        </p:txBody>
      </p:sp>
      <p:sp>
        <p:nvSpPr>
          <p:cNvPr id="72" name="Shape 67"/>
          <p:cNvSpPr/>
          <p:nvPr/>
        </p:nvSpPr>
        <p:spPr>
          <a:xfrm>
            <a:off x="3539942" y="5193792"/>
            <a:ext cx="751779" cy="292608"/>
          </a:xfrm>
          <a:prstGeom prst="rect">
            <a:avLst/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73" name="Text 68"/>
          <p:cNvSpPr txBox="1"/>
          <p:nvPr/>
        </p:nvSpPr>
        <p:spPr>
          <a:xfrm>
            <a:off x="3539942" y="5193792"/>
            <a:ext cx="7517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2,200</a:t>
            </a:r>
            <a:endParaRPr lang="en-US" sz="850" dirty="0"/>
          </a:p>
        </p:txBody>
      </p:sp>
      <p:sp>
        <p:nvSpPr>
          <p:cNvPr id="74" name="Shape 69"/>
          <p:cNvSpPr/>
          <p:nvPr/>
        </p:nvSpPr>
        <p:spPr>
          <a:xfrm>
            <a:off x="4310010" y="5193792"/>
            <a:ext cx="346481" cy="292608"/>
          </a:xfrm>
          <a:prstGeom prst="rect">
            <a:avLst/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75" name="Text 70"/>
          <p:cNvSpPr txBox="1"/>
          <p:nvPr/>
        </p:nvSpPr>
        <p:spPr>
          <a:xfrm>
            <a:off x="4310010" y="5193792"/>
            <a:ext cx="346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1,050</a:t>
            </a:r>
            <a:endParaRPr lang="en-US" sz="850" dirty="0"/>
          </a:p>
        </p:txBody>
      </p:sp>
      <p:sp>
        <p:nvSpPr>
          <p:cNvPr id="76" name="Text 71"/>
          <p:cNvSpPr txBox="1"/>
          <p:nvPr/>
        </p:nvSpPr>
        <p:spPr>
          <a:xfrm>
            <a:off x="621792" y="5541264"/>
            <a:ext cx="41444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Right-hand figure = conversion from the row above. Cost levers (COI): raw material, production, scale, automation. Small/medium = above ₹2.5 cr investment or ₹10 cr turnover [S5].</a:t>
            </a:r>
            <a:endParaRPr lang="en-US" sz="800" dirty="0"/>
          </a:p>
        </p:txBody>
      </p:sp>
      <p:sp>
        <p:nvSpPr>
          <p:cNvPr id="77" name="Shape 72"/>
          <p:cNvSpPr/>
          <p:nvPr/>
        </p:nvSpPr>
        <p:spPr>
          <a:xfrm>
            <a:off x="4930811" y="1051560"/>
            <a:ext cx="7029541" cy="246888"/>
          </a:xfrm>
          <a:prstGeom prst="roundRect">
            <a:avLst>
              <a:gd name="adj" fmla="val 18519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78" name="Text 73"/>
          <p:cNvSpPr txBox="1"/>
          <p:nvPr/>
        </p:nvSpPr>
        <p:spPr>
          <a:xfrm>
            <a:off x="5003963" y="1051560"/>
            <a:ext cx="688323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Opportunity ladder: what each phase is worth</a:t>
            </a:r>
            <a:endParaRPr lang="en-US" sz="1050" dirty="0"/>
          </a:p>
        </p:txBody>
      </p:sp>
      <p:sp>
        <p:nvSpPr>
          <p:cNvPr id="79" name="Shape 74"/>
          <p:cNvSpPr/>
          <p:nvPr/>
        </p:nvSpPr>
        <p:spPr>
          <a:xfrm>
            <a:off x="4930811" y="1325880"/>
            <a:ext cx="7029541" cy="2318918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03963" y="1380744"/>
          <a:ext cx="6883237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319052"/>
                <a:gridCol w="1319052"/>
                <a:gridCol w="1319052"/>
              </a:tblGrid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 · Day 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 exit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4 exit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Clusters · Factory Nodes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· 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· 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C2M sellers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Run-rate NMV (× ₹1.425 cr per seller) [A1]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₹85.5 cr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₹641 cr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₹1,995 cr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FY26 NMV (₹41,560 cr) [S3]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Buyer savings a year at an 8–12% gap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₹7.4 cr–₹11.7 cr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₹55.8 cr–₹87.4 cr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₹173 cr–₹272 cr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Meesho value a year: incremental orders + fewer failed deliveries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₹3.2 cr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₹23.8 cr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₹74.0 cr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</a:tbl>
          </a:graphicData>
        </a:graphic>
      </p:graphicFrame>
      <p:sp>
        <p:nvSpPr>
          <p:cNvPr id="81" name="Text 75"/>
          <p:cNvSpPr txBox="1"/>
          <p:nvPr/>
        </p:nvSpPr>
        <p:spPr>
          <a:xfrm>
            <a:off x="5003963" y="3227832"/>
            <a:ext cx="6883237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savings = NMV × g ÷ (1 − g). </a:t>
            </a:r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Meesho value = placed orders × (40% incremental × ₹7.3 contribution + ₹2.8 saved on failed deliveries); orders = NMV ÷ ₹155 NMV per C2M order (page 10).</a:t>
            </a:r>
            <a:endParaRPr lang="en-US" sz="850" dirty="0"/>
          </a:p>
        </p:txBody>
      </p:sp>
      <p:sp>
        <p:nvSpPr>
          <p:cNvPr id="82" name="Shape 76"/>
          <p:cNvSpPr/>
          <p:nvPr/>
        </p:nvSpPr>
        <p:spPr>
          <a:xfrm>
            <a:off x="4930811" y="3736238"/>
            <a:ext cx="3446191" cy="246888"/>
          </a:xfrm>
          <a:prstGeom prst="roundRect">
            <a:avLst>
              <a:gd name="adj" fmla="val 18519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83" name="Text 77"/>
          <p:cNvSpPr txBox="1"/>
          <p:nvPr/>
        </p:nvSpPr>
        <p:spPr>
          <a:xfrm>
            <a:off x="5003963" y="3736238"/>
            <a:ext cx="329988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sanity checks</a:t>
            </a:r>
            <a:endParaRPr lang="en-US" sz="1050" dirty="0"/>
          </a:p>
        </p:txBody>
      </p:sp>
      <p:sp>
        <p:nvSpPr>
          <p:cNvPr id="84" name="Shape 78"/>
          <p:cNvSpPr/>
          <p:nvPr/>
        </p:nvSpPr>
        <p:spPr>
          <a:xfrm>
            <a:off x="4930811" y="4010558"/>
            <a:ext cx="3446191" cy="2115922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85" name="Text 79"/>
          <p:cNvSpPr txBox="1"/>
          <p:nvPr/>
        </p:nvSpPr>
        <p:spPr>
          <a:xfrm>
            <a:off x="5003963" y="4065422"/>
            <a:ext cx="868680" cy="623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4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12.0%</a:t>
            </a:r>
            <a:endParaRPr lang="en-US" sz="1500" dirty="0"/>
          </a:p>
        </p:txBody>
      </p:sp>
      <p:sp>
        <p:nvSpPr>
          <p:cNvPr id="86" name="Text 80"/>
          <p:cNvSpPr txBox="1"/>
          <p:nvPr/>
        </p:nvSpPr>
        <p:spPr>
          <a:xfrm>
            <a:off x="5900075" y="4065422"/>
            <a:ext cx="2403775" cy="623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Top-down: ₹1,995 cr is 12.0% of the ₹16,624 cr NMV in the nine C2M categories (40% of FY26 NMV [A6]), the same as the 12% seller capture.</a:t>
            </a:r>
            <a:endParaRPr lang="en-US" sz="850" dirty="0"/>
          </a:p>
        </p:txBody>
      </p:sp>
      <p:sp>
        <p:nvSpPr>
          <p:cNvPr id="87" name="Text 81"/>
          <p:cNvSpPr txBox="1"/>
          <p:nvPr/>
        </p:nvSpPr>
        <p:spPr>
          <a:xfrm>
            <a:off x="5003963" y="4734154"/>
            <a:ext cx="868680" cy="623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4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~250/day</a:t>
            </a:r>
            <a:endParaRPr lang="en-US" sz="1500" dirty="0"/>
          </a:p>
        </p:txBody>
      </p:sp>
      <p:sp>
        <p:nvSpPr>
          <p:cNvPr id="88" name="Text 82"/>
          <p:cNvSpPr txBox="1"/>
          <p:nvPr/>
        </p:nvSpPr>
        <p:spPr>
          <a:xfrm>
            <a:off x="5900075" y="4734154"/>
            <a:ext cx="2403775" cy="623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seller: ₹1.425 cr a year ≈ 250 orders placed a day, ≈ 2.1% of a ₹25 cr factory’s output, against ~25% idle capacity [S6].</a:t>
            </a:r>
            <a:endParaRPr lang="en-US" sz="850" dirty="0"/>
          </a:p>
        </p:txBody>
      </p:sp>
      <p:sp>
        <p:nvSpPr>
          <p:cNvPr id="89" name="Text 83"/>
          <p:cNvSpPr txBox="1"/>
          <p:nvPr/>
        </p:nvSpPr>
        <p:spPr>
          <a:xfrm>
            <a:off x="5003963" y="5402885"/>
            <a:ext cx="868680" cy="623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4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33×</a:t>
            </a:r>
            <a:endParaRPr lang="en-US" sz="1500" dirty="0"/>
          </a:p>
        </p:txBody>
      </p:sp>
      <p:sp>
        <p:nvSpPr>
          <p:cNvPr id="90" name="Text 84"/>
          <p:cNvSpPr txBox="1"/>
          <p:nvPr/>
        </p:nvSpPr>
        <p:spPr>
          <a:xfrm>
            <a:off x="5900075" y="5402885"/>
            <a:ext cx="2403775" cy="623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Meesho seller: ₹4.3 lakh NMV a year (₹41,560 cr ÷ 9.6 lakh). Only factories can reach ₹1.425 cr, which is why yield is the top sensitivity on page 10.</a:t>
            </a:r>
            <a:endParaRPr lang="en-US" sz="850" dirty="0"/>
          </a:p>
        </p:txBody>
      </p:sp>
      <p:sp>
        <p:nvSpPr>
          <p:cNvPr id="91" name="Shape 85"/>
          <p:cNvSpPr/>
          <p:nvPr/>
        </p:nvSpPr>
        <p:spPr>
          <a:xfrm>
            <a:off x="8468441" y="3736238"/>
            <a:ext cx="3491911" cy="246888"/>
          </a:xfrm>
          <a:prstGeom prst="roundRect">
            <a:avLst>
              <a:gd name="adj" fmla="val 18519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92" name="Text 86"/>
          <p:cNvSpPr txBox="1"/>
          <p:nvPr/>
        </p:nvSpPr>
        <p:spPr>
          <a:xfrm>
            <a:off x="8541593" y="3736238"/>
            <a:ext cx="334560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now: fees converge, factories need orders</a:t>
            </a:r>
            <a:endParaRPr lang="en-US" sz="1050" dirty="0"/>
          </a:p>
        </p:txBody>
      </p:sp>
      <p:sp>
        <p:nvSpPr>
          <p:cNvPr id="93" name="Shape 87"/>
          <p:cNvSpPr/>
          <p:nvPr/>
        </p:nvSpPr>
        <p:spPr>
          <a:xfrm>
            <a:off x="8468441" y="4010558"/>
            <a:ext cx="3491911" cy="2115922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94" name="Shape 88"/>
          <p:cNvSpPr/>
          <p:nvPr/>
        </p:nvSpPr>
        <p:spPr>
          <a:xfrm>
            <a:off x="8541593" y="4120286"/>
            <a:ext cx="109728" cy="109728"/>
          </a:xfrm>
          <a:prstGeom prst="ellips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5" name="Text 89"/>
          <p:cNvSpPr txBox="1"/>
          <p:nvPr/>
        </p:nvSpPr>
        <p:spPr>
          <a:xfrm>
            <a:off x="8706185" y="4065422"/>
            <a:ext cx="3181015" cy="270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2025  </a:t>
            </a:r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Amazon: no referral fee under ₹300 [S14]</a:t>
            </a:r>
            <a:endParaRPr lang="en-US" sz="850" dirty="0"/>
          </a:p>
        </p:txBody>
      </p:sp>
      <p:sp>
        <p:nvSpPr>
          <p:cNvPr id="96" name="Shape 90"/>
          <p:cNvSpPr/>
          <p:nvPr/>
        </p:nvSpPr>
        <p:spPr>
          <a:xfrm>
            <a:off x="8541593" y="4390644"/>
            <a:ext cx="109728" cy="109728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7" name="Text 91"/>
          <p:cNvSpPr txBox="1"/>
          <p:nvPr/>
        </p:nvSpPr>
        <p:spPr>
          <a:xfrm>
            <a:off x="8706185" y="4335780"/>
            <a:ext cx="3181015" cy="270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Aug–Dec 2025  </a:t>
            </a:r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tariff 50%: Tiruppur US orders −60 to −70% [S8]</a:t>
            </a:r>
            <a:endParaRPr lang="en-US" sz="850" dirty="0"/>
          </a:p>
        </p:txBody>
      </p:sp>
      <p:sp>
        <p:nvSpPr>
          <p:cNvPr id="98" name="Shape 92"/>
          <p:cNvSpPr/>
          <p:nvPr/>
        </p:nvSpPr>
        <p:spPr>
          <a:xfrm>
            <a:off x="8541593" y="4661002"/>
            <a:ext cx="109728" cy="109728"/>
          </a:xfrm>
          <a:prstGeom prst="ellips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Text 93"/>
          <p:cNvSpPr txBox="1"/>
          <p:nvPr/>
        </p:nvSpPr>
        <p:spPr>
          <a:xfrm>
            <a:off x="8706185" y="4606138"/>
            <a:ext cx="3181015" cy="270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2025  </a:t>
            </a:r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and Flipkart: 0% under ₹1,000 [S14]</a:t>
            </a:r>
            <a:endParaRPr lang="en-US" sz="850" dirty="0"/>
          </a:p>
        </p:txBody>
      </p:sp>
      <p:sp>
        <p:nvSpPr>
          <p:cNvPr id="100" name="Shape 94"/>
          <p:cNvSpPr/>
          <p:nvPr/>
        </p:nvSpPr>
        <p:spPr>
          <a:xfrm>
            <a:off x="8541593" y="4931359"/>
            <a:ext cx="109728" cy="109728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1" name="Text 95"/>
          <p:cNvSpPr txBox="1"/>
          <p:nvPr/>
        </p:nvSpPr>
        <p:spPr>
          <a:xfrm>
            <a:off x="8706185" y="4876495"/>
            <a:ext cx="3181015" cy="270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Jul 2026  </a:t>
            </a:r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Flipkart: 0% on all fashion, any price [S14]</a:t>
            </a:r>
            <a:endParaRPr lang="en-US" sz="850" dirty="0"/>
          </a:p>
        </p:txBody>
      </p:sp>
      <p:sp>
        <p:nvSpPr>
          <p:cNvPr id="102" name="Shape 96"/>
          <p:cNvSpPr/>
          <p:nvPr/>
        </p:nvSpPr>
        <p:spPr>
          <a:xfrm>
            <a:off x="8541593" y="5201717"/>
            <a:ext cx="109728" cy="109728"/>
          </a:xfrm>
          <a:prstGeom prst="ellips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3" name="Text 97"/>
          <p:cNvSpPr txBox="1"/>
          <p:nvPr/>
        </p:nvSpPr>
        <p:spPr>
          <a:xfrm>
            <a:off x="8706185" y="5146853"/>
            <a:ext cx="3181015" cy="270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 2026  </a:t>
            </a:r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Panipat exports −50% [S9]</a:t>
            </a:r>
            <a:endParaRPr lang="en-US" sz="850" dirty="0"/>
          </a:p>
        </p:txBody>
      </p:sp>
      <p:sp>
        <p:nvSpPr>
          <p:cNvPr id="104" name="Shape 98"/>
          <p:cNvSpPr/>
          <p:nvPr/>
        </p:nvSpPr>
        <p:spPr>
          <a:xfrm>
            <a:off x="8541593" y="5472074"/>
            <a:ext cx="109728" cy="109728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Text 99"/>
          <p:cNvSpPr txBox="1"/>
          <p:nvPr/>
        </p:nvSpPr>
        <p:spPr>
          <a:xfrm>
            <a:off x="8706185" y="5417210"/>
            <a:ext cx="3181015" cy="270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  </a:t>
            </a:r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Meesho: H2 bets run on a hard budget cap [S1]</a:t>
            </a:r>
            <a:endParaRPr lang="en-US" sz="850" dirty="0"/>
          </a:p>
        </p:txBody>
      </p:sp>
      <p:sp>
        <p:nvSpPr>
          <p:cNvPr id="106" name="Text 100"/>
          <p:cNvSpPr txBox="1"/>
          <p:nvPr/>
        </p:nvSpPr>
        <p:spPr>
          <a:xfrm>
            <a:off x="8541593" y="5724144"/>
            <a:ext cx="334560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cards are copied in a quarter. A cost-structure edge is not.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pic>
        <p:nvPicPr>
          <p:cNvPr id="3" name="Image 0" descr="/Users/prathmeshwalimbe/Downloads/Meesho/02_round2_detailed_submission/deck/source/assets/dice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97280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97280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2071116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071116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Segments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3044952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044952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Sizing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018788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E8434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018788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Truth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992624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992624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5966460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66460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Benchmarks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6940296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940296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Sustainable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Scale-up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7914132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914132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KPIs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8887968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887968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9861804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861804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Risks</a:t>
            </a:r>
            <a:endParaRPr lang="en-US" sz="850" dirty="0"/>
          </a:p>
        </p:txBody>
      </p:sp>
      <p:pic>
        <p:nvPicPr>
          <p:cNvPr id="24" name="Image 1" descr="/Users/prathmeshwalimbe/Downloads/Meesho/02_round2_detailed_submission/deck/source/assets/meesho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25" name="Image 2" descr="/Users/prathmeshwalimbe/Downloads/Meesho/02_round2_detailed_submission/deck/source/assets/iitb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price buyers actually pay sits 3%–37% below the listing median, so the gate screens on demand-weighted prices</a:t>
            </a:r>
            <a:endParaRPr lang="en-US" sz="1700" dirty="0"/>
          </a:p>
        </p:txBody>
      </p:sp>
      <p:sp>
        <p:nvSpPr>
          <p:cNvPr id="27" name="Shape 22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228600" y="6199632"/>
            <a:ext cx="11731752" cy="365760"/>
          </a:xfrm>
          <a:prstGeom prst="roundRect">
            <a:avLst>
              <a:gd name="adj" fmla="val 15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365760" y="619963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launch the Price Truth Index on delivered-order medians in 9 categories in weeks 1–3, at ₹0 capex. Owner: Pricing + Data Science · KPI: badge lift ≥ 12% vs holdout by Day 30.</a:t>
            </a:r>
            <a:endParaRPr lang="en-US" sz="1050" dirty="0"/>
          </a:p>
        </p:txBody>
      </p:sp>
      <p:sp>
        <p:nvSpPr>
          <p:cNvPr id="31" name="Text 26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S10 team teardown (meesho.com search, 2 Oct 2026; 56 listings per query; reviews used as the demand weight) · S22   |   Prototype panel: synthetic, seeded data (fictional sellers)   |   Method: Appendix B</a:t>
            </a:r>
            <a:endParaRPr lang="en-US" sz="800" dirty="0"/>
          </a:p>
        </p:txBody>
      </p:sp>
      <p:sp>
        <p:nvSpPr>
          <p:cNvPr id="32" name="Text 27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548640" y="1051560"/>
            <a:ext cx="6801307" cy="246888"/>
          </a:xfrm>
          <a:prstGeom prst="roundRect">
            <a:avLst>
              <a:gd name="adj" fmla="val 18519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621792" y="1051560"/>
            <a:ext cx="665500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teardown: 279 listings, 5 product types, index 100 = demand-weighted median</a:t>
            </a:r>
            <a:endParaRPr lang="en-US" sz="1050" dirty="0"/>
          </a:p>
        </p:txBody>
      </p:sp>
      <p:sp>
        <p:nvSpPr>
          <p:cNvPr id="35" name="Shape 30"/>
          <p:cNvSpPr/>
          <p:nvPr/>
        </p:nvSpPr>
        <p:spPr>
          <a:xfrm>
            <a:off x="548640" y="1325880"/>
            <a:ext cx="6801307" cy="2623414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2843569" y="1581912"/>
            <a:ext cx="0" cy="1946758"/>
          </a:xfrm>
          <a:prstGeom prst="line">
            <a:avLst/>
          </a:prstGeom>
          <a:noFill/>
          <a:ln w="6350">
            <a:solidFill>
              <a:srgbClr val="DCCFD7"/>
            </a:solidFill>
            <a:prstDash val="dash"/>
          </a:ln>
        </p:spPr>
      </p:sp>
      <p:sp>
        <p:nvSpPr>
          <p:cNvPr id="37" name="Text 32"/>
          <p:cNvSpPr txBox="1"/>
          <p:nvPr/>
        </p:nvSpPr>
        <p:spPr>
          <a:xfrm>
            <a:off x="2660689" y="3546958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750" dirty="0"/>
          </a:p>
        </p:txBody>
      </p:sp>
      <p:sp>
        <p:nvSpPr>
          <p:cNvPr id="38" name="Shape 33"/>
          <p:cNvSpPr/>
          <p:nvPr/>
        </p:nvSpPr>
        <p:spPr>
          <a:xfrm>
            <a:off x="3282266" y="1581912"/>
            <a:ext cx="0" cy="1946758"/>
          </a:xfrm>
          <a:prstGeom prst="line">
            <a:avLst/>
          </a:prstGeom>
          <a:noFill/>
          <a:ln w="12700">
            <a:solidFill>
              <a:srgbClr val="5A0A46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3099386" y="3546958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750" dirty="0"/>
          </a:p>
        </p:txBody>
      </p:sp>
      <p:sp>
        <p:nvSpPr>
          <p:cNvPr id="40" name="Shape 35"/>
          <p:cNvSpPr/>
          <p:nvPr/>
        </p:nvSpPr>
        <p:spPr>
          <a:xfrm>
            <a:off x="4159659" y="1581912"/>
            <a:ext cx="0" cy="1946758"/>
          </a:xfrm>
          <a:prstGeom prst="line">
            <a:avLst/>
          </a:prstGeom>
          <a:noFill/>
          <a:ln w="6350">
            <a:solidFill>
              <a:srgbClr val="DCCFD7"/>
            </a:solidFill>
            <a:prstDash val="dash"/>
          </a:ln>
        </p:spPr>
      </p:sp>
      <p:sp>
        <p:nvSpPr>
          <p:cNvPr id="41" name="Text 36"/>
          <p:cNvSpPr txBox="1"/>
          <p:nvPr/>
        </p:nvSpPr>
        <p:spPr>
          <a:xfrm>
            <a:off x="3976779" y="3546958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</a:t>
            </a:r>
            <a:endParaRPr lang="en-US" sz="750" dirty="0"/>
          </a:p>
        </p:txBody>
      </p:sp>
      <p:sp>
        <p:nvSpPr>
          <p:cNvPr id="42" name="Shape 37"/>
          <p:cNvSpPr/>
          <p:nvPr/>
        </p:nvSpPr>
        <p:spPr>
          <a:xfrm>
            <a:off x="5037053" y="1581912"/>
            <a:ext cx="0" cy="1946758"/>
          </a:xfrm>
          <a:prstGeom prst="line">
            <a:avLst/>
          </a:prstGeom>
          <a:noFill/>
          <a:ln w="6350">
            <a:solidFill>
              <a:srgbClr val="DCCFD7"/>
            </a:solidFill>
            <a:prstDash val="dash"/>
          </a:ln>
        </p:spPr>
      </p:sp>
      <p:sp>
        <p:nvSpPr>
          <p:cNvPr id="43" name="Text 38"/>
          <p:cNvSpPr txBox="1"/>
          <p:nvPr/>
        </p:nvSpPr>
        <p:spPr>
          <a:xfrm>
            <a:off x="4854173" y="3546958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750" dirty="0"/>
          </a:p>
        </p:txBody>
      </p:sp>
      <p:sp>
        <p:nvSpPr>
          <p:cNvPr id="44" name="Shape 39"/>
          <p:cNvSpPr/>
          <p:nvPr/>
        </p:nvSpPr>
        <p:spPr>
          <a:xfrm>
            <a:off x="5914447" y="1581912"/>
            <a:ext cx="0" cy="1946758"/>
          </a:xfrm>
          <a:prstGeom prst="line">
            <a:avLst/>
          </a:prstGeom>
          <a:noFill/>
          <a:ln w="6350">
            <a:solidFill>
              <a:srgbClr val="DCCFD7"/>
            </a:solidFill>
            <a:prstDash val="dash"/>
          </a:ln>
        </p:spPr>
      </p:sp>
      <p:sp>
        <p:nvSpPr>
          <p:cNvPr id="45" name="Text 40"/>
          <p:cNvSpPr txBox="1"/>
          <p:nvPr/>
        </p:nvSpPr>
        <p:spPr>
          <a:xfrm>
            <a:off x="5731567" y="3546958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220</a:t>
            </a:r>
            <a:endParaRPr lang="en-US" sz="750" dirty="0"/>
          </a:p>
        </p:txBody>
      </p:sp>
      <p:sp>
        <p:nvSpPr>
          <p:cNvPr id="46" name="Text 41"/>
          <p:cNvSpPr txBox="1"/>
          <p:nvPr/>
        </p:nvSpPr>
        <p:spPr>
          <a:xfrm>
            <a:off x="621792" y="1380744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(listings)</a:t>
            </a:r>
            <a:endParaRPr lang="en-US" sz="800" dirty="0"/>
          </a:p>
        </p:txBody>
      </p:sp>
      <p:sp>
        <p:nvSpPr>
          <p:cNvPr id="47" name="Text 42"/>
          <p:cNvSpPr txBox="1"/>
          <p:nvPr/>
        </p:nvSpPr>
        <p:spPr>
          <a:xfrm>
            <a:off x="6161227" y="1362456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median above what buyers pay</a:t>
            </a:r>
            <a:endParaRPr lang="en-US" sz="750" dirty="0"/>
          </a:p>
        </p:txBody>
      </p:sp>
      <p:sp>
        <p:nvSpPr>
          <p:cNvPr id="48" name="Text 43"/>
          <p:cNvSpPr txBox="1"/>
          <p:nvPr/>
        </p:nvSpPr>
        <p:spPr>
          <a:xfrm>
            <a:off x="621792" y="1600200"/>
            <a:ext cx="1755648" cy="389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Steel glasses, set of 6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55 · ₹262 demand-weighted</a:t>
            </a:r>
            <a:endParaRPr lang="en-US" sz="850" dirty="0"/>
          </a:p>
        </p:txBody>
      </p:sp>
      <p:sp>
        <p:nvSpPr>
          <p:cNvPr id="49" name="Shape 44"/>
          <p:cNvSpPr/>
          <p:nvPr/>
        </p:nvSpPr>
        <p:spPr>
          <a:xfrm>
            <a:off x="3299010" y="1712580"/>
            <a:ext cx="2519995" cy="164592"/>
          </a:xfrm>
          <a:prstGeom prst="roundRect">
            <a:avLst>
              <a:gd name="adj" fmla="val 16667"/>
            </a:avLst>
          </a:prstGeom>
          <a:solidFill>
            <a:srgbClr val="E7D7E1"/>
          </a:solidFill>
          <a:ln w="9525">
            <a:solidFill>
              <a:srgbClr val="E7D7E1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3106787" y="1639428"/>
            <a:ext cx="0" cy="310896"/>
          </a:xfrm>
          <a:prstGeom prst="line">
            <a:avLst/>
          </a:prstGeom>
          <a:noFill/>
          <a:ln w="25400">
            <a:solidFill>
              <a:srgbClr val="E8434F"/>
            </a:solidFill>
            <a:prstDash val="solid"/>
          </a:ln>
        </p:spPr>
      </p:sp>
      <p:sp>
        <p:nvSpPr>
          <p:cNvPr id="51" name="Shape 46"/>
          <p:cNvSpPr/>
          <p:nvPr/>
        </p:nvSpPr>
        <p:spPr>
          <a:xfrm>
            <a:off x="3209114" y="1721724"/>
            <a:ext cx="146304" cy="146304"/>
          </a:xfrm>
          <a:prstGeom prst="ellipse">
            <a:avLst/>
          </a:prstGeom>
          <a:solidFill>
            <a:srgbClr val="5A0A4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2" name="Shape 47"/>
          <p:cNvSpPr/>
          <p:nvPr/>
        </p:nvSpPr>
        <p:spPr>
          <a:xfrm>
            <a:off x="4480898" y="1712580"/>
            <a:ext cx="164592" cy="164592"/>
          </a:xfrm>
          <a:prstGeom prst="diamond">
            <a:avLst/>
          </a:prstGeom>
          <a:solidFill>
            <a:srgbClr val="F7A21B"/>
          </a:solidFill>
          <a:ln w="6350">
            <a:solidFill>
              <a:srgbClr val="5A0A46"/>
            </a:solidFill>
            <a:prstDash val="solid"/>
          </a:ln>
        </p:spPr>
      </p:sp>
      <p:sp>
        <p:nvSpPr>
          <p:cNvPr id="53" name="Text 48"/>
          <p:cNvSpPr txBox="1"/>
          <p:nvPr/>
        </p:nvSpPr>
        <p:spPr>
          <a:xfrm>
            <a:off x="4654634" y="1557132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₹415</a:t>
            </a:r>
            <a:endParaRPr lang="en-US" sz="750" dirty="0"/>
          </a:p>
        </p:txBody>
      </p:sp>
      <p:sp>
        <p:nvSpPr>
          <p:cNvPr id="54" name="Text 49"/>
          <p:cNvSpPr txBox="1"/>
          <p:nvPr/>
        </p:nvSpPr>
        <p:spPr>
          <a:xfrm>
            <a:off x="6225235" y="1600200"/>
            <a:ext cx="1005840" cy="389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4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+58%</a:t>
            </a:r>
            <a:endParaRPr lang="en-US" sz="1400" dirty="0"/>
          </a:p>
        </p:txBody>
      </p:sp>
      <p:sp>
        <p:nvSpPr>
          <p:cNvPr id="55" name="Text 50"/>
          <p:cNvSpPr txBox="1"/>
          <p:nvPr/>
        </p:nvSpPr>
        <p:spPr>
          <a:xfrm>
            <a:off x="621792" y="1989552"/>
            <a:ext cx="1755648" cy="389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Men’s briefs, pack of 3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56 · ₹209 demand-weighted</a:t>
            </a:r>
            <a:endParaRPr lang="en-US" sz="850" dirty="0"/>
          </a:p>
        </p:txBody>
      </p:sp>
      <p:sp>
        <p:nvSpPr>
          <p:cNvPr id="56" name="Shape 51"/>
          <p:cNvSpPr/>
          <p:nvPr/>
        </p:nvSpPr>
        <p:spPr>
          <a:xfrm>
            <a:off x="3502664" y="2101931"/>
            <a:ext cx="2235465" cy="164592"/>
          </a:xfrm>
          <a:prstGeom prst="roundRect">
            <a:avLst>
              <a:gd name="adj" fmla="val 16667"/>
            </a:avLst>
          </a:prstGeom>
          <a:solidFill>
            <a:srgbClr val="E7D7E1"/>
          </a:solidFill>
          <a:ln w="9525">
            <a:solidFill>
              <a:srgbClr val="E7D7E1"/>
            </a:solidFill>
            <a:prstDash val="solid"/>
          </a:ln>
        </p:spPr>
      </p:sp>
      <p:sp>
        <p:nvSpPr>
          <p:cNvPr id="57" name="Shape 52"/>
          <p:cNvSpPr/>
          <p:nvPr/>
        </p:nvSpPr>
        <p:spPr>
          <a:xfrm>
            <a:off x="3106787" y="2028779"/>
            <a:ext cx="0" cy="310896"/>
          </a:xfrm>
          <a:prstGeom prst="line">
            <a:avLst/>
          </a:prstGeom>
          <a:noFill/>
          <a:ln w="25400">
            <a:solidFill>
              <a:srgbClr val="E8434F"/>
            </a:solidFill>
            <a:prstDash val="solid"/>
          </a:ln>
        </p:spPr>
      </p:sp>
      <p:sp>
        <p:nvSpPr>
          <p:cNvPr id="58" name="Shape 53"/>
          <p:cNvSpPr/>
          <p:nvPr/>
        </p:nvSpPr>
        <p:spPr>
          <a:xfrm>
            <a:off x="3209114" y="2111075"/>
            <a:ext cx="146304" cy="146304"/>
          </a:xfrm>
          <a:prstGeom prst="ellipse">
            <a:avLst/>
          </a:prstGeom>
          <a:solidFill>
            <a:srgbClr val="5A0A4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9" name="Shape 54"/>
          <p:cNvSpPr/>
          <p:nvPr/>
        </p:nvSpPr>
        <p:spPr>
          <a:xfrm>
            <a:off x="4391168" y="2101931"/>
            <a:ext cx="164592" cy="164592"/>
          </a:xfrm>
          <a:prstGeom prst="diamond">
            <a:avLst/>
          </a:prstGeom>
          <a:solidFill>
            <a:srgbClr val="F7A21B"/>
          </a:solidFill>
          <a:ln w="6350">
            <a:solidFill>
              <a:srgbClr val="5A0A46"/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4564904" y="1946483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₹323</a:t>
            </a:r>
            <a:endParaRPr lang="en-US" sz="750" dirty="0"/>
          </a:p>
        </p:txBody>
      </p:sp>
      <p:sp>
        <p:nvSpPr>
          <p:cNvPr id="61" name="Text 56"/>
          <p:cNvSpPr txBox="1"/>
          <p:nvPr/>
        </p:nvSpPr>
        <p:spPr>
          <a:xfrm>
            <a:off x="6225235" y="1989552"/>
            <a:ext cx="1005840" cy="389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4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+54%</a:t>
            </a:r>
            <a:endParaRPr lang="en-US" sz="1400" dirty="0"/>
          </a:p>
        </p:txBody>
      </p:sp>
      <p:sp>
        <p:nvSpPr>
          <p:cNvPr id="62" name="Text 57"/>
          <p:cNvSpPr txBox="1"/>
          <p:nvPr/>
        </p:nvSpPr>
        <p:spPr>
          <a:xfrm>
            <a:off x="621792" y="2378903"/>
            <a:ext cx="1755648" cy="389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Bedsheet + 2 pillow covers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56 · ₹325 demand-weighted</a:t>
            </a:r>
            <a:endParaRPr lang="en-US" sz="850" dirty="0"/>
          </a:p>
        </p:txBody>
      </p:sp>
      <p:sp>
        <p:nvSpPr>
          <p:cNvPr id="63" name="Shape 58"/>
          <p:cNvSpPr/>
          <p:nvPr/>
        </p:nvSpPr>
        <p:spPr>
          <a:xfrm>
            <a:off x="3349758" y="2491283"/>
            <a:ext cx="2166488" cy="164592"/>
          </a:xfrm>
          <a:prstGeom prst="roundRect">
            <a:avLst>
              <a:gd name="adj" fmla="val 16667"/>
            </a:avLst>
          </a:prstGeom>
          <a:solidFill>
            <a:srgbClr val="E7D7E1"/>
          </a:solidFill>
          <a:ln w="9525">
            <a:solidFill>
              <a:srgbClr val="E7D7E1"/>
            </a:solidFill>
            <a:prstDash val="solid"/>
          </a:ln>
        </p:spPr>
      </p:sp>
      <p:sp>
        <p:nvSpPr>
          <p:cNvPr id="64" name="Shape 59"/>
          <p:cNvSpPr/>
          <p:nvPr/>
        </p:nvSpPr>
        <p:spPr>
          <a:xfrm>
            <a:off x="3106787" y="2418131"/>
            <a:ext cx="0" cy="310896"/>
          </a:xfrm>
          <a:prstGeom prst="line">
            <a:avLst/>
          </a:prstGeom>
          <a:noFill/>
          <a:ln w="25400">
            <a:solidFill>
              <a:srgbClr val="E8434F"/>
            </a:solidFill>
            <a:prstDash val="solid"/>
          </a:ln>
        </p:spPr>
      </p:sp>
      <p:sp>
        <p:nvSpPr>
          <p:cNvPr id="65" name="Shape 60"/>
          <p:cNvSpPr/>
          <p:nvPr/>
        </p:nvSpPr>
        <p:spPr>
          <a:xfrm>
            <a:off x="3209114" y="2500427"/>
            <a:ext cx="146304" cy="146304"/>
          </a:xfrm>
          <a:prstGeom prst="ellipse">
            <a:avLst/>
          </a:prstGeom>
          <a:solidFill>
            <a:srgbClr val="5A0A4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6" name="Shape 61"/>
          <p:cNvSpPr/>
          <p:nvPr/>
        </p:nvSpPr>
        <p:spPr>
          <a:xfrm>
            <a:off x="3733155" y="2491283"/>
            <a:ext cx="164592" cy="164592"/>
          </a:xfrm>
          <a:prstGeom prst="diamond">
            <a:avLst/>
          </a:prstGeom>
          <a:solidFill>
            <a:srgbClr val="F7A21B"/>
          </a:solidFill>
          <a:ln w="6350">
            <a:solidFill>
              <a:srgbClr val="5A0A46"/>
            </a:solidFill>
            <a:prstDash val="solid"/>
          </a:ln>
        </p:spPr>
      </p:sp>
      <p:sp>
        <p:nvSpPr>
          <p:cNvPr id="67" name="Text 62"/>
          <p:cNvSpPr txBox="1"/>
          <p:nvPr/>
        </p:nvSpPr>
        <p:spPr>
          <a:xfrm>
            <a:off x="3906891" y="2335835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₹404</a:t>
            </a:r>
            <a:endParaRPr lang="en-US" sz="750" dirty="0"/>
          </a:p>
        </p:txBody>
      </p:sp>
      <p:sp>
        <p:nvSpPr>
          <p:cNvPr id="68" name="Text 63"/>
          <p:cNvSpPr txBox="1"/>
          <p:nvPr/>
        </p:nvSpPr>
        <p:spPr>
          <a:xfrm>
            <a:off x="6225235" y="2378903"/>
            <a:ext cx="1005840" cy="389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4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+24%</a:t>
            </a:r>
            <a:endParaRPr lang="en-US" sz="1400" dirty="0"/>
          </a:p>
        </p:txBody>
      </p:sp>
      <p:sp>
        <p:nvSpPr>
          <p:cNvPr id="69" name="Text 64"/>
          <p:cNvSpPr txBox="1"/>
          <p:nvPr/>
        </p:nvSpPr>
        <p:spPr>
          <a:xfrm>
            <a:off x="621792" y="2768255"/>
            <a:ext cx="1755648" cy="389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Ankle socks, pack of 5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56 · ₹128 demand-weighted</a:t>
            </a:r>
            <a:endParaRPr lang="en-US" sz="850" dirty="0"/>
          </a:p>
        </p:txBody>
      </p:sp>
      <p:sp>
        <p:nvSpPr>
          <p:cNvPr id="70" name="Shape 65"/>
          <p:cNvSpPr/>
          <p:nvPr/>
        </p:nvSpPr>
        <p:spPr>
          <a:xfrm>
            <a:off x="3008080" y="2880634"/>
            <a:ext cx="891103" cy="164592"/>
          </a:xfrm>
          <a:prstGeom prst="roundRect">
            <a:avLst>
              <a:gd name="adj" fmla="val 16667"/>
            </a:avLst>
          </a:prstGeom>
          <a:solidFill>
            <a:srgbClr val="E7D7E1"/>
          </a:solidFill>
          <a:ln w="9525">
            <a:solidFill>
              <a:srgbClr val="E7D7E1"/>
            </a:solidFill>
            <a:prstDash val="solid"/>
          </a:ln>
        </p:spPr>
      </p:sp>
      <p:sp>
        <p:nvSpPr>
          <p:cNvPr id="71" name="Shape 66"/>
          <p:cNvSpPr/>
          <p:nvPr/>
        </p:nvSpPr>
        <p:spPr>
          <a:xfrm>
            <a:off x="3106787" y="2807482"/>
            <a:ext cx="0" cy="310896"/>
          </a:xfrm>
          <a:prstGeom prst="line">
            <a:avLst/>
          </a:prstGeom>
          <a:noFill/>
          <a:ln w="25400">
            <a:solidFill>
              <a:srgbClr val="E8434F"/>
            </a:solidFill>
            <a:prstDash val="solid"/>
          </a:ln>
        </p:spPr>
      </p:sp>
      <p:sp>
        <p:nvSpPr>
          <p:cNvPr id="72" name="Shape 67"/>
          <p:cNvSpPr/>
          <p:nvPr/>
        </p:nvSpPr>
        <p:spPr>
          <a:xfrm>
            <a:off x="3209114" y="2889778"/>
            <a:ext cx="146304" cy="146304"/>
          </a:xfrm>
          <a:prstGeom prst="ellipse">
            <a:avLst/>
          </a:prstGeom>
          <a:solidFill>
            <a:srgbClr val="5A0A4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3" name="Shape 68"/>
          <p:cNvSpPr/>
          <p:nvPr/>
        </p:nvSpPr>
        <p:spPr>
          <a:xfrm>
            <a:off x="3285653" y="2880634"/>
            <a:ext cx="164592" cy="164592"/>
          </a:xfrm>
          <a:prstGeom prst="diamond">
            <a:avLst/>
          </a:prstGeom>
          <a:solidFill>
            <a:srgbClr val="F7A21B"/>
          </a:solidFill>
          <a:ln w="6350">
            <a:solidFill>
              <a:srgbClr val="5A0A46"/>
            </a:solidFill>
            <a:prstDash val="solid"/>
          </a:ln>
        </p:spPr>
      </p:sp>
      <p:sp>
        <p:nvSpPr>
          <p:cNvPr id="74" name="Text 69"/>
          <p:cNvSpPr txBox="1"/>
          <p:nvPr/>
        </p:nvSpPr>
        <p:spPr>
          <a:xfrm>
            <a:off x="3459389" y="2725186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₹133</a:t>
            </a:r>
            <a:endParaRPr lang="en-US" sz="750" dirty="0"/>
          </a:p>
        </p:txBody>
      </p:sp>
      <p:sp>
        <p:nvSpPr>
          <p:cNvPr id="75" name="Text 70"/>
          <p:cNvSpPr txBox="1"/>
          <p:nvPr/>
        </p:nvSpPr>
        <p:spPr>
          <a:xfrm>
            <a:off x="6225235" y="2768255"/>
            <a:ext cx="1005840" cy="389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+4%</a:t>
            </a:r>
            <a:endParaRPr lang="en-US" sz="1400" dirty="0"/>
          </a:p>
        </p:txBody>
      </p:sp>
      <p:sp>
        <p:nvSpPr>
          <p:cNvPr id="76" name="Text 71"/>
          <p:cNvSpPr txBox="1"/>
          <p:nvPr/>
        </p:nvSpPr>
        <p:spPr>
          <a:xfrm>
            <a:off x="621792" y="3157606"/>
            <a:ext cx="1755648" cy="389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Cotton bath towel</a:t>
            </a:r>
            <a:endParaRPr lang="en-US" sz="850" dirty="0"/>
          </a:p>
          <a:p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56 · ₹227 demand-weighted</a:t>
            </a:r>
            <a:endParaRPr lang="en-US" sz="850" dirty="0"/>
          </a:p>
        </p:txBody>
      </p:sp>
      <p:sp>
        <p:nvSpPr>
          <p:cNvPr id="77" name="Shape 72"/>
          <p:cNvSpPr/>
          <p:nvPr/>
        </p:nvSpPr>
        <p:spPr>
          <a:xfrm>
            <a:off x="2915075" y="3269986"/>
            <a:ext cx="1082248" cy="164592"/>
          </a:xfrm>
          <a:prstGeom prst="roundRect">
            <a:avLst>
              <a:gd name="adj" fmla="val 16667"/>
            </a:avLst>
          </a:prstGeom>
          <a:solidFill>
            <a:srgbClr val="E7D7E1"/>
          </a:solidFill>
          <a:ln w="9525">
            <a:solidFill>
              <a:srgbClr val="E7D7E1"/>
            </a:solidFill>
            <a:prstDash val="solid"/>
          </a:ln>
        </p:spPr>
      </p:sp>
      <p:sp>
        <p:nvSpPr>
          <p:cNvPr id="78" name="Shape 73"/>
          <p:cNvSpPr/>
          <p:nvPr/>
        </p:nvSpPr>
        <p:spPr>
          <a:xfrm>
            <a:off x="3106787" y="3196834"/>
            <a:ext cx="0" cy="310896"/>
          </a:xfrm>
          <a:prstGeom prst="line">
            <a:avLst/>
          </a:prstGeom>
          <a:noFill/>
          <a:ln w="25400">
            <a:solidFill>
              <a:srgbClr val="E8434F"/>
            </a:solidFill>
            <a:prstDash val="solid"/>
          </a:ln>
        </p:spPr>
      </p:sp>
      <p:sp>
        <p:nvSpPr>
          <p:cNvPr id="79" name="Shape 74"/>
          <p:cNvSpPr/>
          <p:nvPr/>
        </p:nvSpPr>
        <p:spPr>
          <a:xfrm>
            <a:off x="3209114" y="3279130"/>
            <a:ext cx="146304" cy="146304"/>
          </a:xfrm>
          <a:prstGeom prst="ellipse">
            <a:avLst/>
          </a:prstGeom>
          <a:solidFill>
            <a:srgbClr val="5A0A4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0" name="Shape 75"/>
          <p:cNvSpPr/>
          <p:nvPr/>
        </p:nvSpPr>
        <p:spPr>
          <a:xfrm>
            <a:off x="3267610" y="3269986"/>
            <a:ext cx="164592" cy="164592"/>
          </a:xfrm>
          <a:prstGeom prst="diamond">
            <a:avLst/>
          </a:prstGeom>
          <a:solidFill>
            <a:srgbClr val="F7A21B"/>
          </a:solidFill>
          <a:ln w="6350">
            <a:solidFill>
              <a:srgbClr val="5A0A46"/>
            </a:solidFill>
            <a:prstDash val="solid"/>
          </a:ln>
        </p:spPr>
      </p:sp>
      <p:sp>
        <p:nvSpPr>
          <p:cNvPr id="81" name="Text 76"/>
          <p:cNvSpPr txBox="1"/>
          <p:nvPr/>
        </p:nvSpPr>
        <p:spPr>
          <a:xfrm>
            <a:off x="3441346" y="3114538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₹234</a:t>
            </a:r>
            <a:endParaRPr lang="en-US" sz="750" dirty="0"/>
          </a:p>
        </p:txBody>
      </p:sp>
      <p:sp>
        <p:nvSpPr>
          <p:cNvPr id="82" name="Text 77"/>
          <p:cNvSpPr txBox="1"/>
          <p:nvPr/>
        </p:nvSpPr>
        <p:spPr>
          <a:xfrm>
            <a:off x="6225235" y="3157606"/>
            <a:ext cx="1005840" cy="389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+3%</a:t>
            </a:r>
            <a:endParaRPr lang="en-US" sz="1400" dirty="0"/>
          </a:p>
        </p:txBody>
      </p:sp>
      <p:sp>
        <p:nvSpPr>
          <p:cNvPr id="83" name="Text 78"/>
          <p:cNvSpPr txBox="1"/>
          <p:nvPr/>
        </p:nvSpPr>
        <p:spPr>
          <a:xfrm>
            <a:off x="621792" y="3711550"/>
            <a:ext cx="66550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demand-weighted median (reviews as weights)   </a:t>
            </a:r>
            <a:pPr indent="0" marL="0">
              <a:buNone/>
            </a:pPr>
            <a:r>
              <a:rPr lang="en-US" sz="800" dirty="0">
                <a:solidFill>
                  <a:srgbClr val="F7A2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</a:t>
            </a:r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median   </a:t>
            </a:r>
            <a:pPr indent="0" marL="0"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</a:t>
            </a:r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 gate   </a:t>
            </a:r>
            <a:pPr indent="0" marL="0">
              <a:buNone/>
            </a:pPr>
            <a:r>
              <a:rPr lang="en-US" sz="800" dirty="0">
                <a:solidFill>
                  <a:srgbClr val="C9B3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▬ </a:t>
            </a:r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50% of listings (P25–P75)</a:t>
            </a:r>
            <a:endParaRPr lang="en-US" sz="800" dirty="0"/>
          </a:p>
        </p:txBody>
      </p:sp>
      <p:sp>
        <p:nvSpPr>
          <p:cNvPr id="84" name="Shape 79"/>
          <p:cNvSpPr/>
          <p:nvPr/>
        </p:nvSpPr>
        <p:spPr>
          <a:xfrm>
            <a:off x="548640" y="4040734"/>
            <a:ext cx="3491911" cy="246888"/>
          </a:xfrm>
          <a:prstGeom prst="roundRect">
            <a:avLst>
              <a:gd name="adj" fmla="val 18519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85" name="Text 80"/>
          <p:cNvSpPr txBox="1"/>
          <p:nvPr/>
        </p:nvSpPr>
        <p:spPr>
          <a:xfrm>
            <a:off x="621792" y="4040734"/>
            <a:ext cx="334560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follows price: briefs (ρ = -0.53)</a:t>
            </a:r>
            <a:endParaRPr lang="en-US" sz="1050" dirty="0"/>
          </a:p>
        </p:txBody>
      </p:sp>
      <p:sp>
        <p:nvSpPr>
          <p:cNvPr id="86" name="Shape 81"/>
          <p:cNvSpPr/>
          <p:nvPr/>
        </p:nvSpPr>
        <p:spPr>
          <a:xfrm>
            <a:off x="548640" y="4315054"/>
            <a:ext cx="3491911" cy="1811426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87" name="Chart 0" descr=""/>
          <p:cNvGraphicFramePr/>
          <p:nvPr/>
        </p:nvGraphicFramePr>
        <p:xfrm>
          <a:off x="576072" y="4351630"/>
          <a:ext cx="3437047" cy="147309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8" name="Text 82"/>
          <p:cNvSpPr txBox="1"/>
          <p:nvPr/>
        </p:nvSpPr>
        <p:spPr>
          <a:xfrm>
            <a:off x="621792" y="5870448"/>
            <a:ext cx="33456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under ₹200: 11% of the shelf, 43% of reviews (n = 56).</a:t>
            </a:r>
            <a:endParaRPr lang="en-US" sz="850" dirty="0"/>
          </a:p>
        </p:txBody>
      </p:sp>
      <p:sp>
        <p:nvSpPr>
          <p:cNvPr id="89" name="Shape 83"/>
          <p:cNvSpPr/>
          <p:nvPr/>
        </p:nvSpPr>
        <p:spPr>
          <a:xfrm>
            <a:off x="4131991" y="4040734"/>
            <a:ext cx="3217956" cy="246888"/>
          </a:xfrm>
          <a:prstGeom prst="roundRect">
            <a:avLst>
              <a:gd name="adj" fmla="val 18519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90" name="Text 84"/>
          <p:cNvSpPr txBox="1"/>
          <p:nvPr/>
        </p:nvSpPr>
        <p:spPr>
          <a:xfrm>
            <a:off x="4205143" y="4040734"/>
            <a:ext cx="30716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example, real prices (briefs 3-pack)</a:t>
            </a:r>
            <a:endParaRPr lang="en-US" sz="1050" dirty="0"/>
          </a:p>
        </p:txBody>
      </p:sp>
      <p:sp>
        <p:nvSpPr>
          <p:cNvPr id="91" name="Shape 85"/>
          <p:cNvSpPr/>
          <p:nvPr/>
        </p:nvSpPr>
        <p:spPr>
          <a:xfrm>
            <a:off x="4131991" y="4315054"/>
            <a:ext cx="3217956" cy="1811426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92" name="Text 86"/>
          <p:cNvSpPr txBox="1"/>
          <p:nvPr/>
        </p:nvSpPr>
        <p:spPr>
          <a:xfrm>
            <a:off x="4205143" y="4369918"/>
            <a:ext cx="1720125" cy="283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Comparable-set median (demand-weighted)</a:t>
            </a:r>
            <a:endParaRPr lang="en-US" sz="850" dirty="0"/>
          </a:p>
        </p:txBody>
      </p:sp>
      <p:sp>
        <p:nvSpPr>
          <p:cNvPr id="93" name="Text 87"/>
          <p:cNvSpPr txBox="1"/>
          <p:nvPr/>
        </p:nvSpPr>
        <p:spPr>
          <a:xfrm>
            <a:off x="5925268" y="4369918"/>
            <a:ext cx="1351527" cy="283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₹209</a:t>
            </a:r>
            <a:endParaRPr lang="en-US" sz="900" dirty="0"/>
          </a:p>
        </p:txBody>
      </p:sp>
      <p:sp>
        <p:nvSpPr>
          <p:cNvPr id="94" name="Text 88"/>
          <p:cNvSpPr txBox="1"/>
          <p:nvPr/>
        </p:nvSpPr>
        <p:spPr>
          <a:xfrm>
            <a:off x="4205143" y="4653534"/>
            <a:ext cx="1720125" cy="283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 8% below</a:t>
            </a:r>
            <a:endParaRPr lang="en-US" sz="850" dirty="0"/>
          </a:p>
        </p:txBody>
      </p:sp>
      <p:sp>
        <p:nvSpPr>
          <p:cNvPr id="95" name="Text 89"/>
          <p:cNvSpPr txBox="1"/>
          <p:nvPr/>
        </p:nvSpPr>
        <p:spPr>
          <a:xfrm>
            <a:off x="5925268" y="4653534"/>
            <a:ext cx="1351527" cy="283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₹192</a:t>
            </a:r>
            <a:endParaRPr lang="en-US" sz="900" dirty="0"/>
          </a:p>
        </p:txBody>
      </p:sp>
      <p:sp>
        <p:nvSpPr>
          <p:cNvPr id="96" name="Text 90"/>
          <p:cNvSpPr txBox="1"/>
          <p:nvPr/>
        </p:nvSpPr>
        <p:spPr>
          <a:xfrm>
            <a:off x="4205143" y="4937150"/>
            <a:ext cx="1720125" cy="283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Direct floor (₹80 making cost)</a:t>
            </a:r>
            <a:endParaRPr lang="en-US" sz="850" dirty="0"/>
          </a:p>
        </p:txBody>
      </p:sp>
      <p:sp>
        <p:nvSpPr>
          <p:cNvPr id="97" name="Text 91"/>
          <p:cNvSpPr txBox="1"/>
          <p:nvPr/>
        </p:nvSpPr>
        <p:spPr>
          <a:xfrm>
            <a:off x="5925268" y="4937150"/>
            <a:ext cx="1351527" cy="283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₹180 → 13.8% ✓</a:t>
            </a:r>
            <a:endParaRPr lang="en-US" sz="900" dirty="0"/>
          </a:p>
        </p:txBody>
      </p:sp>
      <p:sp>
        <p:nvSpPr>
          <p:cNvPr id="98" name="Text 92"/>
          <p:cNvSpPr txBox="1"/>
          <p:nvPr/>
        </p:nvSpPr>
        <p:spPr>
          <a:xfrm>
            <a:off x="4205143" y="5220767"/>
            <a:ext cx="1720125" cy="283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Reseller floor (buys via wholesaler)</a:t>
            </a:r>
            <a:endParaRPr lang="en-US" sz="850" dirty="0"/>
          </a:p>
        </p:txBody>
      </p:sp>
      <p:sp>
        <p:nvSpPr>
          <p:cNvPr id="99" name="Text 93"/>
          <p:cNvSpPr txBox="1"/>
          <p:nvPr/>
        </p:nvSpPr>
        <p:spPr>
          <a:xfrm>
            <a:off x="5925268" y="5220767"/>
            <a:ext cx="1351527" cy="283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₹220 → -5.4% ✕</a:t>
            </a:r>
            <a:endParaRPr lang="en-US" sz="900" dirty="0"/>
          </a:p>
        </p:txBody>
      </p:sp>
      <p:sp>
        <p:nvSpPr>
          <p:cNvPr id="100" name="Text 94"/>
          <p:cNvSpPr txBox="1"/>
          <p:nvPr/>
        </p:nvSpPr>
        <p:spPr>
          <a:xfrm>
            <a:off x="4205143" y="5504383"/>
            <a:ext cx="1720125" cy="283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Catalogue: 18 of 24 live SKUs clear</a:t>
            </a:r>
            <a:endParaRPr lang="en-US" sz="850" dirty="0"/>
          </a:p>
        </p:txBody>
      </p:sp>
      <p:sp>
        <p:nvSpPr>
          <p:cNvPr id="101" name="Text 95"/>
          <p:cNvSpPr txBox="1"/>
          <p:nvPr/>
        </p:nvSpPr>
        <p:spPr>
          <a:xfrm>
            <a:off x="5925268" y="5504383"/>
            <a:ext cx="1351527" cy="283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 ≥ 60% → badge</a:t>
            </a:r>
            <a:endParaRPr lang="en-US" sz="900" dirty="0"/>
          </a:p>
        </p:txBody>
      </p:sp>
      <p:sp>
        <p:nvSpPr>
          <p:cNvPr id="102" name="Text 96"/>
          <p:cNvSpPr txBox="1"/>
          <p:nvPr/>
        </p:nvSpPr>
        <p:spPr>
          <a:xfrm>
            <a:off x="4205143" y="5788000"/>
            <a:ext cx="1720125" cy="283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SKUs at −30%, 21 at market</a:t>
            </a:r>
            <a:endParaRPr lang="en-US" sz="850" dirty="0"/>
          </a:p>
        </p:txBody>
      </p:sp>
      <p:sp>
        <p:nvSpPr>
          <p:cNvPr id="103" name="Text 97"/>
          <p:cNvSpPr txBox="1"/>
          <p:nvPr/>
        </p:nvSpPr>
        <p:spPr>
          <a:xfrm>
            <a:off x="5925268" y="5788000"/>
            <a:ext cx="1351527" cy="283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13% &lt; 60% → no badge</a:t>
            </a:r>
            <a:endParaRPr lang="en-US" sz="900" dirty="0"/>
          </a:p>
        </p:txBody>
      </p:sp>
      <p:sp>
        <p:nvSpPr>
          <p:cNvPr id="104" name="Shape 98"/>
          <p:cNvSpPr/>
          <p:nvPr/>
        </p:nvSpPr>
        <p:spPr>
          <a:xfrm>
            <a:off x="7441387" y="1051560"/>
            <a:ext cx="4518965" cy="246888"/>
          </a:xfrm>
          <a:prstGeom prst="roundRect">
            <a:avLst>
              <a:gd name="adj" fmla="val 18519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105" name="Text 99"/>
          <p:cNvSpPr txBox="1"/>
          <p:nvPr/>
        </p:nvSpPr>
        <p:spPr>
          <a:xfrm>
            <a:off x="7514539" y="1051560"/>
            <a:ext cx="437266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Truth Index: the method</a:t>
            </a:r>
            <a:endParaRPr lang="en-US" sz="1050" dirty="0"/>
          </a:p>
        </p:txBody>
      </p:sp>
      <p:sp>
        <p:nvSpPr>
          <p:cNvPr id="106" name="Shape 100"/>
          <p:cNvSpPr/>
          <p:nvPr/>
        </p:nvSpPr>
        <p:spPr>
          <a:xfrm>
            <a:off x="7441387" y="1325880"/>
            <a:ext cx="4518965" cy="2217420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107" name="Shape 101"/>
          <p:cNvSpPr/>
          <p:nvPr/>
        </p:nvSpPr>
        <p:spPr>
          <a:xfrm>
            <a:off x="7514539" y="141732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108" name="Text 102"/>
          <p:cNvSpPr txBox="1"/>
          <p:nvPr/>
        </p:nvSpPr>
        <p:spPr>
          <a:xfrm>
            <a:off x="7551115" y="1417320"/>
            <a:ext cx="164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09" name="Text 103"/>
          <p:cNvSpPr txBox="1"/>
          <p:nvPr/>
        </p:nvSpPr>
        <p:spPr>
          <a:xfrm>
            <a:off x="7807147" y="1380744"/>
            <a:ext cx="4080053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set  </a:t>
            </a:r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type × pack size, e.g. men’s briefs, 3-pack</a:t>
            </a:r>
            <a:endParaRPr lang="en-US" sz="850" dirty="0"/>
          </a:p>
        </p:txBody>
      </p:sp>
      <p:sp>
        <p:nvSpPr>
          <p:cNvPr id="110" name="Shape 104"/>
          <p:cNvSpPr/>
          <p:nvPr/>
        </p:nvSpPr>
        <p:spPr>
          <a:xfrm>
            <a:off x="7514539" y="176860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11" name="Text 105"/>
          <p:cNvSpPr txBox="1"/>
          <p:nvPr/>
        </p:nvSpPr>
        <p:spPr>
          <a:xfrm>
            <a:off x="7551115" y="1768602"/>
            <a:ext cx="164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12" name="Text 106"/>
          <p:cNvSpPr txBox="1"/>
          <p:nvPr/>
        </p:nvSpPr>
        <p:spPr>
          <a:xfrm>
            <a:off x="7807147" y="1732026"/>
            <a:ext cx="4080053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Demand-weighted median  </a:t>
            </a:r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delivered orders (reviews in our teardown); a list-price median overstates by up to 58%</a:t>
            </a:r>
            <a:endParaRPr lang="en-US" sz="850" dirty="0"/>
          </a:p>
        </p:txBody>
      </p:sp>
      <p:sp>
        <p:nvSpPr>
          <p:cNvPr id="113" name="Shape 107"/>
          <p:cNvSpPr/>
          <p:nvPr/>
        </p:nvSpPr>
        <p:spPr>
          <a:xfrm>
            <a:off x="7514539" y="2119884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114" name="Text 108"/>
          <p:cNvSpPr txBox="1"/>
          <p:nvPr/>
        </p:nvSpPr>
        <p:spPr>
          <a:xfrm>
            <a:off x="7551115" y="2119884"/>
            <a:ext cx="164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15" name="Text 109"/>
          <p:cNvSpPr txBox="1"/>
          <p:nvPr/>
        </p:nvSpPr>
        <p:spPr>
          <a:xfrm>
            <a:off x="7807147" y="2083308"/>
            <a:ext cx="4080053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 gap  </a:t>
            </a:r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= (median − seller price) ÷ median</a:t>
            </a:r>
            <a:endParaRPr lang="en-US" sz="850" dirty="0"/>
          </a:p>
        </p:txBody>
      </p:sp>
      <p:sp>
        <p:nvSpPr>
          <p:cNvPr id="116" name="Shape 110"/>
          <p:cNvSpPr/>
          <p:nvPr/>
        </p:nvSpPr>
        <p:spPr>
          <a:xfrm>
            <a:off x="7514539" y="2471166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117" name="Text 111"/>
          <p:cNvSpPr txBox="1"/>
          <p:nvPr/>
        </p:nvSpPr>
        <p:spPr>
          <a:xfrm>
            <a:off x="7551115" y="2471166"/>
            <a:ext cx="164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18" name="Text 112"/>
          <p:cNvSpPr txBox="1"/>
          <p:nvPr/>
        </p:nvSpPr>
        <p:spPr>
          <a:xfrm>
            <a:off x="7807147" y="2434590"/>
            <a:ext cx="4080053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Catalogue gate  </a:t>
            </a:r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8% gap on ≥ 60% of live SKUs; sellers above ₹5 cr GMV; one loss-leader cannot buy the badge</a:t>
            </a:r>
            <a:endParaRPr lang="en-US" sz="850" dirty="0"/>
          </a:p>
        </p:txBody>
      </p:sp>
      <p:sp>
        <p:nvSpPr>
          <p:cNvPr id="119" name="Shape 113"/>
          <p:cNvSpPr/>
          <p:nvPr/>
        </p:nvSpPr>
        <p:spPr>
          <a:xfrm>
            <a:off x="7514539" y="282244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120" name="Text 114"/>
          <p:cNvSpPr txBox="1"/>
          <p:nvPr/>
        </p:nvSpPr>
        <p:spPr>
          <a:xfrm>
            <a:off x="7551115" y="2822448"/>
            <a:ext cx="164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121" name="Text 115"/>
          <p:cNvSpPr txBox="1"/>
          <p:nvPr/>
        </p:nvSpPr>
        <p:spPr>
          <a:xfrm>
            <a:off x="7807147" y="2785872"/>
            <a:ext cx="4080053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Dominant-seller fix  </a:t>
            </a:r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seller with &gt; 30% of a set’s orders is scored against the median without its own orders</a:t>
            </a:r>
            <a:endParaRPr lang="en-US" sz="850" dirty="0"/>
          </a:p>
        </p:txBody>
      </p:sp>
      <p:sp>
        <p:nvSpPr>
          <p:cNvPr id="122" name="Shape 116"/>
          <p:cNvSpPr/>
          <p:nvPr/>
        </p:nvSpPr>
        <p:spPr>
          <a:xfrm>
            <a:off x="7514539" y="317373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123" name="Text 117"/>
          <p:cNvSpPr txBox="1"/>
          <p:nvPr/>
        </p:nvSpPr>
        <p:spPr>
          <a:xfrm>
            <a:off x="7551115" y="3173730"/>
            <a:ext cx="164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124" name="Text 118"/>
          <p:cNvSpPr txBox="1"/>
          <p:nvPr/>
        </p:nvSpPr>
        <p:spPr>
          <a:xfrm>
            <a:off x="7807147" y="3137154"/>
            <a:ext cx="4080053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 + re-rank, with a holdout  </a:t>
            </a:r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Matched control; read at Day 30 (page 9); badge off if the gap falls below 4%</a:t>
            </a:r>
            <a:endParaRPr lang="en-US" sz="850" dirty="0"/>
          </a:p>
        </p:txBody>
      </p:sp>
      <p:sp>
        <p:nvSpPr>
          <p:cNvPr id="125" name="Shape 119"/>
          <p:cNvSpPr/>
          <p:nvPr/>
        </p:nvSpPr>
        <p:spPr>
          <a:xfrm>
            <a:off x="7441387" y="3634740"/>
            <a:ext cx="4518965" cy="246888"/>
          </a:xfrm>
          <a:prstGeom prst="roundRect">
            <a:avLst>
              <a:gd name="adj" fmla="val 18519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26" name="Text 120"/>
          <p:cNvSpPr txBox="1"/>
          <p:nvPr/>
        </p:nvSpPr>
        <p:spPr>
          <a:xfrm>
            <a:off x="7514539" y="3634740"/>
            <a:ext cx="437266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verdicts, four actions (prototype, 180 synthetic sellers)</a:t>
            </a:r>
            <a:endParaRPr lang="en-US" sz="1050" dirty="0"/>
          </a:p>
        </p:txBody>
      </p:sp>
      <p:sp>
        <p:nvSpPr>
          <p:cNvPr id="127" name="Shape 121"/>
          <p:cNvSpPr/>
          <p:nvPr/>
        </p:nvSpPr>
        <p:spPr>
          <a:xfrm>
            <a:off x="7441387" y="3909060"/>
            <a:ext cx="4518965" cy="2217420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14539" y="3963924"/>
          <a:ext cx="4372661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66928"/>
                <a:gridCol w="2479853"/>
              </a:tblGrid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C2M-ready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Badge + re-rank + Demand Brief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without price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badge; offer value-tier SKUs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Loss-leader pattern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badge: the catalogue gate holds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 miss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Factory Node offer; re-score in 28 days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</a:tbl>
          </a:graphicData>
        </a:graphic>
      </p:graphicFrame>
      <p:sp>
        <p:nvSpPr>
          <p:cNvPr id="129" name="Text 122"/>
          <p:cNvSpPr txBox="1"/>
          <p:nvPr/>
        </p:nvSpPr>
        <p:spPr>
          <a:xfrm>
            <a:off x="7514539" y="5189220"/>
            <a:ext cx="1411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</a:t>
            </a:r>
            <a:endParaRPr lang="en-US" sz="1700" dirty="0"/>
          </a:p>
        </p:txBody>
      </p:sp>
      <p:sp>
        <p:nvSpPr>
          <p:cNvPr id="130" name="Text 123"/>
          <p:cNvSpPr txBox="1"/>
          <p:nvPr/>
        </p:nvSpPr>
        <p:spPr>
          <a:xfrm>
            <a:off x="7514539" y="5518404"/>
            <a:ext cx="141183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sellers above ₹5 cr screened</a:t>
            </a:r>
            <a:endParaRPr lang="en-US" sz="800" dirty="0"/>
          </a:p>
        </p:txBody>
      </p:sp>
      <p:sp>
        <p:nvSpPr>
          <p:cNvPr id="131" name="Text 124"/>
          <p:cNvSpPr txBox="1"/>
          <p:nvPr/>
        </p:nvSpPr>
        <p:spPr>
          <a:xfrm>
            <a:off x="8972093" y="5189220"/>
            <a:ext cx="1411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34%</a:t>
            </a:r>
            <a:endParaRPr lang="en-US" sz="1700" dirty="0"/>
          </a:p>
        </p:txBody>
      </p:sp>
      <p:sp>
        <p:nvSpPr>
          <p:cNvPr id="132" name="Text 125"/>
          <p:cNvSpPr txBox="1"/>
          <p:nvPr/>
        </p:nvSpPr>
        <p:spPr>
          <a:xfrm>
            <a:off x="8972093" y="5518404"/>
            <a:ext cx="141183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the gate</a:t>
            </a:r>
            <a:endParaRPr lang="en-US" sz="800" dirty="0"/>
          </a:p>
        </p:txBody>
      </p:sp>
      <p:sp>
        <p:nvSpPr>
          <p:cNvPr id="133" name="Text 126"/>
          <p:cNvSpPr txBox="1"/>
          <p:nvPr/>
        </p:nvSpPr>
        <p:spPr>
          <a:xfrm>
            <a:off x="10429646" y="5189220"/>
            <a:ext cx="1411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4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of 10</a:t>
            </a:r>
            <a:endParaRPr lang="en-US" sz="1700" dirty="0"/>
          </a:p>
        </p:txBody>
      </p:sp>
      <p:sp>
        <p:nvSpPr>
          <p:cNvPr id="134" name="Text 127"/>
          <p:cNvSpPr txBox="1"/>
          <p:nvPr/>
        </p:nvSpPr>
        <p:spPr>
          <a:xfrm>
            <a:off x="10429646" y="5518404"/>
            <a:ext cx="141183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sellers fail</a:t>
            </a:r>
            <a:endParaRPr lang="en-US" sz="800" dirty="0"/>
          </a:p>
        </p:txBody>
      </p:sp>
      <p:sp>
        <p:nvSpPr>
          <p:cNvPr id="135" name="Text 128"/>
          <p:cNvSpPr txBox="1"/>
          <p:nvPr/>
        </p:nvSpPr>
        <p:spPr>
          <a:xfrm>
            <a:off x="7514539" y="5737860"/>
            <a:ext cx="437266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and price gap are unrelated (r = −0.18): </a:t>
            </a:r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sellers are traders whose scale never became price. The same rules run unchanged on Meesho’s order tables.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pic>
        <p:nvPicPr>
          <p:cNvPr id="3" name="Image 0" descr="/Users/prathmeshwalimbe/Downloads/Meesho/02_round2_detailed_submission/deck/source/assets/dice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97280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97280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2071116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071116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Segments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3044952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044952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Sizing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018788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018788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Truth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992624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E8434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992624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5966460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66460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Benchmarks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6940296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940296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Sustainable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Scale-up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7914132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914132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KPIs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8887968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887968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9861804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861804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Risks</a:t>
            </a:r>
            <a:endParaRPr lang="en-US" sz="850" dirty="0"/>
          </a:p>
        </p:txBody>
      </p:sp>
      <p:pic>
        <p:nvPicPr>
          <p:cNvPr id="24" name="Image 1" descr="/Users/prathmeshwalimbe/Downloads/Meesho/02_round2_detailed_submission/deck/source/assets/meesho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25" name="Image 2" descr="/Users/prathmeshwalimbe/Downloads/Meesho/02_round2_detailed_submission/deck/source/assets/iitb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Factory Direct takes unit operations and stock risk off the factory, cutting its lowest viable price from ₹194 to ₹180</a:t>
            </a:r>
            <a:endParaRPr lang="en-US" sz="1700" dirty="0"/>
          </a:p>
        </p:txBody>
      </p:sp>
      <p:sp>
        <p:nvSpPr>
          <p:cNvPr id="27" name="Shape 22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MODEL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228600" y="6199632"/>
            <a:ext cx="11731752" cy="365760"/>
          </a:xfrm>
          <a:prstGeom prst="roundRect">
            <a:avLst>
              <a:gd name="adj" fmla="val 15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365760" y="619963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open one partner-run Factory Node in Tiruppur after the Day-30 gate (₹1.3 cr set-up). Owner: Valmo + Category · KPI: 95% of batch orders shipped within 48 h of handover.</a:t>
            </a:r>
            <a:endParaRPr lang="en-US" sz="1050" dirty="0"/>
          </a:p>
        </p:txBody>
      </p:sp>
      <p:sp>
        <p:nvSpPr>
          <p:cNvPr id="31" name="Text 26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S11 (₹150 return fee, ₹0 RTO fee), S12, S13, S16, S19 (Press Note 2), S21, S26   |   Assumptions: A10, A11, A20, A22–A32 (making cost ₹80 to confirm in interviews)   |   Workings: Appendix C</a:t>
            </a:r>
            <a:endParaRPr lang="en-US" sz="800" dirty="0"/>
          </a:p>
        </p:txBody>
      </p:sp>
      <p:sp>
        <p:nvSpPr>
          <p:cNvPr id="32" name="Text 27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548640" y="1051560"/>
            <a:ext cx="11411712" cy="246888"/>
          </a:xfrm>
          <a:prstGeom prst="roundRect">
            <a:avLst>
              <a:gd name="adj" fmla="val 18519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621792" y="1051560"/>
            <a:ext cx="112654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Factory Direct flow: one manufacturer, end to end (the factory keeps title to its stock throughout)</a:t>
            </a:r>
            <a:endParaRPr lang="en-US" sz="1050" dirty="0"/>
          </a:p>
        </p:txBody>
      </p:sp>
      <p:sp>
        <p:nvSpPr>
          <p:cNvPr id="35" name="Shape 30"/>
          <p:cNvSpPr/>
          <p:nvPr/>
        </p:nvSpPr>
        <p:spPr>
          <a:xfrm>
            <a:off x="548640" y="1325880"/>
            <a:ext cx="11411712" cy="1151687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621792" y="1380744"/>
            <a:ext cx="1801368" cy="1041959"/>
          </a:xfrm>
          <a:prstGeom prst="roundRect">
            <a:avLst>
              <a:gd name="adj" fmla="val 4388"/>
            </a:avLst>
          </a:prstGeom>
          <a:solidFill>
            <a:srgbClr val="FFFFFF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76656" y="1435608"/>
            <a:ext cx="384048" cy="384048"/>
          </a:xfrm>
          <a:prstGeom prst="ellips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8" name="Image 3" descr="/Users/prathmeshwalimbe/Downloads/Meesho/02_round2_detailed_submission/deck/source/assets/icons/FaScaleUnbalanced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" y="1517904"/>
            <a:ext cx="219456" cy="219456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1097280" y="1435608"/>
            <a:ext cx="1289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Price check</a:t>
            </a:r>
            <a:endParaRPr lang="en-US" sz="1000" dirty="0"/>
          </a:p>
        </p:txBody>
      </p:sp>
      <p:sp>
        <p:nvSpPr>
          <p:cNvPr id="40" name="Text 34"/>
          <p:cNvSpPr txBox="1"/>
          <p:nvPr/>
        </p:nvSpPr>
        <p:spPr>
          <a:xfrm>
            <a:off x="694944" y="1856232"/>
            <a:ext cx="1673352" cy="5298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listing: floor ₹180 vs gate ₹192: qualifies</a:t>
            </a:r>
            <a:endParaRPr lang="en-US" sz="850" dirty="0"/>
          </a:p>
        </p:txBody>
      </p:sp>
      <p:sp>
        <p:nvSpPr>
          <p:cNvPr id="41" name="Text 35"/>
          <p:cNvSpPr txBox="1"/>
          <p:nvPr/>
        </p:nvSpPr>
        <p:spPr>
          <a:xfrm>
            <a:off x="2404872" y="1426464"/>
            <a:ext cx="128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7A2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42" name="Shape 36"/>
          <p:cNvSpPr/>
          <p:nvPr/>
        </p:nvSpPr>
        <p:spPr>
          <a:xfrm>
            <a:off x="2514600" y="1380744"/>
            <a:ext cx="1801368" cy="1041959"/>
          </a:xfrm>
          <a:prstGeom prst="roundRect">
            <a:avLst>
              <a:gd name="adj" fmla="val 4388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2569464" y="1435608"/>
            <a:ext cx="384048" cy="384048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4" name="Image 4" descr="/Users/prathmeshwalimbe/Downloads/Meesho/02_round2_detailed_submission/deck/source/assets/icons/FaMapLocationDot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1760" y="1517904"/>
            <a:ext cx="219456" cy="219456"/>
          </a:xfrm>
          <a:prstGeom prst="rect">
            <a:avLst/>
          </a:prstGeom>
        </p:spPr>
      </p:pic>
      <p:sp>
        <p:nvSpPr>
          <p:cNvPr id="45" name="Text 38"/>
          <p:cNvSpPr txBox="1"/>
          <p:nvPr/>
        </p:nvSpPr>
        <p:spPr>
          <a:xfrm>
            <a:off x="2990088" y="1435608"/>
            <a:ext cx="1289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Demand Brief</a:t>
            </a:r>
            <a:endParaRPr lang="en-US" sz="1000" dirty="0"/>
          </a:p>
        </p:txBody>
      </p:sp>
      <p:sp>
        <p:nvSpPr>
          <p:cNvPr id="46" name="Text 39"/>
          <p:cNvSpPr txBox="1"/>
          <p:nvPr/>
        </p:nvSpPr>
        <p:spPr>
          <a:xfrm>
            <a:off x="2587752" y="1856232"/>
            <a:ext cx="1673352" cy="5298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demand, price band, size mix; batches of 500+ units</a:t>
            </a:r>
            <a:endParaRPr lang="en-US" sz="850" dirty="0"/>
          </a:p>
        </p:txBody>
      </p:sp>
      <p:sp>
        <p:nvSpPr>
          <p:cNvPr id="47" name="Text 40"/>
          <p:cNvSpPr txBox="1"/>
          <p:nvPr/>
        </p:nvSpPr>
        <p:spPr>
          <a:xfrm>
            <a:off x="4297680" y="1426464"/>
            <a:ext cx="128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7A2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48" name="Shape 41"/>
          <p:cNvSpPr/>
          <p:nvPr/>
        </p:nvSpPr>
        <p:spPr>
          <a:xfrm>
            <a:off x="4407408" y="1380744"/>
            <a:ext cx="1801368" cy="1041959"/>
          </a:xfrm>
          <a:prstGeom prst="roundRect">
            <a:avLst>
              <a:gd name="adj" fmla="val 4388"/>
            </a:avLst>
          </a:prstGeom>
          <a:solidFill>
            <a:srgbClr val="FFFFFF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49" name="Shape 42"/>
          <p:cNvSpPr/>
          <p:nvPr/>
        </p:nvSpPr>
        <p:spPr>
          <a:xfrm>
            <a:off x="4462272" y="1435608"/>
            <a:ext cx="384048" cy="384048"/>
          </a:xfrm>
          <a:prstGeom prst="ellips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0" name="Image 5" descr="/Users/prathmeshwalimbe/Downloads/Meesho/02_round2_detailed_submission/deck/source/assets/icons/FaUserClock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44568" y="1517904"/>
            <a:ext cx="219456" cy="219456"/>
          </a:xfrm>
          <a:prstGeom prst="rect">
            <a:avLst/>
          </a:prstGeom>
        </p:spPr>
      </p:pic>
      <p:sp>
        <p:nvSpPr>
          <p:cNvPr id="51" name="Text 43"/>
          <p:cNvSpPr txBox="1"/>
          <p:nvPr/>
        </p:nvSpPr>
        <p:spPr>
          <a:xfrm>
            <a:off x="4882896" y="1435608"/>
            <a:ext cx="1289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Pre-order window</a:t>
            </a:r>
            <a:endParaRPr lang="en-US" sz="1000" dirty="0"/>
          </a:p>
        </p:txBody>
      </p:sp>
      <p:sp>
        <p:nvSpPr>
          <p:cNvPr id="52" name="Text 44"/>
          <p:cNvSpPr txBox="1"/>
          <p:nvPr/>
        </p:nvSpPr>
        <p:spPr>
          <a:xfrm>
            <a:off x="4480560" y="1856232"/>
            <a:ext cx="1673352" cy="5298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Buyers prepay; ₹10 off for 7–8 day delivery; make orders + 15%</a:t>
            </a:r>
            <a:endParaRPr lang="en-US" sz="850" dirty="0"/>
          </a:p>
        </p:txBody>
      </p:sp>
      <p:sp>
        <p:nvSpPr>
          <p:cNvPr id="53" name="Text 45"/>
          <p:cNvSpPr txBox="1"/>
          <p:nvPr/>
        </p:nvSpPr>
        <p:spPr>
          <a:xfrm>
            <a:off x="6190488" y="1426464"/>
            <a:ext cx="128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7A2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54" name="Shape 46"/>
          <p:cNvSpPr/>
          <p:nvPr/>
        </p:nvSpPr>
        <p:spPr>
          <a:xfrm>
            <a:off x="6300216" y="1380744"/>
            <a:ext cx="1801368" cy="1041959"/>
          </a:xfrm>
          <a:prstGeom prst="roundRect">
            <a:avLst>
              <a:gd name="adj" fmla="val 4388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55" name="Shape 47"/>
          <p:cNvSpPr/>
          <p:nvPr/>
        </p:nvSpPr>
        <p:spPr>
          <a:xfrm>
            <a:off x="6355080" y="1435608"/>
            <a:ext cx="384048" cy="384048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6" name="Image 6" descr="/Users/prathmeshwalimbe/Downloads/Meesho/02_round2_detailed_submission/deck/source/assets/icons/FaWarehouse_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37376" y="1517904"/>
            <a:ext cx="219456" cy="219456"/>
          </a:xfrm>
          <a:prstGeom prst="rect">
            <a:avLst/>
          </a:prstGeom>
        </p:spPr>
      </p:pic>
      <p:sp>
        <p:nvSpPr>
          <p:cNvPr id="57" name="Text 48"/>
          <p:cNvSpPr txBox="1"/>
          <p:nvPr/>
        </p:nvSpPr>
        <p:spPr>
          <a:xfrm>
            <a:off x="6775704" y="1435608"/>
            <a:ext cx="1289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Bulk handover</a:t>
            </a:r>
            <a:endParaRPr lang="en-US" sz="1000" dirty="0"/>
          </a:p>
        </p:txBody>
      </p:sp>
      <p:sp>
        <p:nvSpPr>
          <p:cNvPr id="58" name="Text 49"/>
          <p:cNvSpPr txBox="1"/>
          <p:nvPr/>
        </p:nvSpPr>
        <p:spPr>
          <a:xfrm>
            <a:off x="6373368" y="1856232"/>
            <a:ext cx="1673352" cy="5298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drop at the Factory Node; 30% of value advanced via an NBFC</a:t>
            </a:r>
            <a:endParaRPr lang="en-US" sz="850" dirty="0"/>
          </a:p>
        </p:txBody>
      </p:sp>
      <p:sp>
        <p:nvSpPr>
          <p:cNvPr id="59" name="Text 50"/>
          <p:cNvSpPr txBox="1"/>
          <p:nvPr/>
        </p:nvSpPr>
        <p:spPr>
          <a:xfrm>
            <a:off x="8083296" y="1426464"/>
            <a:ext cx="128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7A2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60" name="Shape 51"/>
          <p:cNvSpPr/>
          <p:nvPr/>
        </p:nvSpPr>
        <p:spPr>
          <a:xfrm>
            <a:off x="8193024" y="1380744"/>
            <a:ext cx="1801368" cy="1041959"/>
          </a:xfrm>
          <a:prstGeom prst="roundRect">
            <a:avLst>
              <a:gd name="adj" fmla="val 4388"/>
            </a:avLst>
          </a:prstGeom>
          <a:solidFill>
            <a:srgbClr val="FFFFFF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61" name="Shape 52"/>
          <p:cNvSpPr/>
          <p:nvPr/>
        </p:nvSpPr>
        <p:spPr>
          <a:xfrm>
            <a:off x="8247888" y="1435608"/>
            <a:ext cx="384048" cy="384048"/>
          </a:xfrm>
          <a:prstGeom prst="ellips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2" name="Image 7" descr="/Users/prathmeshwalimbe/Downloads/Meesho/02_round2_detailed_submission/deck/source/assets/icons/FaTruckFast_w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30184" y="1517904"/>
            <a:ext cx="219456" cy="219456"/>
          </a:xfrm>
          <a:prstGeom prst="rect">
            <a:avLst/>
          </a:prstGeom>
        </p:spPr>
      </p:pic>
      <p:sp>
        <p:nvSpPr>
          <p:cNvPr id="63" name="Text 53"/>
          <p:cNvSpPr txBox="1"/>
          <p:nvPr/>
        </p:nvSpPr>
        <p:spPr>
          <a:xfrm>
            <a:off x="8668512" y="1435608"/>
            <a:ext cx="1289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Node runs unit ops</a:t>
            </a:r>
            <a:endParaRPr lang="en-US" sz="1000" dirty="0"/>
          </a:p>
        </p:txBody>
      </p:sp>
      <p:sp>
        <p:nvSpPr>
          <p:cNvPr id="64" name="Text 54"/>
          <p:cNvSpPr txBox="1"/>
          <p:nvPr/>
        </p:nvSpPr>
        <p:spPr>
          <a:xfrm>
            <a:off x="8266176" y="1856232"/>
            <a:ext cx="1673352" cy="5298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Pick, pack, ship; returns end at the node, graded and restocked</a:t>
            </a:r>
            <a:endParaRPr lang="en-US" sz="850" dirty="0"/>
          </a:p>
        </p:txBody>
      </p:sp>
      <p:sp>
        <p:nvSpPr>
          <p:cNvPr id="65" name="Text 55"/>
          <p:cNvSpPr txBox="1"/>
          <p:nvPr/>
        </p:nvSpPr>
        <p:spPr>
          <a:xfrm>
            <a:off x="9976104" y="1426464"/>
            <a:ext cx="128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7A2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66" name="Shape 56"/>
          <p:cNvSpPr/>
          <p:nvPr/>
        </p:nvSpPr>
        <p:spPr>
          <a:xfrm>
            <a:off x="10085832" y="1380744"/>
            <a:ext cx="1801368" cy="1041959"/>
          </a:xfrm>
          <a:prstGeom prst="roundRect">
            <a:avLst>
              <a:gd name="adj" fmla="val 4388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67" name="Shape 57"/>
          <p:cNvSpPr/>
          <p:nvPr/>
        </p:nvSpPr>
        <p:spPr>
          <a:xfrm>
            <a:off x="10140696" y="1435608"/>
            <a:ext cx="384048" cy="384048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8" name="Image 8" descr="/Users/prathmeshwalimbe/Downloads/Meesho/02_round2_detailed_submission/deck/source/assets/icons/FaIndianRupeeSign_w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22992" y="1517904"/>
            <a:ext cx="219456" cy="219456"/>
          </a:xfrm>
          <a:prstGeom prst="rect">
            <a:avLst/>
          </a:prstGeom>
        </p:spPr>
      </p:pic>
      <p:sp>
        <p:nvSpPr>
          <p:cNvPr id="69" name="Text 58"/>
          <p:cNvSpPr txBox="1"/>
          <p:nvPr/>
        </p:nvSpPr>
        <p:spPr>
          <a:xfrm>
            <a:off x="10561320" y="1435608"/>
            <a:ext cx="1289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Settlement</a:t>
            </a:r>
            <a:endParaRPr lang="en-US" sz="1000" dirty="0"/>
          </a:p>
        </p:txBody>
      </p:sp>
      <p:sp>
        <p:nvSpPr>
          <p:cNvPr id="70" name="Text 59"/>
          <p:cNvSpPr txBox="1"/>
          <p:nvPr/>
        </p:nvSpPr>
        <p:spPr>
          <a:xfrm>
            <a:off x="10158984" y="1856232"/>
            <a:ext cx="1673352" cy="5298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7 days after delivery: cash in ~11 days vs 45–60</a:t>
            </a:r>
            <a:endParaRPr lang="en-US" sz="850" dirty="0"/>
          </a:p>
        </p:txBody>
      </p:sp>
      <p:sp>
        <p:nvSpPr>
          <p:cNvPr id="71" name="Shape 60"/>
          <p:cNvSpPr/>
          <p:nvPr/>
        </p:nvSpPr>
        <p:spPr>
          <a:xfrm>
            <a:off x="548640" y="2569007"/>
            <a:ext cx="6573073" cy="246888"/>
          </a:xfrm>
          <a:prstGeom prst="roundRect">
            <a:avLst>
              <a:gd name="adj" fmla="val 18519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72" name="Text 61"/>
          <p:cNvSpPr txBox="1"/>
          <p:nvPr/>
        </p:nvSpPr>
        <p:spPr>
          <a:xfrm>
            <a:off x="621792" y="2569007"/>
            <a:ext cx="642676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 per 3-pack kept, one change per column (₹, Tiruppur briefs)</a:t>
            </a:r>
            <a:endParaRPr lang="en-US" sz="1050" dirty="0"/>
          </a:p>
        </p:txBody>
      </p:sp>
      <p:sp>
        <p:nvSpPr>
          <p:cNvPr id="73" name="Shape 62"/>
          <p:cNvSpPr/>
          <p:nvPr/>
        </p:nvSpPr>
        <p:spPr>
          <a:xfrm>
            <a:off x="548640" y="2843327"/>
            <a:ext cx="6573073" cy="3283153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2898191"/>
          <a:ext cx="6426769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046622"/>
                <a:gridCol w="1046622"/>
                <a:gridCol w="1046622"/>
                <a:gridCol w="1046622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Reseller today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Factory lists direct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Factory Node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Prepaid pre-order batch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i="1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 (one change per column)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i="1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Existing: buys via a wholesaler, ships, stocks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i="1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 1: no wholesaler mark-up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i="1" dirty="0">
                          <a:solidFill>
                            <a:srgbClr val="6B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 2: bulk drop; node packs, ships, grades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i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Proposed: make confirmed orders + 15%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Goods, net of resold returns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105.1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Unsold stock written down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Logistics: forward + packing / node fee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Customer-return fees (₹150 each)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Working capital (18% a year)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per pack kept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200.5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176.5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173.9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164.0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Lowest viable price (9% margin)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₹194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₹191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vs ₹209 demand-weighted median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Clears the 8% gate (≤ ₹192)?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4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4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yes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yes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5B"/>
                    </a:solidFill>
                  </a:tcPr>
                </a:tc>
              </a:tr>
            </a:tbl>
          </a:graphicData>
        </a:graphic>
      </p:graphicFrame>
      <p:sp>
        <p:nvSpPr>
          <p:cNvPr id="75" name="Text 63"/>
          <p:cNvSpPr txBox="1"/>
          <p:nvPr/>
        </p:nvSpPr>
        <p:spPr>
          <a:xfrm>
            <a:off x="621792" y="5751119"/>
            <a:ext cx="6426769" cy="320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100 shipped: </a:t>
            </a:r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14% fail delivery (4.6% when prepaid), 8% of delivered returned; sellers pay no RTO fee. </a:t>
            </a:r>
            <a:pPr indent="0" marL="0"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making cost that clears the gate: </a:t>
            </a:r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₹78.7 → ₹80.9 → ₹90.7 (+15%): the levers widen the pool of qualifying factories.</a:t>
            </a:r>
            <a:endParaRPr lang="en-US" sz="850" dirty="0"/>
          </a:p>
        </p:txBody>
      </p:sp>
      <p:sp>
        <p:nvSpPr>
          <p:cNvPr id="76" name="Shape 64"/>
          <p:cNvSpPr/>
          <p:nvPr/>
        </p:nvSpPr>
        <p:spPr>
          <a:xfrm>
            <a:off x="7213153" y="2569007"/>
            <a:ext cx="4747199" cy="246888"/>
          </a:xfrm>
          <a:prstGeom prst="roundRect">
            <a:avLst>
              <a:gd name="adj" fmla="val 18519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77" name="Text 65"/>
          <p:cNvSpPr txBox="1"/>
          <p:nvPr/>
        </p:nvSpPr>
        <p:spPr>
          <a:xfrm>
            <a:off x="7286305" y="2569007"/>
            <a:ext cx="460089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operating model (✓ removes the barrier · – partly · ✕ no)</a:t>
            </a:r>
            <a:endParaRPr lang="en-US" sz="1050" dirty="0"/>
          </a:p>
        </p:txBody>
      </p:sp>
      <p:sp>
        <p:nvSpPr>
          <p:cNvPr id="78" name="Shape 66"/>
          <p:cNvSpPr/>
          <p:nvPr/>
        </p:nvSpPr>
        <p:spPr>
          <a:xfrm>
            <a:off x="7213153" y="2843327"/>
            <a:ext cx="4747199" cy="1511960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79" name="Text 67"/>
          <p:cNvSpPr txBox="1"/>
          <p:nvPr/>
        </p:nvSpPr>
        <p:spPr>
          <a:xfrm>
            <a:off x="9069385" y="2898191"/>
            <a:ext cx="5635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ops</a:t>
            </a:r>
            <a:endParaRPr lang="en-US" sz="850" dirty="0"/>
          </a:p>
        </p:txBody>
      </p:sp>
      <p:sp>
        <p:nvSpPr>
          <p:cNvPr id="80" name="Text 68"/>
          <p:cNvSpPr txBox="1"/>
          <p:nvPr/>
        </p:nvSpPr>
        <p:spPr>
          <a:xfrm>
            <a:off x="9632948" y="2898191"/>
            <a:ext cx="5635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risk</a:t>
            </a:r>
            <a:endParaRPr lang="en-US" sz="850" dirty="0"/>
          </a:p>
        </p:txBody>
      </p:sp>
      <p:sp>
        <p:nvSpPr>
          <p:cNvPr id="81" name="Text 69"/>
          <p:cNvSpPr txBox="1"/>
          <p:nvPr/>
        </p:nvSpPr>
        <p:spPr>
          <a:xfrm>
            <a:off x="10196511" y="2898191"/>
            <a:ext cx="5635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</a:t>
            </a:r>
            <a:endParaRPr lang="en-US" sz="850" dirty="0"/>
          </a:p>
        </p:txBody>
      </p:sp>
      <p:sp>
        <p:nvSpPr>
          <p:cNvPr id="82" name="Text 70"/>
          <p:cNvSpPr txBox="1"/>
          <p:nvPr/>
        </p:nvSpPr>
        <p:spPr>
          <a:xfrm>
            <a:off x="10760074" y="2898191"/>
            <a:ext cx="5635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FDI-legal</a:t>
            </a:r>
            <a:endParaRPr lang="en-US" sz="850" dirty="0"/>
          </a:p>
        </p:txBody>
      </p:sp>
      <p:sp>
        <p:nvSpPr>
          <p:cNvPr id="83" name="Text 71"/>
          <p:cNvSpPr txBox="1"/>
          <p:nvPr/>
        </p:nvSpPr>
        <p:spPr>
          <a:xfrm>
            <a:off x="11323637" y="2898191"/>
            <a:ext cx="5635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capex</a:t>
            </a:r>
            <a:endParaRPr lang="en-US" sz="850" dirty="0"/>
          </a:p>
        </p:txBody>
      </p:sp>
      <p:sp>
        <p:nvSpPr>
          <p:cNvPr id="84" name="Text 72"/>
          <p:cNvSpPr txBox="1"/>
          <p:nvPr/>
        </p:nvSpPr>
        <p:spPr>
          <a:xfrm>
            <a:off x="7286305" y="3172511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marketplace: factory self-ships</a:t>
            </a:r>
            <a:endParaRPr lang="en-US" sz="850" dirty="0"/>
          </a:p>
        </p:txBody>
      </p:sp>
      <p:sp>
        <p:nvSpPr>
          <p:cNvPr id="85" name="Shape 73"/>
          <p:cNvSpPr/>
          <p:nvPr/>
        </p:nvSpPr>
        <p:spPr>
          <a:xfrm>
            <a:off x="9259726" y="3218231"/>
            <a:ext cx="182880" cy="182880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86" name="Text 74"/>
          <p:cNvSpPr txBox="1"/>
          <p:nvPr/>
        </p:nvSpPr>
        <p:spPr>
          <a:xfrm>
            <a:off x="9259726" y="321365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900" dirty="0"/>
          </a:p>
        </p:txBody>
      </p:sp>
      <p:sp>
        <p:nvSpPr>
          <p:cNvPr id="87" name="Shape 75"/>
          <p:cNvSpPr/>
          <p:nvPr/>
        </p:nvSpPr>
        <p:spPr>
          <a:xfrm>
            <a:off x="9823289" y="3218231"/>
            <a:ext cx="182880" cy="182880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88" name="Text 76"/>
          <p:cNvSpPr txBox="1"/>
          <p:nvPr/>
        </p:nvSpPr>
        <p:spPr>
          <a:xfrm>
            <a:off x="9823289" y="321365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900" dirty="0"/>
          </a:p>
        </p:txBody>
      </p:sp>
      <p:sp>
        <p:nvSpPr>
          <p:cNvPr id="89" name="Shape 77"/>
          <p:cNvSpPr/>
          <p:nvPr/>
        </p:nvSpPr>
        <p:spPr>
          <a:xfrm>
            <a:off x="10386852" y="3218231"/>
            <a:ext cx="182880" cy="182880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90" name="Text 78"/>
          <p:cNvSpPr txBox="1"/>
          <p:nvPr/>
        </p:nvSpPr>
        <p:spPr>
          <a:xfrm>
            <a:off x="10386852" y="321365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900" dirty="0"/>
          </a:p>
        </p:txBody>
      </p:sp>
      <p:sp>
        <p:nvSpPr>
          <p:cNvPr id="91" name="Shape 79"/>
          <p:cNvSpPr/>
          <p:nvPr/>
        </p:nvSpPr>
        <p:spPr>
          <a:xfrm>
            <a:off x="10950415" y="3218231"/>
            <a:ext cx="182880" cy="182880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92" name="Text 80"/>
          <p:cNvSpPr txBox="1"/>
          <p:nvPr/>
        </p:nvSpPr>
        <p:spPr>
          <a:xfrm>
            <a:off x="10950415" y="321365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93" name="Shape 81"/>
          <p:cNvSpPr/>
          <p:nvPr/>
        </p:nvSpPr>
        <p:spPr>
          <a:xfrm>
            <a:off x="11513978" y="3218231"/>
            <a:ext cx="182880" cy="182880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94" name="Text 82"/>
          <p:cNvSpPr txBox="1"/>
          <p:nvPr/>
        </p:nvSpPr>
        <p:spPr>
          <a:xfrm>
            <a:off x="11513978" y="321365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95" name="Text 83"/>
          <p:cNvSpPr txBox="1"/>
          <p:nvPr/>
        </p:nvSpPr>
        <p:spPr>
          <a:xfrm>
            <a:off x="7286305" y="3455975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managed: platform buys and holds stock</a:t>
            </a:r>
            <a:endParaRPr lang="en-US" sz="850" dirty="0"/>
          </a:p>
        </p:txBody>
      </p:sp>
      <p:sp>
        <p:nvSpPr>
          <p:cNvPr id="96" name="Shape 84"/>
          <p:cNvSpPr/>
          <p:nvPr/>
        </p:nvSpPr>
        <p:spPr>
          <a:xfrm>
            <a:off x="9259726" y="3501695"/>
            <a:ext cx="182880" cy="182880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97" name="Text 85"/>
          <p:cNvSpPr txBox="1"/>
          <p:nvPr/>
        </p:nvSpPr>
        <p:spPr>
          <a:xfrm>
            <a:off x="9259726" y="3497123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98" name="Shape 86"/>
          <p:cNvSpPr/>
          <p:nvPr/>
        </p:nvSpPr>
        <p:spPr>
          <a:xfrm>
            <a:off x="9823289" y="3501695"/>
            <a:ext cx="182880" cy="182880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99" name="Text 87"/>
          <p:cNvSpPr txBox="1"/>
          <p:nvPr/>
        </p:nvSpPr>
        <p:spPr>
          <a:xfrm>
            <a:off x="9823289" y="3497123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100" name="Shape 88"/>
          <p:cNvSpPr/>
          <p:nvPr/>
        </p:nvSpPr>
        <p:spPr>
          <a:xfrm>
            <a:off x="10386852" y="3501695"/>
            <a:ext cx="182880" cy="182880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101" name="Text 89"/>
          <p:cNvSpPr txBox="1"/>
          <p:nvPr/>
        </p:nvSpPr>
        <p:spPr>
          <a:xfrm>
            <a:off x="10386852" y="3497123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102" name="Shape 90"/>
          <p:cNvSpPr/>
          <p:nvPr/>
        </p:nvSpPr>
        <p:spPr>
          <a:xfrm>
            <a:off x="10950415" y="3501695"/>
            <a:ext cx="182880" cy="182880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103" name="Text 91"/>
          <p:cNvSpPr txBox="1"/>
          <p:nvPr/>
        </p:nvSpPr>
        <p:spPr>
          <a:xfrm>
            <a:off x="10950415" y="3497123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900" dirty="0"/>
          </a:p>
        </p:txBody>
      </p:sp>
      <p:sp>
        <p:nvSpPr>
          <p:cNvPr id="104" name="Shape 92"/>
          <p:cNvSpPr/>
          <p:nvPr/>
        </p:nvSpPr>
        <p:spPr>
          <a:xfrm>
            <a:off x="11513978" y="3501695"/>
            <a:ext cx="182880" cy="182880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105" name="Text 93"/>
          <p:cNvSpPr txBox="1"/>
          <p:nvPr/>
        </p:nvSpPr>
        <p:spPr>
          <a:xfrm>
            <a:off x="11513978" y="3497123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900" dirty="0"/>
          </a:p>
        </p:txBody>
      </p:sp>
      <p:sp>
        <p:nvSpPr>
          <p:cNvPr id="106" name="Shape 94"/>
          <p:cNvSpPr/>
          <p:nvPr/>
        </p:nvSpPr>
        <p:spPr>
          <a:xfrm>
            <a:off x="7249729" y="3721151"/>
            <a:ext cx="4674047" cy="283464"/>
          </a:xfrm>
          <a:prstGeom prst="roundRect">
            <a:avLst>
              <a:gd name="adj" fmla="val 12903"/>
            </a:avLst>
          </a:prstGeom>
          <a:solidFill>
            <a:srgbClr val="FDE7E8"/>
          </a:solidFill>
          <a:ln w="9525">
            <a:solidFill>
              <a:srgbClr val="FDE7E8"/>
            </a:solidFill>
            <a:prstDash val="solid"/>
          </a:ln>
        </p:spPr>
      </p:sp>
      <p:sp>
        <p:nvSpPr>
          <p:cNvPr id="107" name="Text 95"/>
          <p:cNvSpPr txBox="1"/>
          <p:nvPr/>
        </p:nvSpPr>
        <p:spPr>
          <a:xfrm>
            <a:off x="7286305" y="3739439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Direct: seller-owned stock at a partner node</a:t>
            </a:r>
            <a:endParaRPr lang="en-US" sz="850" dirty="0"/>
          </a:p>
        </p:txBody>
      </p:sp>
      <p:sp>
        <p:nvSpPr>
          <p:cNvPr id="108" name="Shape 96"/>
          <p:cNvSpPr/>
          <p:nvPr/>
        </p:nvSpPr>
        <p:spPr>
          <a:xfrm>
            <a:off x="9259726" y="3785159"/>
            <a:ext cx="182880" cy="182880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109" name="Text 97"/>
          <p:cNvSpPr txBox="1"/>
          <p:nvPr/>
        </p:nvSpPr>
        <p:spPr>
          <a:xfrm>
            <a:off x="9259726" y="3780587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110" name="Shape 98"/>
          <p:cNvSpPr/>
          <p:nvPr/>
        </p:nvSpPr>
        <p:spPr>
          <a:xfrm>
            <a:off x="9823289" y="3785159"/>
            <a:ext cx="182880" cy="182880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111" name="Text 99"/>
          <p:cNvSpPr txBox="1"/>
          <p:nvPr/>
        </p:nvSpPr>
        <p:spPr>
          <a:xfrm>
            <a:off x="9823289" y="3780587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112" name="Shape 100"/>
          <p:cNvSpPr/>
          <p:nvPr/>
        </p:nvSpPr>
        <p:spPr>
          <a:xfrm>
            <a:off x="10386852" y="3785159"/>
            <a:ext cx="182880" cy="182880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113" name="Text 101"/>
          <p:cNvSpPr txBox="1"/>
          <p:nvPr/>
        </p:nvSpPr>
        <p:spPr>
          <a:xfrm>
            <a:off x="10386852" y="3780587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114" name="Shape 102"/>
          <p:cNvSpPr/>
          <p:nvPr/>
        </p:nvSpPr>
        <p:spPr>
          <a:xfrm>
            <a:off x="10950415" y="3785159"/>
            <a:ext cx="182880" cy="182880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115" name="Text 103"/>
          <p:cNvSpPr txBox="1"/>
          <p:nvPr/>
        </p:nvSpPr>
        <p:spPr>
          <a:xfrm>
            <a:off x="10950415" y="3780587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116" name="Shape 104"/>
          <p:cNvSpPr/>
          <p:nvPr/>
        </p:nvSpPr>
        <p:spPr>
          <a:xfrm>
            <a:off x="11513978" y="3785159"/>
            <a:ext cx="182880" cy="182880"/>
          </a:xfrm>
          <a:prstGeom prst="ellipse">
            <a:avLst/>
          </a:prstGeom>
          <a:solidFill>
            <a:srgbClr val="E39B2B"/>
          </a:solidFill>
          <a:ln w="12700">
            <a:solidFill>
              <a:srgbClr val="E39B2B"/>
            </a:solidFill>
            <a:prstDash val="solid"/>
          </a:ln>
        </p:spPr>
      </p:sp>
      <p:sp>
        <p:nvSpPr>
          <p:cNvPr id="117" name="Text 105"/>
          <p:cNvSpPr txBox="1"/>
          <p:nvPr/>
        </p:nvSpPr>
        <p:spPr>
          <a:xfrm>
            <a:off x="11513978" y="3780587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900" dirty="0"/>
          </a:p>
        </p:txBody>
      </p:sp>
      <p:sp>
        <p:nvSpPr>
          <p:cNvPr id="118" name="Text 106"/>
          <p:cNvSpPr txBox="1"/>
          <p:nvPr/>
        </p:nvSpPr>
        <p:spPr>
          <a:xfrm>
            <a:off x="7286305" y="4050335"/>
            <a:ext cx="4600895" cy="250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managed fails Press Note 2: an FDI marketplace may not own or control seller inventory [S19]. Temu itself moved US sellers to semi-managed (20% of US GMV, Q3 2024) [S16].</a:t>
            </a:r>
            <a:endParaRPr lang="en-US" sz="800" dirty="0"/>
          </a:p>
        </p:txBody>
      </p:sp>
      <p:sp>
        <p:nvSpPr>
          <p:cNvPr id="119" name="Shape 107"/>
          <p:cNvSpPr/>
          <p:nvPr/>
        </p:nvSpPr>
        <p:spPr>
          <a:xfrm>
            <a:off x="7213153" y="4446727"/>
            <a:ext cx="4747199" cy="246888"/>
          </a:xfrm>
          <a:prstGeom prst="roundRect">
            <a:avLst>
              <a:gd name="adj" fmla="val 18519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120" name="Text 108"/>
          <p:cNvSpPr txBox="1"/>
          <p:nvPr/>
        </p:nvSpPr>
        <p:spPr>
          <a:xfrm>
            <a:off x="7286305" y="4446727"/>
            <a:ext cx="460089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factory’s view: B2B today vs Factory Direct</a:t>
            </a:r>
            <a:endParaRPr lang="en-US" sz="1050" dirty="0"/>
          </a:p>
        </p:txBody>
      </p:sp>
      <p:sp>
        <p:nvSpPr>
          <p:cNvPr id="121" name="Shape 109"/>
          <p:cNvSpPr/>
          <p:nvPr/>
        </p:nvSpPr>
        <p:spPr>
          <a:xfrm>
            <a:off x="7213153" y="4721047"/>
            <a:ext cx="4747199" cy="1405433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86305" y="4775911"/>
          <a:ext cx="4600895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371600"/>
                <a:gridCol w="2086295"/>
              </a:tblGrid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B2B to a distributor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Factory Direct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Margin per pack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₹7.9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₹18.3 on a pre-order at ₹182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Unsold stock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None: made to order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the 15% buffer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at the node; pool caps losses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45–60 day terms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 at handover, rest ~7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pic>
        <p:nvPicPr>
          <p:cNvPr id="3" name="Image 0" descr="/Users/prathmeshwalimbe/Downloads/Meesho/02_round2_detailed_submission/deck/source/assets/dice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97280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97280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2071116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071116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Segments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3044952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044952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Sizing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018788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018788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Truth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992624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992624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5966460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E8434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66460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Benchmarks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6940296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940296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Sustainable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Scale-up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7914132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914132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KPIs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8887968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887968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9861804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861804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Risks</a:t>
            </a:r>
            <a:endParaRPr lang="en-US" sz="850" dirty="0"/>
          </a:p>
        </p:txBody>
      </p:sp>
      <p:pic>
        <p:nvPicPr>
          <p:cNvPr id="24" name="Image 1" descr="/Users/prathmeshwalimbe/Downloads/Meesho/02_round2_detailed_submission/deck/source/assets/meesho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25" name="Image 2" descr="/Users/prathmeshwalimbe/Downloads/Meesho/02_round2_detailed_submission/deck/source/assets/iitb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Factory-direct works when platforms supply demand data and logistics; Shein Brazil squeezed price and kept 1 of 336 factories</a:t>
            </a:r>
            <a:endParaRPr lang="en-US" sz="1700" dirty="0"/>
          </a:p>
        </p:txBody>
      </p:sp>
      <p:sp>
        <p:nvSpPr>
          <p:cNvPr id="27" name="Shape 22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PRECEDENT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228600" y="6199632"/>
            <a:ext cx="11731752" cy="365760"/>
          </a:xfrm>
          <a:prstGeom prst="roundRect">
            <a:avLst>
              <a:gd name="adj" fmla="val 15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365760" y="619963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copy demand data, batching and seller-owned nodes, in that order; never ask a factory for a price cut. Owner: Strategy · KPI: factory retention ≥ 75% at Day 90.</a:t>
            </a:r>
            <a:endParaRPr lang="en-US" sz="1050" dirty="0"/>
          </a:p>
        </p:txBody>
      </p:sp>
      <p:sp>
        <p:nvSpPr>
          <p:cNvPr id="31" name="Text 26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S1, S2, S15 KrASIA, S16 Tech Buzz China, S17 Reuters, S18 Inc42, S23 Xinhua, S24 Alibaba results, S25 AFP   |   RICE inputs: Appendix B · detailed KPI table: Appendix C</a:t>
            </a:r>
            <a:endParaRPr lang="en-US" sz="800" dirty="0"/>
          </a:p>
        </p:txBody>
      </p:sp>
      <p:sp>
        <p:nvSpPr>
          <p:cNvPr id="32" name="Text 27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548640" y="1051560"/>
            <a:ext cx="7257776" cy="246888"/>
          </a:xfrm>
          <a:prstGeom prst="roundRect">
            <a:avLst>
              <a:gd name="adj" fmla="val 18519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621792" y="1051560"/>
            <a:ext cx="7111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cases: what each proves, with one dated number</a:t>
            </a:r>
            <a:endParaRPr lang="en-US" sz="1050" dirty="0"/>
          </a:p>
        </p:txBody>
      </p:sp>
      <p:sp>
        <p:nvSpPr>
          <p:cNvPr id="35" name="Shape 30"/>
          <p:cNvSpPr/>
          <p:nvPr/>
        </p:nvSpPr>
        <p:spPr>
          <a:xfrm>
            <a:off x="548640" y="1325880"/>
            <a:ext cx="7257776" cy="2724912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621792" y="1380744"/>
            <a:ext cx="2309531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12700">
            <a:solidFill>
              <a:srgbClr val="E8434F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76656" y="1435608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676656" y="143560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Pinduoduo</a:t>
            </a:r>
            <a:endParaRPr lang="en-US" sz="1000" dirty="0"/>
          </a:p>
        </p:txBody>
      </p:sp>
      <p:sp>
        <p:nvSpPr>
          <p:cNvPr id="39" name="Text 34"/>
          <p:cNvSpPr txBox="1"/>
          <p:nvPr/>
        </p:nvSpPr>
        <p:spPr>
          <a:xfrm>
            <a:off x="1865376" y="1417320"/>
            <a:ext cx="10293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 · New Brand Initiative</a:t>
            </a:r>
            <a:endParaRPr lang="en-US" sz="750" dirty="0"/>
          </a:p>
        </p:txBody>
      </p:sp>
      <p:sp>
        <p:nvSpPr>
          <p:cNvPr id="40" name="Text 35"/>
          <p:cNvSpPr txBox="1"/>
          <p:nvPr/>
        </p:nvSpPr>
        <p:spPr>
          <a:xfrm>
            <a:off x="694944" y="1755648"/>
            <a:ext cx="216322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Anonymised demand data handed to factories</a:t>
            </a:r>
            <a:endParaRPr lang="en-US" sz="850" dirty="0"/>
          </a:p>
        </p:txBody>
      </p:sp>
      <p:sp>
        <p:nvSpPr>
          <p:cNvPr id="41" name="Text 36"/>
          <p:cNvSpPr txBox="1"/>
          <p:nvPr/>
        </p:nvSpPr>
        <p:spPr>
          <a:xfrm>
            <a:off x="694944" y="2075688"/>
            <a:ext cx="21632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900+ factories, 2,200+ custom products, 115 mn+ orders by end-2019 [S15]</a:t>
            </a:r>
            <a:endParaRPr lang="en-US" sz="850" dirty="0"/>
          </a:p>
        </p:txBody>
      </p:sp>
      <p:sp>
        <p:nvSpPr>
          <p:cNvPr id="42" name="Shape 37"/>
          <p:cNvSpPr/>
          <p:nvPr/>
        </p:nvSpPr>
        <p:spPr>
          <a:xfrm>
            <a:off x="694944" y="2368296"/>
            <a:ext cx="2163227" cy="219456"/>
          </a:xfrm>
          <a:prstGeom prst="roundRect">
            <a:avLst>
              <a:gd name="adj" fmla="val 20833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731520" y="2368296"/>
            <a:ext cx="20900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Copy: Demand Brief</a:t>
            </a:r>
            <a:endParaRPr lang="en-US" sz="850" dirty="0"/>
          </a:p>
        </p:txBody>
      </p:sp>
      <p:sp>
        <p:nvSpPr>
          <p:cNvPr id="44" name="Shape 39"/>
          <p:cNvSpPr/>
          <p:nvPr/>
        </p:nvSpPr>
        <p:spPr>
          <a:xfrm>
            <a:off x="3022763" y="1380744"/>
            <a:ext cx="2309531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12700">
            <a:solidFill>
              <a:srgbClr val="5A0A46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3077627" y="1435608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3077627" y="143560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Taobao C2M</a:t>
            </a:r>
            <a:endParaRPr lang="en-US" sz="1000" dirty="0"/>
          </a:p>
        </p:txBody>
      </p:sp>
      <p:sp>
        <p:nvSpPr>
          <p:cNvPr id="47" name="Text 42"/>
          <p:cNvSpPr txBox="1"/>
          <p:nvPr/>
        </p:nvSpPr>
        <p:spPr>
          <a:xfrm>
            <a:off x="4266347" y="1417320"/>
            <a:ext cx="10293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 · Taobao Deals / Taote, 2020</a:t>
            </a:r>
            <a:endParaRPr lang="en-US" sz="750" dirty="0"/>
          </a:p>
        </p:txBody>
      </p:sp>
      <p:sp>
        <p:nvSpPr>
          <p:cNvPr id="48" name="Text 43"/>
          <p:cNvSpPr txBox="1"/>
          <p:nvPr/>
        </p:nvSpPr>
        <p:spPr>
          <a:xfrm>
            <a:off x="3095915" y="1755648"/>
            <a:ext cx="216322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insight, product R&amp;D and finance for factories</a:t>
            </a:r>
            <a:endParaRPr lang="en-US" sz="850" dirty="0"/>
          </a:p>
        </p:txBody>
      </p:sp>
      <p:sp>
        <p:nvSpPr>
          <p:cNvPr id="49" name="Text 44"/>
          <p:cNvSpPr txBox="1"/>
          <p:nvPr/>
        </p:nvSpPr>
        <p:spPr>
          <a:xfrm>
            <a:off x="3095915" y="2075688"/>
            <a:ext cx="21632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10 bn new orders in 3 yrs [S23]; 280 mn annual buyers, Dec 2021 [S24]</a:t>
            </a:r>
            <a:endParaRPr lang="en-US" sz="850" dirty="0"/>
          </a:p>
        </p:txBody>
      </p:sp>
      <p:sp>
        <p:nvSpPr>
          <p:cNvPr id="50" name="Shape 45"/>
          <p:cNvSpPr/>
          <p:nvPr/>
        </p:nvSpPr>
        <p:spPr>
          <a:xfrm>
            <a:off x="3095915" y="2368296"/>
            <a:ext cx="2163227" cy="219456"/>
          </a:xfrm>
          <a:prstGeom prst="roundRect">
            <a:avLst>
              <a:gd name="adj" fmla="val 20833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3132491" y="2368296"/>
            <a:ext cx="20900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Copy: batch prepayment</a:t>
            </a:r>
            <a:endParaRPr lang="en-US" sz="850" dirty="0"/>
          </a:p>
        </p:txBody>
      </p:sp>
      <p:sp>
        <p:nvSpPr>
          <p:cNvPr id="52" name="Shape 47"/>
          <p:cNvSpPr/>
          <p:nvPr/>
        </p:nvSpPr>
        <p:spPr>
          <a:xfrm>
            <a:off x="5423733" y="1380744"/>
            <a:ext cx="2309531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12700">
            <a:solidFill>
              <a:srgbClr val="5A0A46"/>
            </a:solidFill>
            <a:prstDash val="solid"/>
          </a:ln>
        </p:spPr>
      </p:sp>
      <p:sp>
        <p:nvSpPr>
          <p:cNvPr id="53" name="Shape 48"/>
          <p:cNvSpPr/>
          <p:nvPr/>
        </p:nvSpPr>
        <p:spPr>
          <a:xfrm>
            <a:off x="5478597" y="1435608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54" name="Text 49"/>
          <p:cNvSpPr txBox="1"/>
          <p:nvPr/>
        </p:nvSpPr>
        <p:spPr>
          <a:xfrm>
            <a:off x="5478597" y="143560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Temu</a:t>
            </a:r>
            <a:endParaRPr lang="en-US" sz="1000" dirty="0"/>
          </a:p>
        </p:txBody>
      </p:sp>
      <p:sp>
        <p:nvSpPr>
          <p:cNvPr id="55" name="Text 50"/>
          <p:cNvSpPr txBox="1"/>
          <p:nvPr/>
        </p:nvSpPr>
        <p:spPr>
          <a:xfrm>
            <a:off x="6667317" y="1417320"/>
            <a:ext cx="10293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· semi-managed</a:t>
            </a:r>
            <a:endParaRPr lang="en-US" sz="750" dirty="0"/>
          </a:p>
        </p:txBody>
      </p:sp>
      <p:sp>
        <p:nvSpPr>
          <p:cNvPr id="56" name="Text 51"/>
          <p:cNvSpPr txBox="1"/>
          <p:nvPr/>
        </p:nvSpPr>
        <p:spPr>
          <a:xfrm>
            <a:off x="5496885" y="1755648"/>
            <a:ext cx="216322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keeps stock in a local warehouse; platform runs the storefront</a:t>
            </a:r>
            <a:endParaRPr lang="en-US" sz="850" dirty="0"/>
          </a:p>
        </p:txBody>
      </p:sp>
      <p:sp>
        <p:nvSpPr>
          <p:cNvPr id="57" name="Text 52"/>
          <p:cNvSpPr txBox="1"/>
          <p:nvPr/>
        </p:nvSpPr>
        <p:spPr>
          <a:xfrm>
            <a:off x="5496885" y="2075688"/>
            <a:ext cx="21632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Semi-managed = 20% of US GMV, Q3 2024; +80,000 merchants planned for 2025 [S16]</a:t>
            </a:r>
            <a:endParaRPr lang="en-US" sz="850" dirty="0"/>
          </a:p>
        </p:txBody>
      </p:sp>
      <p:sp>
        <p:nvSpPr>
          <p:cNvPr id="58" name="Shape 53"/>
          <p:cNvSpPr/>
          <p:nvPr/>
        </p:nvSpPr>
        <p:spPr>
          <a:xfrm>
            <a:off x="5496885" y="2368296"/>
            <a:ext cx="2163227" cy="219456"/>
          </a:xfrm>
          <a:prstGeom prst="roundRect">
            <a:avLst>
              <a:gd name="adj" fmla="val 20833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59" name="Text 54"/>
          <p:cNvSpPr txBox="1"/>
          <p:nvPr/>
        </p:nvSpPr>
        <p:spPr>
          <a:xfrm>
            <a:off x="5533461" y="2368296"/>
            <a:ext cx="20900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Copy: seller-owned node stock</a:t>
            </a:r>
            <a:endParaRPr lang="en-US" sz="850" dirty="0"/>
          </a:p>
        </p:txBody>
      </p:sp>
      <p:sp>
        <p:nvSpPr>
          <p:cNvPr id="60" name="Shape 55"/>
          <p:cNvSpPr/>
          <p:nvPr/>
        </p:nvSpPr>
        <p:spPr>
          <a:xfrm>
            <a:off x="621792" y="2734056"/>
            <a:ext cx="2309531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12700">
            <a:solidFill>
              <a:srgbClr val="5A0A46"/>
            </a:solidFill>
            <a:prstDash val="solid"/>
          </a:ln>
        </p:spPr>
      </p:sp>
      <p:sp>
        <p:nvSpPr>
          <p:cNvPr id="61" name="Shape 56"/>
          <p:cNvSpPr/>
          <p:nvPr/>
        </p:nvSpPr>
        <p:spPr>
          <a:xfrm>
            <a:off x="676656" y="2788920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62" name="Text 57"/>
          <p:cNvSpPr txBox="1"/>
          <p:nvPr/>
        </p:nvSpPr>
        <p:spPr>
          <a:xfrm>
            <a:off x="676656" y="27889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Shein</a:t>
            </a:r>
            <a:endParaRPr lang="en-US" sz="1000" dirty="0"/>
          </a:p>
        </p:txBody>
      </p:sp>
      <p:sp>
        <p:nvSpPr>
          <p:cNvPr id="63" name="Text 58"/>
          <p:cNvSpPr txBox="1"/>
          <p:nvPr/>
        </p:nvSpPr>
        <p:spPr>
          <a:xfrm>
            <a:off x="1865376" y="2770632"/>
            <a:ext cx="10293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 · on-demand</a:t>
            </a:r>
            <a:endParaRPr lang="en-US" sz="750" dirty="0"/>
          </a:p>
        </p:txBody>
      </p:sp>
      <p:sp>
        <p:nvSpPr>
          <p:cNvPr id="64" name="Text 59"/>
          <p:cNvSpPr txBox="1"/>
          <p:nvPr/>
        </p:nvSpPr>
        <p:spPr>
          <a:xfrm>
            <a:off x="694944" y="3108960"/>
            <a:ext cx="216322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each new product in a small first batch, then restocks only what sells</a:t>
            </a:r>
            <a:endParaRPr lang="en-US" sz="850" dirty="0"/>
          </a:p>
        </p:txBody>
      </p:sp>
      <p:sp>
        <p:nvSpPr>
          <p:cNvPr id="65" name="Text 60"/>
          <p:cNvSpPr txBox="1"/>
          <p:nvPr/>
        </p:nvSpPr>
        <p:spPr>
          <a:xfrm>
            <a:off x="694944" y="3429000"/>
            <a:ext cx="21632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“Small initial batches of 100 to 200 items” (Shein to AFP, Mar 2024) [S25]</a:t>
            </a:r>
            <a:endParaRPr lang="en-US" sz="850" dirty="0"/>
          </a:p>
        </p:txBody>
      </p:sp>
      <p:sp>
        <p:nvSpPr>
          <p:cNvPr id="66" name="Shape 61"/>
          <p:cNvSpPr/>
          <p:nvPr/>
        </p:nvSpPr>
        <p:spPr>
          <a:xfrm>
            <a:off x="694944" y="3721608"/>
            <a:ext cx="2163227" cy="219456"/>
          </a:xfrm>
          <a:prstGeom prst="roundRect">
            <a:avLst>
              <a:gd name="adj" fmla="val 20833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67" name="Text 62"/>
          <p:cNvSpPr txBox="1"/>
          <p:nvPr/>
        </p:nvSpPr>
        <p:spPr>
          <a:xfrm>
            <a:off x="731520" y="3721608"/>
            <a:ext cx="20900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Copy: confirmed-order batches</a:t>
            </a:r>
            <a:endParaRPr lang="en-US" sz="850" dirty="0"/>
          </a:p>
        </p:txBody>
      </p:sp>
      <p:sp>
        <p:nvSpPr>
          <p:cNvPr id="68" name="Shape 63"/>
          <p:cNvSpPr/>
          <p:nvPr/>
        </p:nvSpPr>
        <p:spPr>
          <a:xfrm>
            <a:off x="3022763" y="2734056"/>
            <a:ext cx="2309531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69" name="Shape 64"/>
          <p:cNvSpPr/>
          <p:nvPr/>
        </p:nvSpPr>
        <p:spPr>
          <a:xfrm>
            <a:off x="3077627" y="2788920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D64545"/>
          </a:solidFill>
          <a:ln w="9525">
            <a:solidFill>
              <a:srgbClr val="D64545"/>
            </a:solidFill>
            <a:prstDash val="solid"/>
          </a:ln>
        </p:spPr>
      </p:sp>
      <p:sp>
        <p:nvSpPr>
          <p:cNvPr id="70" name="Text 65"/>
          <p:cNvSpPr txBox="1"/>
          <p:nvPr/>
        </p:nvSpPr>
        <p:spPr>
          <a:xfrm>
            <a:off x="3077627" y="27889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Shein Brazil</a:t>
            </a:r>
            <a:endParaRPr lang="en-US" sz="1000" dirty="0"/>
          </a:p>
        </p:txBody>
      </p:sp>
      <p:sp>
        <p:nvSpPr>
          <p:cNvPr id="71" name="Text 66"/>
          <p:cNvSpPr txBox="1"/>
          <p:nvPr/>
        </p:nvSpPr>
        <p:spPr>
          <a:xfrm>
            <a:off x="4266347" y="2770632"/>
            <a:ext cx="10293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Brazil · local factories</a:t>
            </a:r>
            <a:endParaRPr lang="en-US" sz="750" dirty="0"/>
          </a:p>
        </p:txBody>
      </p:sp>
      <p:sp>
        <p:nvSpPr>
          <p:cNvPr id="72" name="Text 67"/>
          <p:cNvSpPr txBox="1"/>
          <p:nvPr/>
        </p:nvSpPr>
        <p:spPr>
          <a:xfrm>
            <a:off x="3095915" y="3108960"/>
            <a:ext cx="216322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Asked factories for ~30% price cuts and faster delivery</a:t>
            </a:r>
            <a:endParaRPr lang="en-US" sz="850" dirty="0"/>
          </a:p>
        </p:txBody>
      </p:sp>
      <p:sp>
        <p:nvSpPr>
          <p:cNvPr id="73" name="Text 68"/>
          <p:cNvSpPr txBox="1"/>
          <p:nvPr/>
        </p:nvSpPr>
        <p:spPr>
          <a:xfrm>
            <a:off x="3095915" y="3429000"/>
            <a:ext cx="21632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~$150 mn pledged for 2,000 factories; 336 signed; 1 producing by Feb 2026 [S17]</a:t>
            </a:r>
            <a:endParaRPr lang="en-US" sz="850" dirty="0"/>
          </a:p>
        </p:txBody>
      </p:sp>
      <p:sp>
        <p:nvSpPr>
          <p:cNvPr id="74" name="Shape 69"/>
          <p:cNvSpPr/>
          <p:nvPr/>
        </p:nvSpPr>
        <p:spPr>
          <a:xfrm>
            <a:off x="3095915" y="3721608"/>
            <a:ext cx="2163227" cy="219456"/>
          </a:xfrm>
          <a:prstGeom prst="roundRect">
            <a:avLst>
              <a:gd name="adj" fmla="val 20833"/>
            </a:avLst>
          </a:prstGeom>
          <a:solidFill>
            <a:srgbClr val="D64545"/>
          </a:solidFill>
          <a:ln w="9525">
            <a:solidFill>
              <a:srgbClr val="D64545"/>
            </a:solidFill>
            <a:prstDash val="solid"/>
          </a:ln>
        </p:spPr>
      </p:sp>
      <p:sp>
        <p:nvSpPr>
          <p:cNvPr id="75" name="Text 70"/>
          <p:cNvSpPr txBox="1"/>
          <p:nvPr/>
        </p:nvSpPr>
        <p:spPr>
          <a:xfrm>
            <a:off x="3132491" y="3721608"/>
            <a:ext cx="20900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Avoid: price squeezes</a:t>
            </a:r>
            <a:endParaRPr lang="en-US" sz="850" dirty="0"/>
          </a:p>
        </p:txBody>
      </p:sp>
      <p:sp>
        <p:nvSpPr>
          <p:cNvPr id="76" name="Shape 71"/>
          <p:cNvSpPr/>
          <p:nvPr/>
        </p:nvSpPr>
        <p:spPr>
          <a:xfrm>
            <a:off x="5423733" y="2734056"/>
            <a:ext cx="2309531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12700">
            <a:solidFill>
              <a:srgbClr val="E8434F"/>
            </a:solidFill>
            <a:prstDash val="solid"/>
          </a:ln>
        </p:spPr>
      </p:sp>
      <p:sp>
        <p:nvSpPr>
          <p:cNvPr id="77" name="Shape 72"/>
          <p:cNvSpPr/>
          <p:nvPr/>
        </p:nvSpPr>
        <p:spPr>
          <a:xfrm>
            <a:off x="5478597" y="2788920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78" name="Text 73"/>
          <p:cNvSpPr txBox="1"/>
          <p:nvPr/>
        </p:nvSpPr>
        <p:spPr>
          <a:xfrm>
            <a:off x="5478597" y="27889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Meesho + ONDC</a:t>
            </a:r>
            <a:endParaRPr lang="en-US" sz="1000" dirty="0"/>
          </a:p>
        </p:txBody>
      </p:sp>
      <p:sp>
        <p:nvSpPr>
          <p:cNvPr id="79" name="Text 74"/>
          <p:cNvSpPr txBox="1"/>
          <p:nvPr/>
        </p:nvSpPr>
        <p:spPr>
          <a:xfrm>
            <a:off x="6667317" y="2770632"/>
            <a:ext cx="102937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· H2 bets, MSME-TEAM</a:t>
            </a:r>
            <a:endParaRPr lang="en-US" sz="750" dirty="0"/>
          </a:p>
        </p:txBody>
      </p:sp>
      <p:sp>
        <p:nvSpPr>
          <p:cNvPr id="80" name="Text 75"/>
          <p:cNvSpPr txBox="1"/>
          <p:nvPr/>
        </p:nvSpPr>
        <p:spPr>
          <a:xfrm>
            <a:off x="5496885" y="3108960"/>
            <a:ext cx="216322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Valmo and Content Commerce began as capped H2 bets and are now core [S1]</a:t>
            </a:r>
            <a:endParaRPr lang="en-US" sz="850" dirty="0"/>
          </a:p>
        </p:txBody>
      </p:sp>
      <p:sp>
        <p:nvSpPr>
          <p:cNvPr id="81" name="Text 76"/>
          <p:cNvSpPr txBox="1"/>
          <p:nvPr/>
        </p:nvSpPr>
        <p:spPr>
          <a:xfrm>
            <a:off x="5496885" y="3429000"/>
            <a:ext cx="21632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Valmo: 50–55% of deliveries [S2]; MSME-TEAM: ₹277 cr to onboard 5 lakh MSMEs [S18]</a:t>
            </a:r>
            <a:endParaRPr lang="en-US" sz="850" dirty="0"/>
          </a:p>
        </p:txBody>
      </p:sp>
      <p:sp>
        <p:nvSpPr>
          <p:cNvPr id="82" name="Shape 77"/>
          <p:cNvSpPr/>
          <p:nvPr/>
        </p:nvSpPr>
        <p:spPr>
          <a:xfrm>
            <a:off x="5496885" y="3721608"/>
            <a:ext cx="2163227" cy="219456"/>
          </a:xfrm>
          <a:prstGeom prst="roundRect">
            <a:avLst>
              <a:gd name="adj" fmla="val 20833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83" name="Text 78"/>
          <p:cNvSpPr txBox="1"/>
          <p:nvPr/>
        </p:nvSpPr>
        <p:spPr>
          <a:xfrm>
            <a:off x="5533461" y="3721608"/>
            <a:ext cx="20900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Copy: H2 cap; co-fund camps</a:t>
            </a:r>
            <a:endParaRPr lang="en-US" sz="850" dirty="0"/>
          </a:p>
        </p:txBody>
      </p:sp>
      <p:sp>
        <p:nvSpPr>
          <p:cNvPr id="84" name="Shape 79"/>
          <p:cNvSpPr/>
          <p:nvPr/>
        </p:nvSpPr>
        <p:spPr>
          <a:xfrm>
            <a:off x="7897856" y="1051560"/>
            <a:ext cx="4062496" cy="246888"/>
          </a:xfrm>
          <a:prstGeom prst="roundRect">
            <a:avLst>
              <a:gd name="adj" fmla="val 18519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85" name="Text 80"/>
          <p:cNvSpPr txBox="1"/>
          <p:nvPr/>
        </p:nvSpPr>
        <p:spPr>
          <a:xfrm>
            <a:off x="7971008" y="1051560"/>
            <a:ext cx="391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copy, in order</a:t>
            </a:r>
            <a:endParaRPr lang="en-US" sz="1050" dirty="0"/>
          </a:p>
        </p:txBody>
      </p:sp>
      <p:sp>
        <p:nvSpPr>
          <p:cNvPr id="86" name="Shape 81"/>
          <p:cNvSpPr/>
          <p:nvPr/>
        </p:nvSpPr>
        <p:spPr>
          <a:xfrm>
            <a:off x="7897856" y="1325880"/>
            <a:ext cx="4062496" cy="1050188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87" name="Shape 82"/>
          <p:cNvSpPr/>
          <p:nvPr/>
        </p:nvSpPr>
        <p:spPr>
          <a:xfrm>
            <a:off x="7971008" y="1426464"/>
            <a:ext cx="1001908" cy="647852"/>
          </a:xfrm>
          <a:prstGeom prst="chevron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Text 83"/>
          <p:cNvSpPr txBox="1"/>
          <p:nvPr/>
        </p:nvSpPr>
        <p:spPr>
          <a:xfrm>
            <a:off x="8117312" y="1426464"/>
            <a:ext cx="800740" cy="647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850" dirty="0"/>
          </a:p>
        </p:txBody>
      </p:sp>
      <p:sp>
        <p:nvSpPr>
          <p:cNvPr id="89" name="Shape 84"/>
          <p:cNvSpPr/>
          <p:nvPr/>
        </p:nvSpPr>
        <p:spPr>
          <a:xfrm>
            <a:off x="8936340" y="1426464"/>
            <a:ext cx="1001908" cy="647852"/>
          </a:xfrm>
          <a:prstGeom prst="chevron">
            <a:avLst/>
          </a:prstGeom>
          <a:solidFill>
            <a:srgbClr val="7B2A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5"/>
          <p:cNvSpPr txBox="1"/>
          <p:nvPr/>
        </p:nvSpPr>
        <p:spPr>
          <a:xfrm>
            <a:off x="9082644" y="1426464"/>
            <a:ext cx="800740" cy="647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</a:t>
            </a:r>
            <a:endParaRPr lang="en-US" sz="850" dirty="0"/>
          </a:p>
        </p:txBody>
      </p:sp>
      <p:sp>
        <p:nvSpPr>
          <p:cNvPr id="91" name="Shape 86"/>
          <p:cNvSpPr/>
          <p:nvPr/>
        </p:nvSpPr>
        <p:spPr>
          <a:xfrm>
            <a:off x="9901672" y="1426464"/>
            <a:ext cx="1001908" cy="647852"/>
          </a:xfrm>
          <a:prstGeom prst="chevron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Text 87"/>
          <p:cNvSpPr txBox="1"/>
          <p:nvPr/>
        </p:nvSpPr>
        <p:spPr>
          <a:xfrm>
            <a:off x="10047976" y="1426464"/>
            <a:ext cx="800740" cy="647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orders</a:t>
            </a:r>
            <a:endParaRPr lang="en-US" sz="850" dirty="0"/>
          </a:p>
        </p:txBody>
      </p:sp>
      <p:sp>
        <p:nvSpPr>
          <p:cNvPr id="93" name="Shape 88"/>
          <p:cNvSpPr/>
          <p:nvPr/>
        </p:nvSpPr>
        <p:spPr>
          <a:xfrm>
            <a:off x="10867004" y="1426464"/>
            <a:ext cx="1001908" cy="647852"/>
          </a:xfrm>
          <a:prstGeom prst="chevron">
            <a:avLst/>
          </a:prstGeom>
          <a:solidFill>
            <a:srgbClr val="F7A21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Text 89"/>
          <p:cNvSpPr txBox="1"/>
          <p:nvPr/>
        </p:nvSpPr>
        <p:spPr>
          <a:xfrm>
            <a:off x="11013308" y="1426464"/>
            <a:ext cx="800740" cy="647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buyers</a:t>
            </a:r>
            <a:endParaRPr lang="en-US" sz="850" dirty="0"/>
          </a:p>
        </p:txBody>
      </p:sp>
      <p:sp>
        <p:nvSpPr>
          <p:cNvPr id="95" name="Text 90"/>
          <p:cNvSpPr txBox="1"/>
          <p:nvPr/>
        </p:nvSpPr>
        <p:spPr>
          <a:xfrm>
            <a:off x="7971008" y="2101748"/>
            <a:ext cx="391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Pinduoduo/Taobao → Pinduoduo → Shein → Temu</a:t>
            </a:r>
            <a:endParaRPr lang="en-US" sz="800" dirty="0"/>
          </a:p>
        </p:txBody>
      </p:sp>
      <p:sp>
        <p:nvSpPr>
          <p:cNvPr id="96" name="Shape 91"/>
          <p:cNvSpPr/>
          <p:nvPr/>
        </p:nvSpPr>
        <p:spPr>
          <a:xfrm>
            <a:off x="7897856" y="2467508"/>
            <a:ext cx="4062496" cy="246888"/>
          </a:xfrm>
          <a:prstGeom prst="roundRect">
            <a:avLst>
              <a:gd name="adj" fmla="val 18519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97" name="Text 92"/>
          <p:cNvSpPr txBox="1"/>
          <p:nvPr/>
        </p:nvSpPr>
        <p:spPr>
          <a:xfrm>
            <a:off x="7971008" y="2467508"/>
            <a:ext cx="391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 and our guardrail</a:t>
            </a:r>
            <a:endParaRPr lang="en-US" sz="1050" dirty="0"/>
          </a:p>
        </p:txBody>
      </p:sp>
      <p:sp>
        <p:nvSpPr>
          <p:cNvPr id="98" name="Shape 93"/>
          <p:cNvSpPr/>
          <p:nvPr/>
        </p:nvSpPr>
        <p:spPr>
          <a:xfrm>
            <a:off x="7897856" y="2741828"/>
            <a:ext cx="4062496" cy="1308964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99" name="Text 94"/>
          <p:cNvSpPr txBox="1"/>
          <p:nvPr/>
        </p:nvSpPr>
        <p:spPr>
          <a:xfrm>
            <a:off x="7971008" y="2796692"/>
            <a:ext cx="3916192" cy="2998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</a:t>
            </a:r>
            <a:pPr indent="0" marL="0">
              <a:buNone/>
            </a:pPr>
            <a:r>
              <a:rPr lang="en-US" sz="8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squeeze (Shein Brazil)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85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 measures a gap that exists; no price asks</a:t>
            </a:r>
            <a:endParaRPr lang="en-US" sz="850" dirty="0"/>
          </a:p>
        </p:txBody>
      </p:sp>
      <p:sp>
        <p:nvSpPr>
          <p:cNvPr id="100" name="Text 95"/>
          <p:cNvSpPr txBox="1"/>
          <p:nvPr/>
        </p:nvSpPr>
        <p:spPr>
          <a:xfrm>
            <a:off x="7971008" y="3096501"/>
            <a:ext cx="3916192" cy="2998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</a:t>
            </a:r>
            <a:pPr indent="0" marL="0">
              <a:buNone/>
            </a:pPr>
            <a:r>
              <a:rPr lang="en-US" sz="8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Platform-owned stock (Temu full-managed)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85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keeps title; node is an arm’s-length 3PL</a:t>
            </a:r>
            <a:endParaRPr lang="en-US" sz="850" dirty="0"/>
          </a:p>
        </p:txBody>
      </p:sp>
      <p:sp>
        <p:nvSpPr>
          <p:cNvPr id="101" name="Text 96"/>
          <p:cNvSpPr txBox="1"/>
          <p:nvPr/>
        </p:nvSpPr>
        <p:spPr>
          <a:xfrm>
            <a:off x="7971008" y="3396310"/>
            <a:ext cx="3916192" cy="2998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</a:t>
            </a:r>
            <a:pPr indent="0" marL="0">
              <a:buNone/>
            </a:pPr>
            <a:r>
              <a:rPr lang="en-US" sz="8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subsidies (group-buy era)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85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Impressions, never rupees per order</a:t>
            </a:r>
            <a:endParaRPr lang="en-US" sz="850" dirty="0"/>
          </a:p>
        </p:txBody>
      </p:sp>
      <p:sp>
        <p:nvSpPr>
          <p:cNvPr id="102" name="Text 97"/>
          <p:cNvSpPr txBox="1"/>
          <p:nvPr/>
        </p:nvSpPr>
        <p:spPr>
          <a:xfrm>
            <a:off x="7971008" y="3696119"/>
            <a:ext cx="3916192" cy="2998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</a:t>
            </a:r>
            <a:pPr indent="0" marL="0">
              <a:buNone/>
            </a:pPr>
            <a:r>
              <a:rPr lang="en-US" sz="8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before demand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85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node before the Day-30 gate</a:t>
            </a:r>
            <a:endParaRPr lang="en-US" sz="850" dirty="0"/>
          </a:p>
        </p:txBody>
      </p:sp>
      <p:sp>
        <p:nvSpPr>
          <p:cNvPr id="103" name="Shape 98"/>
          <p:cNvSpPr/>
          <p:nvPr/>
        </p:nvSpPr>
        <p:spPr>
          <a:xfrm>
            <a:off x="548640" y="4142232"/>
            <a:ext cx="11411712" cy="246888"/>
          </a:xfrm>
          <a:prstGeom prst="roundRect">
            <a:avLst>
              <a:gd name="adj" fmla="val 18519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104" name="Text 99"/>
          <p:cNvSpPr txBox="1"/>
          <p:nvPr/>
        </p:nvSpPr>
        <p:spPr>
          <a:xfrm>
            <a:off x="621792" y="4142232"/>
            <a:ext cx="112654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RICE: 8 levers → build sequence (Reach = sellers touched in Year 2; Effort = person-months)</a:t>
            </a:r>
            <a:endParaRPr lang="en-US" sz="1050" dirty="0"/>
          </a:p>
        </p:txBody>
      </p:sp>
      <p:sp>
        <p:nvSpPr>
          <p:cNvPr id="105" name="Shape 100"/>
          <p:cNvSpPr/>
          <p:nvPr/>
        </p:nvSpPr>
        <p:spPr>
          <a:xfrm>
            <a:off x="548640" y="4416552"/>
            <a:ext cx="11411712" cy="1709928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4471416"/>
          <a:ext cx="9012326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2103120"/>
                <a:gridCol w="731520"/>
                <a:gridCol w="640080"/>
                <a:gridCol w="960120"/>
                <a:gridCol w="822960"/>
                <a:gridCol w="548640"/>
                <a:gridCol w="777240"/>
                <a:gridCol w="777240"/>
                <a:gridCol w="1377086"/>
              </a:tblGrid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 (0.25–3)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Confidence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Effort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RICE score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Year-1 cash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first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16733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gate + C2M badge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Acquire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733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 Score + rulebook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6733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 co-op onboarding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Acquire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₹5.0 cr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gate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733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District Demand Brief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₹6.0 cr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Co-ops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6733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Prepaid pre-order batches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Brief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733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Factory Node (partner 3PL)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Acquire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₹7.8 cr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Day-30 gate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6733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prepayment (NBFC)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₹0.2 cr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733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 firewall pool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Acquire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₹3.0 cr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Factory Node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</a:tbl>
          </a:graphicData>
        </a:graphic>
      </p:graphicFrame>
      <p:sp>
        <p:nvSpPr>
          <p:cNvPr id="107" name="Text 101"/>
          <p:cNvSpPr txBox="1"/>
          <p:nvPr/>
        </p:nvSpPr>
        <p:spPr>
          <a:xfrm>
            <a:off x="9725558" y="4471416"/>
            <a:ext cx="216164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Sequence: 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and free first, capital last. RICE order already respects every dependency: batches need the brief, prepayment needs batches, the firewall needs the node.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first: the top two cost ₹0 and touch all 900 sellers.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pic>
        <p:nvPicPr>
          <p:cNvPr id="3" name="Image 0" descr="/Users/prathmeshwalimbe/Downloads/Meesho/02_round2_detailed_submission/deck/source/assets/dice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97280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97280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2071116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071116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Segments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3044952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044952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Sizing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018788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018788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Truth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992624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992624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5966460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66460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Benchmarks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6940296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E8434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940296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Sustainable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Scale-up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7914132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914132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KPIs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8887968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887968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9861804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861804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Risks</a:t>
            </a:r>
            <a:endParaRPr lang="en-US" sz="850" dirty="0"/>
          </a:p>
        </p:txBody>
      </p:sp>
      <p:pic>
        <p:nvPicPr>
          <p:cNvPr id="24" name="Image 1" descr="/Users/prathmeshwalimbe/Downloads/Meesho/02_round2_detailed_submission/deck/source/assets/meesho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25" name="Image 2" descr="/Users/prathmeshwalimbe/Downloads/Meesho/02_round2_detailed_submission/deck/source/assets/iitb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Impressions, not rupees: a ₹3,750 visibility grant fixes the cold start, and rules handle 90 of 93 interventions without people</a:t>
            </a:r>
            <a:endParaRPr lang="en-US" sz="1700" dirty="0"/>
          </a:p>
        </p:txBody>
      </p:sp>
      <p:sp>
        <p:nvSpPr>
          <p:cNvPr id="27" name="Shape 22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SCALE-UP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228600" y="6199632"/>
            <a:ext cx="11731752" cy="365760"/>
          </a:xfrm>
          <a:prstGeom prst="roundRect">
            <a:avLst>
              <a:gd name="adj" fmla="val 15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365760" y="619963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switch on grants and the rulebook with the first 60 sellers; cap grants at 20% of category impressions. Owner: Growth + Data Science · KPI: ≥ 70% at cohort pace by Day 21.</a:t>
            </a:r>
            <a:endParaRPr lang="en-US" sz="1050" dirty="0"/>
          </a:p>
        </p:txBody>
      </p:sp>
      <p:sp>
        <p:nvSpPr>
          <p:cNvPr id="31" name="Text 26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S1 (seller-success: “help new sellers gain visibility faster”), S2 Meesho Q4 FY26 call   |   Assumptions: A19 (₹75 per 1,000 impressions), category-manager capacity 40 reviews a month   |   Prototype: synthetic 60-seller pilot, fixed seed</a:t>
            </a:r>
            <a:endParaRPr lang="en-US" sz="800" dirty="0"/>
          </a:p>
        </p:txBody>
      </p:sp>
      <p:sp>
        <p:nvSpPr>
          <p:cNvPr id="32" name="Text 27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548640" y="1051560"/>
            <a:ext cx="7143659" cy="246888"/>
          </a:xfrm>
          <a:prstGeom prst="roundRect">
            <a:avLst>
              <a:gd name="adj" fmla="val 18519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621792" y="1051560"/>
            <a:ext cx="699735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manufacturer journey: what fires, when, and what we watch</a:t>
            </a:r>
            <a:endParaRPr lang="en-US" sz="1050" dirty="0"/>
          </a:p>
        </p:txBody>
      </p:sp>
      <p:sp>
        <p:nvSpPr>
          <p:cNvPr id="35" name="Shape 30"/>
          <p:cNvSpPr/>
          <p:nvPr/>
        </p:nvSpPr>
        <p:spPr>
          <a:xfrm>
            <a:off x="548640" y="1325880"/>
            <a:ext cx="7143659" cy="2927909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1380744"/>
          <a:ext cx="6997355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566928"/>
                <a:gridCol w="2057400"/>
                <a:gridCol w="1463040"/>
                <a:gridCol w="1097280"/>
                <a:gridCol w="1154339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Meesho does, automatically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Seller sees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 target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32255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Badge on; re-rank inside the category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Passed the price gate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C2M badge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≥ 8% at onboarding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255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Allocate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D0–D14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Starter impressions in Demand Brief districts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Onboarding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orders where demand is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Orders vs cohort curve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32255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Rescue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D7, D14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+25K impressions for 7 days (max 2 grants)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Orders &lt; 60% of cohort median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WhatsApp: grant applied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 in band by D21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255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 Score from five signals (page 9)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day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Weekly score card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0–100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32255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Remedy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trigger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nudge · QC hold · node offer · restock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rule thresholds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specific fix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to recover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255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Graduate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D30+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prepayment unlocked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≥ 80 for 30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Cheaper working capital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40% by D60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32255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D60+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Weekly brief; prepaid batches; Mall path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Graduated, gap held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Steady demand, fast cash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at D90 ≥ 75%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255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Escalate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 manager reviews the case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&lt; 40 for 7 days after a fix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call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5 per 100 a month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</a:tbl>
          </a:graphicData>
        </a:graphic>
      </p:graphicFrame>
      <p:sp>
        <p:nvSpPr>
          <p:cNvPr id="37" name="Shape 31"/>
          <p:cNvSpPr/>
          <p:nvPr/>
        </p:nvSpPr>
        <p:spPr>
          <a:xfrm>
            <a:off x="7783739" y="1051560"/>
            <a:ext cx="4176613" cy="246888"/>
          </a:xfrm>
          <a:prstGeom prst="roundRect">
            <a:avLst>
              <a:gd name="adj" fmla="val 18519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7856891" y="1051560"/>
            <a:ext cx="403030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cold-start loop, in Meesho’s words</a:t>
            </a:r>
            <a:endParaRPr lang="en-US" sz="1050" dirty="0"/>
          </a:p>
        </p:txBody>
      </p:sp>
      <p:sp>
        <p:nvSpPr>
          <p:cNvPr id="39" name="Shape 33"/>
          <p:cNvSpPr/>
          <p:nvPr/>
        </p:nvSpPr>
        <p:spPr>
          <a:xfrm>
            <a:off x="7783739" y="1325880"/>
            <a:ext cx="4176613" cy="1100938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7856891" y="1380744"/>
            <a:ext cx="4030309" cy="614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“If their quality is not that great, they do not get visibility for orders. And products that have very good quality continue to scale on the platform.”</a:t>
            </a:r>
            <a:endParaRPr lang="en-US" sz="900" dirty="0"/>
          </a:p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Vidit Aatrey, CEO, Q4 FY26 call [S2]</a:t>
            </a:r>
            <a:endParaRPr lang="en-US" sz="900" dirty="0"/>
          </a:p>
        </p:txBody>
      </p:sp>
      <p:sp>
        <p:nvSpPr>
          <p:cNvPr id="41" name="Text 35"/>
          <p:cNvSpPr txBox="1"/>
          <p:nvPr/>
        </p:nvSpPr>
        <p:spPr>
          <a:xfrm>
            <a:off x="7856891" y="1995294"/>
            <a:ext cx="4030309" cy="376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factory needs orders to prove quality and quality to earn orders. Grants break that loop with traffic, not cash.</a:t>
            </a:r>
            <a:endParaRPr lang="en-US" sz="850" dirty="0"/>
          </a:p>
        </p:txBody>
      </p:sp>
      <p:sp>
        <p:nvSpPr>
          <p:cNvPr id="42" name="Shape 36"/>
          <p:cNvSpPr/>
          <p:nvPr/>
        </p:nvSpPr>
        <p:spPr>
          <a:xfrm>
            <a:off x="7783739" y="2518258"/>
            <a:ext cx="4176613" cy="246888"/>
          </a:xfrm>
          <a:prstGeom prst="roundRect">
            <a:avLst>
              <a:gd name="adj" fmla="val 18519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7856891" y="2518258"/>
            <a:ext cx="403030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economics: traffic, not cash</a:t>
            </a:r>
            <a:endParaRPr lang="en-US" sz="1050" dirty="0"/>
          </a:p>
        </p:txBody>
      </p:sp>
      <p:sp>
        <p:nvSpPr>
          <p:cNvPr id="44" name="Shape 38"/>
          <p:cNvSpPr/>
          <p:nvPr/>
        </p:nvSpPr>
        <p:spPr>
          <a:xfrm>
            <a:off x="7783739" y="2792578"/>
            <a:ext cx="4176613" cy="1461211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7856891" y="2847442"/>
            <a:ext cx="777240" cy="3378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+25K</a:t>
            </a:r>
            <a:endParaRPr lang="en-US" sz="1300" dirty="0"/>
          </a:p>
        </p:txBody>
      </p:sp>
      <p:sp>
        <p:nvSpPr>
          <p:cNvPr id="46" name="Text 40"/>
          <p:cNvSpPr txBox="1"/>
          <p:nvPr/>
        </p:nvSpPr>
        <p:spPr>
          <a:xfrm>
            <a:off x="8661563" y="2847442"/>
            <a:ext cx="3225637" cy="3378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impressions for 7 days when orders &lt; 60% of the cohort median at D7 or D14</a:t>
            </a:r>
            <a:endParaRPr lang="en-US" sz="850" dirty="0"/>
          </a:p>
        </p:txBody>
      </p:sp>
      <p:sp>
        <p:nvSpPr>
          <p:cNvPr id="47" name="Text 41"/>
          <p:cNvSpPr txBox="1"/>
          <p:nvPr/>
        </p:nvSpPr>
        <p:spPr>
          <a:xfrm>
            <a:off x="7856891" y="3185312"/>
            <a:ext cx="777240" cy="3378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2</a:t>
            </a:r>
            <a:endParaRPr lang="en-US" sz="1300" dirty="0"/>
          </a:p>
        </p:txBody>
      </p:sp>
      <p:sp>
        <p:nvSpPr>
          <p:cNvPr id="48" name="Text 42"/>
          <p:cNvSpPr txBox="1"/>
          <p:nvPr/>
        </p:nvSpPr>
        <p:spPr>
          <a:xfrm>
            <a:off x="8661563" y="3185312"/>
            <a:ext cx="3225637" cy="3378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grants per seller; ≤ 20% of category impressions, hard cap</a:t>
            </a:r>
            <a:endParaRPr lang="en-US" sz="850" dirty="0"/>
          </a:p>
        </p:txBody>
      </p:sp>
      <p:sp>
        <p:nvSpPr>
          <p:cNvPr id="49" name="Text 43"/>
          <p:cNvSpPr txBox="1"/>
          <p:nvPr/>
        </p:nvSpPr>
        <p:spPr>
          <a:xfrm>
            <a:off x="7856891" y="3523183"/>
            <a:ext cx="777240" cy="3378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₹3,750</a:t>
            </a:r>
            <a:endParaRPr lang="en-US" sz="1300" dirty="0"/>
          </a:p>
        </p:txBody>
      </p:sp>
      <p:sp>
        <p:nvSpPr>
          <p:cNvPr id="50" name="Text 44"/>
          <p:cNvSpPr txBox="1"/>
          <p:nvPr/>
        </p:nvSpPr>
        <p:spPr>
          <a:xfrm>
            <a:off x="8661563" y="3523183"/>
            <a:ext cx="3225637" cy="3378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seller at most (50,000 impressions × ₹75 per 1,000) [A19]</a:t>
            </a:r>
            <a:endParaRPr lang="en-US" sz="850" dirty="0"/>
          </a:p>
        </p:txBody>
      </p:sp>
      <p:sp>
        <p:nvSpPr>
          <p:cNvPr id="51" name="Text 45"/>
          <p:cNvSpPr txBox="1"/>
          <p:nvPr/>
        </p:nvSpPr>
        <p:spPr>
          <a:xfrm>
            <a:off x="7856891" y="3861054"/>
            <a:ext cx="777240" cy="3378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4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20×</a:t>
            </a:r>
            <a:endParaRPr lang="en-US" sz="1300" dirty="0"/>
          </a:p>
        </p:txBody>
      </p:sp>
      <p:sp>
        <p:nvSpPr>
          <p:cNvPr id="52" name="Text 46"/>
          <p:cNvSpPr txBox="1"/>
          <p:nvPr/>
        </p:nvSpPr>
        <p:spPr>
          <a:xfrm>
            <a:off x="8661563" y="3861054"/>
            <a:ext cx="3225637" cy="3378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cheaper than a ₹10-per-order subsidy for 30 days (₹75,000 at ~250 orders a day)</a:t>
            </a:r>
            <a:endParaRPr lang="en-US" sz="850" dirty="0"/>
          </a:p>
        </p:txBody>
      </p:sp>
      <p:sp>
        <p:nvSpPr>
          <p:cNvPr id="53" name="Shape 47"/>
          <p:cNvSpPr/>
          <p:nvPr/>
        </p:nvSpPr>
        <p:spPr>
          <a:xfrm>
            <a:off x="548640" y="4345229"/>
            <a:ext cx="4290731" cy="246888"/>
          </a:xfrm>
          <a:prstGeom prst="roundRect">
            <a:avLst>
              <a:gd name="adj" fmla="val 18519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621792" y="4345229"/>
            <a:ext cx="414442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seller’s first 37 days (prototype, fictional Kavin Knit Mills)</a:t>
            </a:r>
            <a:endParaRPr lang="en-US" sz="1050" dirty="0"/>
          </a:p>
        </p:txBody>
      </p:sp>
      <p:sp>
        <p:nvSpPr>
          <p:cNvPr id="55" name="Shape 49"/>
          <p:cNvSpPr/>
          <p:nvPr/>
        </p:nvSpPr>
        <p:spPr>
          <a:xfrm>
            <a:off x="548640" y="4619549"/>
            <a:ext cx="4290731" cy="1506931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56" name="Shape 50"/>
          <p:cNvSpPr/>
          <p:nvPr/>
        </p:nvSpPr>
        <p:spPr>
          <a:xfrm>
            <a:off x="621792" y="4710989"/>
            <a:ext cx="566928" cy="276149"/>
          </a:xfrm>
          <a:prstGeom prst="roundRect">
            <a:avLst>
              <a:gd name="adj" fmla="val 16556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57" name="Text 51"/>
          <p:cNvSpPr txBox="1"/>
          <p:nvPr/>
        </p:nvSpPr>
        <p:spPr>
          <a:xfrm>
            <a:off x="658368" y="4710989"/>
            <a:ext cx="493776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0</a:t>
            </a:r>
            <a:endParaRPr lang="en-US" sz="850" dirty="0"/>
          </a:p>
        </p:txBody>
      </p:sp>
      <p:sp>
        <p:nvSpPr>
          <p:cNvPr id="58" name="Text 52"/>
          <p:cNvSpPr txBox="1"/>
          <p:nvPr/>
        </p:nvSpPr>
        <p:spPr>
          <a:xfrm>
            <a:off x="1261872" y="4674413"/>
            <a:ext cx="3504347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 on; first batch handed over at the node</a:t>
            </a:r>
            <a:endParaRPr lang="en-US" sz="850" dirty="0"/>
          </a:p>
        </p:txBody>
      </p:sp>
      <p:sp>
        <p:nvSpPr>
          <p:cNvPr id="59" name="Shape 53"/>
          <p:cNvSpPr/>
          <p:nvPr/>
        </p:nvSpPr>
        <p:spPr>
          <a:xfrm>
            <a:off x="621792" y="5060290"/>
            <a:ext cx="566928" cy="276149"/>
          </a:xfrm>
          <a:prstGeom prst="roundRect">
            <a:avLst>
              <a:gd name="adj" fmla="val 16556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60" name="Text 54"/>
          <p:cNvSpPr txBox="1"/>
          <p:nvPr/>
        </p:nvSpPr>
        <p:spPr>
          <a:xfrm>
            <a:off x="658368" y="5060290"/>
            <a:ext cx="493776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7</a:t>
            </a:r>
            <a:endParaRPr lang="en-US" sz="850" dirty="0"/>
          </a:p>
        </p:txBody>
      </p:sp>
      <p:sp>
        <p:nvSpPr>
          <p:cNvPr id="61" name="Text 55"/>
          <p:cNvSpPr txBox="1"/>
          <p:nvPr/>
        </p:nvSpPr>
        <p:spPr>
          <a:xfrm>
            <a:off x="1261872" y="5023714"/>
            <a:ext cx="3504347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at 41% of the cohort median (floor 60%): a grant fires, nobody calls</a:t>
            </a:r>
            <a:endParaRPr lang="en-US" sz="850" dirty="0"/>
          </a:p>
        </p:txBody>
      </p:sp>
      <p:sp>
        <p:nvSpPr>
          <p:cNvPr id="62" name="Shape 56"/>
          <p:cNvSpPr/>
          <p:nvPr/>
        </p:nvSpPr>
        <p:spPr>
          <a:xfrm>
            <a:off x="621792" y="5409590"/>
            <a:ext cx="566928" cy="276149"/>
          </a:xfrm>
          <a:prstGeom prst="roundRect">
            <a:avLst>
              <a:gd name="adj" fmla="val 16556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63" name="Text 57"/>
          <p:cNvSpPr txBox="1"/>
          <p:nvPr/>
        </p:nvSpPr>
        <p:spPr>
          <a:xfrm>
            <a:off x="658368" y="5409590"/>
            <a:ext cx="493776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8+</a:t>
            </a:r>
            <a:endParaRPr lang="en-US" sz="850" dirty="0"/>
          </a:p>
        </p:txBody>
      </p:sp>
      <p:sp>
        <p:nvSpPr>
          <p:cNvPr id="64" name="Text 58"/>
          <p:cNvSpPr txBox="1"/>
          <p:nvPr/>
        </p:nvSpPr>
        <p:spPr>
          <a:xfrm>
            <a:off x="1261872" y="5373014"/>
            <a:ext cx="3504347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recover into the cohort band; score climbs past 80</a:t>
            </a:r>
            <a:endParaRPr lang="en-US" sz="850" dirty="0"/>
          </a:p>
        </p:txBody>
      </p:sp>
      <p:sp>
        <p:nvSpPr>
          <p:cNvPr id="65" name="Shape 59"/>
          <p:cNvSpPr/>
          <p:nvPr/>
        </p:nvSpPr>
        <p:spPr>
          <a:xfrm>
            <a:off x="621792" y="5758891"/>
            <a:ext cx="566928" cy="276149"/>
          </a:xfrm>
          <a:prstGeom prst="roundRect">
            <a:avLst>
              <a:gd name="adj" fmla="val 16556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66" name="Text 60"/>
          <p:cNvSpPr txBox="1"/>
          <p:nvPr/>
        </p:nvSpPr>
        <p:spPr>
          <a:xfrm>
            <a:off x="658368" y="5758891"/>
            <a:ext cx="493776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37</a:t>
            </a:r>
            <a:endParaRPr lang="en-US" sz="850" dirty="0"/>
          </a:p>
        </p:txBody>
      </p:sp>
      <p:sp>
        <p:nvSpPr>
          <p:cNvPr id="67" name="Text 61"/>
          <p:cNvSpPr txBox="1"/>
          <p:nvPr/>
        </p:nvSpPr>
        <p:spPr>
          <a:xfrm>
            <a:off x="1261872" y="5722315"/>
            <a:ext cx="3504347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Graduates: batch prepayment unlocked</a:t>
            </a:r>
            <a:endParaRPr lang="en-US" sz="850" dirty="0"/>
          </a:p>
        </p:txBody>
      </p:sp>
      <p:sp>
        <p:nvSpPr>
          <p:cNvPr id="68" name="Shape 62"/>
          <p:cNvSpPr/>
          <p:nvPr/>
        </p:nvSpPr>
        <p:spPr>
          <a:xfrm>
            <a:off x="4930811" y="4345229"/>
            <a:ext cx="2761488" cy="246888"/>
          </a:xfrm>
          <a:prstGeom prst="roundRect">
            <a:avLst>
              <a:gd name="adj" fmla="val 18519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69" name="Text 63"/>
          <p:cNvSpPr txBox="1"/>
          <p:nvPr/>
        </p:nvSpPr>
        <p:spPr>
          <a:xfrm>
            <a:off x="5003963" y="4345229"/>
            <a:ext cx="26151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without headcount</a:t>
            </a:r>
            <a:endParaRPr lang="en-US" sz="1050" dirty="0"/>
          </a:p>
        </p:txBody>
      </p:sp>
      <p:sp>
        <p:nvSpPr>
          <p:cNvPr id="70" name="Shape 64"/>
          <p:cNvSpPr/>
          <p:nvPr/>
        </p:nvSpPr>
        <p:spPr>
          <a:xfrm>
            <a:off x="4930811" y="4619549"/>
            <a:ext cx="2761488" cy="1506931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71" name="Shape 65"/>
          <p:cNvSpPr/>
          <p:nvPr/>
        </p:nvSpPr>
        <p:spPr>
          <a:xfrm>
            <a:off x="5003963" y="4692701"/>
            <a:ext cx="640080" cy="64008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434F"/>
            </a:solidFill>
            <a:prstDash val="solid"/>
          </a:ln>
        </p:spPr>
      </p:sp>
      <p:sp>
        <p:nvSpPr>
          <p:cNvPr id="72" name="Text 66"/>
          <p:cNvSpPr txBox="1"/>
          <p:nvPr/>
        </p:nvSpPr>
        <p:spPr>
          <a:xfrm>
            <a:off x="4912523" y="4692701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90:3</a:t>
            </a:r>
            <a:endParaRPr lang="en-US" sz="1300" dirty="0"/>
          </a:p>
        </p:txBody>
      </p:sp>
      <p:sp>
        <p:nvSpPr>
          <p:cNvPr id="73" name="Text 67"/>
          <p:cNvSpPr txBox="1"/>
          <p:nvPr/>
        </p:nvSpPr>
        <p:spPr>
          <a:xfrm>
            <a:off x="5698907" y="4674413"/>
            <a:ext cx="1920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vs human actions in the simulated 60-seller pilot</a:t>
            </a:r>
            <a:endParaRPr lang="en-US" sz="850" dirty="0"/>
          </a:p>
        </p:txBody>
      </p:sp>
      <p:sp>
        <p:nvSpPr>
          <p:cNvPr id="74" name="Text 68"/>
          <p:cNvSpPr txBox="1"/>
          <p:nvPr/>
        </p:nvSpPr>
        <p:spPr>
          <a:xfrm>
            <a:off x="5003963" y="5405933"/>
            <a:ext cx="2615184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~910 sellers per category manager </a:t>
            </a:r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40 reviews a month ÷ (3 escalations ÷ 68 seller-months). </a:t>
            </a:r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1,400 sellers need ~2 reviewers, not ~70 account managers at 1 per 20.</a:t>
            </a:r>
            <a:endParaRPr lang="en-US" sz="850" dirty="0"/>
          </a:p>
        </p:txBody>
      </p:sp>
      <p:sp>
        <p:nvSpPr>
          <p:cNvPr id="75" name="Shape 69"/>
          <p:cNvSpPr/>
          <p:nvPr/>
        </p:nvSpPr>
        <p:spPr>
          <a:xfrm>
            <a:off x="7783739" y="4345229"/>
            <a:ext cx="4176613" cy="246888"/>
          </a:xfrm>
          <a:prstGeom prst="roundRect">
            <a:avLst>
              <a:gd name="adj" fmla="val 18519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76" name="Text 70"/>
          <p:cNvSpPr txBox="1"/>
          <p:nvPr/>
        </p:nvSpPr>
        <p:spPr>
          <a:xfrm>
            <a:off x="7856891" y="4345229"/>
            <a:ext cx="403030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Explicitly rejected</a:t>
            </a:r>
            <a:endParaRPr lang="en-US" sz="1050" dirty="0"/>
          </a:p>
        </p:txBody>
      </p:sp>
      <p:sp>
        <p:nvSpPr>
          <p:cNvPr id="77" name="Shape 71"/>
          <p:cNvSpPr/>
          <p:nvPr/>
        </p:nvSpPr>
        <p:spPr>
          <a:xfrm>
            <a:off x="7783739" y="4619549"/>
            <a:ext cx="4176613" cy="1506931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78" name="Text 72"/>
          <p:cNvSpPr txBox="1"/>
          <p:nvPr/>
        </p:nvSpPr>
        <p:spPr>
          <a:xfrm>
            <a:off x="7856891" y="4674413"/>
            <a:ext cx="4030309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</a:t>
            </a:r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subsidy or paid boosts: </a:t>
            </a:r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buys volume, not conviction; stops when funding stops</a:t>
            </a:r>
            <a:endParaRPr lang="en-US" sz="850" dirty="0"/>
          </a:p>
        </p:txBody>
      </p:sp>
      <p:sp>
        <p:nvSpPr>
          <p:cNvPr id="79" name="Text 73"/>
          <p:cNvSpPr txBox="1"/>
          <p:nvPr/>
        </p:nvSpPr>
        <p:spPr>
          <a:xfrm>
            <a:off x="7856891" y="5023714"/>
            <a:ext cx="4030309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</a:t>
            </a:r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manager per seller: </a:t>
            </a:r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at 20 sellers, breaks at 200</a:t>
            </a:r>
            <a:endParaRPr lang="en-US" sz="850" dirty="0"/>
          </a:p>
        </p:txBody>
      </p:sp>
      <p:sp>
        <p:nvSpPr>
          <p:cNvPr id="80" name="Text 74"/>
          <p:cNvSpPr txBox="1"/>
          <p:nvPr/>
        </p:nvSpPr>
        <p:spPr>
          <a:xfrm>
            <a:off x="7856891" y="5373014"/>
            <a:ext cx="4030309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</a:t>
            </a:r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by turnover: </a:t>
            </a:r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brief’s own diagnosis: scale is not price</a:t>
            </a:r>
            <a:endParaRPr lang="en-US" sz="850" dirty="0"/>
          </a:p>
        </p:txBody>
      </p:sp>
      <p:sp>
        <p:nvSpPr>
          <p:cNvPr id="81" name="Text 75"/>
          <p:cNvSpPr txBox="1"/>
          <p:nvPr/>
        </p:nvSpPr>
        <p:spPr>
          <a:xfrm>
            <a:off x="7856891" y="5722315"/>
            <a:ext cx="4030309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</a:t>
            </a:r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Weakening the quality gate: </a:t>
            </a:r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grants target traffic, never ranking rules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pic>
        <p:nvPicPr>
          <p:cNvPr id="3" name="Image 0" descr="/Users/prathmeshwalimbe/Downloads/Meesho/02_round2_detailed_submission/deck/source/assets/dice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97280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97280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2071116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071116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Segments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3044952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044952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Sizing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018788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018788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Truth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992624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992624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5966460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66460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Benchmarks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6940296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940296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Sustainable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Scale-up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7914132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E8434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914132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KPIs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8887968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887968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9861804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861804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Risks</a:t>
            </a:r>
            <a:endParaRPr lang="en-US" sz="850" dirty="0"/>
          </a:p>
        </p:txBody>
      </p:sp>
      <p:pic>
        <p:nvPicPr>
          <p:cNvPr id="24" name="Image 1" descr="/Users/prathmeshwalimbe/Downloads/Meesho/02_round2_detailed_submission/deck/source/assets/meesho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25" name="Image 2" descr="/Users/prathmeshwalimbe/Downloads/Meesho/02_round2_detailed_submission/deck/source/assets/iitb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Nine funnel KPIs and a daily Health Score tell Meesho by Day 30 whether to fund, tighten or stop C2M</a:t>
            </a:r>
            <a:endParaRPr lang="en-US" sz="1700" dirty="0"/>
          </a:p>
        </p:txBody>
      </p:sp>
      <p:sp>
        <p:nvSpPr>
          <p:cNvPr id="27" name="Shape 22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MEASUREMENT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228600" y="6199632"/>
            <a:ext cx="11731752" cy="365760"/>
          </a:xfrm>
          <a:prstGeom prst="roundRect">
            <a:avLst>
              <a:gd name="adj" fmla="val 15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365760" y="619963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instrument the north star and the Health Score before the first badge goes live. Owner: Data Science · KPI: Day-30 readout on Day 31 with a fund, tighten or stop call.</a:t>
            </a:r>
            <a:endParaRPr lang="en-US" sz="1050" dirty="0"/>
          </a:p>
        </p:txBody>
      </p:sp>
      <p:sp>
        <p:nvSpPr>
          <p:cNvPr id="31" name="Text 26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S1 (H2 graduation on adoption and retention), S22   |   Targets are proposed pilot thresholds, recalibrated on the first cohort; Health Score weights and thresholds run in the prototype (src/config.js)   |   Power calculation: Appendix B</a:t>
            </a:r>
            <a:endParaRPr lang="en-US" sz="800" dirty="0"/>
          </a:p>
        </p:txBody>
      </p:sp>
      <p:sp>
        <p:nvSpPr>
          <p:cNvPr id="32" name="Text 27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548640" y="1051560"/>
            <a:ext cx="6230722" cy="246888"/>
          </a:xfrm>
          <a:prstGeom prst="roundRect">
            <a:avLst>
              <a:gd name="adj" fmla="val 18519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621792" y="1051560"/>
            <a:ext cx="60844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tree: onboarding → activation → retention, with guardrails</a:t>
            </a:r>
            <a:endParaRPr lang="en-US" sz="1050" dirty="0"/>
          </a:p>
        </p:txBody>
      </p:sp>
      <p:sp>
        <p:nvSpPr>
          <p:cNvPr id="35" name="Shape 30"/>
          <p:cNvSpPr/>
          <p:nvPr/>
        </p:nvSpPr>
        <p:spPr>
          <a:xfrm>
            <a:off x="548640" y="1325880"/>
            <a:ext cx="6230722" cy="2927909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621792" y="1380744"/>
            <a:ext cx="6084418" cy="457200"/>
          </a:xfrm>
          <a:prstGeom prst="roundRect">
            <a:avLst>
              <a:gd name="adj" fmla="val 1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713232" y="1380744"/>
            <a:ext cx="5901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7A2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STAR · Price-competitive C2M NMV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NMV from sellers whose catalogue still clears the 8% gate · target ₹641 cr run-rate at Year-1 exit, ₹1,995 cr by Year 4</a:t>
            </a:r>
            <a:endParaRPr lang="en-US" sz="900" dirty="0"/>
          </a:p>
        </p:txBody>
      </p:sp>
      <p:sp>
        <p:nvSpPr>
          <p:cNvPr id="38" name="Shape 33"/>
          <p:cNvSpPr/>
          <p:nvPr/>
        </p:nvSpPr>
        <p:spPr>
          <a:xfrm>
            <a:off x="621792" y="1929384"/>
            <a:ext cx="1967179" cy="237744"/>
          </a:xfrm>
          <a:prstGeom prst="roundRect">
            <a:avLst>
              <a:gd name="adj" fmla="val 19231"/>
            </a:avLst>
          </a:prstGeom>
          <a:solidFill>
            <a:srgbClr val="7B2A66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58368" y="1929384"/>
            <a:ext cx="18940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900" dirty="0"/>
          </a:p>
        </p:txBody>
      </p:sp>
      <p:sp>
        <p:nvSpPr>
          <p:cNvPr id="40" name="Shape 35"/>
          <p:cNvSpPr/>
          <p:nvPr/>
        </p:nvSpPr>
        <p:spPr>
          <a:xfrm>
            <a:off x="621792" y="2221992"/>
            <a:ext cx="1967179" cy="41148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676656" y="2221992"/>
            <a:ext cx="185745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→ listed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7B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50% in 30 days</a:t>
            </a:r>
            <a:endParaRPr lang="en-US" sz="850" dirty="0"/>
          </a:p>
        </p:txBody>
      </p:sp>
      <p:sp>
        <p:nvSpPr>
          <p:cNvPr id="42" name="Shape 37"/>
          <p:cNvSpPr/>
          <p:nvPr/>
        </p:nvSpPr>
        <p:spPr>
          <a:xfrm>
            <a:off x="621792" y="2679192"/>
            <a:ext cx="1967179" cy="41148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676656" y="2679192"/>
            <a:ext cx="185745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to first live listing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7B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7</a:t>
            </a:r>
            <a:endParaRPr lang="en-US" sz="850" dirty="0"/>
          </a:p>
        </p:txBody>
      </p:sp>
      <p:sp>
        <p:nvSpPr>
          <p:cNvPr id="44" name="Shape 39"/>
          <p:cNvSpPr/>
          <p:nvPr/>
        </p:nvSpPr>
        <p:spPr>
          <a:xfrm>
            <a:off x="621792" y="3136392"/>
            <a:ext cx="1967179" cy="41148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7B2A66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676656" y="3136392"/>
            <a:ext cx="185745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batch committed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7B2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14 days</a:t>
            </a:r>
            <a:endParaRPr lang="en-US" sz="850" dirty="0"/>
          </a:p>
        </p:txBody>
      </p:sp>
      <p:sp>
        <p:nvSpPr>
          <p:cNvPr id="46" name="Shape 41"/>
          <p:cNvSpPr/>
          <p:nvPr/>
        </p:nvSpPr>
        <p:spPr>
          <a:xfrm>
            <a:off x="2680411" y="1929384"/>
            <a:ext cx="1967179" cy="237744"/>
          </a:xfrm>
          <a:prstGeom prst="roundRect">
            <a:avLst>
              <a:gd name="adj" fmla="val 19231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2716987" y="1929384"/>
            <a:ext cx="18940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</a:t>
            </a:r>
            <a:endParaRPr lang="en-US" sz="900" dirty="0"/>
          </a:p>
        </p:txBody>
      </p:sp>
      <p:sp>
        <p:nvSpPr>
          <p:cNvPr id="48" name="Shape 43"/>
          <p:cNvSpPr/>
          <p:nvPr/>
        </p:nvSpPr>
        <p:spPr>
          <a:xfrm>
            <a:off x="2680411" y="2221992"/>
            <a:ext cx="1967179" cy="41148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49" name="Text 44"/>
          <p:cNvSpPr txBox="1"/>
          <p:nvPr/>
        </p:nvSpPr>
        <p:spPr>
          <a:xfrm>
            <a:off x="2735275" y="2221992"/>
            <a:ext cx="185745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at D7 / D14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60% of cohort median</a:t>
            </a:r>
            <a:endParaRPr lang="en-US" sz="850" dirty="0"/>
          </a:p>
        </p:txBody>
      </p:sp>
      <p:sp>
        <p:nvSpPr>
          <p:cNvPr id="50" name="Shape 45"/>
          <p:cNvSpPr/>
          <p:nvPr/>
        </p:nvSpPr>
        <p:spPr>
          <a:xfrm>
            <a:off x="2680411" y="2679192"/>
            <a:ext cx="1967179" cy="41148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2735275" y="2679192"/>
            <a:ext cx="185745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First-30-day orders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cohort p50 for 70%</a:t>
            </a:r>
            <a:endParaRPr lang="en-US" sz="850" dirty="0"/>
          </a:p>
        </p:txBody>
      </p:sp>
      <p:sp>
        <p:nvSpPr>
          <p:cNvPr id="52" name="Shape 47"/>
          <p:cNvSpPr/>
          <p:nvPr/>
        </p:nvSpPr>
        <p:spPr>
          <a:xfrm>
            <a:off x="2680411" y="3136392"/>
            <a:ext cx="1967179" cy="41148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53" name="Text 48"/>
          <p:cNvSpPr txBox="1"/>
          <p:nvPr/>
        </p:nvSpPr>
        <p:spPr>
          <a:xfrm>
            <a:off x="2735275" y="3136392"/>
            <a:ext cx="185745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to 10th order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10</a:t>
            </a:r>
            <a:endParaRPr lang="en-US" sz="850" dirty="0"/>
          </a:p>
        </p:txBody>
      </p:sp>
      <p:sp>
        <p:nvSpPr>
          <p:cNvPr id="54" name="Shape 49"/>
          <p:cNvSpPr/>
          <p:nvPr/>
        </p:nvSpPr>
        <p:spPr>
          <a:xfrm>
            <a:off x="4739030" y="1929384"/>
            <a:ext cx="1967179" cy="237744"/>
          </a:xfrm>
          <a:prstGeom prst="roundRect">
            <a:avLst>
              <a:gd name="adj" fmla="val 19231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55" name="Text 50"/>
          <p:cNvSpPr txBox="1"/>
          <p:nvPr/>
        </p:nvSpPr>
        <p:spPr>
          <a:xfrm>
            <a:off x="4775606" y="1929384"/>
            <a:ext cx="18940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</a:t>
            </a:r>
            <a:endParaRPr lang="en-US" sz="900" dirty="0"/>
          </a:p>
        </p:txBody>
      </p:sp>
      <p:sp>
        <p:nvSpPr>
          <p:cNvPr id="56" name="Shape 51"/>
          <p:cNvSpPr/>
          <p:nvPr/>
        </p:nvSpPr>
        <p:spPr>
          <a:xfrm>
            <a:off x="4739030" y="2221992"/>
            <a:ext cx="1967179" cy="41148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57" name="Text 52"/>
          <p:cNvSpPr txBox="1"/>
          <p:nvPr/>
        </p:nvSpPr>
        <p:spPr>
          <a:xfrm>
            <a:off x="4793894" y="2221992"/>
            <a:ext cx="185745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at D90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75%</a:t>
            </a:r>
            <a:endParaRPr lang="en-US" sz="850" dirty="0"/>
          </a:p>
        </p:txBody>
      </p:sp>
      <p:sp>
        <p:nvSpPr>
          <p:cNvPr id="58" name="Shape 53"/>
          <p:cNvSpPr/>
          <p:nvPr/>
        </p:nvSpPr>
        <p:spPr>
          <a:xfrm>
            <a:off x="4739030" y="2679192"/>
            <a:ext cx="1967179" cy="41148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59" name="Text 54"/>
          <p:cNvSpPr txBox="1"/>
          <p:nvPr/>
        </p:nvSpPr>
        <p:spPr>
          <a:xfrm>
            <a:off x="4793894" y="2679192"/>
            <a:ext cx="185745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clear the gate at D14 / D30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70%</a:t>
            </a:r>
            <a:endParaRPr lang="en-US" sz="850" dirty="0"/>
          </a:p>
        </p:txBody>
      </p:sp>
      <p:sp>
        <p:nvSpPr>
          <p:cNvPr id="60" name="Shape 55"/>
          <p:cNvSpPr/>
          <p:nvPr/>
        </p:nvSpPr>
        <p:spPr>
          <a:xfrm>
            <a:off x="4739030" y="3136392"/>
            <a:ext cx="1967179" cy="41148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61" name="Text 56"/>
          <p:cNvSpPr txBox="1"/>
          <p:nvPr/>
        </p:nvSpPr>
        <p:spPr>
          <a:xfrm>
            <a:off x="4793894" y="3136392"/>
            <a:ext cx="185745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Graduated by D60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40%</a:t>
            </a:r>
            <a:endParaRPr lang="en-US" sz="850" dirty="0"/>
          </a:p>
        </p:txBody>
      </p:sp>
      <p:sp>
        <p:nvSpPr>
          <p:cNvPr id="62" name="Shape 57"/>
          <p:cNvSpPr/>
          <p:nvPr/>
        </p:nvSpPr>
        <p:spPr>
          <a:xfrm>
            <a:off x="621792" y="3639312"/>
            <a:ext cx="6084418" cy="559613"/>
          </a:xfrm>
          <a:prstGeom prst="roundRect">
            <a:avLst>
              <a:gd name="adj" fmla="val 6536"/>
            </a:avLst>
          </a:prstGeom>
          <a:solidFill>
            <a:srgbClr val="FFF5E6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63" name="Text 58"/>
          <p:cNvSpPr txBox="1"/>
          <p:nvPr/>
        </p:nvSpPr>
        <p:spPr>
          <a:xfrm>
            <a:off x="694944" y="3639312"/>
            <a:ext cx="5938114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and P&amp;L links: </a:t>
            </a:r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NMV ≥ pre-period · badged ≤ 20% of category impressions · quality returns ≤ 1.5× norm · escalations ≤ 5 per 100 sellers a month · prepaid share of C2M orders ≥ 68.5% · failed deliveries 4.7 pts below the category</a:t>
            </a:r>
            <a:endParaRPr lang="en-US" sz="850" dirty="0"/>
          </a:p>
        </p:txBody>
      </p:sp>
      <p:sp>
        <p:nvSpPr>
          <p:cNvPr id="64" name="Shape 59"/>
          <p:cNvSpPr/>
          <p:nvPr/>
        </p:nvSpPr>
        <p:spPr>
          <a:xfrm>
            <a:off x="6870802" y="1051560"/>
            <a:ext cx="5089550" cy="246888"/>
          </a:xfrm>
          <a:prstGeom prst="roundRect">
            <a:avLst>
              <a:gd name="adj" fmla="val 18519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65" name="Text 60"/>
          <p:cNvSpPr txBox="1"/>
          <p:nvPr/>
        </p:nvSpPr>
        <p:spPr>
          <a:xfrm>
            <a:off x="6943954" y="1051560"/>
            <a:ext cx="494324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C2M Seller Health Score: 0–100, daily</a:t>
            </a:r>
            <a:endParaRPr lang="en-US" sz="1050" dirty="0"/>
          </a:p>
        </p:txBody>
      </p:sp>
      <p:sp>
        <p:nvSpPr>
          <p:cNvPr id="66" name="Shape 61"/>
          <p:cNvSpPr/>
          <p:nvPr/>
        </p:nvSpPr>
        <p:spPr>
          <a:xfrm>
            <a:off x="6870802" y="1325880"/>
            <a:ext cx="5089550" cy="1506931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67" name="Shape 62"/>
          <p:cNvSpPr/>
          <p:nvPr/>
        </p:nvSpPr>
        <p:spPr>
          <a:xfrm>
            <a:off x="6943954" y="1408176"/>
            <a:ext cx="457200" cy="169713"/>
          </a:xfrm>
          <a:prstGeom prst="roundRect">
            <a:avLst>
              <a:gd name="adj" fmla="val 2694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68" name="Text 63"/>
          <p:cNvSpPr txBox="1"/>
          <p:nvPr/>
        </p:nvSpPr>
        <p:spPr>
          <a:xfrm>
            <a:off x="6980530" y="1408176"/>
            <a:ext cx="384048" cy="169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900" dirty="0"/>
          </a:p>
        </p:txBody>
      </p:sp>
      <p:sp>
        <p:nvSpPr>
          <p:cNvPr id="69" name="Text 64"/>
          <p:cNvSpPr txBox="1"/>
          <p:nvPr/>
        </p:nvSpPr>
        <p:spPr>
          <a:xfrm>
            <a:off x="7456018" y="1380744"/>
            <a:ext cx="4431182" cy="224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gap held  </a:t>
            </a:r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gap ÷ gap at onboarding</a:t>
            </a:r>
            <a:endParaRPr lang="en-US" sz="850" dirty="0"/>
          </a:p>
        </p:txBody>
      </p:sp>
      <p:sp>
        <p:nvSpPr>
          <p:cNvPr id="70" name="Shape 65"/>
          <p:cNvSpPr/>
          <p:nvPr/>
        </p:nvSpPr>
        <p:spPr>
          <a:xfrm>
            <a:off x="6943954" y="1632753"/>
            <a:ext cx="457200" cy="169713"/>
          </a:xfrm>
          <a:prstGeom prst="roundRect">
            <a:avLst>
              <a:gd name="adj" fmla="val 2694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71" name="Text 66"/>
          <p:cNvSpPr txBox="1"/>
          <p:nvPr/>
        </p:nvSpPr>
        <p:spPr>
          <a:xfrm>
            <a:off x="6980530" y="1632753"/>
            <a:ext cx="384048" cy="169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900" dirty="0"/>
          </a:p>
        </p:txBody>
      </p:sp>
      <p:sp>
        <p:nvSpPr>
          <p:cNvPr id="72" name="Text 67"/>
          <p:cNvSpPr txBox="1"/>
          <p:nvPr/>
        </p:nvSpPr>
        <p:spPr>
          <a:xfrm>
            <a:off x="7456018" y="1605321"/>
            <a:ext cx="4431182" cy="224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pace  </a:t>
            </a:r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14-day orders ÷ cohort median (0.3 → 0, 1.0 → 100)</a:t>
            </a:r>
            <a:endParaRPr lang="en-US" sz="850" dirty="0"/>
          </a:p>
        </p:txBody>
      </p:sp>
      <p:sp>
        <p:nvSpPr>
          <p:cNvPr id="73" name="Shape 68"/>
          <p:cNvSpPr/>
          <p:nvPr/>
        </p:nvSpPr>
        <p:spPr>
          <a:xfrm>
            <a:off x="6943954" y="1857329"/>
            <a:ext cx="457200" cy="169713"/>
          </a:xfrm>
          <a:prstGeom prst="roundRect">
            <a:avLst>
              <a:gd name="adj" fmla="val 2694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74" name="Text 69"/>
          <p:cNvSpPr txBox="1"/>
          <p:nvPr/>
        </p:nvSpPr>
        <p:spPr>
          <a:xfrm>
            <a:off x="6980530" y="1857329"/>
            <a:ext cx="384048" cy="169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900" dirty="0"/>
          </a:p>
        </p:txBody>
      </p:sp>
      <p:sp>
        <p:nvSpPr>
          <p:cNvPr id="75" name="Text 70"/>
          <p:cNvSpPr txBox="1"/>
          <p:nvPr/>
        </p:nvSpPr>
        <p:spPr>
          <a:xfrm>
            <a:off x="7456018" y="1829897"/>
            <a:ext cx="4431182" cy="224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returns  </a:t>
            </a:r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1× category norm = 100, 2× = 0</a:t>
            </a:r>
            <a:endParaRPr lang="en-US" sz="850" dirty="0"/>
          </a:p>
        </p:txBody>
      </p:sp>
      <p:sp>
        <p:nvSpPr>
          <p:cNvPr id="76" name="Shape 71"/>
          <p:cNvSpPr/>
          <p:nvPr/>
        </p:nvSpPr>
        <p:spPr>
          <a:xfrm>
            <a:off x="6943954" y="2081906"/>
            <a:ext cx="457200" cy="169713"/>
          </a:xfrm>
          <a:prstGeom prst="roundRect">
            <a:avLst>
              <a:gd name="adj" fmla="val 2694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77" name="Text 72"/>
          <p:cNvSpPr txBox="1"/>
          <p:nvPr/>
        </p:nvSpPr>
        <p:spPr>
          <a:xfrm>
            <a:off x="6980530" y="2081906"/>
            <a:ext cx="384048" cy="169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900" dirty="0"/>
          </a:p>
        </p:txBody>
      </p:sp>
      <p:sp>
        <p:nvSpPr>
          <p:cNvPr id="78" name="Text 73"/>
          <p:cNvSpPr txBox="1"/>
          <p:nvPr/>
        </p:nvSpPr>
        <p:spPr>
          <a:xfrm>
            <a:off x="7456018" y="2054474"/>
            <a:ext cx="4431182" cy="224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dispatch  </a:t>
            </a:r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7-day SLA: 80% → 0, 97% → 100</a:t>
            </a:r>
            <a:endParaRPr lang="en-US" sz="850" dirty="0"/>
          </a:p>
        </p:txBody>
      </p:sp>
      <p:sp>
        <p:nvSpPr>
          <p:cNvPr id="79" name="Shape 74"/>
          <p:cNvSpPr/>
          <p:nvPr/>
        </p:nvSpPr>
        <p:spPr>
          <a:xfrm>
            <a:off x="6943954" y="2306483"/>
            <a:ext cx="457200" cy="169713"/>
          </a:xfrm>
          <a:prstGeom prst="roundRect">
            <a:avLst>
              <a:gd name="adj" fmla="val 2694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80" name="Text 75"/>
          <p:cNvSpPr txBox="1"/>
          <p:nvPr/>
        </p:nvSpPr>
        <p:spPr>
          <a:xfrm>
            <a:off x="6980530" y="2306483"/>
            <a:ext cx="384048" cy="169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900" dirty="0"/>
          </a:p>
        </p:txBody>
      </p:sp>
      <p:sp>
        <p:nvSpPr>
          <p:cNvPr id="81" name="Text 76"/>
          <p:cNvSpPr txBox="1"/>
          <p:nvPr/>
        </p:nvSpPr>
        <p:spPr>
          <a:xfrm>
            <a:off x="7456018" y="2279051"/>
            <a:ext cx="4431182" cy="224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In-stock  </a:t>
            </a:r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SKUs in stock: 50% → 0, 95% → 100</a:t>
            </a:r>
            <a:endParaRPr lang="en-US" sz="850" dirty="0"/>
          </a:p>
        </p:txBody>
      </p:sp>
      <p:sp>
        <p:nvSpPr>
          <p:cNvPr id="82" name="Text 77"/>
          <p:cNvSpPr txBox="1"/>
          <p:nvPr/>
        </p:nvSpPr>
        <p:spPr>
          <a:xfrm>
            <a:off x="6943954" y="2540203"/>
            <a:ext cx="49432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80 for 30 days → graduate · </a:t>
            </a:r>
            <a:pPr indent="0" marL="0">
              <a:buNone/>
            </a:pPr>
            <a:r>
              <a:rPr lang="en-US" sz="8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40 for 7 days after a fix → a person</a:t>
            </a:r>
            <a:endParaRPr lang="en-US" sz="850" dirty="0"/>
          </a:p>
        </p:txBody>
      </p:sp>
      <p:sp>
        <p:nvSpPr>
          <p:cNvPr id="83" name="Shape 78"/>
          <p:cNvSpPr/>
          <p:nvPr/>
        </p:nvSpPr>
        <p:spPr>
          <a:xfrm>
            <a:off x="6870802" y="2924251"/>
            <a:ext cx="5089550" cy="246888"/>
          </a:xfrm>
          <a:prstGeom prst="roundRect">
            <a:avLst>
              <a:gd name="adj" fmla="val 18519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84" name="Text 79"/>
          <p:cNvSpPr txBox="1"/>
          <p:nvPr/>
        </p:nvSpPr>
        <p:spPr>
          <a:xfrm>
            <a:off x="6943954" y="2924251"/>
            <a:ext cx="494324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Rulebook: 9 automatic actions, 1 human</a:t>
            </a:r>
            <a:endParaRPr lang="en-US" sz="1050" dirty="0"/>
          </a:p>
        </p:txBody>
      </p:sp>
      <p:sp>
        <p:nvSpPr>
          <p:cNvPr id="85" name="Shape 80"/>
          <p:cNvSpPr/>
          <p:nvPr/>
        </p:nvSpPr>
        <p:spPr>
          <a:xfrm>
            <a:off x="6870802" y="3198571"/>
            <a:ext cx="5089550" cy="1055218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86" name="Text 81"/>
          <p:cNvSpPr txBox="1"/>
          <p:nvPr/>
        </p:nvSpPr>
        <p:spPr>
          <a:xfrm>
            <a:off x="6943954" y="3253435"/>
            <a:ext cx="2425903" cy="2363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&lt; 60% of cohort median at D7 / D14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Impression grant</a:t>
            </a:r>
            <a:endParaRPr lang="en-US" sz="800" dirty="0"/>
          </a:p>
        </p:txBody>
      </p:sp>
      <p:sp>
        <p:nvSpPr>
          <p:cNvPr id="87" name="Text 82"/>
          <p:cNvSpPr txBox="1"/>
          <p:nvPr/>
        </p:nvSpPr>
        <p:spPr>
          <a:xfrm>
            <a:off x="9415577" y="3253435"/>
            <a:ext cx="2425903" cy="2363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&lt; 8% for 7 days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Price-drift nudge</a:t>
            </a:r>
            <a:endParaRPr lang="en-US" sz="800" dirty="0"/>
          </a:p>
        </p:txBody>
      </p:sp>
      <p:sp>
        <p:nvSpPr>
          <p:cNvPr id="88" name="Text 83"/>
          <p:cNvSpPr txBox="1"/>
          <p:nvPr/>
        </p:nvSpPr>
        <p:spPr>
          <a:xfrm>
            <a:off x="6943954" y="3489808"/>
            <a:ext cx="2425903" cy="2363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&lt; 4% for 3 days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Badge off; back after 7 days ≥ 8%</a:t>
            </a:r>
            <a:endParaRPr lang="en-US" sz="800" dirty="0"/>
          </a:p>
        </p:txBody>
      </p:sp>
      <p:sp>
        <p:nvSpPr>
          <p:cNvPr id="89" name="Text 84"/>
          <p:cNvSpPr txBox="1"/>
          <p:nvPr/>
        </p:nvSpPr>
        <p:spPr>
          <a:xfrm>
            <a:off x="9415577" y="3489808"/>
            <a:ext cx="2425903" cy="2363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returns &gt; 1.5× norm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Badge suspended + QC</a:t>
            </a:r>
            <a:endParaRPr lang="en-US" sz="800" dirty="0"/>
          </a:p>
        </p:txBody>
      </p:sp>
      <p:sp>
        <p:nvSpPr>
          <p:cNvPr id="90" name="Text 85"/>
          <p:cNvSpPr txBox="1"/>
          <p:nvPr/>
        </p:nvSpPr>
        <p:spPr>
          <a:xfrm>
            <a:off x="6943954" y="3726180"/>
            <a:ext cx="2425903" cy="2363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dispatch &lt; 90% over 7 days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Offer Factory Node</a:t>
            </a:r>
            <a:endParaRPr lang="en-US" sz="800" dirty="0"/>
          </a:p>
        </p:txBody>
      </p:sp>
      <p:sp>
        <p:nvSpPr>
          <p:cNvPr id="91" name="Text 86"/>
          <p:cNvSpPr txBox="1"/>
          <p:nvPr/>
        </p:nvSpPr>
        <p:spPr>
          <a:xfrm>
            <a:off x="9415577" y="3726180"/>
            <a:ext cx="2425903" cy="2363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In-stock &lt; 70% for 3 days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Restock nudge from the brief</a:t>
            </a:r>
            <a:endParaRPr lang="en-US" sz="800" dirty="0"/>
          </a:p>
        </p:txBody>
      </p:sp>
      <p:sp>
        <p:nvSpPr>
          <p:cNvPr id="92" name="Text 87"/>
          <p:cNvSpPr txBox="1"/>
          <p:nvPr/>
        </p:nvSpPr>
        <p:spPr>
          <a:xfrm>
            <a:off x="6943954" y="3962552"/>
            <a:ext cx="2425903" cy="2363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≥ 80 for 30 days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Graduate: prepayment</a:t>
            </a:r>
            <a:endParaRPr lang="en-US" sz="800" dirty="0"/>
          </a:p>
        </p:txBody>
      </p:sp>
      <p:sp>
        <p:nvSpPr>
          <p:cNvPr id="93" name="Text 88"/>
          <p:cNvSpPr txBox="1"/>
          <p:nvPr/>
        </p:nvSpPr>
        <p:spPr>
          <a:xfrm>
            <a:off x="9415577" y="3962552"/>
            <a:ext cx="2425903" cy="2363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&lt; 40 after a fix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Category manager</a:t>
            </a:r>
            <a:endParaRPr lang="en-US" sz="800" dirty="0"/>
          </a:p>
        </p:txBody>
      </p:sp>
      <p:sp>
        <p:nvSpPr>
          <p:cNvPr id="94" name="Shape 89"/>
          <p:cNvSpPr/>
          <p:nvPr/>
        </p:nvSpPr>
        <p:spPr>
          <a:xfrm>
            <a:off x="548640" y="4345229"/>
            <a:ext cx="6230722" cy="246888"/>
          </a:xfrm>
          <a:prstGeom prst="roundRect">
            <a:avLst>
              <a:gd name="adj" fmla="val 18519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95" name="Text 90"/>
          <p:cNvSpPr txBox="1"/>
          <p:nvPr/>
        </p:nvSpPr>
        <p:spPr>
          <a:xfrm>
            <a:off x="621792" y="4345229"/>
            <a:ext cx="60844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Day-30 readout: fund, tighten or stop</a:t>
            </a:r>
            <a:endParaRPr lang="en-US" sz="1050" dirty="0"/>
          </a:p>
        </p:txBody>
      </p:sp>
      <p:sp>
        <p:nvSpPr>
          <p:cNvPr id="96" name="Shape 91"/>
          <p:cNvSpPr/>
          <p:nvPr/>
        </p:nvSpPr>
        <p:spPr>
          <a:xfrm>
            <a:off x="548640" y="4619549"/>
            <a:ext cx="6230722" cy="1506931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4674413"/>
          <a:ext cx="4015716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461236"/>
              </a:tblGrid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 badged sellers vs a matched holdout, 28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error ≈ 1.6 pts → detectable lift ≈ 4.5% at 80% power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NMV per live SKU ≥ 12% above holdout (interval &gt; 0) and ≥ 70% still clear at D14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Tighten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Lift &lt; 12%: raise the gate to a 10% gap and re-run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decays: badge off, no node money released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</a:tbl>
          </a:graphicData>
        </a:graphic>
      </p:graphicFrame>
      <p:pic>
        <p:nvPicPr>
          <p:cNvPr id="98" name="Image 3" descr="/Users/prathmeshwalimbe/Downloads/Meesho/02_round2_detailed_submission/deck/source/assets/shot_day30_cha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8352" y="4674413"/>
            <a:ext cx="2007858" cy="1053933"/>
          </a:xfrm>
          <a:prstGeom prst="rect">
            <a:avLst/>
          </a:prstGeom>
        </p:spPr>
      </p:pic>
      <p:sp>
        <p:nvSpPr>
          <p:cNvPr id="99" name="Text 92"/>
          <p:cNvSpPr txBox="1"/>
          <p:nvPr/>
        </p:nvSpPr>
        <p:spPr>
          <a:xfrm>
            <a:off x="4698352" y="5746634"/>
            <a:ext cx="20078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Prototype: base +18.2% → fund · weak +4.7% → tighten · decay → stop</a:t>
            </a:r>
            <a:endParaRPr lang="en-US" sz="750" dirty="0"/>
          </a:p>
        </p:txBody>
      </p:sp>
      <p:sp>
        <p:nvSpPr>
          <p:cNvPr id="100" name="Shape 93"/>
          <p:cNvSpPr/>
          <p:nvPr/>
        </p:nvSpPr>
        <p:spPr>
          <a:xfrm>
            <a:off x="6870802" y="4345229"/>
            <a:ext cx="5089550" cy="246888"/>
          </a:xfrm>
          <a:prstGeom prst="roundRect">
            <a:avLst>
              <a:gd name="adj" fmla="val 18519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101" name="Text 94"/>
          <p:cNvSpPr txBox="1"/>
          <p:nvPr/>
        </p:nvSpPr>
        <p:spPr>
          <a:xfrm>
            <a:off x="6943954" y="4345229"/>
            <a:ext cx="494324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Cadence and owners</a:t>
            </a:r>
            <a:endParaRPr lang="en-US" sz="1050" dirty="0"/>
          </a:p>
        </p:txBody>
      </p:sp>
      <p:sp>
        <p:nvSpPr>
          <p:cNvPr id="102" name="Shape 95"/>
          <p:cNvSpPr/>
          <p:nvPr/>
        </p:nvSpPr>
        <p:spPr>
          <a:xfrm>
            <a:off x="6870802" y="4619549"/>
            <a:ext cx="5089550" cy="1506931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3954" y="4674413"/>
          <a:ext cx="4943246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3023006"/>
                <a:gridCol w="1188720"/>
              </a:tblGrid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Rules run, grants fire, scores update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Science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 review; gate re-score of every badged seller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Category, Growth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Recalibrate weights and thresholds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Pricing + 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Quarterly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 review: adoption and retention decide graduation to H1 [S1]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pic>
        <p:nvPicPr>
          <p:cNvPr id="3" name="Image 0" descr="/Users/prathmeshwalimbe/Downloads/Meesho/02_round2_detailed_submission/deck/source/assets/dice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97280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97280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2071116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071116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Segments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3044952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044952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Sizing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018788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018788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Truth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992624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992624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5966460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66460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Benchmarks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6940296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940296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Sustainable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Scale-up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7914132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914132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KPIs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8887968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E8434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887968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9861804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861804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Risks</a:t>
            </a:r>
            <a:endParaRPr lang="en-US" sz="850" dirty="0"/>
          </a:p>
        </p:txBody>
      </p:sp>
      <p:pic>
        <p:nvPicPr>
          <p:cNvPr id="24" name="Image 1" descr="/Users/prathmeshwalimbe/Downloads/Meesho/02_round2_detailed_submission/deck/source/assets/meesho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25" name="Image 2" descr="/Users/prathmeshwalimbe/Downloads/Meesho/02_round2_detailed_submission/deck/source/assets/iitb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₹75 cr NPV at 12% and payback in Year 3; NPV stays positive down to 45% of planned seller yield</a:t>
            </a:r>
            <a:endParaRPr lang="en-US" sz="1700" dirty="0"/>
          </a:p>
        </p:txBody>
      </p:sp>
      <p:sp>
        <p:nvSpPr>
          <p:cNvPr id="27" name="Shape 22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CASE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228600" y="6199632"/>
            <a:ext cx="11731752" cy="365760"/>
          </a:xfrm>
          <a:prstGeom prst="roundRect">
            <a:avLst>
              <a:gd name="adj" fmla="val 15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365760" y="619963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approve ₹22.2 cr cash for Year 1 as a capped H2 bet, released at the Day-30 and Day-90 gates. Owner: Finance · KPI: Year-1 C2M NMV ≥ ₹140 cr.</a:t>
            </a:r>
            <a:endParaRPr lang="en-US" sz="1050" dirty="0"/>
          </a:p>
        </p:txBody>
      </p:sp>
      <p:sp>
        <p:nvSpPr>
          <p:cNvPr id="31" name="Text 26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S1 (₹531 cr contribution on 725 mn placed orders; prepaid 37%; NMV ₹11,614 cr on GMV ₹19,054 cr), S11, S13   |   NPV: t = 1..5, year-end, no terminal value · Year NMV uses average active sellers; page 4 shows exit run-rates (Year 4: ₹1,853 cr vs ₹1,995 cr)</a:t>
            </a:r>
            <a:endParaRPr lang="en-US" sz="800" dirty="0"/>
          </a:p>
        </p:txBody>
      </p:sp>
      <p:sp>
        <p:nvSpPr>
          <p:cNvPr id="32" name="Text 27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548640" y="1051560"/>
            <a:ext cx="6344839" cy="246888"/>
          </a:xfrm>
          <a:prstGeom prst="roundRect">
            <a:avLst>
              <a:gd name="adj" fmla="val 18519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621792" y="1051560"/>
            <a:ext cx="61985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Five-year case (₹ cr, nominal; NPV = sum of the PV row)</a:t>
            </a:r>
            <a:endParaRPr lang="en-US" sz="1050" dirty="0"/>
          </a:p>
        </p:txBody>
      </p:sp>
      <p:sp>
        <p:nvSpPr>
          <p:cNvPr id="35" name="Shape 30"/>
          <p:cNvSpPr/>
          <p:nvPr/>
        </p:nvSpPr>
        <p:spPr>
          <a:xfrm>
            <a:off x="548640" y="1325880"/>
            <a:ext cx="6344839" cy="3130906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1380744"/>
          <a:ext cx="4586916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524191"/>
                <a:gridCol w="524191"/>
                <a:gridCol w="524191"/>
                <a:gridCol w="524191"/>
                <a:gridCol w="524191"/>
              </a:tblGrid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19385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active sellers [A3]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385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C2M NMV, year average [A4]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9385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Placed orders (mn)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385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Incremental orders × ₹7.3 [A8]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9385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 failed deliveries × ₹60 [A11]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385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Benefit to Meesho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9385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People [A13, A14]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385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 onboarding [A15]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9385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Brief [A16]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385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Factory Nodes [A17]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9385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 pool, grants, first-loss [A18–A20]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385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Programme cost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9385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cash flow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−20.6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385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PV at 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−18.4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</a:tbl>
          </a:graphicData>
        </a:graphic>
      </p:graphicFrame>
      <p:sp>
        <p:nvSpPr>
          <p:cNvPr id="37" name="Shape 31"/>
          <p:cNvSpPr/>
          <p:nvPr/>
        </p:nvSpPr>
        <p:spPr>
          <a:xfrm>
            <a:off x="5300148" y="1380744"/>
            <a:ext cx="1520179" cy="3021178"/>
          </a:xfrm>
          <a:prstGeom prst="roundRect">
            <a:avLst>
              <a:gd name="adj" fmla="val 3008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5373300" y="1435608"/>
            <a:ext cx="137387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9D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at 12%</a:t>
            </a:r>
            <a:endParaRPr lang="en-US" sz="800" dirty="0"/>
          </a:p>
        </p:txBody>
      </p:sp>
      <p:sp>
        <p:nvSpPr>
          <p:cNvPr id="39" name="Text 33"/>
          <p:cNvSpPr txBox="1"/>
          <p:nvPr/>
        </p:nvSpPr>
        <p:spPr>
          <a:xfrm>
            <a:off x="5373300" y="1591056"/>
            <a:ext cx="137387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A2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₹74.9 cr</a:t>
            </a:r>
            <a:endParaRPr lang="en-US" sz="2000" dirty="0"/>
          </a:p>
        </p:txBody>
      </p:sp>
      <p:sp>
        <p:nvSpPr>
          <p:cNvPr id="40" name="Text 34"/>
          <p:cNvSpPr txBox="1"/>
          <p:nvPr/>
        </p:nvSpPr>
        <p:spPr>
          <a:xfrm>
            <a:off x="5373300" y="1923898"/>
            <a:ext cx="137387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9D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at 15%</a:t>
            </a:r>
            <a:endParaRPr lang="en-US" sz="800" dirty="0"/>
          </a:p>
        </p:txBody>
      </p:sp>
      <p:sp>
        <p:nvSpPr>
          <p:cNvPr id="41" name="Text 35"/>
          <p:cNvSpPr txBox="1"/>
          <p:nvPr/>
        </p:nvSpPr>
        <p:spPr>
          <a:xfrm>
            <a:off x="5373300" y="2079346"/>
            <a:ext cx="137387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₹66.1 cr</a:t>
            </a:r>
            <a:endParaRPr lang="en-US" sz="1400" dirty="0"/>
          </a:p>
        </p:txBody>
      </p:sp>
      <p:sp>
        <p:nvSpPr>
          <p:cNvPr id="42" name="Text 36"/>
          <p:cNvSpPr txBox="1"/>
          <p:nvPr/>
        </p:nvSpPr>
        <p:spPr>
          <a:xfrm>
            <a:off x="5373300" y="2412187"/>
            <a:ext cx="137387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9D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</a:t>
            </a:r>
            <a:endParaRPr lang="en-US" sz="800" dirty="0"/>
          </a:p>
        </p:txBody>
      </p:sp>
      <p:sp>
        <p:nvSpPr>
          <p:cNvPr id="43" name="Text 37"/>
          <p:cNvSpPr txBox="1"/>
          <p:nvPr/>
        </p:nvSpPr>
        <p:spPr>
          <a:xfrm>
            <a:off x="5373300" y="2567635"/>
            <a:ext cx="137387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105%</a:t>
            </a:r>
            <a:endParaRPr lang="en-US" sz="1400" dirty="0"/>
          </a:p>
        </p:txBody>
      </p:sp>
      <p:sp>
        <p:nvSpPr>
          <p:cNvPr id="44" name="Text 38"/>
          <p:cNvSpPr txBox="1"/>
          <p:nvPr/>
        </p:nvSpPr>
        <p:spPr>
          <a:xfrm>
            <a:off x="5373300" y="2900477"/>
            <a:ext cx="137387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9D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800" dirty="0"/>
          </a:p>
        </p:txBody>
      </p:sp>
      <p:sp>
        <p:nvSpPr>
          <p:cNvPr id="45" name="Text 39"/>
          <p:cNvSpPr txBox="1"/>
          <p:nvPr/>
        </p:nvSpPr>
        <p:spPr>
          <a:xfrm>
            <a:off x="5373300" y="3055925"/>
            <a:ext cx="137387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3</a:t>
            </a:r>
            <a:endParaRPr lang="en-US" sz="1400" dirty="0"/>
          </a:p>
        </p:txBody>
      </p:sp>
      <p:sp>
        <p:nvSpPr>
          <p:cNvPr id="46" name="Text 40"/>
          <p:cNvSpPr txBox="1"/>
          <p:nvPr/>
        </p:nvSpPr>
        <p:spPr>
          <a:xfrm>
            <a:off x="5373300" y="3388766"/>
            <a:ext cx="137387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9D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Discounted payback</a:t>
            </a:r>
            <a:endParaRPr lang="en-US" sz="800" dirty="0"/>
          </a:p>
        </p:txBody>
      </p:sp>
      <p:sp>
        <p:nvSpPr>
          <p:cNvPr id="47" name="Text 41"/>
          <p:cNvSpPr txBox="1"/>
          <p:nvPr/>
        </p:nvSpPr>
        <p:spPr>
          <a:xfrm>
            <a:off x="5373300" y="3544214"/>
            <a:ext cx="137387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3</a:t>
            </a:r>
            <a:endParaRPr lang="en-US" sz="1200" dirty="0"/>
          </a:p>
        </p:txBody>
      </p:sp>
      <p:sp>
        <p:nvSpPr>
          <p:cNvPr id="48" name="Text 42"/>
          <p:cNvSpPr txBox="1"/>
          <p:nvPr/>
        </p:nvSpPr>
        <p:spPr>
          <a:xfrm>
            <a:off x="5373300" y="3877056"/>
            <a:ext cx="137387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9D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Year-1 cash (+ people)</a:t>
            </a:r>
            <a:endParaRPr lang="en-US" sz="800" dirty="0"/>
          </a:p>
        </p:txBody>
      </p:sp>
      <p:sp>
        <p:nvSpPr>
          <p:cNvPr id="49" name="Text 43"/>
          <p:cNvSpPr txBox="1"/>
          <p:nvPr/>
        </p:nvSpPr>
        <p:spPr>
          <a:xfrm>
            <a:off x="5373300" y="4032504"/>
            <a:ext cx="137387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₹22.2 cr (+₹3.6 cr)</a:t>
            </a:r>
            <a:endParaRPr lang="en-US" sz="1100" dirty="0"/>
          </a:p>
        </p:txBody>
      </p:sp>
      <p:sp>
        <p:nvSpPr>
          <p:cNvPr id="50" name="Shape 44"/>
          <p:cNvSpPr/>
          <p:nvPr/>
        </p:nvSpPr>
        <p:spPr>
          <a:xfrm>
            <a:off x="6984919" y="1051560"/>
            <a:ext cx="4975433" cy="246888"/>
          </a:xfrm>
          <a:prstGeom prst="roundRect">
            <a:avLst>
              <a:gd name="adj" fmla="val 18519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7058071" y="1051560"/>
            <a:ext cx="482912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Sensitivity: NPV with each driver at −20% / +20% (base ₹75 cr)</a:t>
            </a:r>
            <a:endParaRPr lang="en-US" sz="1050" dirty="0"/>
          </a:p>
        </p:txBody>
      </p:sp>
      <p:sp>
        <p:nvSpPr>
          <p:cNvPr id="52" name="Shape 46"/>
          <p:cNvSpPr/>
          <p:nvPr/>
        </p:nvSpPr>
        <p:spPr>
          <a:xfrm>
            <a:off x="6984919" y="1325880"/>
            <a:ext cx="4975433" cy="1608430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53" name="Shape 47"/>
          <p:cNvSpPr/>
          <p:nvPr/>
        </p:nvSpPr>
        <p:spPr>
          <a:xfrm>
            <a:off x="10432755" y="1380744"/>
            <a:ext cx="0" cy="1224382"/>
          </a:xfrm>
          <a:prstGeom prst="line">
            <a:avLst/>
          </a:prstGeom>
          <a:noFill/>
          <a:ln w="12700">
            <a:solidFill>
              <a:srgbClr val="5A0A46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7058071" y="1380744"/>
            <a:ext cx="1920240" cy="244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yield (₹1.425 cr NMV / seller)</a:t>
            </a:r>
            <a:endParaRPr lang="en-US" sz="850" dirty="0"/>
          </a:p>
        </p:txBody>
      </p:sp>
      <p:sp>
        <p:nvSpPr>
          <p:cNvPr id="55" name="Shape 49"/>
          <p:cNvSpPr/>
          <p:nvPr/>
        </p:nvSpPr>
        <p:spPr>
          <a:xfrm>
            <a:off x="9344071" y="1429719"/>
            <a:ext cx="1088685" cy="146926"/>
          </a:xfrm>
          <a:prstGeom prst="rect">
            <a:avLst/>
          </a:prstGeom>
          <a:solidFill>
            <a:srgbClr val="D64545"/>
          </a:solidFill>
          <a:ln w="9525">
            <a:solidFill>
              <a:srgbClr val="D64545"/>
            </a:solidFill>
            <a:prstDash val="solid"/>
          </a:ln>
        </p:spPr>
      </p:sp>
      <p:sp>
        <p:nvSpPr>
          <p:cNvPr id="56" name="Shape 50"/>
          <p:cNvSpPr/>
          <p:nvPr/>
        </p:nvSpPr>
        <p:spPr>
          <a:xfrm>
            <a:off x="10432755" y="1429719"/>
            <a:ext cx="1088685" cy="146926"/>
          </a:xfrm>
          <a:prstGeom prst="rect">
            <a:avLst/>
          </a:prstGeom>
          <a:solidFill>
            <a:srgbClr val="2E9E5B"/>
          </a:solidFill>
          <a:ln w="9525">
            <a:solidFill>
              <a:srgbClr val="2E9E5B"/>
            </a:solidFill>
            <a:prstDash val="solid"/>
          </a:ln>
        </p:spPr>
      </p:sp>
      <p:sp>
        <p:nvSpPr>
          <p:cNvPr id="57" name="Text 51"/>
          <p:cNvSpPr txBox="1"/>
          <p:nvPr/>
        </p:nvSpPr>
        <p:spPr>
          <a:xfrm>
            <a:off x="8978311" y="1380744"/>
            <a:ext cx="347472" cy="244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800" dirty="0"/>
          </a:p>
        </p:txBody>
      </p:sp>
      <p:sp>
        <p:nvSpPr>
          <p:cNvPr id="58" name="Text 52"/>
          <p:cNvSpPr txBox="1"/>
          <p:nvPr/>
        </p:nvSpPr>
        <p:spPr>
          <a:xfrm>
            <a:off x="11548872" y="1380744"/>
            <a:ext cx="347472" cy="244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</a:t>
            </a:r>
            <a:endParaRPr lang="en-US" sz="800" dirty="0"/>
          </a:p>
        </p:txBody>
      </p:sp>
      <p:sp>
        <p:nvSpPr>
          <p:cNvPr id="59" name="Text 53"/>
          <p:cNvSpPr txBox="1"/>
          <p:nvPr/>
        </p:nvSpPr>
        <p:spPr>
          <a:xfrm>
            <a:off x="7058071" y="1625620"/>
            <a:ext cx="1920240" cy="244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orders (40% × ₹7.3)</a:t>
            </a:r>
            <a:endParaRPr lang="en-US" sz="850" dirty="0"/>
          </a:p>
        </p:txBody>
      </p:sp>
      <p:sp>
        <p:nvSpPr>
          <p:cNvPr id="60" name="Shape 54"/>
          <p:cNvSpPr/>
          <p:nvPr/>
        </p:nvSpPr>
        <p:spPr>
          <a:xfrm>
            <a:off x="9840052" y="1674596"/>
            <a:ext cx="592704" cy="146926"/>
          </a:xfrm>
          <a:prstGeom prst="rect">
            <a:avLst/>
          </a:prstGeom>
          <a:solidFill>
            <a:srgbClr val="D64545"/>
          </a:solidFill>
          <a:ln w="9525">
            <a:solidFill>
              <a:srgbClr val="D64545"/>
            </a:solidFill>
            <a:prstDash val="solid"/>
          </a:ln>
        </p:spPr>
      </p:sp>
      <p:sp>
        <p:nvSpPr>
          <p:cNvPr id="61" name="Shape 55"/>
          <p:cNvSpPr/>
          <p:nvPr/>
        </p:nvSpPr>
        <p:spPr>
          <a:xfrm>
            <a:off x="10432755" y="1674596"/>
            <a:ext cx="592704" cy="146926"/>
          </a:xfrm>
          <a:prstGeom prst="rect">
            <a:avLst/>
          </a:prstGeom>
          <a:solidFill>
            <a:srgbClr val="2E9E5B"/>
          </a:solidFill>
          <a:ln w="9525">
            <a:solidFill>
              <a:srgbClr val="2E9E5B"/>
            </a:solidFill>
            <a:prstDash val="solid"/>
          </a:ln>
        </p:spPr>
      </p:sp>
      <p:sp>
        <p:nvSpPr>
          <p:cNvPr id="62" name="Text 56"/>
          <p:cNvSpPr txBox="1"/>
          <p:nvPr/>
        </p:nvSpPr>
        <p:spPr>
          <a:xfrm>
            <a:off x="9474292" y="1625620"/>
            <a:ext cx="347472" cy="244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800" dirty="0"/>
          </a:p>
        </p:txBody>
      </p:sp>
      <p:sp>
        <p:nvSpPr>
          <p:cNvPr id="63" name="Text 57"/>
          <p:cNvSpPr txBox="1"/>
          <p:nvPr/>
        </p:nvSpPr>
        <p:spPr>
          <a:xfrm>
            <a:off x="11052891" y="1625620"/>
            <a:ext cx="347472" cy="244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800" dirty="0"/>
          </a:p>
        </p:txBody>
      </p:sp>
      <p:sp>
        <p:nvSpPr>
          <p:cNvPr id="64" name="Text 58"/>
          <p:cNvSpPr txBox="1"/>
          <p:nvPr/>
        </p:nvSpPr>
        <p:spPr>
          <a:xfrm>
            <a:off x="7058071" y="1870497"/>
            <a:ext cx="1920240" cy="244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Failed-delivery saving (15 pts × ₹60)</a:t>
            </a:r>
            <a:endParaRPr lang="en-US" sz="850" dirty="0"/>
          </a:p>
        </p:txBody>
      </p:sp>
      <p:sp>
        <p:nvSpPr>
          <p:cNvPr id="65" name="Shape 59"/>
          <p:cNvSpPr/>
          <p:nvPr/>
        </p:nvSpPr>
        <p:spPr>
          <a:xfrm>
            <a:off x="9859201" y="1919472"/>
            <a:ext cx="573554" cy="146926"/>
          </a:xfrm>
          <a:prstGeom prst="rect">
            <a:avLst/>
          </a:prstGeom>
          <a:solidFill>
            <a:srgbClr val="D64545"/>
          </a:solidFill>
          <a:ln w="9525">
            <a:solidFill>
              <a:srgbClr val="D64545"/>
            </a:solidFill>
            <a:prstDash val="solid"/>
          </a:ln>
        </p:spPr>
      </p:sp>
      <p:sp>
        <p:nvSpPr>
          <p:cNvPr id="66" name="Shape 60"/>
          <p:cNvSpPr/>
          <p:nvPr/>
        </p:nvSpPr>
        <p:spPr>
          <a:xfrm>
            <a:off x="10432755" y="1919472"/>
            <a:ext cx="573554" cy="146926"/>
          </a:xfrm>
          <a:prstGeom prst="rect">
            <a:avLst/>
          </a:prstGeom>
          <a:solidFill>
            <a:srgbClr val="2E9E5B"/>
          </a:solidFill>
          <a:ln w="9525">
            <a:solidFill>
              <a:srgbClr val="2E9E5B"/>
            </a:solidFill>
            <a:prstDash val="solid"/>
          </a:ln>
        </p:spPr>
      </p:sp>
      <p:sp>
        <p:nvSpPr>
          <p:cNvPr id="67" name="Text 61"/>
          <p:cNvSpPr txBox="1"/>
          <p:nvPr/>
        </p:nvSpPr>
        <p:spPr>
          <a:xfrm>
            <a:off x="9493441" y="1870497"/>
            <a:ext cx="347472" cy="244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800" dirty="0"/>
          </a:p>
        </p:txBody>
      </p:sp>
      <p:sp>
        <p:nvSpPr>
          <p:cNvPr id="68" name="Text 62"/>
          <p:cNvSpPr txBox="1"/>
          <p:nvPr/>
        </p:nvSpPr>
        <p:spPr>
          <a:xfrm>
            <a:off x="11033741" y="1870497"/>
            <a:ext cx="347472" cy="244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800" dirty="0"/>
          </a:p>
        </p:txBody>
      </p:sp>
      <p:sp>
        <p:nvSpPr>
          <p:cNvPr id="69" name="Text 63"/>
          <p:cNvSpPr txBox="1"/>
          <p:nvPr/>
        </p:nvSpPr>
        <p:spPr>
          <a:xfrm>
            <a:off x="7058071" y="2115373"/>
            <a:ext cx="1920240" cy="244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cost</a:t>
            </a:r>
            <a:endParaRPr lang="en-US" sz="850" dirty="0"/>
          </a:p>
        </p:txBody>
      </p:sp>
      <p:sp>
        <p:nvSpPr>
          <p:cNvPr id="70" name="Shape 64"/>
          <p:cNvSpPr/>
          <p:nvPr/>
        </p:nvSpPr>
        <p:spPr>
          <a:xfrm>
            <a:off x="9865705" y="2164348"/>
            <a:ext cx="567050" cy="146926"/>
          </a:xfrm>
          <a:prstGeom prst="rect">
            <a:avLst/>
          </a:prstGeom>
          <a:solidFill>
            <a:srgbClr val="D64545"/>
          </a:solidFill>
          <a:ln w="9525">
            <a:solidFill>
              <a:srgbClr val="D64545"/>
            </a:solidFill>
            <a:prstDash val="solid"/>
          </a:ln>
        </p:spPr>
      </p:sp>
      <p:sp>
        <p:nvSpPr>
          <p:cNvPr id="71" name="Shape 65"/>
          <p:cNvSpPr/>
          <p:nvPr/>
        </p:nvSpPr>
        <p:spPr>
          <a:xfrm>
            <a:off x="10432755" y="2164348"/>
            <a:ext cx="567050" cy="146926"/>
          </a:xfrm>
          <a:prstGeom prst="rect">
            <a:avLst/>
          </a:prstGeom>
          <a:solidFill>
            <a:srgbClr val="2E9E5B"/>
          </a:solidFill>
          <a:ln w="9525">
            <a:solidFill>
              <a:srgbClr val="2E9E5B"/>
            </a:solidFill>
            <a:prstDash val="solid"/>
          </a:ln>
        </p:spPr>
      </p:sp>
      <p:sp>
        <p:nvSpPr>
          <p:cNvPr id="72" name="Text 66"/>
          <p:cNvSpPr txBox="1"/>
          <p:nvPr/>
        </p:nvSpPr>
        <p:spPr>
          <a:xfrm>
            <a:off x="9499945" y="2115373"/>
            <a:ext cx="347472" cy="244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800" dirty="0"/>
          </a:p>
        </p:txBody>
      </p:sp>
      <p:sp>
        <p:nvSpPr>
          <p:cNvPr id="73" name="Text 67"/>
          <p:cNvSpPr txBox="1"/>
          <p:nvPr/>
        </p:nvSpPr>
        <p:spPr>
          <a:xfrm>
            <a:off x="11027238" y="2115373"/>
            <a:ext cx="347472" cy="244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800" dirty="0"/>
          </a:p>
        </p:txBody>
      </p:sp>
      <p:sp>
        <p:nvSpPr>
          <p:cNvPr id="74" name="Text 68"/>
          <p:cNvSpPr txBox="1"/>
          <p:nvPr/>
        </p:nvSpPr>
        <p:spPr>
          <a:xfrm>
            <a:off x="7058071" y="2360249"/>
            <a:ext cx="1920240" cy="244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Prepaid pre-order share (50%)</a:t>
            </a:r>
            <a:endParaRPr lang="en-US" sz="850" dirty="0"/>
          </a:p>
        </p:txBody>
      </p:sp>
      <p:sp>
        <p:nvSpPr>
          <p:cNvPr id="75" name="Shape 69"/>
          <p:cNvSpPr/>
          <p:nvPr/>
        </p:nvSpPr>
        <p:spPr>
          <a:xfrm>
            <a:off x="9983100" y="2409225"/>
            <a:ext cx="449656" cy="146926"/>
          </a:xfrm>
          <a:prstGeom prst="rect">
            <a:avLst/>
          </a:prstGeom>
          <a:solidFill>
            <a:srgbClr val="D64545"/>
          </a:solidFill>
          <a:ln w="9525">
            <a:solidFill>
              <a:srgbClr val="D64545"/>
            </a:solidFill>
            <a:prstDash val="solid"/>
          </a:ln>
        </p:spPr>
      </p:sp>
      <p:sp>
        <p:nvSpPr>
          <p:cNvPr id="76" name="Shape 70"/>
          <p:cNvSpPr/>
          <p:nvPr/>
        </p:nvSpPr>
        <p:spPr>
          <a:xfrm>
            <a:off x="10432755" y="2409225"/>
            <a:ext cx="435562" cy="146926"/>
          </a:xfrm>
          <a:prstGeom prst="rect">
            <a:avLst/>
          </a:prstGeom>
          <a:solidFill>
            <a:srgbClr val="2E9E5B"/>
          </a:solidFill>
          <a:ln w="9525">
            <a:solidFill>
              <a:srgbClr val="2E9E5B"/>
            </a:solidFill>
            <a:prstDash val="solid"/>
          </a:ln>
        </p:spPr>
      </p:sp>
      <p:sp>
        <p:nvSpPr>
          <p:cNvPr id="77" name="Text 71"/>
          <p:cNvSpPr txBox="1"/>
          <p:nvPr/>
        </p:nvSpPr>
        <p:spPr>
          <a:xfrm>
            <a:off x="9617340" y="2360249"/>
            <a:ext cx="347472" cy="244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800" dirty="0"/>
          </a:p>
        </p:txBody>
      </p:sp>
      <p:sp>
        <p:nvSpPr>
          <p:cNvPr id="78" name="Text 72"/>
          <p:cNvSpPr txBox="1"/>
          <p:nvPr/>
        </p:nvSpPr>
        <p:spPr>
          <a:xfrm>
            <a:off x="10895750" y="2360249"/>
            <a:ext cx="347472" cy="244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</a:t>
            </a:r>
            <a:endParaRPr lang="en-US" sz="800" dirty="0"/>
          </a:p>
        </p:txBody>
      </p:sp>
      <p:sp>
        <p:nvSpPr>
          <p:cNvPr id="79" name="Text 73"/>
          <p:cNvSpPr txBox="1"/>
          <p:nvPr/>
        </p:nvSpPr>
        <p:spPr>
          <a:xfrm>
            <a:off x="7058071" y="2623414"/>
            <a:ext cx="48291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 show NPV (₹ cr) when one driver moves 20% against or in favour of the plan; programme cost is plotted so that left = worse.</a:t>
            </a:r>
            <a:endParaRPr lang="en-US" sz="750" dirty="0"/>
          </a:p>
        </p:txBody>
      </p:sp>
      <p:sp>
        <p:nvSpPr>
          <p:cNvPr id="80" name="Shape 74"/>
          <p:cNvSpPr/>
          <p:nvPr/>
        </p:nvSpPr>
        <p:spPr>
          <a:xfrm>
            <a:off x="6984919" y="3025750"/>
            <a:ext cx="4975433" cy="246888"/>
          </a:xfrm>
          <a:prstGeom prst="roundRect">
            <a:avLst>
              <a:gd name="adj" fmla="val 18519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81" name="Text 75"/>
          <p:cNvSpPr txBox="1"/>
          <p:nvPr/>
        </p:nvSpPr>
        <p:spPr>
          <a:xfrm>
            <a:off x="7058071" y="3025750"/>
            <a:ext cx="482912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and scenarios</a:t>
            </a:r>
            <a:endParaRPr lang="en-US" sz="1050" dirty="0"/>
          </a:p>
        </p:txBody>
      </p:sp>
      <p:sp>
        <p:nvSpPr>
          <p:cNvPr id="82" name="Shape 76"/>
          <p:cNvSpPr/>
          <p:nvPr/>
        </p:nvSpPr>
        <p:spPr>
          <a:xfrm>
            <a:off x="6984919" y="3300070"/>
            <a:ext cx="4975433" cy="1156716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83" name="Text 77"/>
          <p:cNvSpPr txBox="1"/>
          <p:nvPr/>
        </p:nvSpPr>
        <p:spPr>
          <a:xfrm>
            <a:off x="7058071" y="3354934"/>
            <a:ext cx="482912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= 0 at 45% of planned seller yield (49% of planned benefit). </a:t>
            </a:r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positive with zero incremental orders (₹1 cr) or with no failed-delivery saving (₹9 cr): each lever alone almost repays the programme.</a:t>
            </a:r>
            <a:endParaRPr lang="en-US" sz="850" dirty="0"/>
          </a:p>
        </p:txBody>
      </p:sp>
      <p:sp>
        <p:nvSpPr>
          <p:cNvPr id="84" name="Shape 78"/>
          <p:cNvSpPr/>
          <p:nvPr/>
        </p:nvSpPr>
        <p:spPr>
          <a:xfrm>
            <a:off x="7058071" y="3793846"/>
            <a:ext cx="1548750" cy="608076"/>
          </a:xfrm>
          <a:prstGeom prst="roundRect">
            <a:avLst>
              <a:gd name="adj" fmla="val 6015"/>
            </a:avLst>
          </a:prstGeom>
          <a:solidFill>
            <a:srgbClr val="FFFFFF"/>
          </a:solidFill>
          <a:ln w="9525">
            <a:solidFill>
              <a:srgbClr val="D64545"/>
            </a:solidFill>
            <a:prstDash val="solid"/>
          </a:ln>
        </p:spPr>
      </p:sp>
      <p:sp>
        <p:nvSpPr>
          <p:cNvPr id="85" name="Text 79"/>
          <p:cNvSpPr txBox="1"/>
          <p:nvPr/>
        </p:nvSpPr>
        <p:spPr>
          <a:xfrm>
            <a:off x="7103791" y="3793846"/>
            <a:ext cx="14573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  </a:t>
            </a:r>
            <a:pPr algn="ctr" indent="0" marL="0">
              <a:buNone/>
            </a:pPr>
            <a:r>
              <a:rPr lang="en-US" sz="13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−₹10 cr</a:t>
            </a:r>
            <a:endParaRPr lang="en-US" sz="900" dirty="0"/>
          </a:p>
        </p:txBody>
      </p:sp>
      <p:sp>
        <p:nvSpPr>
          <p:cNvPr id="86" name="Text 80"/>
          <p:cNvSpPr txBox="1"/>
          <p:nvPr/>
        </p:nvSpPr>
        <p:spPr>
          <a:xfrm>
            <a:off x="7103791" y="4049878"/>
            <a:ext cx="145731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incremental · 8-pt gap · 75% yield</a:t>
            </a:r>
            <a:endParaRPr lang="en-US" sz="750" dirty="0"/>
          </a:p>
        </p:txBody>
      </p:sp>
      <p:sp>
        <p:nvSpPr>
          <p:cNvPr id="87" name="Shape 81"/>
          <p:cNvSpPr/>
          <p:nvPr/>
        </p:nvSpPr>
        <p:spPr>
          <a:xfrm>
            <a:off x="8698260" y="3793846"/>
            <a:ext cx="1548750" cy="608076"/>
          </a:xfrm>
          <a:prstGeom prst="roundRect">
            <a:avLst>
              <a:gd name="adj" fmla="val 6015"/>
            </a:avLst>
          </a:prstGeom>
          <a:solidFill>
            <a:srgbClr val="FFFFFF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88" name="Text 82"/>
          <p:cNvSpPr txBox="1"/>
          <p:nvPr/>
        </p:nvSpPr>
        <p:spPr>
          <a:xfrm>
            <a:off x="8743980" y="3793846"/>
            <a:ext cx="14573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 </a:t>
            </a:r>
            <a:pPr algn="ctr" indent="0" marL="0">
              <a:buNone/>
            </a:pPr>
            <a:r>
              <a:rPr lang="en-US" sz="13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₹75 cr</a:t>
            </a:r>
            <a:endParaRPr lang="en-US" sz="900" dirty="0"/>
          </a:p>
        </p:txBody>
      </p:sp>
      <p:sp>
        <p:nvSpPr>
          <p:cNvPr id="89" name="Text 83"/>
          <p:cNvSpPr txBox="1"/>
          <p:nvPr/>
        </p:nvSpPr>
        <p:spPr>
          <a:xfrm>
            <a:off x="8743980" y="4049878"/>
            <a:ext cx="145731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incremental · 15-pt gap · plan yield</a:t>
            </a:r>
            <a:endParaRPr lang="en-US" sz="750" dirty="0"/>
          </a:p>
        </p:txBody>
      </p:sp>
      <p:sp>
        <p:nvSpPr>
          <p:cNvPr id="90" name="Shape 84"/>
          <p:cNvSpPr/>
          <p:nvPr/>
        </p:nvSpPr>
        <p:spPr>
          <a:xfrm>
            <a:off x="10338450" y="3793846"/>
            <a:ext cx="1548750" cy="608076"/>
          </a:xfrm>
          <a:prstGeom prst="roundRect">
            <a:avLst>
              <a:gd name="adj" fmla="val 6015"/>
            </a:avLst>
          </a:prstGeom>
          <a:solidFill>
            <a:srgbClr val="FFFFFF"/>
          </a:solidFill>
          <a:ln w="9525">
            <a:solidFill>
              <a:srgbClr val="2E9E5B"/>
            </a:solidFill>
            <a:prstDash val="solid"/>
          </a:ln>
        </p:spPr>
      </p:sp>
      <p:sp>
        <p:nvSpPr>
          <p:cNvPr id="91" name="Text 85"/>
          <p:cNvSpPr txBox="1"/>
          <p:nvPr/>
        </p:nvSpPr>
        <p:spPr>
          <a:xfrm>
            <a:off x="10384170" y="3793846"/>
            <a:ext cx="14573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  </a:t>
            </a:r>
            <a:pPr algn="ctr" indent="0" marL="0">
              <a:buNone/>
            </a:pPr>
            <a:r>
              <a:rPr lang="en-US" sz="13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₹140 cr</a:t>
            </a:r>
            <a:endParaRPr lang="en-US" sz="900" dirty="0"/>
          </a:p>
        </p:txBody>
      </p:sp>
      <p:sp>
        <p:nvSpPr>
          <p:cNvPr id="92" name="Text 86"/>
          <p:cNvSpPr txBox="1"/>
          <p:nvPr/>
        </p:nvSpPr>
        <p:spPr>
          <a:xfrm>
            <a:off x="10384170" y="4049878"/>
            <a:ext cx="145731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 incremental · 20-pt gap · 110% yield</a:t>
            </a:r>
            <a:endParaRPr lang="en-US" sz="750" dirty="0"/>
          </a:p>
        </p:txBody>
      </p:sp>
      <p:sp>
        <p:nvSpPr>
          <p:cNvPr id="93" name="Shape 87"/>
          <p:cNvSpPr/>
          <p:nvPr/>
        </p:nvSpPr>
        <p:spPr>
          <a:xfrm>
            <a:off x="548640" y="4548226"/>
            <a:ext cx="6344839" cy="246888"/>
          </a:xfrm>
          <a:prstGeom prst="roundRect">
            <a:avLst>
              <a:gd name="adj" fmla="val 18519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94" name="Text 88"/>
          <p:cNvSpPr txBox="1"/>
          <p:nvPr/>
        </p:nvSpPr>
        <p:spPr>
          <a:xfrm>
            <a:off x="621792" y="4548226"/>
            <a:ext cx="61985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Meesho’s per-order economics (Q1 FY27) to a C2M order</a:t>
            </a:r>
            <a:endParaRPr lang="en-US" sz="1050" dirty="0"/>
          </a:p>
        </p:txBody>
      </p:sp>
      <p:sp>
        <p:nvSpPr>
          <p:cNvPr id="95" name="Shape 89"/>
          <p:cNvSpPr/>
          <p:nvPr/>
        </p:nvSpPr>
        <p:spPr>
          <a:xfrm>
            <a:off x="548640" y="4822546"/>
            <a:ext cx="6344839" cy="1303934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96" name="Text 90"/>
          <p:cNvSpPr txBox="1"/>
          <p:nvPr/>
        </p:nvSpPr>
        <p:spPr>
          <a:xfrm>
            <a:off x="621792" y="4877410"/>
            <a:ext cx="14764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₹263</a:t>
            </a:r>
            <a:endParaRPr lang="en-US" sz="1800" dirty="0"/>
          </a:p>
        </p:txBody>
      </p:sp>
      <p:sp>
        <p:nvSpPr>
          <p:cNvPr id="97" name="Text 91"/>
          <p:cNvSpPr txBox="1"/>
          <p:nvPr/>
        </p:nvSpPr>
        <p:spPr>
          <a:xfrm>
            <a:off x="621792" y="5261458"/>
            <a:ext cx="14764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per placed order</a:t>
            </a:r>
            <a:endParaRPr lang="en-US" sz="850" dirty="0"/>
          </a:p>
        </p:txBody>
      </p:sp>
      <p:sp>
        <p:nvSpPr>
          <p:cNvPr id="98" name="Text 92"/>
          <p:cNvSpPr txBox="1"/>
          <p:nvPr/>
        </p:nvSpPr>
        <p:spPr>
          <a:xfrm>
            <a:off x="621792" y="5480914"/>
            <a:ext cx="1458194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C2M: ₹237 (−10%) [A9]</a:t>
            </a:r>
            <a:endParaRPr lang="en-US" sz="850" dirty="0"/>
          </a:p>
        </p:txBody>
      </p:sp>
      <p:sp>
        <p:nvSpPr>
          <p:cNvPr id="99" name="Text 93"/>
          <p:cNvSpPr txBox="1"/>
          <p:nvPr/>
        </p:nvSpPr>
        <p:spPr>
          <a:xfrm>
            <a:off x="2171426" y="4877410"/>
            <a:ext cx="14764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61%</a:t>
            </a:r>
            <a:endParaRPr lang="en-US" sz="1800" dirty="0"/>
          </a:p>
        </p:txBody>
      </p:sp>
      <p:sp>
        <p:nvSpPr>
          <p:cNvPr id="100" name="Text 94"/>
          <p:cNvSpPr txBox="1"/>
          <p:nvPr/>
        </p:nvSpPr>
        <p:spPr>
          <a:xfrm>
            <a:off x="2171426" y="5261458"/>
            <a:ext cx="14764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NMV ÷ GMV</a:t>
            </a:r>
            <a:endParaRPr lang="en-US" sz="850" dirty="0"/>
          </a:p>
        </p:txBody>
      </p:sp>
      <p:sp>
        <p:nvSpPr>
          <p:cNvPr id="101" name="Text 95"/>
          <p:cNvSpPr txBox="1"/>
          <p:nvPr/>
        </p:nvSpPr>
        <p:spPr>
          <a:xfrm>
            <a:off x="2171426" y="5480914"/>
            <a:ext cx="1458194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C2M: 65.7% (+4.7 pts fewer failures)</a:t>
            </a:r>
            <a:endParaRPr lang="en-US" sz="850" dirty="0"/>
          </a:p>
        </p:txBody>
      </p:sp>
      <p:sp>
        <p:nvSpPr>
          <p:cNvPr id="102" name="Text 96"/>
          <p:cNvSpPr txBox="1"/>
          <p:nvPr/>
        </p:nvSpPr>
        <p:spPr>
          <a:xfrm>
            <a:off x="3721059" y="4877410"/>
            <a:ext cx="14764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37%</a:t>
            </a:r>
            <a:endParaRPr lang="en-US" sz="1800" dirty="0"/>
          </a:p>
        </p:txBody>
      </p:sp>
      <p:sp>
        <p:nvSpPr>
          <p:cNvPr id="103" name="Text 97"/>
          <p:cNvSpPr txBox="1"/>
          <p:nvPr/>
        </p:nvSpPr>
        <p:spPr>
          <a:xfrm>
            <a:off x="3721059" y="5261458"/>
            <a:ext cx="14764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Prepaid share of shipped orders</a:t>
            </a:r>
            <a:endParaRPr lang="en-US" sz="850" dirty="0"/>
          </a:p>
        </p:txBody>
      </p:sp>
      <p:sp>
        <p:nvSpPr>
          <p:cNvPr id="104" name="Text 98"/>
          <p:cNvSpPr txBox="1"/>
          <p:nvPr/>
        </p:nvSpPr>
        <p:spPr>
          <a:xfrm>
            <a:off x="3721059" y="5480914"/>
            <a:ext cx="1458194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C2M: 68.5% with 50% pre-orders [A10]</a:t>
            </a:r>
            <a:endParaRPr lang="en-US" sz="850" dirty="0"/>
          </a:p>
        </p:txBody>
      </p:sp>
      <p:sp>
        <p:nvSpPr>
          <p:cNvPr id="105" name="Text 99"/>
          <p:cNvSpPr txBox="1"/>
          <p:nvPr/>
        </p:nvSpPr>
        <p:spPr>
          <a:xfrm>
            <a:off x="5270693" y="4877410"/>
            <a:ext cx="14764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₹7.3</a:t>
            </a:r>
            <a:endParaRPr lang="en-US" sz="1800" dirty="0"/>
          </a:p>
        </p:txBody>
      </p:sp>
      <p:sp>
        <p:nvSpPr>
          <p:cNvPr id="106" name="Text 100"/>
          <p:cNvSpPr txBox="1"/>
          <p:nvPr/>
        </p:nvSpPr>
        <p:spPr>
          <a:xfrm>
            <a:off x="5270693" y="5261458"/>
            <a:ext cx="14764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per placed order</a:t>
            </a:r>
            <a:endParaRPr lang="en-US" sz="850" dirty="0"/>
          </a:p>
        </p:txBody>
      </p:sp>
      <p:sp>
        <p:nvSpPr>
          <p:cNvPr id="107" name="Text 101"/>
          <p:cNvSpPr txBox="1"/>
          <p:nvPr/>
        </p:nvSpPr>
        <p:spPr>
          <a:xfrm>
            <a:off x="5270693" y="5480914"/>
            <a:ext cx="1458194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per C2M order: 40% × ₹7.3 + ₹2.8 = ₹5.8</a:t>
            </a:r>
            <a:endParaRPr lang="en-US" sz="850" dirty="0"/>
          </a:p>
        </p:txBody>
      </p:sp>
      <p:sp>
        <p:nvSpPr>
          <p:cNvPr id="108" name="Shape 102"/>
          <p:cNvSpPr/>
          <p:nvPr/>
        </p:nvSpPr>
        <p:spPr>
          <a:xfrm>
            <a:off x="6984919" y="4548226"/>
            <a:ext cx="4975433" cy="246888"/>
          </a:xfrm>
          <a:prstGeom prst="roundRect">
            <a:avLst>
              <a:gd name="adj" fmla="val 18519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09" name="Text 103"/>
          <p:cNvSpPr txBox="1"/>
          <p:nvPr/>
        </p:nvSpPr>
        <p:spPr>
          <a:xfrm>
            <a:off x="7058071" y="4548226"/>
            <a:ext cx="482912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changed since Round 1, and how money is released</a:t>
            </a:r>
            <a:endParaRPr lang="en-US" sz="1050" dirty="0"/>
          </a:p>
        </p:txBody>
      </p:sp>
      <p:sp>
        <p:nvSpPr>
          <p:cNvPr id="110" name="Shape 104"/>
          <p:cNvSpPr/>
          <p:nvPr/>
        </p:nvSpPr>
        <p:spPr>
          <a:xfrm>
            <a:off x="6984919" y="4822546"/>
            <a:ext cx="4975433" cy="1303934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111" name="Text 105"/>
          <p:cNvSpPr txBox="1"/>
          <p:nvPr/>
        </p:nvSpPr>
        <p:spPr>
          <a:xfrm>
            <a:off x="7058071" y="4877410"/>
            <a:ext cx="482912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1: ₹156 cr NPV counted contribution on every C2M order. </a:t>
            </a:r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counts only the 40% that are incremental, plus fewer failed deliveries (₹75 cr); if every order were incremental: ₹186 cr.</a:t>
            </a:r>
            <a:endParaRPr lang="en-US" sz="850" dirty="0"/>
          </a:p>
        </p:txBody>
      </p:sp>
      <p:sp>
        <p:nvSpPr>
          <p:cNvPr id="112" name="Shape 106"/>
          <p:cNvSpPr/>
          <p:nvPr/>
        </p:nvSpPr>
        <p:spPr>
          <a:xfrm>
            <a:off x="7058071" y="5407762"/>
            <a:ext cx="777240" cy="181661"/>
          </a:xfrm>
          <a:prstGeom prst="roundRect">
            <a:avLst>
              <a:gd name="adj" fmla="val 25168"/>
            </a:avLst>
          </a:prstGeom>
          <a:solidFill>
            <a:srgbClr val="2E9E5B"/>
          </a:solidFill>
          <a:ln w="9525">
            <a:solidFill>
              <a:srgbClr val="2E9E5B"/>
            </a:solidFill>
            <a:prstDash val="solid"/>
          </a:ln>
        </p:spPr>
      </p:sp>
      <p:sp>
        <p:nvSpPr>
          <p:cNvPr id="113" name="Text 107"/>
          <p:cNvSpPr txBox="1"/>
          <p:nvPr/>
        </p:nvSpPr>
        <p:spPr>
          <a:xfrm>
            <a:off x="7094647" y="5407762"/>
            <a:ext cx="704088" cy="181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0–30</a:t>
            </a:r>
            <a:endParaRPr lang="en-US" sz="800" dirty="0"/>
          </a:p>
        </p:txBody>
      </p:sp>
      <p:sp>
        <p:nvSpPr>
          <p:cNvPr id="114" name="Text 108"/>
          <p:cNvSpPr txBox="1"/>
          <p:nvPr/>
        </p:nvSpPr>
        <p:spPr>
          <a:xfrm>
            <a:off x="7899319" y="5389474"/>
            <a:ext cx="3987881" cy="2273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₹0: badge test on existing data</a:t>
            </a:r>
            <a:endParaRPr lang="en-US" sz="850" dirty="0"/>
          </a:p>
        </p:txBody>
      </p:sp>
      <p:sp>
        <p:nvSpPr>
          <p:cNvPr id="115" name="Shape 109"/>
          <p:cNvSpPr/>
          <p:nvPr/>
        </p:nvSpPr>
        <p:spPr>
          <a:xfrm>
            <a:off x="7058071" y="5635142"/>
            <a:ext cx="777240" cy="181661"/>
          </a:xfrm>
          <a:prstGeom prst="roundRect">
            <a:avLst>
              <a:gd name="adj" fmla="val 25168"/>
            </a:avLst>
          </a:prstGeom>
          <a:solidFill>
            <a:srgbClr val="E39B2B"/>
          </a:solidFill>
          <a:ln w="9525">
            <a:solidFill>
              <a:srgbClr val="E39B2B"/>
            </a:solidFill>
            <a:prstDash val="solid"/>
          </a:ln>
        </p:spPr>
      </p:sp>
      <p:sp>
        <p:nvSpPr>
          <p:cNvPr id="116" name="Text 110"/>
          <p:cNvSpPr txBox="1"/>
          <p:nvPr/>
        </p:nvSpPr>
        <p:spPr>
          <a:xfrm>
            <a:off x="7094647" y="5635142"/>
            <a:ext cx="704088" cy="181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31–90</a:t>
            </a:r>
            <a:endParaRPr lang="en-US" sz="800" dirty="0"/>
          </a:p>
        </p:txBody>
      </p:sp>
      <p:sp>
        <p:nvSpPr>
          <p:cNvPr id="117" name="Text 111"/>
          <p:cNvSpPr txBox="1"/>
          <p:nvPr/>
        </p:nvSpPr>
        <p:spPr>
          <a:xfrm>
            <a:off x="7899319" y="5616854"/>
            <a:ext cx="3987881" cy="2273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₹7.3 cr: 2 clusters, Brief build, 1 node, pool seed</a:t>
            </a:r>
            <a:endParaRPr lang="en-US" sz="850" dirty="0"/>
          </a:p>
        </p:txBody>
      </p:sp>
      <p:sp>
        <p:nvSpPr>
          <p:cNvPr id="118" name="Shape 112"/>
          <p:cNvSpPr/>
          <p:nvPr/>
        </p:nvSpPr>
        <p:spPr>
          <a:xfrm>
            <a:off x="7058071" y="5862523"/>
            <a:ext cx="777240" cy="181661"/>
          </a:xfrm>
          <a:prstGeom prst="roundRect">
            <a:avLst>
              <a:gd name="adj" fmla="val 25168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19" name="Text 113"/>
          <p:cNvSpPr txBox="1"/>
          <p:nvPr/>
        </p:nvSpPr>
        <p:spPr>
          <a:xfrm>
            <a:off x="7094647" y="5862523"/>
            <a:ext cx="704088" cy="181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Q2–Q4</a:t>
            </a:r>
            <a:endParaRPr lang="en-US" sz="800" dirty="0"/>
          </a:p>
        </p:txBody>
      </p:sp>
      <p:sp>
        <p:nvSpPr>
          <p:cNvPr id="120" name="Text 114"/>
          <p:cNvSpPr txBox="1"/>
          <p:nvPr/>
        </p:nvSpPr>
        <p:spPr>
          <a:xfrm>
            <a:off x="7899319" y="5844235"/>
            <a:ext cx="3987881" cy="2273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₹14.9 cr: 3 clusters, 5 nodes, Brief run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pic>
        <p:nvPicPr>
          <p:cNvPr id="3" name="Image 0" descr="/Users/prathmeshwalimbe/Downloads/Meesho/02_round2_detailed_submission/deck/source/assets/dice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97280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97280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2071116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071116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Segments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3044952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044952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Sizing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018788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018788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Truth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992624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992624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5966460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66460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Benchmarks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6940296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940296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Sustainable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Scale-up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7914132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914132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KPIs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8887968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F7A21B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887968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9861804" y="73152"/>
            <a:ext cx="928116" cy="384048"/>
          </a:xfrm>
          <a:prstGeom prst="roundRect">
            <a:avLst>
              <a:gd name="adj" fmla="val 14286"/>
            </a:avLst>
          </a:prstGeom>
          <a:solidFill>
            <a:srgbClr val="E8434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861804" y="73152"/>
            <a:ext cx="928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Risks</a:t>
            </a:r>
            <a:endParaRPr lang="en-US" sz="850" dirty="0"/>
          </a:p>
        </p:txBody>
      </p:sp>
      <p:pic>
        <p:nvPicPr>
          <p:cNvPr id="24" name="Image 1" descr="/Users/prathmeshwalimbe/Downloads/Meesho/02_round2_detailed_submission/deck/source/assets/meesho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25" name="Image 2" descr="/Users/prathmeshwalimbe/Downloads/Meesho/02_round2_detailed_submission/deck/source/assets/iitb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gated phases take C2M from a ₹0 price test to 1,400 factories; Year 1 needs ₹22.2 cr of capped cash</a:t>
            </a:r>
            <a:endParaRPr lang="en-US" sz="1700" dirty="0"/>
          </a:p>
        </p:txBody>
      </p:sp>
      <p:sp>
        <p:nvSpPr>
          <p:cNvPr id="27" name="Shape 22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228600" y="6199632"/>
            <a:ext cx="11731752" cy="365760"/>
          </a:xfrm>
          <a:prstGeom prst="roundRect">
            <a:avLst>
              <a:gd name="adj" fmla="val 15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365760" y="619963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approve the ₹0 Day-30 test now and a capped H2 budget of ₹22.2 cr for Year 1, released only when the Day-30 and Day-90 gates pass.</a:t>
            </a:r>
            <a:endParaRPr lang="en-US" sz="1050" dirty="0"/>
          </a:p>
        </p:txBody>
      </p:sp>
      <p:sp>
        <p:nvSpPr>
          <p:cNvPr id="31" name="Text 26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S1 (H2: hard budget cap, graduation on adoption and retention), S19 (Press Note 2; E-Commerce Amendment Rules 2026 in force 1 Jan 2027), S26   |   Compliance by design: Appendix C   |   Dates assume Day 0 = Mon 2 Nov 2026</a:t>
            </a:r>
            <a:endParaRPr lang="en-US" sz="800" dirty="0"/>
          </a:p>
        </p:txBody>
      </p:sp>
      <p:sp>
        <p:nvSpPr>
          <p:cNvPr id="32" name="Text 27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548640" y="1051560"/>
            <a:ext cx="7486010" cy="246888"/>
          </a:xfrm>
          <a:prstGeom prst="roundRect">
            <a:avLst>
              <a:gd name="adj" fmla="val 18519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621792" y="1051560"/>
            <a:ext cx="733970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× workstream: a concrete action in every cell</a:t>
            </a:r>
            <a:endParaRPr lang="en-US" sz="1050" dirty="0"/>
          </a:p>
        </p:txBody>
      </p:sp>
      <p:sp>
        <p:nvSpPr>
          <p:cNvPr id="35" name="Shape 30"/>
          <p:cNvSpPr/>
          <p:nvPr/>
        </p:nvSpPr>
        <p:spPr>
          <a:xfrm>
            <a:off x="548640" y="1325880"/>
            <a:ext cx="7486010" cy="2724912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1380744"/>
          <a:ext cx="7339706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777240"/>
                <a:gridCol w="1400586"/>
                <a:gridCol w="1400586"/>
                <a:gridCol w="1400586"/>
                <a:gridCol w="1400586"/>
              </a:tblGrid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Workstream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0–30 · prove the gap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31–90 · pilot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Q2–Q4 · Wave 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Years 2–4 · scale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screen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Medians in 9 categories; badge + holdout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Weekly re-score; badge-off rule live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 in all Wave 2 categories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 is the default listing check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Shortlist C2M-ready sellers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Tiruppur + Panipat co-ops: 60 factories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Ludhiana, Rajkot, Erode: 450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clusters: 1,400 factories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Science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Brief prototype on order data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Briefs live in 5 categories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Pre-order window in all briefs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Briefs refresh weekly, all 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Valmo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Partner-warehouse quotes, Tiruppur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Factory Node (after Day 30)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nodes, returns end at nodes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nodes, one per cluster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Money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 capex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NBFC partner; 30% advances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 pool; first-loss 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Graduate to H1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Scale-up rules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 Score baseline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Grants + rulebook live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2 reviewers per 1,000 sellers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Meesho Mall path for graduates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30: lift ≥ 12%, ≥ 70% still clear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90: 3 of 4: SLA, returns at node, retention ≥ 70%, category NMV ≥ base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wave opens only if the last held its Day-90 numbers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 → H1 on adoption and retention [S1]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434F"/>
                    </a:solidFill>
                  </a:tcPr>
                </a:tc>
              </a:tr>
            </a:tbl>
          </a:graphicData>
        </a:graphic>
      </p:graphicFrame>
      <p:sp>
        <p:nvSpPr>
          <p:cNvPr id="37" name="Shape 31"/>
          <p:cNvSpPr/>
          <p:nvPr/>
        </p:nvSpPr>
        <p:spPr>
          <a:xfrm>
            <a:off x="548640" y="4142232"/>
            <a:ext cx="7486010" cy="246888"/>
          </a:xfrm>
          <a:prstGeom prst="roundRect">
            <a:avLst>
              <a:gd name="adj" fmla="val 18519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621792" y="4142232"/>
            <a:ext cx="733970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targets by phase (same denominators throughout)</a:t>
            </a:r>
            <a:endParaRPr lang="en-US" sz="1050" dirty="0"/>
          </a:p>
        </p:txBody>
      </p:sp>
      <p:sp>
        <p:nvSpPr>
          <p:cNvPr id="39" name="Shape 33"/>
          <p:cNvSpPr/>
          <p:nvPr/>
        </p:nvSpPr>
        <p:spPr>
          <a:xfrm>
            <a:off x="548640" y="4416552"/>
            <a:ext cx="7486010" cy="1709928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4471416"/>
          <a:ext cx="7339706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40566"/>
                <a:gridCol w="1240566"/>
                <a:gridCol w="1240566"/>
                <a:gridCol w="1240566"/>
              </a:tblGrid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Year-1 exit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Year-4 exit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2301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C2M sellers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Shortlist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1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Run-rate C2M NMV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₹85.5 cr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₹641 cr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₹1,995 cr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301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C2M NMV still clearing the gate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70%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70%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75%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80%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1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Prepaid share of C2M orders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37%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68.5%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68.5%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301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Factory retention at Day 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70%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75%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75%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1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Cumulative programme cash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₹7.3 cr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₹22.2 cr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₹55.9 cr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</a:tbl>
          </a:graphicData>
        </a:graphic>
      </p:graphicFrame>
      <p:sp>
        <p:nvSpPr>
          <p:cNvPr id="41" name="Shape 34"/>
          <p:cNvSpPr/>
          <p:nvPr/>
        </p:nvSpPr>
        <p:spPr>
          <a:xfrm>
            <a:off x="8126090" y="1051560"/>
            <a:ext cx="3834262" cy="246888"/>
          </a:xfrm>
          <a:prstGeom prst="roundRect">
            <a:avLst>
              <a:gd name="adj" fmla="val 18519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8199242" y="1051560"/>
            <a:ext cx="368795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risks, sorted by likelihood × impact</a:t>
            </a:r>
            <a:endParaRPr lang="en-US" sz="1050" dirty="0"/>
          </a:p>
        </p:txBody>
      </p:sp>
      <p:sp>
        <p:nvSpPr>
          <p:cNvPr id="43" name="Shape 36"/>
          <p:cNvSpPr/>
          <p:nvPr/>
        </p:nvSpPr>
        <p:spPr>
          <a:xfrm>
            <a:off x="8126090" y="1325880"/>
            <a:ext cx="3834262" cy="2521915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99242" y="1380744"/>
          <a:ext cx="3687958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28600"/>
                <a:gridCol w="228600"/>
                <a:gridCol w="1493398"/>
                <a:gridCol w="594360"/>
              </a:tblGrid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Guardrail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43854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gap was a promotion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Day-30 stop rule; badge off below 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54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 recovery pulls factories back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Batches fill idle capacity between export runs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43854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falls with price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Suspend at &gt; 1.5× return norm; QC hold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54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 or advances read as inventory control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Seller keeps title; NBFC lends; 3PL fees at arm’s length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43854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Re-rank starves resellers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9E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20% of category impressions; category NMV guardrail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" name="Shape 37"/>
          <p:cNvSpPr/>
          <p:nvPr/>
        </p:nvSpPr>
        <p:spPr>
          <a:xfrm>
            <a:off x="8126090" y="3939235"/>
            <a:ext cx="3834262" cy="246888"/>
          </a:xfrm>
          <a:prstGeom prst="roundRect">
            <a:avLst>
              <a:gd name="adj" fmla="val 18519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46" name="Text 38"/>
          <p:cNvSpPr txBox="1"/>
          <p:nvPr/>
        </p:nvSpPr>
        <p:spPr>
          <a:xfrm>
            <a:off x="8199242" y="3939235"/>
            <a:ext cx="368795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050" dirty="0"/>
          </a:p>
        </p:txBody>
      </p:sp>
      <p:sp>
        <p:nvSpPr>
          <p:cNvPr id="47" name="Shape 39"/>
          <p:cNvSpPr/>
          <p:nvPr/>
        </p:nvSpPr>
        <p:spPr>
          <a:xfrm>
            <a:off x="8126090" y="4213555"/>
            <a:ext cx="3834262" cy="1912925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8199242" y="4268419"/>
            <a:ext cx="3687958" cy="18031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 </a:t>
            </a:r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₹22.2 cr cash in Year 1 (+₹3.6 cr people), capped as an H2 bet; ₹0 until Day 30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 </a:t>
            </a:r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run the Day 0–30 badge test with a holdout; (2) name owners in Pricing, Category, Valmo, Finance; (3) sign a Tiruppur partner warehouse and an NBFC; (4) publish the price-gap badge as a ranking parameter before 1 Jan 2027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  </a:t>
            </a:r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0: 2 Nov 2026 · Day 30: 2 Dec 2026 · Day 90: 31 Jan 2027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/ no-go  </a:t>
            </a:r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badged NMV per live SKU ≥ 12% above holdout, ≥ 70% still clearing at D14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pic>
        <p:nvPicPr>
          <p:cNvPr id="3" name="Image 0" descr="/Users/prathmeshwalimbe/Downloads/Meesho/02_round2_detailed_submission/deck/source/assets/dice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023360" y="73152"/>
            <a:ext cx="4114800" cy="365760"/>
          </a:xfrm>
          <a:prstGeom prst="roundRect">
            <a:avLst>
              <a:gd name="adj" fmla="val 125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059936" y="73152"/>
            <a:ext cx="4041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 · Product walkthrough</a:t>
            </a:r>
            <a:endParaRPr lang="en-US" sz="1400" dirty="0"/>
          </a:p>
        </p:txBody>
      </p:sp>
      <p:pic>
        <p:nvPicPr>
          <p:cNvPr id="6" name="Image 1" descr="/Users/prathmeshwalimbe/Downloads/Meesho/02_round2_detailed_submission/deck/source/assets/meesho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7" name="Image 2" descr="/Users/prathmeshwalimbe/Downloads/Meesho/02_round2_detailed_submission/deck/source/assets/iitb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working prototype runs every rule in this deck end to end, on synthetic data that mirrors Meesho’s order tables</a:t>
            </a:r>
            <a:endParaRPr lang="en-US" sz="1700" dirty="0"/>
          </a:p>
        </p:txBody>
      </p:sp>
      <p:sp>
        <p:nvSpPr>
          <p:cNvPr id="9" name="Shape 4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</a:t>
            </a:r>
            <a:endParaRPr lang="en-US" sz="1100" dirty="0"/>
          </a:p>
        </p:txBody>
      </p:sp>
      <p:sp>
        <p:nvSpPr>
          <p:cNvPr id="11" name="Text 6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Prototype: React + Recharts static site; 261 synthetic sellers, 4,415 SKUs, 9 categories; fixed seed; fictional names; four model tests run before every deploy   |   Supports pages 5, 6, 8, 9</a:t>
            </a:r>
            <a:endParaRPr lang="en-US" sz="800" dirty="0"/>
          </a:p>
        </p:txBody>
      </p:sp>
      <p:sp>
        <p:nvSpPr>
          <p:cNvPr id="12" name="Text 7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548640" y="1051560"/>
            <a:ext cx="3377794" cy="2194560"/>
          </a:xfrm>
          <a:prstGeom prst="roundRect">
            <a:avLst>
              <a:gd name="adj" fmla="val 1667"/>
            </a:avLst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pic>
        <p:nvPicPr>
          <p:cNvPr id="14" name="Image 3" descr="/Users/prathmeshwalimbe/Downloads/Meesho/02_round2_detailed_submission/deck/source/assets/shot_pti_scatt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471" y="1106424"/>
            <a:ext cx="2334132" cy="16276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21792" y="2752344"/>
            <a:ext cx="32314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Price Truth Index</a:t>
            </a:r>
            <a:pPr indent="0" marL="0"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supports p5</a:t>
            </a:r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vs price gap for every seller above ₹5 cr: r = −0.18; 7 of the 10 largest fail</a:t>
            </a:r>
            <a:endParaRPr lang="en-US" sz="900" dirty="0"/>
          </a:p>
        </p:txBody>
      </p:sp>
      <p:sp>
        <p:nvSpPr>
          <p:cNvPr id="16" name="Shape 10"/>
          <p:cNvSpPr/>
          <p:nvPr/>
        </p:nvSpPr>
        <p:spPr>
          <a:xfrm>
            <a:off x="4017874" y="1051560"/>
            <a:ext cx="3377794" cy="2194560"/>
          </a:xfrm>
          <a:prstGeom prst="roundRect">
            <a:avLst>
              <a:gd name="adj" fmla="val 1667"/>
            </a:avLst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pic>
        <p:nvPicPr>
          <p:cNvPr id="17" name="Image 4" descr="/Users/prathmeshwalimbe/Downloads/Meesho/02_round2_detailed_submission/deck/source/assets/shot_day3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2872" y="1106424"/>
            <a:ext cx="2847796" cy="16276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4091026" y="2752344"/>
            <a:ext cx="32314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Day-30 readout</a:t>
            </a:r>
            <a:pPr indent="0" marL="0"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supports p9</a:t>
            </a:r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Badged vs holdout NMV per live SKU with a bootstrap interval → fund / tighten / stop</a:t>
            </a:r>
            <a:endParaRPr lang="en-US" sz="900" dirty="0"/>
          </a:p>
        </p:txBody>
      </p:sp>
      <p:sp>
        <p:nvSpPr>
          <p:cNvPr id="19" name="Shape 12"/>
          <p:cNvSpPr/>
          <p:nvPr/>
        </p:nvSpPr>
        <p:spPr>
          <a:xfrm>
            <a:off x="548640" y="3355848"/>
            <a:ext cx="3377794" cy="2194560"/>
          </a:xfrm>
          <a:prstGeom prst="roundRect">
            <a:avLst>
              <a:gd name="adj" fmla="val 1667"/>
            </a:avLst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pic>
        <p:nvPicPr>
          <p:cNvPr id="20" name="Image 5" descr="/Users/prathmeshwalimbe/Downloads/Meesho/02_round2_detailed_submission/deck/source/assets/shot_pti_ga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" y="3518719"/>
            <a:ext cx="3268066" cy="570370"/>
          </a:xfrm>
          <a:prstGeom prst="rect">
            <a:avLst/>
          </a:prstGeom>
        </p:spPr>
      </p:pic>
      <p:pic>
        <p:nvPicPr>
          <p:cNvPr id="21" name="Image 6" descr="/Users/prathmeshwalimbe/Downloads/Meesho/02_round2_detailed_submission/deck/source/assets/shot_health_stage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504" y="4325282"/>
            <a:ext cx="3268066" cy="639739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621792" y="5056632"/>
            <a:ext cx="32314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Gate controls + Seller Health stages</a:t>
            </a:r>
            <a:pPr indent="0" marL="0"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supports p5, p8</a:t>
            </a:r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sliders re-score every seller; 60 pilot sellers by stage</a:t>
            </a:r>
            <a:endParaRPr lang="en-US" sz="900" dirty="0"/>
          </a:p>
        </p:txBody>
      </p:sp>
      <p:sp>
        <p:nvSpPr>
          <p:cNvPr id="23" name="Shape 14"/>
          <p:cNvSpPr/>
          <p:nvPr/>
        </p:nvSpPr>
        <p:spPr>
          <a:xfrm>
            <a:off x="4017874" y="3355848"/>
            <a:ext cx="3377794" cy="2194560"/>
          </a:xfrm>
          <a:prstGeom prst="roundRect">
            <a:avLst>
              <a:gd name="adj" fmla="val 1667"/>
            </a:avLst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pic>
        <p:nvPicPr>
          <p:cNvPr id="24" name="Image 7" descr="/Users/prathmeshwalimbe/Downloads/Meesho/02_round2_detailed_submission/deck/source/assets/shot_health_detai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4588" y="3410712"/>
            <a:ext cx="2084365" cy="1627632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4091026" y="5056632"/>
            <a:ext cx="32314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One seller’s Health Score</a:t>
            </a:r>
            <a:pPr indent="0" marL="0"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supports p8, p9</a:t>
            </a:r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signals, the rule that fired, the next action</a:t>
            </a:r>
            <a:endParaRPr lang="en-US" sz="900" dirty="0"/>
          </a:p>
        </p:txBody>
      </p:sp>
      <p:sp>
        <p:nvSpPr>
          <p:cNvPr id="26" name="Shape 16"/>
          <p:cNvSpPr/>
          <p:nvPr/>
        </p:nvSpPr>
        <p:spPr>
          <a:xfrm>
            <a:off x="7532827" y="1051560"/>
            <a:ext cx="1414882" cy="3716583"/>
          </a:xfrm>
          <a:prstGeom prst="roundRect">
            <a:avLst>
              <a:gd name="adj" fmla="val 2585"/>
            </a:avLst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pic>
        <p:nvPicPr>
          <p:cNvPr id="27" name="Image 8" descr="/Users/prathmeshwalimbe/Downloads/Meesho/02_round2_detailed_submission/deck/source/assets/shot_phone_pric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78547" y="1097280"/>
            <a:ext cx="1323442" cy="266385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7587691" y="3945183"/>
            <a:ext cx="130515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Manufacturer app: price check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viable price vs market median, before listing</a:t>
            </a:r>
            <a:endParaRPr lang="en-US" sz="850" dirty="0"/>
          </a:p>
          <a:p>
            <a:pPr indent="0" marL="0"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p6</a:t>
            </a:r>
            <a:endParaRPr lang="en-US" sz="850" dirty="0"/>
          </a:p>
        </p:txBody>
      </p:sp>
      <p:sp>
        <p:nvSpPr>
          <p:cNvPr id="29" name="Shape 18"/>
          <p:cNvSpPr/>
          <p:nvPr/>
        </p:nvSpPr>
        <p:spPr>
          <a:xfrm>
            <a:off x="9039149" y="1051560"/>
            <a:ext cx="1414882" cy="3716583"/>
          </a:xfrm>
          <a:prstGeom prst="roundRect">
            <a:avLst>
              <a:gd name="adj" fmla="val 2585"/>
            </a:avLst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pic>
        <p:nvPicPr>
          <p:cNvPr id="30" name="Image 9" descr="/Users/prathmeshwalimbe/Downloads/Meesho/02_round2_detailed_submission/deck/source/assets/shot_phone_brief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84869" y="1097280"/>
            <a:ext cx="1323442" cy="266385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9094013" y="3945183"/>
            <a:ext cx="130515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Demand Brief + batch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demand → batch size → one-tap commit</a:t>
            </a:r>
            <a:endParaRPr lang="en-US" sz="850" dirty="0"/>
          </a:p>
          <a:p>
            <a:pPr indent="0" marL="0"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p6</a:t>
            </a:r>
            <a:endParaRPr lang="en-US" sz="850" dirty="0"/>
          </a:p>
        </p:txBody>
      </p:sp>
      <p:sp>
        <p:nvSpPr>
          <p:cNvPr id="32" name="Shape 20"/>
          <p:cNvSpPr/>
          <p:nvPr/>
        </p:nvSpPr>
        <p:spPr>
          <a:xfrm>
            <a:off x="10545470" y="1051560"/>
            <a:ext cx="1414882" cy="3716583"/>
          </a:xfrm>
          <a:prstGeom prst="roundRect">
            <a:avLst>
              <a:gd name="adj" fmla="val 2585"/>
            </a:avLst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pic>
        <p:nvPicPr>
          <p:cNvPr id="33" name="Image 10" descr="/Users/prathmeshwalimbe/Downloads/Meesho/02_round2_detailed_submission/deck/source/assets/shot_phone_whatsap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91190" y="1097280"/>
            <a:ext cx="1323442" cy="2663850"/>
          </a:xfrm>
          <a:prstGeom prst="rect">
            <a:avLst/>
          </a:prstGeom>
        </p:spPr>
      </p:pic>
      <p:sp>
        <p:nvSpPr>
          <p:cNvPr id="34" name="Text 21"/>
          <p:cNvSpPr txBox="1"/>
          <p:nvPr/>
        </p:nvSpPr>
        <p:spPr>
          <a:xfrm>
            <a:off x="10600334" y="3945183"/>
            <a:ext cx="130515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WhatsApp nudges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applied, batch confirmed, payout dates</a:t>
            </a:r>
            <a:endParaRPr lang="en-US" sz="850" dirty="0"/>
          </a:p>
          <a:p>
            <a:pPr indent="0" marL="0"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p8</a:t>
            </a:r>
            <a:endParaRPr lang="en-US" sz="850" dirty="0"/>
          </a:p>
        </p:txBody>
      </p:sp>
      <p:sp>
        <p:nvSpPr>
          <p:cNvPr id="35" name="Shape 22"/>
          <p:cNvSpPr/>
          <p:nvPr/>
        </p:nvSpPr>
        <p:spPr>
          <a:xfrm>
            <a:off x="548640" y="5577840"/>
            <a:ext cx="6847027" cy="548640"/>
          </a:xfrm>
          <a:prstGeom prst="roundRect">
            <a:avLst>
              <a:gd name="adj" fmla="val 8333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pic>
        <p:nvPicPr>
          <p:cNvPr id="36" name="Image 11" descr="/Users/prathmeshwalimbe/Downloads/Meesho/02_round2_detailed_submission/deck/source/assets/qr_liv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3504" y="5623560"/>
            <a:ext cx="457200" cy="457200"/>
          </a:xfrm>
          <a:prstGeom prst="rect">
            <a:avLst/>
          </a:prstGeom>
        </p:spPr>
      </p:pic>
      <p:sp>
        <p:nvSpPr>
          <p:cNvPr id="37" name="Text 23"/>
          <p:cNvSpPr txBox="1"/>
          <p:nvPr/>
        </p:nvSpPr>
        <p:spPr>
          <a:xfrm>
            <a:off x="1143000" y="5577840"/>
            <a:ext cx="62069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7A2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 live: 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meesho-dice-c2m-iitb.vercel.app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9D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Mirror: prathmesh-28.github.io/c2m-control-tower · Offline: one HTML file in prototype/dist-single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pic>
        <p:nvPicPr>
          <p:cNvPr id="3" name="Image 0" descr="/Users/prathmeshwalimbe/Downloads/Meesho/02_round2_detailed_submission/deck/source/assets/dice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023360" y="73152"/>
            <a:ext cx="4114800" cy="365760"/>
          </a:xfrm>
          <a:prstGeom prst="roundRect">
            <a:avLst>
              <a:gd name="adj" fmla="val 125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059936" y="73152"/>
            <a:ext cx="4041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B · Sources, method, assumptions</a:t>
            </a:r>
            <a:endParaRPr lang="en-US" sz="1400" dirty="0"/>
          </a:p>
        </p:txBody>
      </p:sp>
      <p:pic>
        <p:nvPicPr>
          <p:cNvPr id="6" name="Image 1" descr="/Users/prathmeshwalimbe/Downloads/Meesho/02_round2_detailed_submission/deck/source/assets/meesho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7" name="Image 2" descr="/Users/prathmeshwalimbe/Downloads/Meesho/02_round2_detailed_submission/deck/source/assets/iitb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figure in the deck traces to a numbered source [S#] or a registered assumption [A#] in one master model</a:t>
            </a:r>
            <a:endParaRPr lang="en-US" sz="1700" dirty="0"/>
          </a:p>
        </p:txBody>
      </p:sp>
      <p:sp>
        <p:nvSpPr>
          <p:cNvPr id="9" name="Shape 4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B</a:t>
            </a:r>
            <a:endParaRPr lang="en-US" sz="1100" dirty="0"/>
          </a:p>
        </p:txBody>
      </p:sp>
      <p:sp>
        <p:nvSpPr>
          <p:cNvPr id="11" name="Text 6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model: deck/source/model.mjs → outputs.json (every slide number is read from it) · Teardown data: deck/source/data · Survey kit: research/13   |   Supports pages 2–11</a:t>
            </a:r>
            <a:endParaRPr lang="en-US" sz="800" dirty="0"/>
          </a:p>
        </p:txBody>
      </p:sp>
      <p:sp>
        <p:nvSpPr>
          <p:cNvPr id="12" name="Text 7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548640" y="1051560"/>
            <a:ext cx="3377794" cy="246888"/>
          </a:xfrm>
          <a:prstGeom prst="roundRect">
            <a:avLst>
              <a:gd name="adj" fmla="val 18519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21792" y="1051560"/>
            <a:ext cx="323149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[S#] (publisher · title · date)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548640" y="1325880"/>
            <a:ext cx="3377794" cy="4800600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21792" y="1380744"/>
            <a:ext cx="3231490" cy="469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 Meesho: Q1 FY27 Shareholders’ Letter (quarter to 30 Jun 2026) (Aug 2026)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 Meesho: Q4 FY26 earnings call transcript (6 May 2026)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 Deccan Herald; Apparel Resources; Inc42: Meesho FY26 results coverage (May 2026)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 ICRIER: Annual Survey of MSMEs in India 2025 (n = 2,365, Fig. 16) (Mar 2025)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  Ministry of MSME: S.O. 1364(E): revised MSME limits (21 Mar 2025)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  RBI: OBICUS, Q2 FY26: capacity utilisation 74.3% (Oct 2025)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S7  Udyam portal (team pull); PIB: Udyam registrations (Jun 2026; 28 Feb 2026)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S8  The Federal; Deccan Herald: Tiruppur output, exports, tariff impact (2025–26)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S9  The Tribune: Panipat textile industry hit by weak demand, high costs (17 Aug 2026)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S10  Team teardown: meesho.com search: 279 live listings, 5 product types (2 Oct 2026)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S11  Shiprocket; Robnu: Meesho seller fee guides (return fee, RTO policy) (2026)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S12  Shiprocket: Fulfilment pricing: ₹24 per order, 500–3,000 orders a month (2026)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S13  GoKwik via Base; TrackVid: COD vs prepaid RTO benchmarks (industry estimates) (2026)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S14  Flipkart newsroom; Business Standard: 0% commission moves (Amazon, Flipkart) (Nov 2025 – 8 Jul 2026)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S15  KrASIA: Pinduoduo New Brand Initiative (end-2019 figures) (2020)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S16  Tech Buzz China: Temu Watch #6: semi-managed share of GMV (27 Dec 2024)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S17  Reuters via FashionNetwork: Shein tried to turn Brazil into a production hub (Feb 2026)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S18  Inc42: MSME-TEAM: ₹277 cr to onboard 5 lakh MSMEs onto ONDC (2024)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S19  Khaitan &amp; Co; LexOrbis: Press Note 2 (2018); E-Commerce Amendment Rules 2026 (2018; Sep 2026)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S20  Finnovate; Zappchai (DRHP-based): Meesho category mix estimates (2025)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S21  Apparel Resources: Tirupur rewires its growth playbook (owner interviews) (25 Jun 2026)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S22  Team 23B0747: Round 1 research: 24 interviews, cluster AHP, sizing funnel, category screen (Sep 2026)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S23  Xinhua: Taobao C2M: 10 bn new orders for factories in 3 years (27 Mar 2020)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S24  Alibaba Group: December Quarter 2021 Results (Taobao Deals) (23 Feb 2022)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S25  AFP via Malay Mail: Shein statement on 100–200 item first batches (24 Mar 2024)</a:t>
            </a:r>
            <a:endParaRPr lang="en-US" sz="7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S26  Bank of Baroda: E-commerce business loans for marketplace sellers (2026)</a:t>
            </a:r>
            <a:endParaRPr lang="en-US" sz="750" dirty="0"/>
          </a:p>
        </p:txBody>
      </p:sp>
      <p:sp>
        <p:nvSpPr>
          <p:cNvPr id="17" name="Shape 12"/>
          <p:cNvSpPr/>
          <p:nvPr/>
        </p:nvSpPr>
        <p:spPr>
          <a:xfrm>
            <a:off x="4017874" y="1051560"/>
            <a:ext cx="7942478" cy="246888"/>
          </a:xfrm>
          <a:prstGeom prst="roundRect">
            <a:avLst>
              <a:gd name="adj" fmla="val 18519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4091026" y="1051560"/>
            <a:ext cx="779617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 register [A#] (value · source · confidence H/M/L)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017874" y="1325880"/>
            <a:ext cx="7942478" cy="3130906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91026" y="1380744"/>
          <a:ext cx="3861511" cy="914400"/>
        </p:xfrm>
        <a:graphic>
          <a:graphicData uri="http://schemas.openxmlformats.org/drawingml/2006/table">
            <a:tbl>
              <a:tblPr/>
              <a:tblGrid>
                <a:gridCol w="292608"/>
                <a:gridCol w="1755648"/>
                <a:gridCol w="1143000"/>
                <a:gridCol w="566928"/>
                <a:gridCol w="103327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Assumption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1762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Mature NMV per C2M seller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₹1.425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62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Year-4 capture of SAM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762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active sellers, Y1–Y5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→ 1,450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plan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62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NMV per seller, Y1–Y5 (₹ cr)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 → 1.425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plan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762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target factory turnover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₹25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62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Meesho NMV in C2M categories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762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gap passed to buyers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8%–12%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62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Incremental share of C2M orders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762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C2M GMV per order vs average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62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Prepaid pre-order share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survey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762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Failed-delivery gap, COD vs prepaid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pts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62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Meesho cost per failed delivery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S11, S13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762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Loaded cost per FTE-year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₹0.3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62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Programme FTE, Y1–Y5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→ 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plan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762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Clusters (year-end); onboarding cost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→ 12; ₹1 cr each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62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Brief cost, Y1–Y5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 cr, then ₹3 cr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25689" y="1380744"/>
          <a:ext cx="3861511" cy="914400"/>
        </p:xfrm>
        <a:graphic>
          <a:graphicData uri="http://schemas.openxmlformats.org/drawingml/2006/table">
            <a:tbl>
              <a:tblPr/>
              <a:tblGrid>
                <a:gridCol w="292608"/>
                <a:gridCol w="1755648"/>
                <a:gridCol w="1143000"/>
                <a:gridCol w="566928"/>
                <a:gridCol w="103327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Assumption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1762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Nodes (year-end); set-up; life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→ 12; ₹1.3 cr; 5 yrs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62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 firewall pool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 cr; then 0.1% of NMV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762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Grant valuation; impressions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₹75 CPM; 50,000 impr.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62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NBFC advance; Meesho first-loss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30%; 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762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Discount rate; stress rate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12%; 15%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62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Making cost, briefs 3-pack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interviews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762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margin on price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62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Wholesaler mark-up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762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Hosiery: failed deliveries; returns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RTO 14%; returns 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62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fee to seller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762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Failed-delivery fee to seller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62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Logistics fees, self / node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₹55/42 fwd; ₹10/20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S11, S12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762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recovered, self / node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85% / 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62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cost; inventory days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18%; 45 vs 10 days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E39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1762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Unsold share; salvage value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 vs 2%; salvage 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625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Pre-order discount (7–8 days)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survey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</a:tbl>
          </a:graphicData>
        </a:graphic>
      </p:graphicFrame>
      <p:sp>
        <p:nvSpPr>
          <p:cNvPr id="22" name="Shape 15"/>
          <p:cNvSpPr/>
          <p:nvPr/>
        </p:nvSpPr>
        <p:spPr>
          <a:xfrm>
            <a:off x="4017874" y="4548226"/>
            <a:ext cx="3902659" cy="246888"/>
          </a:xfrm>
          <a:prstGeom prst="roundRect">
            <a:avLst>
              <a:gd name="adj" fmla="val 18519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4091026" y="4548226"/>
            <a:ext cx="375635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and sample</a:t>
            </a:r>
            <a:endParaRPr lang="en-US" sz="1050" dirty="0"/>
          </a:p>
        </p:txBody>
      </p:sp>
      <p:sp>
        <p:nvSpPr>
          <p:cNvPr id="24" name="Shape 17"/>
          <p:cNvSpPr/>
          <p:nvPr/>
        </p:nvSpPr>
        <p:spPr>
          <a:xfrm>
            <a:off x="4017874" y="4822546"/>
            <a:ext cx="3902659" cy="1303934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4091026" y="4877410"/>
            <a:ext cx="3756355" cy="1194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Teardown [S10]: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meesho.com search, 2 Oct 2026; first 56 listings per query; 279 listings, 5 product types; demand weight = review count; plastics query returned none and was dropped.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Interviews [S22]: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owners (8 per cohort, Round 1) + 3 published owner interviews [S21].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survey: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[FILL: n, dates, quotas achieved vs target (≥ 150; ≥ 30 per tier); stated intent counted at 50%]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sellers × 28 days, SE ≈ 1.6 pts, MDE ≈ 4.5% at 80% power.</a:t>
            </a:r>
            <a:endParaRPr lang="en-US" sz="750" dirty="0"/>
          </a:p>
        </p:txBody>
      </p:sp>
      <p:sp>
        <p:nvSpPr>
          <p:cNvPr id="26" name="Shape 19"/>
          <p:cNvSpPr/>
          <p:nvPr/>
        </p:nvSpPr>
        <p:spPr>
          <a:xfrm>
            <a:off x="8011973" y="4548226"/>
            <a:ext cx="3948379" cy="246888"/>
          </a:xfrm>
          <a:prstGeom prst="roundRect">
            <a:avLst>
              <a:gd name="adj" fmla="val 18519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8085125" y="4548226"/>
            <a:ext cx="380207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Workings index (formula → page)</a:t>
            </a:r>
            <a:endParaRPr lang="en-US" sz="1050" dirty="0"/>
          </a:p>
        </p:txBody>
      </p:sp>
      <p:sp>
        <p:nvSpPr>
          <p:cNvPr id="28" name="Shape 21"/>
          <p:cNvSpPr/>
          <p:nvPr/>
        </p:nvSpPr>
        <p:spPr>
          <a:xfrm>
            <a:off x="8011973" y="4822546"/>
            <a:ext cx="3948379" cy="1303934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8085125" y="4877410"/>
            <a:ext cx="3802075" cy="1194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NMV = sellers × ₹1.425 cr; savings = NMV × g ÷ (1 − g) → p4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cost: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(make + unsold − resold + logistics + returns + capital) ÷ kept → p6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× (incremental × ₹7.3 + Δfailed × ₹60) → p10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Δfailed: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pre-order share × (1 − 37%) × 15 pts = 4.7 pts → p10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AHP: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geometric means, CR = (λ − 5) ÷ 4 ÷ 1.12 → p3, Appendix C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RICE: 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× impact × confidence ÷ effort → p7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pic>
        <p:nvPicPr>
          <p:cNvPr id="3" name="Image 0" descr="/Users/prathmeshwalimbe/Downloads/Meesho/02_round2_detailed_submission/deck/source/assets/dice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023360" y="73152"/>
            <a:ext cx="4114800" cy="365760"/>
          </a:xfrm>
          <a:prstGeom prst="roundRect">
            <a:avLst>
              <a:gd name="adj" fmla="val 125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059936" y="73152"/>
            <a:ext cx="4041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C · Benchmarks, compliance, model detail</a:t>
            </a:r>
            <a:endParaRPr lang="en-US" sz="1400" dirty="0"/>
          </a:p>
        </p:txBody>
      </p:sp>
      <p:pic>
        <p:nvPicPr>
          <p:cNvPr id="6" name="Image 1" descr="/Users/prathmeshwalimbe/Downloads/Meesho/02_round2_detailed_submission/deck/source/assets/meesho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7" name="Image 2" descr="/Users/prathmeshwalimbe/Downloads/Meesho/02_round2_detailed_submission/deck/source/assets/iitb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17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benchmarks, compliance by design and the decision-model workings behind pages 3, 6 and 7</a:t>
            </a:r>
            <a:endParaRPr lang="en-US" sz="1700" dirty="0"/>
          </a:p>
        </p:txBody>
      </p:sp>
      <p:sp>
        <p:nvSpPr>
          <p:cNvPr id="9" name="Shape 4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C</a:t>
            </a:r>
            <a:endParaRPr lang="en-US" sz="1100" dirty="0"/>
          </a:p>
        </p:txBody>
      </p:sp>
      <p:sp>
        <p:nvSpPr>
          <p:cNvPr id="11" name="Text 6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S15–S19, S22–S25   |   Compliance rows are design responses, not legal advice: Meesho legal confirms each before the pilot   |   Supports pages 3, 6, 7, 11</a:t>
            </a:r>
            <a:endParaRPr lang="en-US" sz="800" dirty="0"/>
          </a:p>
        </p:txBody>
      </p:sp>
      <p:sp>
        <p:nvSpPr>
          <p:cNvPr id="12" name="Text 7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548640" y="1051560"/>
            <a:ext cx="6573073" cy="246888"/>
          </a:xfrm>
          <a:prstGeom prst="roundRect">
            <a:avLst>
              <a:gd name="adj" fmla="val 18519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21792" y="1051560"/>
            <a:ext cx="642676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detail: KPI × company (dated, sourced)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548640" y="1325880"/>
            <a:ext cx="6573073" cy="2318918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1380744"/>
          <a:ext cx="6426769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020178"/>
                <a:gridCol w="1020178"/>
                <a:gridCol w="1020178"/>
                <a:gridCol w="1020178"/>
                <a:gridCol w="1020178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Pinduoduo NBI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Taobao C2M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Temu semi-managed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Shein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Shein Brazil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of data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End-2019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2020; Dec 2021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 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 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 2023 – Feb 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Factories / merchants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900+ in C2M production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 “super factories” targeted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+80,000 planned for 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 (not disclosed)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336 signed of 2,000; 1 producing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data to factories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anonymised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consumer insight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 platform prices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real-time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holds stock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Merchant, local warehouse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Shein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runs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C2M runs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100–200 item first runs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runs, fast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lever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scale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 + insight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Platform-set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batches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~30% price-cut asks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Meesho uses it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Brief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NBFC prepayment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Seller-owned node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Pre-order batches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 ask for cuts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Shape 11"/>
          <p:cNvSpPr/>
          <p:nvPr/>
        </p:nvSpPr>
        <p:spPr>
          <a:xfrm>
            <a:off x="7213153" y="1051560"/>
            <a:ext cx="4747199" cy="246888"/>
          </a:xfrm>
          <a:prstGeom prst="roundRect">
            <a:avLst>
              <a:gd name="adj" fmla="val 18519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7286305" y="1051560"/>
            <a:ext cx="460089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by design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7213153" y="1325880"/>
            <a:ext cx="4747199" cy="2318918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86305" y="1380744"/>
          <a:ext cx="4600895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417320"/>
                <a:gridCol w="1949135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design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3346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 Note 2 (2018)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Marketplace may not own or control seller inventory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Seller keeps title at the node; Valmo sells warehousing at arm’s length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46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 Note 2 (2018)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Fair, non-discriminatory services; no exclusivity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Badge and grants are published rules any seller can meet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3346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E-Commerce Rules, 2026 amendment (from 1 Jan 2027)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Ranking parameters by importance; sponsored labelled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Publish the price-gap badge as a ranking parameter; grants are organic, never sold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46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Dark-pattern guidelines (2023)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false urgency or hidden terms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“Ships in 7–8 days, ₹10 off” shown before payment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3346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DPDP Act (2023)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Protect personal data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Briefs use district aggregates only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46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 at a third-party site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 registered as the seller’s additional place of business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</a:tbl>
          </a:graphicData>
        </a:graphic>
      </p:graphicFrame>
      <p:sp>
        <p:nvSpPr>
          <p:cNvPr id="21" name="Shape 14"/>
          <p:cNvSpPr/>
          <p:nvPr/>
        </p:nvSpPr>
        <p:spPr>
          <a:xfrm>
            <a:off x="548640" y="3736238"/>
            <a:ext cx="3834262" cy="246888"/>
          </a:xfrm>
          <a:prstGeom prst="roundRect">
            <a:avLst>
              <a:gd name="adj" fmla="val 18519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621792" y="3736238"/>
            <a:ext cx="368795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AHP: pairwise matrix (CR 0.016)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548640" y="4010558"/>
            <a:ext cx="3834262" cy="2115922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4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4065422"/>
          <a:ext cx="3687958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74320"/>
                <a:gridCol w="274320"/>
                <a:gridCol w="274320"/>
                <a:gridCol w="274320"/>
                <a:gridCol w="274320"/>
                <a:gridCol w="548640"/>
                <a:gridCol w="487558"/>
              </a:tblGrid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Geo. mean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· Cost ownership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· Demand on Meesho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 · Returns band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· Node feasibility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A0A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· Institutional partner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843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Text 17"/>
          <p:cNvSpPr txBox="1"/>
          <p:nvPr/>
        </p:nvSpPr>
        <p:spPr>
          <a:xfrm>
            <a:off x="621792" y="5504688"/>
            <a:ext cx="36879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λmax = 5.072; CI = (λmax − 5) ÷ 4; CR = CI ÷ 1.12 = 0.016 &lt; 0.10. Weights reproduce Round 1’s cluster scores (Tiruppur 4.68, Panipat 4.52).</a:t>
            </a:r>
            <a:endParaRPr lang="en-US" sz="800" dirty="0"/>
          </a:p>
        </p:txBody>
      </p:sp>
      <p:sp>
        <p:nvSpPr>
          <p:cNvPr id="26" name="Shape 18"/>
          <p:cNvSpPr/>
          <p:nvPr/>
        </p:nvSpPr>
        <p:spPr>
          <a:xfrm>
            <a:off x="4474342" y="3736238"/>
            <a:ext cx="3674425" cy="246888"/>
          </a:xfrm>
          <a:prstGeom prst="roundRect">
            <a:avLst>
              <a:gd name="adj" fmla="val 18519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4547494" y="3736238"/>
            <a:ext cx="352812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rubric (what earns a 5)</a:t>
            </a:r>
            <a:endParaRPr lang="en-US" sz="1050" dirty="0"/>
          </a:p>
        </p:txBody>
      </p:sp>
      <p:sp>
        <p:nvSpPr>
          <p:cNvPr id="28" name="Shape 20"/>
          <p:cNvSpPr/>
          <p:nvPr/>
        </p:nvSpPr>
        <p:spPr>
          <a:xfrm>
            <a:off x="4474342" y="4010558"/>
            <a:ext cx="3674425" cy="2115922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graphicFrame>
        <p:nvGraphicFramePr>
          <p:cNvPr id="5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47494" y="4065422"/>
          <a:ext cx="3528121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457200"/>
                <a:gridCol w="1234440"/>
                <a:gridCol w="784921"/>
              </a:tblGrid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=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=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A46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edge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Sells ex-factory B2B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Trader, no cost levers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Pool size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50% of SAM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5% of SAM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Fixable barriers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HIGH barriers fixable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fixable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 to first order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KYC + catalogue on Meesho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online catalogue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AF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supply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to Meesho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 on Meesho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2004" marR="32004" marT="32004" marB="32004" anchor="ctr">
                    <a:lnL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2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Text 21"/>
          <p:cNvSpPr txBox="1"/>
          <p:nvPr/>
        </p:nvSpPr>
        <p:spPr>
          <a:xfrm>
            <a:off x="4547494" y="5760720"/>
            <a:ext cx="352812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set by the team for this decision only; equal weights give the same order (A, C, B).</a:t>
            </a:r>
            <a:endParaRPr lang="en-US" sz="800" dirty="0"/>
          </a:p>
        </p:txBody>
      </p:sp>
      <p:sp>
        <p:nvSpPr>
          <p:cNvPr id="31" name="Shape 22"/>
          <p:cNvSpPr/>
          <p:nvPr/>
        </p:nvSpPr>
        <p:spPr>
          <a:xfrm>
            <a:off x="8240207" y="3736238"/>
            <a:ext cx="3720145" cy="246888"/>
          </a:xfrm>
          <a:prstGeom prst="roundRect">
            <a:avLst>
              <a:gd name="adj" fmla="val 18519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32" name="Text 23"/>
          <p:cNvSpPr txBox="1"/>
          <p:nvPr/>
        </p:nvSpPr>
        <p:spPr>
          <a:xfrm>
            <a:off x="8313359" y="3736238"/>
            <a:ext cx="357384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Unit-economics workings (per 100 shipped)</a:t>
            </a:r>
            <a:endParaRPr lang="en-US" sz="1050" dirty="0"/>
          </a:p>
        </p:txBody>
      </p:sp>
      <p:sp>
        <p:nvSpPr>
          <p:cNvPr id="33" name="Shape 24"/>
          <p:cNvSpPr/>
          <p:nvPr/>
        </p:nvSpPr>
        <p:spPr>
          <a:xfrm>
            <a:off x="8240207" y="4010558"/>
            <a:ext cx="3720145" cy="2115922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8313359" y="4065422"/>
            <a:ext cx="3573841" cy="2006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units </a:t>
            </a:r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100 × (1 − RTO) × (1 − returns) = 79.1 (prepaid: 87.8)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Unsold </a:t>
            </a:r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extra units made × cost × (1 − 50% salvage); 10% build-to-stock vs 2% batch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 </a:t>
            </a:r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delivered × forward fee + shipped × packing (₹10) or node fee (₹20)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</a:t>
            </a:r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make cost × 18% × days ÷ 365 (45 vs 10 days)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</a:t>
            </a:r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cost per kept ÷ (1 − 9%) → proposed ₹164.0 ÷ 0.91 = ₹180.2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 checks </a:t>
            </a:r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₹74.9 cr = Σ PV row (page 10) ✓ · Year-4 NMV ₹1,853 cr (average 1,300 sellers) vs ₹1,995 cr exit run-rate (1,400) ✓ · benefit = orders × (40% × ₹7.3 + ₹2.8) ✓ · RICE order = dependency order ✓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Factory Direct: building Meesho’s C2M base</dc:title>
  <dc:subject>PptxGenJS Presentation</dc:subject>
  <dc:creator>Team 23B0747, IIT Bombay</dc:creator>
  <cp:lastModifiedBy>Team 23B0747, IIT Bombay</cp:lastModifiedBy>
  <cp:revision>1</cp:revision>
  <dcterms:created xsi:type="dcterms:W3CDTF">2026-10-02T07:24:54Z</dcterms:created>
  <dcterms:modified xsi:type="dcterms:W3CDTF">2026-10-02T07:24:54Z</dcterms:modified>
</cp:coreProperties>
</file>