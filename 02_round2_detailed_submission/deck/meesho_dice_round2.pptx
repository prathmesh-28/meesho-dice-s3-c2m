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639" r:id="rId3"/>
    <p:sldId id="657" r:id="rId4"/>
    <p:sldId id="674" r:id="rId5"/>
    <p:sldId id="688" r:id="rId6"/>
    <p:sldId id="395" r:id="rId7"/>
    <p:sldId id="694" r:id="rId8"/>
    <p:sldId id="459" r:id="rId9"/>
    <p:sldId id="699" r:id="rId10"/>
    <p:sldId id="521" r:id="rId11"/>
    <p:sldId id="557" r:id="rId12"/>
    <p:sldId id="719" r:id="rId13"/>
    <p:sldId id="592" r:id="rId14"/>
    <p:sldId id="603" r:id="rId15"/>
    <p:sldId id="70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52"/>
    <p:restoredTop sz="94610"/>
  </p:normalViewPr>
  <p:slideViewPr>
    <p:cSldViewPr snapToGrid="0" snapToObjects="1">
      <p:cViewPr>
        <p:scale>
          <a:sx n="129" d="100"/>
          <a:sy n="129" d="100"/>
        </p:scale>
        <p:origin x="1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Benefit</c:v>
                </c:pt>
              </c:strCache>
            </c:strRef>
          </c:tx>
          <c:spPr>
            <a:ln w="25400" cap="flat">
              <a:solidFill>
                <a:srgbClr val="2E9E5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9E5B"/>
              </a:solidFill>
              <a:ln w="9525" cap="flat">
                <a:solidFill>
                  <a:srgbClr val="2E9E5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26</c:v>
                </c:pt>
                <c:pt idx="2">
                  <c:v>46.8</c:v>
                </c:pt>
                <c:pt idx="3">
                  <c:v>68.7</c:v>
                </c:pt>
                <c:pt idx="4">
                  <c:v>76.7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BB-614C-9134-8E39B4371C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 cap="flat">
              <a:solidFill>
                <a:srgbClr val="D6454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25.8</c:v>
                </c:pt>
                <c:pt idx="1">
                  <c:v>16.5</c:v>
                </c:pt>
                <c:pt idx="2">
                  <c:v>18</c:v>
                </c:pt>
                <c:pt idx="3">
                  <c:v>20.100000000000001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BB-614C-9134-8E39B4371C8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56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Governing thought: screen on price, not size; make only what is sold; 1,400 factories by Year 4; ₹1,995 cr </a:t>
            </a:r>
            <a:r>
              <a:rPr lang="en-US"/>
              <a:t>NMV 8-12</a:t>
            </a:r>
            <a:r>
              <a:rPr lang="en-US" dirty="0"/>
              <a:t>% below market; NPV from model.mjs.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Stakeholders’ voice uses published interviews. </a:t>
            </a:r>
            <a:r>
              <a:rPr lang="en-US"/>
              <a:t>Add 1-2 </a:t>
            </a:r>
            <a:r>
              <a:rPr lang="en-US" dirty="0"/>
              <a:t>rows from the team’s own Round 1 interviews (data/primary_research.json → interviews[]) when the notes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Product walkthrough. Eight screens of the manufacturer app (Price check, Demand Brief, Batch, WhatsApp), two per tab, captured from the live prototype; coral markers match the numbered lines. Bottom row: the journey KPI that judges each step in the pilot, a one-minute live demo (making cost ₹105: Ship myself misses the 8% badge, the Factory Node clears it), and the live link. Screen values come from the prototype’s seeded synthetic data (Kavin Knit Mills, ₹98 making cost); the costed case in Unit Economics uses ₹80 and the ₹209 demand-weighted median.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18" Type="http://schemas.openxmlformats.org/officeDocument/2006/relationships/image" Target="../media/image18.svg"/><Relationship Id="rId3" Type="http://schemas.openxmlformats.org/officeDocument/2006/relationships/image" Target="../media/image5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svg"/><Relationship Id="rId5" Type="http://schemas.openxmlformats.org/officeDocument/2006/relationships/image" Target="../media/image2.pn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4" Type="http://schemas.openxmlformats.org/officeDocument/2006/relationships/image" Target="../media/image1.png"/><Relationship Id="rId9" Type="http://schemas.openxmlformats.org/officeDocument/2006/relationships/image" Target="../media/image9.svg"/><Relationship Id="rId14" Type="http://schemas.openxmlformats.org/officeDocument/2006/relationships/image" Target="../media/image14.svg"/><Relationship Id="rId22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18" Type="http://schemas.openxmlformats.org/officeDocument/2006/relationships/image" Target="../media/image36.svg"/><Relationship Id="rId26" Type="http://schemas.openxmlformats.org/officeDocument/2006/relationships/image" Target="../media/image44.svg"/><Relationship Id="rId3" Type="http://schemas.openxmlformats.org/officeDocument/2006/relationships/image" Target="../media/image5.png"/><Relationship Id="rId21" Type="http://schemas.openxmlformats.org/officeDocument/2006/relationships/image" Target="../media/image39.sv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17" Type="http://schemas.openxmlformats.org/officeDocument/2006/relationships/image" Target="../media/image35.svg"/><Relationship Id="rId25" Type="http://schemas.openxmlformats.org/officeDocument/2006/relationships/image" Target="../media/image4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29" Type="http://schemas.openxmlformats.org/officeDocument/2006/relationships/image" Target="../media/image4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9.svg"/><Relationship Id="rId24" Type="http://schemas.openxmlformats.org/officeDocument/2006/relationships/image" Target="../media/image42.svg"/><Relationship Id="rId5" Type="http://schemas.openxmlformats.org/officeDocument/2006/relationships/image" Target="../media/image2.png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28" Type="http://schemas.openxmlformats.org/officeDocument/2006/relationships/image" Target="../media/image46.svg"/><Relationship Id="rId10" Type="http://schemas.openxmlformats.org/officeDocument/2006/relationships/image" Target="../media/image28.svg"/><Relationship Id="rId19" Type="http://schemas.openxmlformats.org/officeDocument/2006/relationships/image" Target="../media/image37.svg"/><Relationship Id="rId4" Type="http://schemas.openxmlformats.org/officeDocument/2006/relationships/image" Target="../media/image1.png"/><Relationship Id="rId9" Type="http://schemas.openxmlformats.org/officeDocument/2006/relationships/image" Target="../media/image27.png"/><Relationship Id="rId14" Type="http://schemas.openxmlformats.org/officeDocument/2006/relationships/image" Target="../media/image32.svg"/><Relationship Id="rId22" Type="http://schemas.openxmlformats.org/officeDocument/2006/relationships/image" Target="../media/image40.svg"/><Relationship Id="rId27" Type="http://schemas.openxmlformats.org/officeDocument/2006/relationships/image" Target="../media/image45.svg"/><Relationship Id="rId30" Type="http://schemas.openxmlformats.org/officeDocument/2006/relationships/image" Target="../media/image4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4.svg"/><Relationship Id="rId18" Type="http://schemas.openxmlformats.org/officeDocument/2006/relationships/image" Target="../media/image56.svg"/><Relationship Id="rId26" Type="http://schemas.openxmlformats.org/officeDocument/2006/relationships/image" Target="../media/image64.svg"/><Relationship Id="rId3" Type="http://schemas.openxmlformats.org/officeDocument/2006/relationships/image" Target="../media/image5.png"/><Relationship Id="rId21" Type="http://schemas.openxmlformats.org/officeDocument/2006/relationships/image" Target="../media/image59.svg"/><Relationship Id="rId7" Type="http://schemas.openxmlformats.org/officeDocument/2006/relationships/image" Target="../media/image6.png"/><Relationship Id="rId12" Type="http://schemas.openxmlformats.org/officeDocument/2006/relationships/image" Target="../media/image51.svg"/><Relationship Id="rId17" Type="http://schemas.openxmlformats.org/officeDocument/2006/relationships/image" Target="../media/image55.svg"/><Relationship Id="rId25" Type="http://schemas.openxmlformats.org/officeDocument/2006/relationships/image" Target="../media/image63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4.svg"/><Relationship Id="rId20" Type="http://schemas.openxmlformats.org/officeDocument/2006/relationships/image" Target="../media/image58.svg"/><Relationship Id="rId29" Type="http://schemas.openxmlformats.org/officeDocument/2006/relationships/image" Target="../media/image6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0.png"/><Relationship Id="rId24" Type="http://schemas.openxmlformats.org/officeDocument/2006/relationships/image" Target="../media/image62.svg"/><Relationship Id="rId5" Type="http://schemas.openxmlformats.org/officeDocument/2006/relationships/image" Target="../media/image2.png"/><Relationship Id="rId15" Type="http://schemas.openxmlformats.org/officeDocument/2006/relationships/image" Target="../media/image53.svg"/><Relationship Id="rId23" Type="http://schemas.openxmlformats.org/officeDocument/2006/relationships/image" Target="../media/image61.svg"/><Relationship Id="rId28" Type="http://schemas.openxmlformats.org/officeDocument/2006/relationships/image" Target="../media/image66.svg"/><Relationship Id="rId10" Type="http://schemas.openxmlformats.org/officeDocument/2006/relationships/image" Target="../media/image25.png"/><Relationship Id="rId19" Type="http://schemas.openxmlformats.org/officeDocument/2006/relationships/image" Target="../media/image57.svg"/><Relationship Id="rId4" Type="http://schemas.openxmlformats.org/officeDocument/2006/relationships/image" Target="../media/image1.png"/><Relationship Id="rId9" Type="http://schemas.openxmlformats.org/officeDocument/2006/relationships/image" Target="../media/image27.png"/><Relationship Id="rId14" Type="http://schemas.openxmlformats.org/officeDocument/2006/relationships/image" Target="../media/image52.svg"/><Relationship Id="rId22" Type="http://schemas.openxmlformats.org/officeDocument/2006/relationships/image" Target="../media/image60.svg"/><Relationship Id="rId27" Type="http://schemas.openxmlformats.org/officeDocument/2006/relationships/image" Target="../media/image6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32.svg"/><Relationship Id="rId18" Type="http://schemas.openxmlformats.org/officeDocument/2006/relationships/image" Target="../media/image76.svg"/><Relationship Id="rId26" Type="http://schemas.openxmlformats.org/officeDocument/2006/relationships/image" Target="../media/image82.svg"/><Relationship Id="rId3" Type="http://schemas.openxmlformats.org/officeDocument/2006/relationships/image" Target="../media/image5.png"/><Relationship Id="rId21" Type="http://schemas.openxmlformats.org/officeDocument/2006/relationships/image" Target="../media/image54.svg"/><Relationship Id="rId7" Type="http://schemas.openxmlformats.org/officeDocument/2006/relationships/image" Target="../media/image7.png"/><Relationship Id="rId12" Type="http://schemas.openxmlformats.org/officeDocument/2006/relationships/image" Target="../media/image72.svg"/><Relationship Id="rId17" Type="http://schemas.openxmlformats.org/officeDocument/2006/relationships/image" Target="../media/image9.svg"/><Relationship Id="rId25" Type="http://schemas.openxmlformats.org/officeDocument/2006/relationships/image" Target="../media/image81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5.svg"/><Relationship Id="rId20" Type="http://schemas.openxmlformats.org/officeDocument/2006/relationships/image" Target="../media/image53.svg"/><Relationship Id="rId29" Type="http://schemas.openxmlformats.org/officeDocument/2006/relationships/image" Target="../media/image8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1.png"/><Relationship Id="rId24" Type="http://schemas.openxmlformats.org/officeDocument/2006/relationships/image" Target="../media/image80.svg"/><Relationship Id="rId5" Type="http://schemas.openxmlformats.org/officeDocument/2006/relationships/image" Target="../media/image2.png"/><Relationship Id="rId15" Type="http://schemas.openxmlformats.org/officeDocument/2006/relationships/image" Target="../media/image74.svg"/><Relationship Id="rId23" Type="http://schemas.openxmlformats.org/officeDocument/2006/relationships/image" Target="../media/image79.svg"/><Relationship Id="rId28" Type="http://schemas.openxmlformats.org/officeDocument/2006/relationships/image" Target="../media/image84.svg"/><Relationship Id="rId10" Type="http://schemas.openxmlformats.org/officeDocument/2006/relationships/image" Target="../media/image25.png"/><Relationship Id="rId19" Type="http://schemas.openxmlformats.org/officeDocument/2006/relationships/image" Target="../media/image77.svg"/><Relationship Id="rId4" Type="http://schemas.openxmlformats.org/officeDocument/2006/relationships/image" Target="../media/image1.png"/><Relationship Id="rId9" Type="http://schemas.openxmlformats.org/officeDocument/2006/relationships/image" Target="../media/image70.png"/><Relationship Id="rId14" Type="http://schemas.openxmlformats.org/officeDocument/2006/relationships/image" Target="../media/image73.svg"/><Relationship Id="rId22" Type="http://schemas.openxmlformats.org/officeDocument/2006/relationships/image" Target="../media/image78.svg"/><Relationship Id="rId27" Type="http://schemas.openxmlformats.org/officeDocument/2006/relationships/image" Target="../media/image83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svg"/><Relationship Id="rId18" Type="http://schemas.openxmlformats.org/officeDocument/2006/relationships/image" Target="../media/image92.svg"/><Relationship Id="rId26" Type="http://schemas.openxmlformats.org/officeDocument/2006/relationships/image" Target="../media/image100.svg"/><Relationship Id="rId21" Type="http://schemas.openxmlformats.org/officeDocument/2006/relationships/image" Target="../media/image95.svg"/><Relationship Id="rId34" Type="http://schemas.openxmlformats.org/officeDocument/2006/relationships/image" Target="../media/image108.svg"/><Relationship Id="rId7" Type="http://schemas.openxmlformats.org/officeDocument/2006/relationships/image" Target="../media/image86.png"/><Relationship Id="rId12" Type="http://schemas.openxmlformats.org/officeDocument/2006/relationships/image" Target="../media/image88.png"/><Relationship Id="rId17" Type="http://schemas.openxmlformats.org/officeDocument/2006/relationships/image" Target="../media/image91.svg"/><Relationship Id="rId25" Type="http://schemas.openxmlformats.org/officeDocument/2006/relationships/image" Target="../media/image99.svg"/><Relationship Id="rId33" Type="http://schemas.openxmlformats.org/officeDocument/2006/relationships/image" Target="../media/image107.svg"/><Relationship Id="rId38" Type="http://schemas.openxmlformats.org/officeDocument/2006/relationships/image" Target="../media/image112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0.svg"/><Relationship Id="rId20" Type="http://schemas.openxmlformats.org/officeDocument/2006/relationships/image" Target="../media/image94.svg"/><Relationship Id="rId29" Type="http://schemas.openxmlformats.org/officeDocument/2006/relationships/image" Target="../media/image10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5.png"/><Relationship Id="rId24" Type="http://schemas.openxmlformats.org/officeDocument/2006/relationships/image" Target="../media/image98.svg"/><Relationship Id="rId32" Type="http://schemas.openxmlformats.org/officeDocument/2006/relationships/image" Target="../media/image106.svg"/><Relationship Id="rId37" Type="http://schemas.openxmlformats.org/officeDocument/2006/relationships/image" Target="../media/image111.svg"/><Relationship Id="rId5" Type="http://schemas.openxmlformats.org/officeDocument/2006/relationships/image" Target="../media/image2.png"/><Relationship Id="rId15" Type="http://schemas.openxmlformats.org/officeDocument/2006/relationships/image" Target="../media/image16.svg"/><Relationship Id="rId23" Type="http://schemas.openxmlformats.org/officeDocument/2006/relationships/image" Target="../media/image97.svg"/><Relationship Id="rId28" Type="http://schemas.openxmlformats.org/officeDocument/2006/relationships/image" Target="../media/image102.svg"/><Relationship Id="rId36" Type="http://schemas.openxmlformats.org/officeDocument/2006/relationships/image" Target="../media/image110.svg"/><Relationship Id="rId10" Type="http://schemas.openxmlformats.org/officeDocument/2006/relationships/image" Target="../media/image50.png"/><Relationship Id="rId19" Type="http://schemas.openxmlformats.org/officeDocument/2006/relationships/image" Target="../media/image93.svg"/><Relationship Id="rId31" Type="http://schemas.openxmlformats.org/officeDocument/2006/relationships/image" Target="../media/image105.svg"/><Relationship Id="rId4" Type="http://schemas.openxmlformats.org/officeDocument/2006/relationships/image" Target="../media/image1.png"/><Relationship Id="rId9" Type="http://schemas.openxmlformats.org/officeDocument/2006/relationships/image" Target="../media/image27.png"/><Relationship Id="rId14" Type="http://schemas.openxmlformats.org/officeDocument/2006/relationships/image" Target="../media/image89.svg"/><Relationship Id="rId22" Type="http://schemas.openxmlformats.org/officeDocument/2006/relationships/image" Target="../media/image96.svg"/><Relationship Id="rId27" Type="http://schemas.openxmlformats.org/officeDocument/2006/relationships/image" Target="../media/image101.svg"/><Relationship Id="rId30" Type="http://schemas.openxmlformats.org/officeDocument/2006/relationships/image" Target="../media/image104.svg"/><Relationship Id="rId35" Type="http://schemas.openxmlformats.org/officeDocument/2006/relationships/image" Target="../media/image109.svg"/><Relationship Id="rId8" Type="http://schemas.openxmlformats.org/officeDocument/2006/relationships/image" Target="../media/image87.png"/><Relationship Id="rId3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svg"/><Relationship Id="rId18" Type="http://schemas.openxmlformats.org/officeDocument/2006/relationships/image" Target="../media/image123.svg"/><Relationship Id="rId26" Type="http://schemas.openxmlformats.org/officeDocument/2006/relationships/image" Target="../media/image127.svg"/><Relationship Id="rId39" Type="http://schemas.openxmlformats.org/officeDocument/2006/relationships/image" Target="../media/image96.svg"/><Relationship Id="rId21" Type="http://schemas.openxmlformats.org/officeDocument/2006/relationships/image" Target="../media/image89.svg"/><Relationship Id="rId34" Type="http://schemas.openxmlformats.org/officeDocument/2006/relationships/image" Target="../media/image131.svg"/><Relationship Id="rId42" Type="http://schemas.openxmlformats.org/officeDocument/2006/relationships/image" Target="../media/image137.svg"/><Relationship Id="rId7" Type="http://schemas.openxmlformats.org/officeDocument/2006/relationships/image" Target="../media/image114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1.svg"/><Relationship Id="rId20" Type="http://schemas.openxmlformats.org/officeDocument/2006/relationships/image" Target="../media/image125.svg"/><Relationship Id="rId29" Type="http://schemas.openxmlformats.org/officeDocument/2006/relationships/image" Target="../media/image130.svg"/><Relationship Id="rId41" Type="http://schemas.openxmlformats.org/officeDocument/2006/relationships/image" Target="../media/image4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svg"/><Relationship Id="rId11" Type="http://schemas.openxmlformats.org/officeDocument/2006/relationships/image" Target="../media/image116.svg"/><Relationship Id="rId24" Type="http://schemas.openxmlformats.org/officeDocument/2006/relationships/image" Target="../media/image100.svg"/><Relationship Id="rId32" Type="http://schemas.openxmlformats.org/officeDocument/2006/relationships/image" Target="../media/image98.svg"/><Relationship Id="rId37" Type="http://schemas.openxmlformats.org/officeDocument/2006/relationships/image" Target="../media/image134.svg"/><Relationship Id="rId40" Type="http://schemas.openxmlformats.org/officeDocument/2006/relationships/image" Target="../media/image136.svg"/><Relationship Id="rId5" Type="http://schemas.openxmlformats.org/officeDocument/2006/relationships/image" Target="../media/image2.png"/><Relationship Id="rId15" Type="http://schemas.openxmlformats.org/officeDocument/2006/relationships/image" Target="../media/image120.svg"/><Relationship Id="rId23" Type="http://schemas.openxmlformats.org/officeDocument/2006/relationships/image" Target="../media/image101.svg"/><Relationship Id="rId28" Type="http://schemas.openxmlformats.org/officeDocument/2006/relationships/image" Target="../media/image129.svg"/><Relationship Id="rId36" Type="http://schemas.openxmlformats.org/officeDocument/2006/relationships/image" Target="../media/image133.svg"/><Relationship Id="rId10" Type="http://schemas.openxmlformats.org/officeDocument/2006/relationships/image" Target="../media/image115.svg"/><Relationship Id="rId19" Type="http://schemas.openxmlformats.org/officeDocument/2006/relationships/image" Target="../media/image124.svg"/><Relationship Id="rId31" Type="http://schemas.openxmlformats.org/officeDocument/2006/relationships/image" Target="../media/image93.svg"/><Relationship Id="rId44" Type="http://schemas.openxmlformats.org/officeDocument/2006/relationships/image" Target="../media/image139.svg"/><Relationship Id="rId4" Type="http://schemas.openxmlformats.org/officeDocument/2006/relationships/image" Target="../media/image1.png"/><Relationship Id="rId9" Type="http://schemas.openxmlformats.org/officeDocument/2006/relationships/image" Target="../media/image28.svg"/><Relationship Id="rId14" Type="http://schemas.openxmlformats.org/officeDocument/2006/relationships/image" Target="../media/image119.svg"/><Relationship Id="rId22" Type="http://schemas.openxmlformats.org/officeDocument/2006/relationships/image" Target="../media/image126.svg"/><Relationship Id="rId27" Type="http://schemas.openxmlformats.org/officeDocument/2006/relationships/image" Target="../media/image128.svg"/><Relationship Id="rId30" Type="http://schemas.openxmlformats.org/officeDocument/2006/relationships/image" Target="../media/image97.svg"/><Relationship Id="rId35" Type="http://schemas.openxmlformats.org/officeDocument/2006/relationships/image" Target="../media/image132.svg"/><Relationship Id="rId43" Type="http://schemas.openxmlformats.org/officeDocument/2006/relationships/image" Target="../media/image138.svg"/><Relationship Id="rId8" Type="http://schemas.openxmlformats.org/officeDocument/2006/relationships/image" Target="../media/image31.svg"/><Relationship Id="rId3" Type="http://schemas.openxmlformats.org/officeDocument/2006/relationships/image" Target="../media/image5.png"/><Relationship Id="rId12" Type="http://schemas.openxmlformats.org/officeDocument/2006/relationships/image" Target="../media/image117.svg"/><Relationship Id="rId17" Type="http://schemas.openxmlformats.org/officeDocument/2006/relationships/image" Target="../media/image122.svg"/><Relationship Id="rId25" Type="http://schemas.openxmlformats.org/officeDocument/2006/relationships/image" Target="../media/image94.svg"/><Relationship Id="rId33" Type="http://schemas.openxmlformats.org/officeDocument/2006/relationships/image" Target="../media/image99.svg"/><Relationship Id="rId38" Type="http://schemas.openxmlformats.org/officeDocument/2006/relationships/image" Target="../media/image13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5.svg"/><Relationship Id="rId18" Type="http://schemas.openxmlformats.org/officeDocument/2006/relationships/image" Target="../media/image147.svg"/><Relationship Id="rId26" Type="http://schemas.openxmlformats.org/officeDocument/2006/relationships/image" Target="../media/image93.svg"/><Relationship Id="rId3" Type="http://schemas.openxmlformats.org/officeDocument/2006/relationships/image" Target="../media/image5.png"/><Relationship Id="rId21" Type="http://schemas.openxmlformats.org/officeDocument/2006/relationships/image" Target="../media/image149.svg"/><Relationship Id="rId7" Type="http://schemas.openxmlformats.org/officeDocument/2006/relationships/image" Target="../media/image141.png"/><Relationship Id="rId12" Type="http://schemas.openxmlformats.org/officeDocument/2006/relationships/image" Target="../media/image144.svg"/><Relationship Id="rId17" Type="http://schemas.openxmlformats.org/officeDocument/2006/relationships/image" Target="../media/image97.svg"/><Relationship Id="rId25" Type="http://schemas.openxmlformats.org/officeDocument/2006/relationships/image" Target="../media/image96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7.svg"/><Relationship Id="rId20" Type="http://schemas.openxmlformats.org/officeDocument/2006/relationships/image" Target="../media/image148.svg"/><Relationship Id="rId29" Type="http://schemas.openxmlformats.org/officeDocument/2006/relationships/image" Target="../media/image1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3.svg"/><Relationship Id="rId24" Type="http://schemas.openxmlformats.org/officeDocument/2006/relationships/image" Target="../media/image99.svg"/><Relationship Id="rId5" Type="http://schemas.openxmlformats.org/officeDocument/2006/relationships/image" Target="../media/image2.png"/><Relationship Id="rId15" Type="http://schemas.openxmlformats.org/officeDocument/2006/relationships/image" Target="../media/image146.svg"/><Relationship Id="rId23" Type="http://schemas.openxmlformats.org/officeDocument/2006/relationships/image" Target="../media/image150.svg"/><Relationship Id="rId28" Type="http://schemas.openxmlformats.org/officeDocument/2006/relationships/image" Target="../media/image151.svg"/><Relationship Id="rId10" Type="http://schemas.openxmlformats.org/officeDocument/2006/relationships/image" Target="../media/image113.svg"/><Relationship Id="rId19" Type="http://schemas.openxmlformats.org/officeDocument/2006/relationships/image" Target="../media/image128.svg"/><Relationship Id="rId31" Type="http://schemas.openxmlformats.org/officeDocument/2006/relationships/image" Target="../media/image132.svg"/><Relationship Id="rId4" Type="http://schemas.openxmlformats.org/officeDocument/2006/relationships/image" Target="../media/image1.png"/><Relationship Id="rId9" Type="http://schemas.openxmlformats.org/officeDocument/2006/relationships/image" Target="../media/image74.svg"/><Relationship Id="rId14" Type="http://schemas.openxmlformats.org/officeDocument/2006/relationships/image" Target="../media/image11.svg"/><Relationship Id="rId22" Type="http://schemas.openxmlformats.org/officeDocument/2006/relationships/image" Target="../media/image126.svg"/><Relationship Id="rId27" Type="http://schemas.openxmlformats.org/officeDocument/2006/relationships/image" Target="../media/image98.svg"/><Relationship Id="rId30" Type="http://schemas.openxmlformats.org/officeDocument/2006/relationships/image" Target="../media/image15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svg"/><Relationship Id="rId13" Type="http://schemas.openxmlformats.org/officeDocument/2006/relationships/image" Target="../media/image99.svg"/><Relationship Id="rId18" Type="http://schemas.openxmlformats.org/officeDocument/2006/relationships/image" Target="../media/image160.svg"/><Relationship Id="rId26" Type="http://schemas.openxmlformats.org/officeDocument/2006/relationships/image" Target="../media/image166.svg"/><Relationship Id="rId3" Type="http://schemas.openxmlformats.org/officeDocument/2006/relationships/image" Target="../media/image5.png"/><Relationship Id="rId21" Type="http://schemas.openxmlformats.org/officeDocument/2006/relationships/image" Target="../media/image163.svg"/><Relationship Id="rId7" Type="http://schemas.openxmlformats.org/officeDocument/2006/relationships/image" Target="../media/image90.svg"/><Relationship Id="rId12" Type="http://schemas.openxmlformats.org/officeDocument/2006/relationships/image" Target="../media/image134.svg"/><Relationship Id="rId17" Type="http://schemas.openxmlformats.org/officeDocument/2006/relationships/image" Target="../media/image159.svg"/><Relationship Id="rId25" Type="http://schemas.openxmlformats.org/officeDocument/2006/relationships/image" Target="../media/image132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8.svg"/><Relationship Id="rId20" Type="http://schemas.openxmlformats.org/officeDocument/2006/relationships/image" Target="../media/image162.svg"/><Relationship Id="rId29" Type="http://schemas.openxmlformats.org/officeDocument/2006/relationships/image" Target="../media/image16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svg"/><Relationship Id="rId11" Type="http://schemas.openxmlformats.org/officeDocument/2006/relationships/image" Target="../media/image157.svg"/><Relationship Id="rId24" Type="http://schemas.openxmlformats.org/officeDocument/2006/relationships/image" Target="../media/image122.svg"/><Relationship Id="rId5" Type="http://schemas.openxmlformats.org/officeDocument/2006/relationships/image" Target="../media/image2.png"/><Relationship Id="rId15" Type="http://schemas.openxmlformats.org/officeDocument/2006/relationships/image" Target="../media/image149.svg"/><Relationship Id="rId23" Type="http://schemas.openxmlformats.org/officeDocument/2006/relationships/image" Target="../media/image165.svg"/><Relationship Id="rId28" Type="http://schemas.openxmlformats.org/officeDocument/2006/relationships/image" Target="../media/image62.svg"/><Relationship Id="rId10" Type="http://schemas.openxmlformats.org/officeDocument/2006/relationships/image" Target="../media/image28.svg"/><Relationship Id="rId19" Type="http://schemas.openxmlformats.org/officeDocument/2006/relationships/image" Target="../media/image161.svg"/><Relationship Id="rId4" Type="http://schemas.openxmlformats.org/officeDocument/2006/relationships/image" Target="../media/image1.png"/><Relationship Id="rId9" Type="http://schemas.openxmlformats.org/officeDocument/2006/relationships/image" Target="../media/image156.svg"/><Relationship Id="rId14" Type="http://schemas.openxmlformats.org/officeDocument/2006/relationships/image" Target="../media/image93.svg"/><Relationship Id="rId22" Type="http://schemas.openxmlformats.org/officeDocument/2006/relationships/image" Target="../media/image164.svg"/><Relationship Id="rId27" Type="http://schemas.openxmlformats.org/officeDocument/2006/relationships/image" Target="../media/image167.sv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svg"/><Relationship Id="rId18" Type="http://schemas.openxmlformats.org/officeDocument/2006/relationships/image" Target="../media/image173.svg"/><Relationship Id="rId26" Type="http://schemas.openxmlformats.org/officeDocument/2006/relationships/image" Target="../media/image98.svg"/><Relationship Id="rId39" Type="http://schemas.openxmlformats.org/officeDocument/2006/relationships/image" Target="../media/image157.svg"/><Relationship Id="rId21" Type="http://schemas.openxmlformats.org/officeDocument/2006/relationships/image" Target="../media/image97.svg"/><Relationship Id="rId34" Type="http://schemas.openxmlformats.org/officeDocument/2006/relationships/image" Target="../media/image127.svg"/><Relationship Id="rId7" Type="http://schemas.openxmlformats.org/officeDocument/2006/relationships/image" Target="../media/image169.png"/><Relationship Id="rId12" Type="http://schemas.openxmlformats.org/officeDocument/2006/relationships/image" Target="../media/image170.svg"/><Relationship Id="rId17" Type="http://schemas.openxmlformats.org/officeDocument/2006/relationships/image" Target="../media/image89.svg"/><Relationship Id="rId25" Type="http://schemas.openxmlformats.org/officeDocument/2006/relationships/image" Target="../media/image93.svg"/><Relationship Id="rId33" Type="http://schemas.openxmlformats.org/officeDocument/2006/relationships/image" Target="../media/image149.svg"/><Relationship Id="rId38" Type="http://schemas.openxmlformats.org/officeDocument/2006/relationships/image" Target="../media/image153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72.svg"/><Relationship Id="rId20" Type="http://schemas.openxmlformats.org/officeDocument/2006/relationships/image" Target="../media/image96.svg"/><Relationship Id="rId29" Type="http://schemas.openxmlformats.org/officeDocument/2006/relationships/image" Target="../media/image15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1.svg"/><Relationship Id="rId24" Type="http://schemas.openxmlformats.org/officeDocument/2006/relationships/image" Target="../media/image92.svg"/><Relationship Id="rId32" Type="http://schemas.openxmlformats.org/officeDocument/2006/relationships/image" Target="../media/image177.svg"/><Relationship Id="rId37" Type="http://schemas.openxmlformats.org/officeDocument/2006/relationships/image" Target="../media/image178.svg"/><Relationship Id="rId40" Type="http://schemas.openxmlformats.org/officeDocument/2006/relationships/image" Target="../media/image132.svg"/><Relationship Id="rId5" Type="http://schemas.openxmlformats.org/officeDocument/2006/relationships/image" Target="../media/image2.png"/><Relationship Id="rId15" Type="http://schemas.openxmlformats.org/officeDocument/2006/relationships/image" Target="../media/image171.svg"/><Relationship Id="rId23" Type="http://schemas.openxmlformats.org/officeDocument/2006/relationships/image" Target="../media/image165.svg"/><Relationship Id="rId28" Type="http://schemas.openxmlformats.org/officeDocument/2006/relationships/image" Target="../media/image100.svg"/><Relationship Id="rId36" Type="http://schemas.openxmlformats.org/officeDocument/2006/relationships/image" Target="../media/image94.svg"/><Relationship Id="rId10" Type="http://schemas.openxmlformats.org/officeDocument/2006/relationships/image" Target="../media/image25.png"/><Relationship Id="rId19" Type="http://schemas.openxmlformats.org/officeDocument/2006/relationships/image" Target="../media/image174.svg"/><Relationship Id="rId31" Type="http://schemas.openxmlformats.org/officeDocument/2006/relationships/image" Target="../media/image122.svg"/><Relationship Id="rId4" Type="http://schemas.openxmlformats.org/officeDocument/2006/relationships/image" Target="../media/image1.png"/><Relationship Id="rId9" Type="http://schemas.openxmlformats.org/officeDocument/2006/relationships/image" Target="../media/image26.png"/><Relationship Id="rId14" Type="http://schemas.openxmlformats.org/officeDocument/2006/relationships/image" Target="../media/image154.svg"/><Relationship Id="rId22" Type="http://schemas.openxmlformats.org/officeDocument/2006/relationships/image" Target="../media/image99.svg"/><Relationship Id="rId27" Type="http://schemas.openxmlformats.org/officeDocument/2006/relationships/image" Target="../media/image175.svg"/><Relationship Id="rId30" Type="http://schemas.openxmlformats.org/officeDocument/2006/relationships/image" Target="../media/image176.svg"/><Relationship Id="rId35" Type="http://schemas.openxmlformats.org/officeDocument/2006/relationships/image" Target="../media/image152.svg"/><Relationship Id="rId8" Type="http://schemas.openxmlformats.org/officeDocument/2006/relationships/image" Target="../media/image87.png"/><Relationship Id="rId3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9.svg"/><Relationship Id="rId18" Type="http://schemas.openxmlformats.org/officeDocument/2006/relationships/image" Target="../media/image183.svg"/><Relationship Id="rId26" Type="http://schemas.openxmlformats.org/officeDocument/2006/relationships/image" Target="../media/image186.svg"/><Relationship Id="rId39" Type="http://schemas.openxmlformats.org/officeDocument/2006/relationships/image" Target="../media/image132.svg"/><Relationship Id="rId21" Type="http://schemas.openxmlformats.org/officeDocument/2006/relationships/image" Target="../media/image174.svg"/><Relationship Id="rId34" Type="http://schemas.openxmlformats.org/officeDocument/2006/relationships/image" Target="../media/image191.sv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81.svg"/><Relationship Id="rId20" Type="http://schemas.openxmlformats.org/officeDocument/2006/relationships/image" Target="../media/image130.svg"/><Relationship Id="rId29" Type="http://schemas.openxmlformats.org/officeDocument/2006/relationships/image" Target="../media/image188.svg"/><Relationship Id="rId41" Type="http://schemas.openxmlformats.org/officeDocument/2006/relationships/image" Target="../media/image196.sv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11" Type="http://schemas.openxmlformats.org/officeDocument/2006/relationships/image" Target="../media/image155.svg"/><Relationship Id="rId24" Type="http://schemas.openxmlformats.org/officeDocument/2006/relationships/image" Target="../media/image175.svg"/><Relationship Id="rId32" Type="http://schemas.openxmlformats.org/officeDocument/2006/relationships/image" Target="../media/image190.svg"/><Relationship Id="rId37" Type="http://schemas.openxmlformats.org/officeDocument/2006/relationships/image" Target="../media/image193.svg"/><Relationship Id="rId40" Type="http://schemas.openxmlformats.org/officeDocument/2006/relationships/image" Target="../media/image195.svg"/><Relationship Id="rId5" Type="http://schemas.openxmlformats.org/officeDocument/2006/relationships/image" Target="../media/image2.png"/><Relationship Id="rId15" Type="http://schemas.openxmlformats.org/officeDocument/2006/relationships/image" Target="../media/image97.svg"/><Relationship Id="rId23" Type="http://schemas.openxmlformats.org/officeDocument/2006/relationships/image" Target="../media/image99.svg"/><Relationship Id="rId28" Type="http://schemas.openxmlformats.org/officeDocument/2006/relationships/image" Target="../media/image187.svg"/><Relationship Id="rId36" Type="http://schemas.openxmlformats.org/officeDocument/2006/relationships/image" Target="../media/image192.svg"/><Relationship Id="rId10" Type="http://schemas.openxmlformats.org/officeDocument/2006/relationships/image" Target="../media/image143.svg"/><Relationship Id="rId19" Type="http://schemas.openxmlformats.org/officeDocument/2006/relationships/image" Target="../media/image184.svg"/><Relationship Id="rId31" Type="http://schemas.openxmlformats.org/officeDocument/2006/relationships/image" Target="../media/image189.svg"/><Relationship Id="rId4" Type="http://schemas.openxmlformats.org/officeDocument/2006/relationships/image" Target="../media/image1.png"/><Relationship Id="rId9" Type="http://schemas.openxmlformats.org/officeDocument/2006/relationships/image" Target="../media/image90.svg"/><Relationship Id="rId14" Type="http://schemas.openxmlformats.org/officeDocument/2006/relationships/image" Target="../media/image180.svg"/><Relationship Id="rId22" Type="http://schemas.openxmlformats.org/officeDocument/2006/relationships/image" Target="../media/image93.svg"/><Relationship Id="rId27" Type="http://schemas.openxmlformats.org/officeDocument/2006/relationships/image" Target="../media/image98.svg"/><Relationship Id="rId30" Type="http://schemas.openxmlformats.org/officeDocument/2006/relationships/image" Target="../media/image117.svg"/><Relationship Id="rId35" Type="http://schemas.openxmlformats.org/officeDocument/2006/relationships/image" Target="../media/image92.svg"/><Relationship Id="rId8" Type="http://schemas.openxmlformats.org/officeDocument/2006/relationships/image" Target="../media/image114.svg"/><Relationship Id="rId3" Type="http://schemas.openxmlformats.org/officeDocument/2006/relationships/image" Target="../media/image5.png"/><Relationship Id="rId12" Type="http://schemas.openxmlformats.org/officeDocument/2006/relationships/image" Target="../media/image179.svg"/><Relationship Id="rId17" Type="http://schemas.openxmlformats.org/officeDocument/2006/relationships/image" Target="../media/image182.svg"/><Relationship Id="rId25" Type="http://schemas.openxmlformats.org/officeDocument/2006/relationships/image" Target="../media/image185.svg"/><Relationship Id="rId33" Type="http://schemas.openxmlformats.org/officeDocument/2006/relationships/image" Target="../media/image173.svg"/><Relationship Id="rId38" Type="http://schemas.openxmlformats.org/officeDocument/2006/relationships/image" Target="../media/image194.sv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svg"/><Relationship Id="rId18" Type="http://schemas.openxmlformats.org/officeDocument/2006/relationships/image" Target="../media/image201.svg"/><Relationship Id="rId26" Type="http://schemas.openxmlformats.org/officeDocument/2006/relationships/image" Target="../media/image205.svg"/><Relationship Id="rId3" Type="http://schemas.openxmlformats.org/officeDocument/2006/relationships/image" Target="../media/image5.png"/><Relationship Id="rId21" Type="http://schemas.openxmlformats.org/officeDocument/2006/relationships/image" Target="../media/image93.svg"/><Relationship Id="rId34" Type="http://schemas.openxmlformats.org/officeDocument/2006/relationships/image" Target="../media/image211.svg"/><Relationship Id="rId7" Type="http://schemas.openxmlformats.org/officeDocument/2006/relationships/image" Target="../media/image115.svg"/><Relationship Id="rId12" Type="http://schemas.openxmlformats.org/officeDocument/2006/relationships/image" Target="../media/image198.svg"/><Relationship Id="rId17" Type="http://schemas.openxmlformats.org/officeDocument/2006/relationships/image" Target="../media/image200.svg"/><Relationship Id="rId25" Type="http://schemas.openxmlformats.org/officeDocument/2006/relationships/image" Target="../media/image182.svg"/><Relationship Id="rId33" Type="http://schemas.openxmlformats.org/officeDocument/2006/relationships/image" Target="../media/image210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57.svg"/><Relationship Id="rId20" Type="http://schemas.openxmlformats.org/officeDocument/2006/relationships/image" Target="../media/image151.svg"/><Relationship Id="rId29" Type="http://schemas.openxmlformats.org/officeDocument/2006/relationships/image" Target="../media/image13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176.svg"/><Relationship Id="rId24" Type="http://schemas.openxmlformats.org/officeDocument/2006/relationships/image" Target="../media/image204.svg"/><Relationship Id="rId32" Type="http://schemas.openxmlformats.org/officeDocument/2006/relationships/image" Target="../media/image209.svg"/><Relationship Id="rId5" Type="http://schemas.openxmlformats.org/officeDocument/2006/relationships/image" Target="../media/image2.png"/><Relationship Id="rId15" Type="http://schemas.openxmlformats.org/officeDocument/2006/relationships/image" Target="../media/image199.svg"/><Relationship Id="rId23" Type="http://schemas.openxmlformats.org/officeDocument/2006/relationships/image" Target="../media/image203.svg"/><Relationship Id="rId28" Type="http://schemas.openxmlformats.org/officeDocument/2006/relationships/image" Target="../media/image207.svg"/><Relationship Id="rId36" Type="http://schemas.openxmlformats.org/officeDocument/2006/relationships/image" Target="../media/image154.svg"/><Relationship Id="rId10" Type="http://schemas.openxmlformats.org/officeDocument/2006/relationships/image" Target="../media/image184.svg"/><Relationship Id="rId19" Type="http://schemas.openxmlformats.org/officeDocument/2006/relationships/image" Target="../media/image202.svg"/><Relationship Id="rId31" Type="http://schemas.openxmlformats.org/officeDocument/2006/relationships/image" Target="../media/image82.svg"/><Relationship Id="rId4" Type="http://schemas.openxmlformats.org/officeDocument/2006/relationships/image" Target="../media/image1.png"/><Relationship Id="rId9" Type="http://schemas.openxmlformats.org/officeDocument/2006/relationships/image" Target="../media/image197.svg"/><Relationship Id="rId14" Type="http://schemas.openxmlformats.org/officeDocument/2006/relationships/image" Target="../media/image98.svg"/><Relationship Id="rId22" Type="http://schemas.openxmlformats.org/officeDocument/2006/relationships/image" Target="../media/image92.svg"/><Relationship Id="rId27" Type="http://schemas.openxmlformats.org/officeDocument/2006/relationships/image" Target="../media/image206.svg"/><Relationship Id="rId30" Type="http://schemas.openxmlformats.org/officeDocument/2006/relationships/image" Target="../media/image208.svg"/><Relationship Id="rId35" Type="http://schemas.openxmlformats.org/officeDocument/2006/relationships/image" Target="../media/image212.svg"/><Relationship Id="rId8" Type="http://schemas.openxmlformats.org/officeDocument/2006/relationships/image" Target="../media/image31.svg"/></Relationships>
</file>

<file path=ppt/slides/_rels/slide13.xml.rels><?xml version='1.0' encoding='UTF-8' standalone='yes'?>
<Relationships xmlns="http://schemas.openxmlformats.org/package/2006/relationships"><Relationship Id="rId20" Type="http://schemas.openxmlformats.org/officeDocument/2006/relationships/hyperlink" Target="https://meesho-dice-c2m-iitb.vercel.app/#/maker" TargetMode="External"/><Relationship Id="rId1" Type="http://schemas.openxmlformats.org/officeDocument/2006/relationships/image" Target="../media/s13_image-13-1.png"/><Relationship Id="rId2" Type="http://schemas.openxmlformats.org/officeDocument/2006/relationships/image" Target="../media/s13_image-13-2.png"/><Relationship Id="rId3" Type="http://schemas.openxmlformats.org/officeDocument/2006/relationships/image" Target="../media/s13_image-13-3.png"/><Relationship Id="rId4" Type="http://schemas.openxmlformats.org/officeDocument/2006/relationships/image" Target="../media/s13_image-13-4.png"/><Relationship Id="rId5" Type="http://schemas.openxmlformats.org/officeDocument/2006/relationships/image" Target="../media/s13_image-13-5.png"/><Relationship Id="rId6" Type="http://schemas.openxmlformats.org/officeDocument/2006/relationships/image" Target="../media/s13_image-13-6.png"/><Relationship Id="rId7" Type="http://schemas.openxmlformats.org/officeDocument/2006/relationships/image" Target="../media/s13_image-13-7.png"/><Relationship Id="rId8" Type="http://schemas.openxmlformats.org/officeDocument/2006/relationships/image" Target="../media/s13_image-13-8.png"/><Relationship Id="rId9" Type="http://schemas.openxmlformats.org/officeDocument/2006/relationships/image" Target="../media/s13_image-13-9.png"/><Relationship Id="rId10" Type="http://schemas.openxmlformats.org/officeDocument/2006/relationships/image" Target="../media/s13_image-13-10.png"/><Relationship Id="rId11" Type="http://schemas.openxmlformats.org/officeDocument/2006/relationships/image" Target="../media/s13_image-13-11.png"/><Relationship Id="rId12" Type="http://schemas.openxmlformats.org/officeDocument/2006/relationships/image" Target="../media/s13_image-13-12.png"/><Relationship Id="rId13" Type="http://schemas.openxmlformats.org/officeDocument/2006/relationships/image" Target="../media/s13_image-13-13.png"/><Relationship Id="rId14" Type="http://schemas.openxmlformats.org/officeDocument/2006/relationships/image" Target="../media/s13_image-13-14.png"/><Relationship Id="rId15" Type="http://schemas.openxmlformats.org/officeDocument/2006/relationships/image" Target="../media/s13_image-13-15.png"/><Relationship Id="rId16" Type="http://schemas.openxmlformats.org/officeDocument/2006/relationships/image" Target="../media/s13_image-13-16.png"/><Relationship Id="rId17" Type="http://schemas.openxmlformats.org/officeDocument/2006/relationships/image" Target="../media/s13_image-13-17.png"/><Relationship Id="rId18" Type="http://schemas.openxmlformats.org/officeDocument/2006/relationships/image" Target="../media/s13_image-13-18.png"/><Relationship Id="rId19" Type="http://schemas.openxmlformats.org/officeDocument/2006/relationships/image" Target="../media/s13_image-13-19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svg"/><Relationship Id="rId13" Type="http://schemas.openxmlformats.org/officeDocument/2006/relationships/image" Target="../media/image199.svg"/><Relationship Id="rId18" Type="http://schemas.openxmlformats.org/officeDocument/2006/relationships/image" Target="../media/image233.svg"/><Relationship Id="rId3" Type="http://schemas.openxmlformats.org/officeDocument/2006/relationships/image" Target="../media/image5.png"/><Relationship Id="rId7" Type="http://schemas.openxmlformats.org/officeDocument/2006/relationships/image" Target="../media/image154.svg"/><Relationship Id="rId12" Type="http://schemas.openxmlformats.org/officeDocument/2006/relationships/image" Target="../media/image230.svg"/><Relationship Id="rId17" Type="http://schemas.openxmlformats.org/officeDocument/2006/relationships/image" Target="../media/image232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svg"/><Relationship Id="rId11" Type="http://schemas.openxmlformats.org/officeDocument/2006/relationships/image" Target="../media/image225.svg"/><Relationship Id="rId5" Type="http://schemas.openxmlformats.org/officeDocument/2006/relationships/image" Target="../media/image2.png"/><Relationship Id="rId15" Type="http://schemas.openxmlformats.org/officeDocument/2006/relationships/image" Target="../media/image127.svg"/><Relationship Id="rId10" Type="http://schemas.openxmlformats.org/officeDocument/2006/relationships/image" Target="../media/image92.svg"/><Relationship Id="rId19" Type="http://schemas.openxmlformats.org/officeDocument/2006/relationships/image" Target="../media/image176.svg"/><Relationship Id="rId4" Type="http://schemas.openxmlformats.org/officeDocument/2006/relationships/image" Target="../media/image1.png"/><Relationship Id="rId9" Type="http://schemas.openxmlformats.org/officeDocument/2006/relationships/image" Target="../media/image91.svg"/><Relationship Id="rId14" Type="http://schemas.openxmlformats.org/officeDocument/2006/relationships/image" Target="../media/image19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234.svg"/><Relationship Id="rId18" Type="http://schemas.openxmlformats.org/officeDocument/2006/relationships/image" Target="../media/image133.svg"/><Relationship Id="rId26" Type="http://schemas.openxmlformats.org/officeDocument/2006/relationships/image" Target="../media/image175.svg"/><Relationship Id="rId3" Type="http://schemas.openxmlformats.org/officeDocument/2006/relationships/image" Target="../media/image5.png"/><Relationship Id="rId21" Type="http://schemas.openxmlformats.org/officeDocument/2006/relationships/image" Target="../media/image101.svg"/><Relationship Id="rId7" Type="http://schemas.openxmlformats.org/officeDocument/2006/relationships/image" Target="../media/image112.svg"/><Relationship Id="rId12" Type="http://schemas.openxmlformats.org/officeDocument/2006/relationships/image" Target="../media/image157.svg"/><Relationship Id="rId17" Type="http://schemas.openxmlformats.org/officeDocument/2006/relationships/image" Target="../media/image122.svg"/><Relationship Id="rId25" Type="http://schemas.openxmlformats.org/officeDocument/2006/relationships/image" Target="../media/image237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98.svg"/><Relationship Id="rId20" Type="http://schemas.openxmlformats.org/officeDocument/2006/relationships/image" Target="../media/image95.svg"/><Relationship Id="rId29" Type="http://schemas.openxmlformats.org/officeDocument/2006/relationships/image" Target="../media/image13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svg"/><Relationship Id="rId11" Type="http://schemas.openxmlformats.org/officeDocument/2006/relationships/image" Target="../media/image230.svg"/><Relationship Id="rId24" Type="http://schemas.openxmlformats.org/officeDocument/2006/relationships/image" Target="../media/image236.svg"/><Relationship Id="rId5" Type="http://schemas.openxmlformats.org/officeDocument/2006/relationships/image" Target="../media/image2.png"/><Relationship Id="rId15" Type="http://schemas.openxmlformats.org/officeDocument/2006/relationships/image" Target="../media/image97.svg"/><Relationship Id="rId23" Type="http://schemas.openxmlformats.org/officeDocument/2006/relationships/image" Target="../media/image223.svg"/><Relationship Id="rId28" Type="http://schemas.openxmlformats.org/officeDocument/2006/relationships/image" Target="../media/image48.svg"/><Relationship Id="rId10" Type="http://schemas.openxmlformats.org/officeDocument/2006/relationships/image" Target="../media/image91.svg"/><Relationship Id="rId19" Type="http://schemas.openxmlformats.org/officeDocument/2006/relationships/image" Target="../media/image99.svg"/><Relationship Id="rId4" Type="http://schemas.openxmlformats.org/officeDocument/2006/relationships/image" Target="../media/image1.png"/><Relationship Id="rId9" Type="http://schemas.openxmlformats.org/officeDocument/2006/relationships/image" Target="../media/image90.svg"/><Relationship Id="rId14" Type="http://schemas.openxmlformats.org/officeDocument/2006/relationships/image" Target="../media/image93.svg"/><Relationship Id="rId22" Type="http://schemas.openxmlformats.org/officeDocument/2006/relationships/image" Target="../media/image235.svg"/><Relationship Id="rId27" Type="http://schemas.openxmlformats.org/officeDocument/2006/relationships/image" Target="../media/image136.svg"/><Relationship Id="rId30" Type="http://schemas.openxmlformats.org/officeDocument/2006/relationships/image" Target="../media/image13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0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66928" cy="566928"/>
          </a:xfrm>
          <a:prstGeom prst="rect">
            <a:avLst/>
          </a:prstGeom>
        </p:spPr>
      </p:pic>
      <p:pic>
        <p:nvPicPr>
          <p:cNvPr id="3" name="Image 1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201168"/>
            <a:ext cx="713232" cy="6949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1051560"/>
            <a:ext cx="5120640" cy="5120640"/>
          </a:xfrm>
          <a:prstGeom prst="ellipse">
            <a:avLst/>
          </a:prstGeom>
          <a:solidFill>
            <a:srgbClr val="F7A21B"/>
          </a:solidFill>
          <a:ln w="12700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2" descr="/Users/prathmeshwalimbe/Downloads/Meesho/02_round2_detailed_submission/deck/source/assets/cover_banner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" y="1188720"/>
            <a:ext cx="4846320" cy="4846320"/>
          </a:xfrm>
          <a:prstGeom prst="ellipse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035040" y="411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TRACK  ·  DETAILED SUBMISSION  ·  ROUND 2</a:t>
            </a:r>
            <a:endParaRPr lang="en-US" sz="1100" dirty="0"/>
          </a:p>
        </p:txBody>
      </p:sp>
      <p:sp>
        <p:nvSpPr>
          <p:cNvPr id="7" name="Shape 2"/>
          <p:cNvSpPr/>
          <p:nvPr/>
        </p:nvSpPr>
        <p:spPr>
          <a:xfrm>
            <a:off x="6309360" y="868680"/>
            <a:ext cx="47548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 txBox="1"/>
          <p:nvPr/>
        </p:nvSpPr>
        <p:spPr>
          <a:xfrm>
            <a:off x="6035040" y="96012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A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Meesho’s Consumer-to-Manufacturer (C2M) Base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7452360" y="2103120"/>
            <a:ext cx="3017520" cy="420624"/>
          </a:xfrm>
          <a:prstGeom prst="roundRect">
            <a:avLst>
              <a:gd name="adj" fmla="val 1087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7479792" y="2103120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DIRECT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6172200" y="26517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manufacturers on price, not size, and let them make only what is already sold. </a:t>
            </a:r>
            <a:r>
              <a:rPr lang="en-US" sz="1300" b="1" i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factories by Year 4 put ₹1,995 cr of NMV 8%-12% below market, for a five-year NPV of ₹75 cr on ₹22.2 cr of capped Year-1 cash.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400800" y="3657600"/>
            <a:ext cx="512064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6903720" y="3822192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6931152" y="382219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23B0747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360920" y="4315968"/>
            <a:ext cx="1005840" cy="1005840"/>
          </a:xfrm>
          <a:prstGeom prst="ellipse">
            <a:avLst/>
          </a:prstGeom>
          <a:solidFill>
            <a:srgbClr val="F7A21B"/>
          </a:solidFill>
          <a:ln w="1905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7360920" y="43159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6812280" y="5358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Prathmesh Walimbe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555480" y="4315968"/>
            <a:ext cx="1005840" cy="1005840"/>
          </a:xfrm>
          <a:prstGeom prst="ellipse">
            <a:avLst/>
          </a:prstGeom>
          <a:solidFill>
            <a:srgbClr val="F7A21B"/>
          </a:solidFill>
          <a:ln w="1905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9555480" y="43159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9006840" y="5358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Kanta Mondal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903720" y="5724144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6931152" y="5724144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Bombay</a:t>
            </a:r>
            <a:endParaRPr lang="en-US" sz="1300" dirty="0"/>
          </a:p>
        </p:txBody>
      </p:sp>
      <p:pic>
        <p:nvPicPr>
          <p:cNvPr id="23" name="Image 3" descr="/Users/prathmeshwalimbe/Downloads/Meesho/02_round2_detailed_submission/deck/source/assets/qr_li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0" y="5532120"/>
            <a:ext cx="731520" cy="7315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035040" y="62727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meesho-dice-c2m-iitb.vercel.app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follow price and 35% of MSMEs want online sales, but returns, stock risk and know-how keep factories offline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RESEARCH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build Factory Direct around the operational barriers (returns, stock risk, unit shipping, cash), not discounts. Owner: Category + Product.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S2 Q4 FY26 call · S3 FY26 results · S4 ICRIER 2025 · S9 The Tribune · S10 team teardown, 2 Oct 2026 · S21 Apparel Resources · S22 Round 1 interviews   |   Assumptions: A6, A22-A24   |   Survey kit and method: Appendix B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 factory base that sells cheaper, and stays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4518965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612648" y="1344168"/>
            <a:ext cx="4390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cost-advantaged factories onto Meesho through </a:t>
            </a: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Direct</a:t>
            </a:r>
            <a:r>
              <a:rPr lang="en-US" sz="8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keep them.</a:t>
            </a:r>
            <a:endParaRPr lang="en-US" sz="850" dirty="0"/>
          </a:p>
        </p:txBody>
      </p:sp>
      <p:sp>
        <p:nvSpPr>
          <p:cNvPr id="39" name="Text 34"/>
          <p:cNvSpPr txBox="1"/>
          <p:nvPr/>
        </p:nvSpPr>
        <p:spPr>
          <a:xfrm>
            <a:off x="612648" y="15270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1033272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 txBox="1"/>
          <p:nvPr/>
        </p:nvSpPr>
        <p:spPr>
          <a:xfrm>
            <a:off x="1060704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800" dirty="0"/>
          </a:p>
        </p:txBody>
      </p:sp>
      <p:sp>
        <p:nvSpPr>
          <p:cNvPr id="42" name="Text 37"/>
          <p:cNvSpPr txBox="1"/>
          <p:nvPr/>
        </p:nvSpPr>
        <p:spPr>
          <a:xfrm>
            <a:off x="1929841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2057857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 txBox="1"/>
          <p:nvPr/>
        </p:nvSpPr>
        <p:spPr>
          <a:xfrm>
            <a:off x="2085289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 +15%</a:t>
            </a:r>
            <a:endParaRPr lang="en-US" sz="800" dirty="0"/>
          </a:p>
        </p:txBody>
      </p:sp>
      <p:sp>
        <p:nvSpPr>
          <p:cNvPr id="45" name="Text 40"/>
          <p:cNvSpPr txBox="1"/>
          <p:nvPr/>
        </p:nvSpPr>
        <p:spPr>
          <a:xfrm>
            <a:off x="2954426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6" name="Shape 41"/>
          <p:cNvSpPr/>
          <p:nvPr/>
        </p:nvSpPr>
        <p:spPr>
          <a:xfrm>
            <a:off x="3082442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 txBox="1"/>
          <p:nvPr/>
        </p:nvSpPr>
        <p:spPr>
          <a:xfrm>
            <a:off x="3109874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</a:t>
            </a:r>
            <a:endParaRPr lang="en-US" sz="800" dirty="0"/>
          </a:p>
        </p:txBody>
      </p:sp>
      <p:sp>
        <p:nvSpPr>
          <p:cNvPr id="48" name="Text 43"/>
          <p:cNvSpPr txBox="1"/>
          <p:nvPr/>
        </p:nvSpPr>
        <p:spPr>
          <a:xfrm>
            <a:off x="3979012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4107028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 txBox="1"/>
          <p:nvPr/>
        </p:nvSpPr>
        <p:spPr>
          <a:xfrm>
            <a:off x="4134460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1033272" y="1755648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 txBox="1"/>
          <p:nvPr/>
        </p:nvSpPr>
        <p:spPr>
          <a:xfrm>
            <a:off x="1060704" y="1755648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Mark-ups stack before the buyer</a:t>
            </a:r>
            <a:endParaRPr lang="en-US" sz="700" dirty="0"/>
          </a:p>
        </p:txBody>
      </p:sp>
      <p:sp>
        <p:nvSpPr>
          <p:cNvPr id="53" name="Shape 48"/>
          <p:cNvSpPr/>
          <p:nvPr/>
        </p:nvSpPr>
        <p:spPr>
          <a:xfrm>
            <a:off x="2371954" y="1755648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 txBox="1"/>
          <p:nvPr/>
        </p:nvSpPr>
        <p:spPr>
          <a:xfrm>
            <a:off x="2399386" y="1755648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Reseller’s lowest viable price ₹220: 5.4% above market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3710635" y="1755648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 txBox="1"/>
          <p:nvPr/>
        </p:nvSpPr>
        <p:spPr>
          <a:xfrm>
            <a:off x="3738067" y="1755648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returns sit with resellers</a:t>
            </a:r>
            <a:endParaRPr lang="en-US" sz="700" dirty="0"/>
          </a:p>
        </p:txBody>
      </p:sp>
      <p:sp>
        <p:nvSpPr>
          <p:cNvPr id="57" name="Text 52"/>
          <p:cNvSpPr txBox="1"/>
          <p:nvPr/>
        </p:nvSpPr>
        <p:spPr>
          <a:xfrm>
            <a:off x="612648" y="20391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1033272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 txBox="1"/>
          <p:nvPr/>
        </p:nvSpPr>
        <p:spPr>
          <a:xfrm>
            <a:off x="1060704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800" dirty="0"/>
          </a:p>
        </p:txBody>
      </p:sp>
      <p:sp>
        <p:nvSpPr>
          <p:cNvPr id="60" name="Text 55"/>
          <p:cNvSpPr txBox="1"/>
          <p:nvPr/>
        </p:nvSpPr>
        <p:spPr>
          <a:xfrm>
            <a:off x="1929841" y="2011680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1" name="Shape 56"/>
          <p:cNvSpPr/>
          <p:nvPr/>
        </p:nvSpPr>
        <p:spPr>
          <a:xfrm>
            <a:off x="2057857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7"/>
          <p:cNvSpPr txBox="1"/>
          <p:nvPr/>
        </p:nvSpPr>
        <p:spPr>
          <a:xfrm>
            <a:off x="2085289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</a:t>
            </a:r>
            <a:endParaRPr lang="en-US" sz="800" dirty="0"/>
          </a:p>
        </p:txBody>
      </p:sp>
      <p:sp>
        <p:nvSpPr>
          <p:cNvPr id="63" name="Text 58"/>
          <p:cNvSpPr txBox="1"/>
          <p:nvPr/>
        </p:nvSpPr>
        <p:spPr>
          <a:xfrm>
            <a:off x="2954426" y="2011680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4" name="Shape 59"/>
          <p:cNvSpPr/>
          <p:nvPr/>
        </p:nvSpPr>
        <p:spPr>
          <a:xfrm>
            <a:off x="3082442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0"/>
          <p:cNvSpPr txBox="1"/>
          <p:nvPr/>
        </p:nvSpPr>
        <p:spPr>
          <a:xfrm>
            <a:off x="3109874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Node</a:t>
            </a:r>
            <a:endParaRPr lang="en-US" sz="800" dirty="0"/>
          </a:p>
        </p:txBody>
      </p:sp>
      <p:sp>
        <p:nvSpPr>
          <p:cNvPr id="66" name="Text 61"/>
          <p:cNvSpPr txBox="1"/>
          <p:nvPr/>
        </p:nvSpPr>
        <p:spPr>
          <a:xfrm>
            <a:off x="3979012" y="2011680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7" name="Shape 62"/>
          <p:cNvSpPr/>
          <p:nvPr/>
        </p:nvSpPr>
        <p:spPr>
          <a:xfrm>
            <a:off x="4107028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3"/>
          <p:cNvSpPr txBox="1"/>
          <p:nvPr/>
        </p:nvSpPr>
        <p:spPr>
          <a:xfrm>
            <a:off x="4134460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69" name="Shape 64"/>
          <p:cNvSpPr/>
          <p:nvPr/>
        </p:nvSpPr>
        <p:spPr>
          <a:xfrm>
            <a:off x="1033272" y="2267712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5"/>
          <p:cNvSpPr txBox="1"/>
          <p:nvPr/>
        </p:nvSpPr>
        <p:spPr>
          <a:xfrm>
            <a:off x="1060704" y="2267712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intermediary mark-up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2371954" y="2267712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7"/>
          <p:cNvSpPr txBox="1"/>
          <p:nvPr/>
        </p:nvSpPr>
        <p:spPr>
          <a:xfrm>
            <a:off x="2399386" y="2267712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Factory’s lowest viable price ₹180: 13.8% below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3710635" y="2267712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9"/>
          <p:cNvSpPr txBox="1"/>
          <p:nvPr/>
        </p:nvSpPr>
        <p:spPr>
          <a:xfrm>
            <a:off x="3738067" y="2267712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only to confirmed orders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612648" y="2542032"/>
            <a:ext cx="4390949" cy="346558"/>
          </a:xfrm>
          <a:prstGeom prst="roundRect">
            <a:avLst>
              <a:gd name="adj" fmla="val 1055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1"/>
          <p:cNvSpPr txBox="1"/>
          <p:nvPr/>
        </p:nvSpPr>
        <p:spPr>
          <a:xfrm>
            <a:off x="658368" y="2542032"/>
            <a:ext cx="1325880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₹1,049 cr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</a:t>
            </a:r>
            <a:endParaRPr lang="en-US" sz="800" dirty="0"/>
          </a:p>
        </p:txBody>
      </p:sp>
      <p:sp>
        <p:nvSpPr>
          <p:cNvPr id="77" name="Text 72"/>
          <p:cNvSpPr txBox="1"/>
          <p:nvPr/>
        </p:nvSpPr>
        <p:spPr>
          <a:xfrm>
            <a:off x="1984248" y="2560320"/>
            <a:ext cx="2964485" cy="30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wholesaler mark-up sits inside Meesho’s nine C2M categories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₹41,560 cr FY26 NMV × 40% in C2M categories × 6.3% mark-up share of price</a:t>
            </a:r>
            <a:endParaRPr lang="en-US" sz="750" dirty="0"/>
          </a:p>
        </p:txBody>
      </p:sp>
      <p:sp>
        <p:nvSpPr>
          <p:cNvPr id="78" name="Shape 73"/>
          <p:cNvSpPr/>
          <p:nvPr/>
        </p:nvSpPr>
        <p:spPr>
          <a:xfrm>
            <a:off x="548640" y="3025750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4"/>
          <p:cNvSpPr txBox="1"/>
          <p:nvPr/>
        </p:nvSpPr>
        <p:spPr>
          <a:xfrm>
            <a:off x="612648" y="3025750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to solve</a:t>
            </a:r>
            <a:endParaRPr lang="en-US" sz="950" dirty="0"/>
          </a:p>
        </p:txBody>
      </p:sp>
      <p:sp>
        <p:nvSpPr>
          <p:cNvPr id="80" name="Shape 75"/>
          <p:cNvSpPr/>
          <p:nvPr/>
        </p:nvSpPr>
        <p:spPr>
          <a:xfrm>
            <a:off x="548640" y="3272638"/>
            <a:ext cx="4518965" cy="98115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6"/>
          <p:cNvSpPr/>
          <p:nvPr/>
        </p:nvSpPr>
        <p:spPr>
          <a:xfrm>
            <a:off x="612648" y="3318358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7"/>
          <p:cNvSpPr txBox="1"/>
          <p:nvPr/>
        </p:nvSpPr>
        <p:spPr>
          <a:xfrm>
            <a:off x="649224" y="3336646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discovery</a:t>
            </a:r>
            <a:endParaRPr lang="en-US" sz="800" dirty="0"/>
          </a:p>
        </p:txBody>
      </p:sp>
      <p:sp>
        <p:nvSpPr>
          <p:cNvPr id="83" name="Text 78"/>
          <p:cNvSpPr txBox="1"/>
          <p:nvPr/>
        </p:nvSpPr>
        <p:spPr>
          <a:xfrm>
            <a:off x="649224" y="3482950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≠ price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prices overstate demand</a:t>
            </a:r>
            <a:endParaRPr lang="en-US" sz="750" dirty="0"/>
          </a:p>
        </p:txBody>
      </p:sp>
      <p:sp>
        <p:nvSpPr>
          <p:cNvPr id="84" name="Shape 79"/>
          <p:cNvSpPr/>
          <p:nvPr/>
        </p:nvSpPr>
        <p:spPr>
          <a:xfrm>
            <a:off x="2094586" y="3318358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0"/>
          <p:cNvSpPr txBox="1"/>
          <p:nvPr/>
        </p:nvSpPr>
        <p:spPr>
          <a:xfrm>
            <a:off x="2131162" y="3336646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operations</a:t>
            </a:r>
            <a:endParaRPr lang="en-US" sz="800" dirty="0"/>
          </a:p>
        </p:txBody>
      </p:sp>
      <p:sp>
        <p:nvSpPr>
          <p:cNvPr id="86" name="Text 81"/>
          <p:cNvSpPr txBox="1"/>
          <p:nvPr/>
        </p:nvSpPr>
        <p:spPr>
          <a:xfrm>
            <a:off x="2131162" y="3482950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Pick, pack, ship per order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handled by the factory</a:t>
            </a:r>
            <a:endParaRPr lang="en-US" sz="750" dirty="0"/>
          </a:p>
        </p:txBody>
      </p:sp>
      <p:sp>
        <p:nvSpPr>
          <p:cNvPr id="87" name="Shape 82"/>
          <p:cNvSpPr/>
          <p:nvPr/>
        </p:nvSpPr>
        <p:spPr>
          <a:xfrm>
            <a:off x="3576523" y="3318358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3"/>
          <p:cNvSpPr txBox="1"/>
          <p:nvPr/>
        </p:nvSpPr>
        <p:spPr>
          <a:xfrm>
            <a:off x="3613099" y="3336646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cash</a:t>
            </a:r>
            <a:endParaRPr lang="en-US" sz="800" dirty="0"/>
          </a:p>
        </p:txBody>
      </p:sp>
      <p:sp>
        <p:nvSpPr>
          <p:cNvPr id="89" name="Text 84"/>
          <p:cNvSpPr txBox="1"/>
          <p:nvPr/>
        </p:nvSpPr>
        <p:spPr>
          <a:xfrm>
            <a:off x="3613099" y="3482950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Build-to-stock risk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45-60 day distributor terms</a:t>
            </a:r>
            <a:endParaRPr lang="en-US" sz="750" dirty="0"/>
          </a:p>
        </p:txBody>
      </p:sp>
      <p:sp>
        <p:nvSpPr>
          <p:cNvPr id="90" name="Shape 85"/>
          <p:cNvSpPr/>
          <p:nvPr/>
        </p:nvSpPr>
        <p:spPr>
          <a:xfrm>
            <a:off x="612648" y="3790645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6"/>
          <p:cNvSpPr txBox="1"/>
          <p:nvPr/>
        </p:nvSpPr>
        <p:spPr>
          <a:xfrm>
            <a:off x="649224" y="3808933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visibility</a:t>
            </a:r>
            <a:endParaRPr lang="en-US" sz="800" dirty="0"/>
          </a:p>
        </p:txBody>
      </p:sp>
      <p:sp>
        <p:nvSpPr>
          <p:cNvPr id="92" name="Text 87"/>
          <p:cNvSpPr txBox="1"/>
          <p:nvPr/>
        </p:nvSpPr>
        <p:spPr>
          <a:xfrm>
            <a:off x="649224" y="3955237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reviews at the start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demand unknown</a:t>
            </a:r>
            <a:endParaRPr lang="en-US" sz="750" dirty="0"/>
          </a:p>
        </p:txBody>
      </p:sp>
      <p:sp>
        <p:nvSpPr>
          <p:cNvPr id="93" name="Shape 88"/>
          <p:cNvSpPr/>
          <p:nvPr/>
        </p:nvSpPr>
        <p:spPr>
          <a:xfrm>
            <a:off x="2094586" y="3790645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89"/>
          <p:cNvSpPr txBox="1"/>
          <p:nvPr/>
        </p:nvSpPr>
        <p:spPr>
          <a:xfrm>
            <a:off x="2131162" y="3808933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800" dirty="0"/>
          </a:p>
        </p:txBody>
      </p:sp>
      <p:sp>
        <p:nvSpPr>
          <p:cNvPr id="95" name="Text 90"/>
          <p:cNvSpPr txBox="1"/>
          <p:nvPr/>
        </p:nvSpPr>
        <p:spPr>
          <a:xfrm>
            <a:off x="2131162" y="3955237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decays after the badge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slips with price</a:t>
            </a:r>
            <a:endParaRPr lang="en-US" sz="750" dirty="0"/>
          </a:p>
        </p:txBody>
      </p:sp>
      <p:sp>
        <p:nvSpPr>
          <p:cNvPr id="96" name="Shape 91"/>
          <p:cNvSpPr/>
          <p:nvPr/>
        </p:nvSpPr>
        <p:spPr>
          <a:xfrm>
            <a:off x="3576523" y="3790645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2"/>
          <p:cNvSpPr txBox="1"/>
          <p:nvPr/>
        </p:nvSpPr>
        <p:spPr>
          <a:xfrm>
            <a:off x="3622243" y="3790645"/>
            <a:ext cx="1335634" cy="4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barriers → 6 levers, each owned by a Meesho team</a:t>
            </a:r>
            <a:endParaRPr lang="en-US" sz="800" dirty="0"/>
          </a:p>
        </p:txBody>
      </p:sp>
      <p:sp>
        <p:nvSpPr>
          <p:cNvPr id="98" name="Shape 93"/>
          <p:cNvSpPr/>
          <p:nvPr/>
        </p:nvSpPr>
        <p:spPr>
          <a:xfrm>
            <a:off x="5159045" y="1051560"/>
            <a:ext cx="680130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4"/>
          <p:cNvSpPr txBox="1"/>
          <p:nvPr/>
        </p:nvSpPr>
        <p:spPr>
          <a:xfrm>
            <a:off x="5223053" y="1051560"/>
            <a:ext cx="6673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sets: why factories quit, what buyers pay, what buyers would trade</a:t>
            </a:r>
            <a:endParaRPr lang="en-US" sz="950" dirty="0"/>
          </a:p>
        </p:txBody>
      </p:sp>
      <p:sp>
        <p:nvSpPr>
          <p:cNvPr id="100" name="Shape 95"/>
          <p:cNvSpPr/>
          <p:nvPr/>
        </p:nvSpPr>
        <p:spPr>
          <a:xfrm>
            <a:off x="5159045" y="1298448"/>
            <a:ext cx="6801307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6"/>
          <p:cNvSpPr/>
          <p:nvPr/>
        </p:nvSpPr>
        <p:spPr>
          <a:xfrm>
            <a:off x="7432243" y="1344168"/>
            <a:ext cx="0" cy="1544422"/>
          </a:xfrm>
          <a:prstGeom prst="line">
            <a:avLst/>
          </a:prstGeom>
          <a:noFill/>
          <a:ln w="9525">
            <a:solidFill>
              <a:srgbClr val="D8C2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7"/>
          <p:cNvSpPr/>
          <p:nvPr/>
        </p:nvSpPr>
        <p:spPr>
          <a:xfrm>
            <a:off x="9687154" y="1344168"/>
            <a:ext cx="0" cy="1544422"/>
          </a:xfrm>
          <a:prstGeom prst="line">
            <a:avLst/>
          </a:prstGeom>
          <a:noFill/>
          <a:ln w="9525">
            <a:solidFill>
              <a:srgbClr val="D8C2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98"/>
          <p:cNvSpPr/>
          <p:nvPr/>
        </p:nvSpPr>
        <p:spPr>
          <a:xfrm>
            <a:off x="5223053" y="13441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99"/>
          <p:cNvSpPr txBox="1"/>
          <p:nvPr/>
        </p:nvSpPr>
        <p:spPr>
          <a:xfrm>
            <a:off x="5131613" y="13441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2,365</a:t>
            </a:r>
            <a:endParaRPr lang="en-US" sz="850" dirty="0"/>
          </a:p>
        </p:txBody>
      </p:sp>
      <p:sp>
        <p:nvSpPr>
          <p:cNvPr id="105" name="Text 100"/>
          <p:cNvSpPr txBox="1"/>
          <p:nvPr/>
        </p:nvSpPr>
        <p:spPr>
          <a:xfrm>
            <a:off x="5680253" y="1344168"/>
            <a:ext cx="17062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ICRIER MSME survey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firms that tried e-commerce quit (% of quitters)</a:t>
            </a:r>
            <a:endParaRPr lang="en-US" sz="750" dirty="0"/>
          </a:p>
        </p:txBody>
      </p:sp>
      <p:sp>
        <p:nvSpPr>
          <p:cNvPr id="106" name="Text 101"/>
          <p:cNvSpPr txBox="1"/>
          <p:nvPr/>
        </p:nvSpPr>
        <p:spPr>
          <a:xfrm>
            <a:off x="5223053" y="1773936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Lacked knowledge</a:t>
            </a:r>
            <a:endParaRPr lang="en-US" sz="700" dirty="0"/>
          </a:p>
        </p:txBody>
      </p:sp>
      <p:sp>
        <p:nvSpPr>
          <p:cNvPr id="107" name="Shape 102"/>
          <p:cNvSpPr/>
          <p:nvPr/>
        </p:nvSpPr>
        <p:spPr>
          <a:xfrm>
            <a:off x="6228893" y="1790035"/>
            <a:ext cx="826577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3"/>
          <p:cNvSpPr txBox="1"/>
          <p:nvPr/>
        </p:nvSpPr>
        <p:spPr>
          <a:xfrm>
            <a:off x="7073758" y="1773936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700" dirty="0"/>
          </a:p>
        </p:txBody>
      </p:sp>
      <p:sp>
        <p:nvSpPr>
          <p:cNvPr id="109" name="Text 104"/>
          <p:cNvSpPr txBox="1"/>
          <p:nvPr/>
        </p:nvSpPr>
        <p:spPr>
          <a:xfrm>
            <a:off x="5223053" y="1881264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returns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6228893" y="1897363"/>
            <a:ext cx="826577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6"/>
          <p:cNvSpPr txBox="1"/>
          <p:nvPr/>
        </p:nvSpPr>
        <p:spPr>
          <a:xfrm>
            <a:off x="7073758" y="1881264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700" dirty="0"/>
          </a:p>
        </p:txBody>
      </p:sp>
      <p:sp>
        <p:nvSpPr>
          <p:cNvPr id="112" name="Text 107"/>
          <p:cNvSpPr txBox="1"/>
          <p:nvPr/>
        </p:nvSpPr>
        <p:spPr>
          <a:xfrm>
            <a:off x="5223053" y="1988591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charges</a:t>
            </a:r>
            <a:endParaRPr lang="en-US" sz="700" dirty="0"/>
          </a:p>
        </p:txBody>
      </p:sp>
      <p:sp>
        <p:nvSpPr>
          <p:cNvPr id="113" name="Shape 108"/>
          <p:cNvSpPr/>
          <p:nvPr/>
        </p:nvSpPr>
        <p:spPr>
          <a:xfrm>
            <a:off x="6228893" y="2004691"/>
            <a:ext cx="807354" cy="75129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09"/>
          <p:cNvSpPr txBox="1"/>
          <p:nvPr/>
        </p:nvSpPr>
        <p:spPr>
          <a:xfrm>
            <a:off x="7054535" y="1988591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700" dirty="0"/>
          </a:p>
        </p:txBody>
      </p:sp>
      <p:sp>
        <p:nvSpPr>
          <p:cNvPr id="115" name="Text 110"/>
          <p:cNvSpPr txBox="1"/>
          <p:nvPr/>
        </p:nvSpPr>
        <p:spPr>
          <a:xfrm>
            <a:off x="5223053" y="2095919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competition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6228893" y="2112018"/>
            <a:ext cx="768909" cy="75129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2"/>
          <p:cNvSpPr txBox="1"/>
          <p:nvPr/>
        </p:nvSpPr>
        <p:spPr>
          <a:xfrm>
            <a:off x="7016090" y="2095919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700" dirty="0"/>
          </a:p>
        </p:txBody>
      </p:sp>
      <p:sp>
        <p:nvSpPr>
          <p:cNvPr id="118" name="Text 113"/>
          <p:cNvSpPr txBox="1"/>
          <p:nvPr/>
        </p:nvSpPr>
        <p:spPr>
          <a:xfrm>
            <a:off x="5223053" y="2203247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inventory skills</a:t>
            </a:r>
            <a:endParaRPr lang="en-US" sz="700" dirty="0"/>
          </a:p>
        </p:txBody>
      </p:sp>
      <p:sp>
        <p:nvSpPr>
          <p:cNvPr id="119" name="Shape 114"/>
          <p:cNvSpPr/>
          <p:nvPr/>
        </p:nvSpPr>
        <p:spPr>
          <a:xfrm>
            <a:off x="6228893" y="2219346"/>
            <a:ext cx="749686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5"/>
          <p:cNvSpPr txBox="1"/>
          <p:nvPr/>
        </p:nvSpPr>
        <p:spPr>
          <a:xfrm>
            <a:off x="6996867" y="2203247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700" dirty="0"/>
          </a:p>
        </p:txBody>
      </p:sp>
      <p:sp>
        <p:nvSpPr>
          <p:cNvPr id="121" name="Text 116"/>
          <p:cNvSpPr txBox="1"/>
          <p:nvPr/>
        </p:nvSpPr>
        <p:spPr>
          <a:xfrm>
            <a:off x="5223053" y="2310575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profitable</a:t>
            </a:r>
            <a:endParaRPr lang="en-US" sz="700" dirty="0"/>
          </a:p>
        </p:txBody>
      </p:sp>
      <p:sp>
        <p:nvSpPr>
          <p:cNvPr id="122" name="Shape 117"/>
          <p:cNvSpPr/>
          <p:nvPr/>
        </p:nvSpPr>
        <p:spPr>
          <a:xfrm>
            <a:off x="6228893" y="2326674"/>
            <a:ext cx="672795" cy="75129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18"/>
          <p:cNvSpPr txBox="1"/>
          <p:nvPr/>
        </p:nvSpPr>
        <p:spPr>
          <a:xfrm>
            <a:off x="6919976" y="2310575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700" dirty="0"/>
          </a:p>
        </p:txBody>
      </p:sp>
      <p:sp>
        <p:nvSpPr>
          <p:cNvPr id="124" name="Text 119"/>
          <p:cNvSpPr txBox="1"/>
          <p:nvPr/>
        </p:nvSpPr>
        <p:spPr>
          <a:xfrm>
            <a:off x="5223053" y="2417902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staff</a:t>
            </a:r>
            <a:endParaRPr lang="en-US" sz="700" dirty="0"/>
          </a:p>
        </p:txBody>
      </p:sp>
      <p:sp>
        <p:nvSpPr>
          <p:cNvPr id="125" name="Shape 120"/>
          <p:cNvSpPr/>
          <p:nvPr/>
        </p:nvSpPr>
        <p:spPr>
          <a:xfrm>
            <a:off x="6228893" y="2434001"/>
            <a:ext cx="634350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1"/>
          <p:cNvSpPr txBox="1"/>
          <p:nvPr/>
        </p:nvSpPr>
        <p:spPr>
          <a:xfrm>
            <a:off x="6881531" y="2417902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700" dirty="0"/>
          </a:p>
        </p:txBody>
      </p:sp>
      <p:sp>
        <p:nvSpPr>
          <p:cNvPr id="127" name="Text 122"/>
          <p:cNvSpPr txBox="1"/>
          <p:nvPr/>
        </p:nvSpPr>
        <p:spPr>
          <a:xfrm>
            <a:off x="5223053" y="2525230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capacity</a:t>
            </a:r>
            <a:endParaRPr lang="en-US" sz="700" dirty="0"/>
          </a:p>
        </p:txBody>
      </p:sp>
      <p:sp>
        <p:nvSpPr>
          <p:cNvPr id="128" name="Shape 123"/>
          <p:cNvSpPr/>
          <p:nvPr/>
        </p:nvSpPr>
        <p:spPr>
          <a:xfrm>
            <a:off x="6228893" y="2541329"/>
            <a:ext cx="576682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4"/>
          <p:cNvSpPr txBox="1"/>
          <p:nvPr/>
        </p:nvSpPr>
        <p:spPr>
          <a:xfrm>
            <a:off x="6823862" y="2525230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00" dirty="0"/>
          </a:p>
        </p:txBody>
      </p:sp>
      <p:sp>
        <p:nvSpPr>
          <p:cNvPr id="130" name="Text 125"/>
          <p:cNvSpPr txBox="1"/>
          <p:nvPr/>
        </p:nvSpPr>
        <p:spPr>
          <a:xfrm>
            <a:off x="5223053" y="2641702"/>
            <a:ext cx="21634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= operational: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and batches remove them. 1 in 5 that joined quit; 35% still want to join.</a:t>
            </a:r>
            <a:endParaRPr lang="en-US" sz="700" dirty="0"/>
          </a:p>
        </p:txBody>
      </p:sp>
      <p:sp>
        <p:nvSpPr>
          <p:cNvPr id="131" name="Shape 126"/>
          <p:cNvSpPr/>
          <p:nvPr/>
        </p:nvSpPr>
        <p:spPr>
          <a:xfrm>
            <a:off x="7477963" y="13441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7"/>
          <p:cNvSpPr txBox="1"/>
          <p:nvPr/>
        </p:nvSpPr>
        <p:spPr>
          <a:xfrm>
            <a:off x="7386523" y="13441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</a:t>
            </a:r>
            <a:endParaRPr lang="en-US" sz="1100" dirty="0"/>
          </a:p>
        </p:txBody>
      </p:sp>
      <p:sp>
        <p:nvSpPr>
          <p:cNvPr id="133" name="Text 128"/>
          <p:cNvSpPr txBox="1"/>
          <p:nvPr/>
        </p:nvSpPr>
        <p:spPr>
          <a:xfrm>
            <a:off x="7935163" y="1344168"/>
            <a:ext cx="17062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teardown, meesho.com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listings, 5 product types, 2 Oct 2026</a:t>
            </a:r>
            <a:endParaRPr lang="en-US" sz="750" dirty="0"/>
          </a:p>
        </p:txBody>
      </p:sp>
      <p:sp>
        <p:nvSpPr>
          <p:cNvPr id="134" name="Text 129"/>
          <p:cNvSpPr txBox="1"/>
          <p:nvPr/>
        </p:nvSpPr>
        <p:spPr>
          <a:xfrm>
            <a:off x="7477963" y="1764792"/>
            <a:ext cx="21634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 </a:t>
            </a:r>
            <a:r>
              <a:rPr lang="en-US" sz="700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(demand) · briefs, n = 56</a:t>
            </a:r>
            <a:endParaRPr lang="en-US" sz="700" dirty="0"/>
          </a:p>
        </p:txBody>
      </p:sp>
      <p:sp>
        <p:nvSpPr>
          <p:cNvPr id="135" name="Shape 130"/>
          <p:cNvSpPr/>
          <p:nvPr/>
        </p:nvSpPr>
        <p:spPr>
          <a:xfrm>
            <a:off x="7551115" y="2380153"/>
            <a:ext cx="136093" cy="87813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1"/>
          <p:cNvSpPr/>
          <p:nvPr/>
        </p:nvSpPr>
        <p:spPr>
          <a:xfrm>
            <a:off x="7696352" y="2111730"/>
            <a:ext cx="136093" cy="356235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2"/>
          <p:cNvSpPr txBox="1"/>
          <p:nvPr/>
        </p:nvSpPr>
        <p:spPr>
          <a:xfrm>
            <a:off x="7604912" y="1974570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700" dirty="0"/>
          </a:p>
        </p:txBody>
      </p:sp>
      <p:sp>
        <p:nvSpPr>
          <p:cNvPr id="138" name="Text 133"/>
          <p:cNvSpPr txBox="1"/>
          <p:nvPr/>
        </p:nvSpPr>
        <p:spPr>
          <a:xfrm>
            <a:off x="7487107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</a:t>
            </a:r>
            <a:endParaRPr lang="en-US" sz="700" dirty="0"/>
          </a:p>
        </p:txBody>
      </p:sp>
      <p:sp>
        <p:nvSpPr>
          <p:cNvPr id="139" name="Shape 134"/>
          <p:cNvSpPr/>
          <p:nvPr/>
        </p:nvSpPr>
        <p:spPr>
          <a:xfrm>
            <a:off x="7896454" y="2277704"/>
            <a:ext cx="136093" cy="190261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5"/>
          <p:cNvSpPr/>
          <p:nvPr/>
        </p:nvSpPr>
        <p:spPr>
          <a:xfrm>
            <a:off x="8041691" y="2271648"/>
            <a:ext cx="136093" cy="196317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6"/>
          <p:cNvSpPr txBox="1"/>
          <p:nvPr/>
        </p:nvSpPr>
        <p:spPr>
          <a:xfrm>
            <a:off x="7950251" y="2134488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700" dirty="0"/>
          </a:p>
        </p:txBody>
      </p:sp>
      <p:sp>
        <p:nvSpPr>
          <p:cNvPr id="142" name="Text 137"/>
          <p:cNvSpPr txBox="1"/>
          <p:nvPr/>
        </p:nvSpPr>
        <p:spPr>
          <a:xfrm>
            <a:off x="7832446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200-249</a:t>
            </a:r>
            <a:endParaRPr lang="en-US" sz="700" dirty="0"/>
          </a:p>
        </p:txBody>
      </p:sp>
      <p:sp>
        <p:nvSpPr>
          <p:cNvPr id="143" name="Shape 138"/>
          <p:cNvSpPr/>
          <p:nvPr/>
        </p:nvSpPr>
        <p:spPr>
          <a:xfrm>
            <a:off x="8241792" y="2394788"/>
            <a:ext cx="136093" cy="73177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39"/>
          <p:cNvSpPr/>
          <p:nvPr/>
        </p:nvSpPr>
        <p:spPr>
          <a:xfrm>
            <a:off x="8387029" y="2460874"/>
            <a:ext cx="136093" cy="9144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0"/>
          <p:cNvSpPr txBox="1"/>
          <p:nvPr/>
        </p:nvSpPr>
        <p:spPr>
          <a:xfrm>
            <a:off x="8295589" y="2323714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700" dirty="0"/>
          </a:p>
        </p:txBody>
      </p:sp>
      <p:sp>
        <p:nvSpPr>
          <p:cNvPr id="146" name="Text 141"/>
          <p:cNvSpPr txBox="1"/>
          <p:nvPr/>
        </p:nvSpPr>
        <p:spPr>
          <a:xfrm>
            <a:off x="8177784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250-299</a:t>
            </a:r>
            <a:endParaRPr lang="en-US" sz="700" dirty="0"/>
          </a:p>
        </p:txBody>
      </p:sp>
      <p:sp>
        <p:nvSpPr>
          <p:cNvPr id="147" name="Shape 142"/>
          <p:cNvSpPr/>
          <p:nvPr/>
        </p:nvSpPr>
        <p:spPr>
          <a:xfrm>
            <a:off x="8587130" y="2248433"/>
            <a:ext cx="136093" cy="219532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3"/>
          <p:cNvSpPr/>
          <p:nvPr/>
        </p:nvSpPr>
        <p:spPr>
          <a:xfrm>
            <a:off x="8732368" y="2252358"/>
            <a:ext cx="136093" cy="215607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4"/>
          <p:cNvSpPr txBox="1"/>
          <p:nvPr/>
        </p:nvSpPr>
        <p:spPr>
          <a:xfrm>
            <a:off x="8640928" y="2115198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700" dirty="0"/>
          </a:p>
        </p:txBody>
      </p:sp>
      <p:sp>
        <p:nvSpPr>
          <p:cNvPr id="150" name="Text 145"/>
          <p:cNvSpPr txBox="1"/>
          <p:nvPr/>
        </p:nvSpPr>
        <p:spPr>
          <a:xfrm>
            <a:off x="8523122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300-399</a:t>
            </a:r>
            <a:endParaRPr lang="en-US" sz="700" dirty="0"/>
          </a:p>
        </p:txBody>
      </p:sp>
      <p:sp>
        <p:nvSpPr>
          <p:cNvPr id="151" name="Shape 146"/>
          <p:cNvSpPr/>
          <p:nvPr/>
        </p:nvSpPr>
        <p:spPr>
          <a:xfrm>
            <a:off x="8932469" y="2321611"/>
            <a:ext cx="136093" cy="146355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47"/>
          <p:cNvSpPr/>
          <p:nvPr/>
        </p:nvSpPr>
        <p:spPr>
          <a:xfrm>
            <a:off x="9077706" y="2423630"/>
            <a:ext cx="136093" cy="44335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48"/>
          <p:cNvSpPr txBox="1"/>
          <p:nvPr/>
        </p:nvSpPr>
        <p:spPr>
          <a:xfrm>
            <a:off x="8986266" y="2286470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700" dirty="0"/>
          </a:p>
        </p:txBody>
      </p:sp>
      <p:sp>
        <p:nvSpPr>
          <p:cNvPr id="154" name="Text 149"/>
          <p:cNvSpPr txBox="1"/>
          <p:nvPr/>
        </p:nvSpPr>
        <p:spPr>
          <a:xfrm>
            <a:off x="8868461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400-599</a:t>
            </a:r>
            <a:endParaRPr lang="en-US" sz="700" dirty="0"/>
          </a:p>
        </p:txBody>
      </p:sp>
      <p:sp>
        <p:nvSpPr>
          <p:cNvPr id="155" name="Shape 150"/>
          <p:cNvSpPr/>
          <p:nvPr/>
        </p:nvSpPr>
        <p:spPr>
          <a:xfrm>
            <a:off x="9277807" y="2365517"/>
            <a:ext cx="136093" cy="102448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1"/>
          <p:cNvSpPr/>
          <p:nvPr/>
        </p:nvSpPr>
        <p:spPr>
          <a:xfrm>
            <a:off x="9423044" y="2467966"/>
            <a:ext cx="136093" cy="9144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2"/>
          <p:cNvSpPr txBox="1"/>
          <p:nvPr/>
        </p:nvSpPr>
        <p:spPr>
          <a:xfrm>
            <a:off x="9331604" y="2330806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00" dirty="0"/>
          </a:p>
        </p:txBody>
      </p:sp>
      <p:sp>
        <p:nvSpPr>
          <p:cNvPr id="158" name="Text 153"/>
          <p:cNvSpPr txBox="1"/>
          <p:nvPr/>
        </p:nvSpPr>
        <p:spPr>
          <a:xfrm>
            <a:off x="9213799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</a:t>
            </a:r>
            <a:endParaRPr lang="en-US" sz="700" dirty="0"/>
          </a:p>
        </p:txBody>
      </p:sp>
      <p:sp>
        <p:nvSpPr>
          <p:cNvPr id="159" name="Text 154"/>
          <p:cNvSpPr txBox="1"/>
          <p:nvPr/>
        </p:nvSpPr>
        <p:spPr>
          <a:xfrm>
            <a:off x="7477963" y="2641702"/>
            <a:ext cx="21634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₹200: 11% of listings, 43% of reviews. Buyers pay 3-37% below listing medians.</a:t>
            </a:r>
            <a:endParaRPr lang="en-US" sz="700" dirty="0"/>
          </a:p>
        </p:txBody>
      </p:sp>
      <p:sp>
        <p:nvSpPr>
          <p:cNvPr id="160" name="Shape 155"/>
          <p:cNvSpPr/>
          <p:nvPr/>
        </p:nvSpPr>
        <p:spPr>
          <a:xfrm>
            <a:off x="9732874" y="13441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6"/>
          <p:cNvSpPr txBox="1"/>
          <p:nvPr/>
        </p:nvSpPr>
        <p:spPr>
          <a:xfrm>
            <a:off x="9641434" y="13441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162" name="Text 157"/>
          <p:cNvSpPr txBox="1"/>
          <p:nvPr/>
        </p:nvSpPr>
        <p:spPr>
          <a:xfrm>
            <a:off x="10190074" y="1344168"/>
            <a:ext cx="17062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buyer survey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buyers, last 3 months (kit: research/13)</a:t>
            </a:r>
            <a:endParaRPr lang="en-US" sz="750" dirty="0"/>
          </a:p>
        </p:txBody>
      </p:sp>
      <p:sp>
        <p:nvSpPr>
          <p:cNvPr id="163" name="Shape 158"/>
          <p:cNvSpPr/>
          <p:nvPr/>
        </p:nvSpPr>
        <p:spPr>
          <a:xfrm>
            <a:off x="9732874" y="1801368"/>
            <a:ext cx="2163470" cy="812902"/>
          </a:xfrm>
          <a:prstGeom prst="rect">
            <a:avLst/>
          </a:prstGeom>
          <a:solidFill>
            <a:srgbClr val="FFFFFF"/>
          </a:solidFill>
          <a:ln w="9525">
            <a:solidFill>
              <a:srgbClr val="E843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59"/>
          <p:cNvSpPr txBox="1"/>
          <p:nvPr/>
        </p:nvSpPr>
        <p:spPr>
          <a:xfrm>
            <a:off x="9806026" y="1837944"/>
            <a:ext cx="2017166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Q6-Q8 price ladder: % choosing 7-8 day delivery at ₹10 / ₹20 / ₹40 off · Q9 % paying in advance · Q10 trust in “Sold directly by the manufacturer” · base n on each chart]</a:t>
            </a:r>
            <a:endParaRPr lang="en-US" sz="750" dirty="0"/>
          </a:p>
        </p:txBody>
      </p:sp>
      <p:sp>
        <p:nvSpPr>
          <p:cNvPr id="165" name="Text 160"/>
          <p:cNvSpPr txBox="1"/>
          <p:nvPr/>
        </p:nvSpPr>
        <p:spPr>
          <a:xfrm>
            <a:off x="9732874" y="2641702"/>
            <a:ext cx="21634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takeaway: the majority answer and its implication]</a:t>
            </a:r>
            <a:endParaRPr lang="en-US" sz="700" dirty="0"/>
          </a:p>
        </p:txBody>
      </p:sp>
      <p:sp>
        <p:nvSpPr>
          <p:cNvPr id="166" name="Shape 161"/>
          <p:cNvSpPr/>
          <p:nvPr/>
        </p:nvSpPr>
        <p:spPr>
          <a:xfrm>
            <a:off x="5159045" y="3025750"/>
            <a:ext cx="6801307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2"/>
          <p:cNvSpPr txBox="1"/>
          <p:nvPr/>
        </p:nvSpPr>
        <p:spPr>
          <a:xfrm>
            <a:off x="5223053" y="3025750"/>
            <a:ext cx="6673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interviews: what blocks them, by cohort (Round 1, 8 per cohort)</a:t>
            </a:r>
            <a:endParaRPr lang="en-US" sz="950" dirty="0"/>
          </a:p>
        </p:txBody>
      </p:sp>
      <p:sp>
        <p:nvSpPr>
          <p:cNvPr id="168" name="Shape 163"/>
          <p:cNvSpPr/>
          <p:nvPr/>
        </p:nvSpPr>
        <p:spPr>
          <a:xfrm>
            <a:off x="5159045" y="3272638"/>
            <a:ext cx="6801307" cy="98115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4"/>
          <p:cNvSpPr/>
          <p:nvPr/>
        </p:nvSpPr>
        <p:spPr>
          <a:xfrm>
            <a:off x="5223053" y="333664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5"/>
          <p:cNvSpPr txBox="1"/>
          <p:nvPr/>
        </p:nvSpPr>
        <p:spPr>
          <a:xfrm>
            <a:off x="5131613" y="333664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700" dirty="0"/>
          </a:p>
        </p:txBody>
      </p:sp>
      <p:sp>
        <p:nvSpPr>
          <p:cNvPr id="171" name="Text 166"/>
          <p:cNvSpPr txBox="1"/>
          <p:nvPr/>
        </p:nvSpPr>
        <p:spPr>
          <a:xfrm>
            <a:off x="5177333" y="3921862"/>
            <a:ext cx="65836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interviews, cohorts A, B, C</a:t>
            </a:r>
            <a:endParaRPr lang="en-US" sz="700" dirty="0"/>
          </a:p>
        </p:txBody>
      </p:sp>
      <p:graphicFrame>
        <p:nvGraphicFramePr>
          <p:cNvPr id="172" name="Table 0"/>
          <p:cNvGraphicFramePr>
            <a:graphicFrameLocks noGrp="1"/>
          </p:cNvGraphicFramePr>
          <p:nvPr/>
        </p:nvGraphicFramePr>
        <p:xfrm>
          <a:off x="5908853" y="3318358"/>
          <a:ext cx="5987490" cy="87142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Barrier (severity)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Returns, RTO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Unproven demand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cycle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conflict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can fix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3" name="Shape 167"/>
          <p:cNvSpPr/>
          <p:nvPr/>
        </p:nvSpPr>
        <p:spPr>
          <a:xfrm>
            <a:off x="548640" y="4345229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68"/>
          <p:cNvSpPr txBox="1"/>
          <p:nvPr/>
        </p:nvSpPr>
        <p:spPr>
          <a:xfrm>
            <a:off x="612648" y="4345229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Stakeholders’ voice: published owner and leader interviews (verbatim, ≤ 25 words)</a:t>
            </a:r>
            <a:endParaRPr lang="en-US" sz="950" dirty="0"/>
          </a:p>
        </p:txBody>
      </p:sp>
      <p:sp>
        <p:nvSpPr>
          <p:cNvPr id="175" name="Shape 169"/>
          <p:cNvSpPr/>
          <p:nvPr/>
        </p:nvSpPr>
        <p:spPr>
          <a:xfrm>
            <a:off x="548640" y="4592117"/>
            <a:ext cx="11411712" cy="153436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0"/>
          <p:cNvSpPr/>
          <p:nvPr/>
        </p:nvSpPr>
        <p:spPr>
          <a:xfrm>
            <a:off x="658368" y="4857064"/>
            <a:ext cx="274320" cy="27432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7" name="Image 3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" y="4917415"/>
            <a:ext cx="153619" cy="153619"/>
          </a:xfrm>
          <a:prstGeom prst="rect">
            <a:avLst/>
          </a:prstGeom>
        </p:spPr>
      </p:pic>
      <p:sp>
        <p:nvSpPr>
          <p:cNvPr id="178" name="Shape 171"/>
          <p:cNvSpPr/>
          <p:nvPr/>
        </p:nvSpPr>
        <p:spPr>
          <a:xfrm>
            <a:off x="658368" y="5167503"/>
            <a:ext cx="274320" cy="27432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9" name="Image 4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" y="5227853"/>
            <a:ext cx="153619" cy="153619"/>
          </a:xfrm>
          <a:prstGeom prst="rect">
            <a:avLst/>
          </a:prstGeom>
        </p:spPr>
      </p:pic>
      <p:sp>
        <p:nvSpPr>
          <p:cNvPr id="180" name="Shape 172"/>
          <p:cNvSpPr/>
          <p:nvPr/>
        </p:nvSpPr>
        <p:spPr>
          <a:xfrm>
            <a:off x="658368" y="5477942"/>
            <a:ext cx="274320" cy="27432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1" name="Image 5" descr="/Users/prathmeshwalimbe/Downloads/Meesho/02_round2_detailed_submission/deck/source/assets/icons/FaUserTi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" y="5538292"/>
            <a:ext cx="153619" cy="153619"/>
          </a:xfrm>
          <a:prstGeom prst="rect">
            <a:avLst/>
          </a:prstGeom>
        </p:spPr>
      </p:pic>
      <p:sp>
        <p:nvSpPr>
          <p:cNvPr id="182" name="Shape 173"/>
          <p:cNvSpPr/>
          <p:nvPr/>
        </p:nvSpPr>
        <p:spPr>
          <a:xfrm>
            <a:off x="658368" y="5788381"/>
            <a:ext cx="274320" cy="27432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3" name="Image 6" descr="/Users/prathmeshwalimbe/Downloads/Meesho/02_round2_detailed_submission/deck/source/assets/icons/FaUserTi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" y="5848731"/>
            <a:ext cx="153619" cy="153619"/>
          </a:xfrm>
          <a:prstGeom prst="rect">
            <a:avLst/>
          </a:prstGeom>
        </p:spPr>
      </p:pic>
      <p:graphicFrame>
        <p:nvGraphicFramePr>
          <p:cNvPr id="184" name="Table 1"/>
          <p:cNvGraphicFramePr>
            <a:graphicFrameLocks noGrp="1"/>
          </p:cNvGraphicFramePr>
          <p:nvPr/>
        </p:nvGraphicFramePr>
        <p:xfrm>
          <a:off x="996696" y="4637837"/>
          <a:ext cx="10899648" cy="144292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 (verbatim)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area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 for Meesho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Navamani, MD, Cossmo Tex (Tiruppur)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“Currently, domestic business is about 20%, and we are planning to increase it to 35-40% … because export markets are mostly volatile.”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orders swing with tariffs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C2M as a permanent domestic hedge, not a rescue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Ashwin Kumar, Managing Partner, NASA Impex (Tiruppur)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“Orders of around 100 pieces tend to double costs … so 500 pieces is our preferred minimum.”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runs cost twice as much per piece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 pools district demand into batches of 500+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Vinod Dhamija, Chairman, HCCI Panipat chapter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“Panipat’s exports had shrunk by 50 per cent, while the domestic market had also been disturbed very badly.”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looms, weak domestic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Demand,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Panipat is pilot cluster 2; 30% paid at handover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Vidit Aatrey, CEO, Meesho (Q4 FY26 call)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“If their quality is not that great, they do not get visibility for orders.”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sellers start with no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 grants for new factories, not order subsidies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5" name="Graphic 185" descr="Objectiv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4100" y="1085850"/>
            <a:ext cx="165100" cy="165100"/>
          </a:xfrm>
          <a:prstGeom prst="rect">
            <a:avLst/>
          </a:prstGeom>
        </p:spPr>
      </p:pic>
      <p:pic>
        <p:nvPicPr>
          <p:cNvPr id="186" name="Graphic 186" descr="Challen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4100" y="3054350"/>
            <a:ext cx="165100" cy="165100"/>
          </a:xfrm>
          <a:prstGeom prst="rect">
            <a:avLst/>
          </a:prstGeom>
        </p:spPr>
      </p:pic>
      <p:pic>
        <p:nvPicPr>
          <p:cNvPr id="187" name="Graphic 187" descr="Data se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188" name="Graphic 188" descr="Interview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60200" y="3054350"/>
            <a:ext cx="165100" cy="165100"/>
          </a:xfrm>
          <a:prstGeom prst="rect">
            <a:avLst/>
          </a:prstGeom>
        </p:spPr>
      </p:pic>
      <p:pic>
        <p:nvPicPr>
          <p:cNvPr id="189" name="Graphic 189" descr="Stakehol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0200" y="4375150"/>
            <a:ext cx="165100" cy="165100"/>
          </a:xfrm>
          <a:prstGeom prst="rect">
            <a:avLst/>
          </a:prstGeom>
        </p:spPr>
      </p:pic>
      <p:pic>
        <p:nvPicPr>
          <p:cNvPr id="191" name="Graphic 191" descr="Wholesal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95500" y="1568450"/>
            <a:ext cx="127000" cy="127000"/>
          </a:xfrm>
          <a:prstGeom prst="rect">
            <a:avLst/>
          </a:prstGeom>
        </p:spPr>
      </p:pic>
      <p:pic>
        <p:nvPicPr>
          <p:cNvPr id="192" name="Graphic 192" descr="Resell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11500" y="1568450"/>
            <a:ext cx="127000" cy="127000"/>
          </a:xfrm>
          <a:prstGeom prst="rect">
            <a:avLst/>
          </a:prstGeom>
        </p:spPr>
      </p:pic>
      <p:pic>
        <p:nvPicPr>
          <p:cNvPr id="193" name="Graphic 193" descr="Buy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52900" y="1568450"/>
            <a:ext cx="127000" cy="127000"/>
          </a:xfrm>
          <a:prstGeom prst="rect">
            <a:avLst/>
          </a:prstGeom>
        </p:spPr>
      </p:pic>
      <p:pic>
        <p:nvPicPr>
          <p:cNvPr id="194" name="Graphic 194" descr="Fac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9500" y="2076450"/>
            <a:ext cx="127000" cy="127000"/>
          </a:xfrm>
          <a:prstGeom prst="rect">
            <a:avLst/>
          </a:prstGeom>
        </p:spPr>
      </p:pic>
      <p:pic>
        <p:nvPicPr>
          <p:cNvPr id="195" name="Graphic 195" descr="Pre-or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95500" y="2076450"/>
            <a:ext cx="127000" cy="127000"/>
          </a:xfrm>
          <a:prstGeom prst="rect">
            <a:avLst/>
          </a:prstGeom>
        </p:spPr>
      </p:pic>
      <p:pic>
        <p:nvPicPr>
          <p:cNvPr id="196" name="Graphic 196" descr="Factory No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11500" y="2076450"/>
            <a:ext cx="127000" cy="127000"/>
          </a:xfrm>
          <a:prstGeom prst="rect">
            <a:avLst/>
          </a:prstGeom>
        </p:spPr>
      </p:pic>
      <p:pic>
        <p:nvPicPr>
          <p:cNvPr id="197" name="Graphic 197" descr="Buy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52900" y="2076450"/>
            <a:ext cx="127000" cy="127000"/>
          </a:xfrm>
          <a:prstGeom prst="rect">
            <a:avLst/>
          </a:prstGeom>
        </p:spPr>
      </p:pic>
      <p:pic>
        <p:nvPicPr>
          <p:cNvPr id="198" name="Graphic 198" descr="Price discov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66900" y="3352800"/>
            <a:ext cx="139700" cy="139700"/>
          </a:xfrm>
          <a:prstGeom prst="rect">
            <a:avLst/>
          </a:prstGeom>
        </p:spPr>
      </p:pic>
      <p:pic>
        <p:nvPicPr>
          <p:cNvPr id="199" name="Graphic 199" descr="Unit opera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352800" y="3352800"/>
            <a:ext cx="139700" cy="139700"/>
          </a:xfrm>
          <a:prstGeom prst="rect">
            <a:avLst/>
          </a:prstGeom>
        </p:spPr>
      </p:pic>
      <p:pic>
        <p:nvPicPr>
          <p:cNvPr id="200" name="Graphic 200" descr="Inventory and cas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26000" y="3352800"/>
            <a:ext cx="139700" cy="139700"/>
          </a:xfrm>
          <a:prstGeom prst="rect">
            <a:avLst/>
          </a:prstGeom>
        </p:spPr>
      </p:pic>
      <p:pic>
        <p:nvPicPr>
          <p:cNvPr id="201" name="Graphic 201" descr="Demand and visi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866900" y="3835400"/>
            <a:ext cx="139700" cy="139700"/>
          </a:xfrm>
          <a:prstGeom prst="rect">
            <a:avLst/>
          </a:prstGeom>
        </p:spPr>
      </p:pic>
      <p:pic>
        <p:nvPicPr>
          <p:cNvPr id="202" name="Graphic 202" descr="Reten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352800" y="3835400"/>
            <a:ext cx="139700" cy="139700"/>
          </a:xfrm>
          <a:prstGeom prst="rect">
            <a:avLst/>
          </a:prstGeom>
        </p:spPr>
      </p:pic>
      <p:pic>
        <p:nvPicPr>
          <p:cNvPr id="203" name="Graphic 203" descr="Cohort 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16700" y="352425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23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11,645 manufacturers can carry a real price gap; offline B2B factories (8,400) in hosiery and home textiles go first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target Cohort A in hosiery and home textiles first, re-invite Cohort C in parallel, offer Cohort B value-tier only. Owner: Category · KPI: 60 factories catalogued by Day 60.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S5 MSME limits · S7 Udyam · S9 · S11 return fee · S20 category mix · S22 Round 1 (12-category screen, 24 interviews, cohort split)   |   Rubrics: Appendix C   |   ✓ = 5, - = 3, ✕ = 1   |   Personas are composites, not real firms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evaluation: 12 category segments × 4 cost metrics (weighted)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4747199" cy="336133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4619183" cy="2852928"/>
        </p:xfrm>
        <a:graphic>
          <a:graphicData uri="http://schemas.openxmlformats.org/drawingml/2006/table">
            <a:tbl>
              <a:tblPr/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72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(category)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20%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25%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Freight 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Saree &amp; dress material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Erode, Bhiwandi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textiles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Panipat, Solapur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Moulded plastics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Rajkot, Daman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Hosiery &amp; innerwear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Tiruppur, Ludhiana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Imitation jewellery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Rajkot, Coimbatore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footwear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Agra, Bahadurgarh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kitchenware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Jagadhri, Wazirpur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Brass décor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Moradabad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Nangloi, Kolkata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 western 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Gandhi Nagar, Bengaluru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accessories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Import-assembly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Ethnic 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9" name="Text 33"/>
          <p:cNvSpPr txBox="1"/>
          <p:nvPr/>
        </p:nvSpPr>
        <p:spPr>
          <a:xfrm>
            <a:off x="612648" y="4358030"/>
            <a:ext cx="4619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10-12 fail two tests: not now.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✓ = factory cost ≥ 12% under the demand-weighted median; Returns ✓ = low return band; Freight ✓ = light for its value.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548640" y="4751222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612648" y="4751222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sizing: TAM → SAM → SOM (firms)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548640" y="4998110"/>
            <a:ext cx="4747199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612648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 txBox="1"/>
          <p:nvPr/>
        </p:nvSpPr>
        <p:spPr>
          <a:xfrm>
            <a:off x="612648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4.72 cr</a:t>
            </a:r>
            <a:endParaRPr lang="en-US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594360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Udyam-registered MSMEs</a:t>
            </a:r>
            <a:endParaRPr lang="en-US" sz="650" dirty="0"/>
          </a:p>
        </p:txBody>
      </p:sp>
      <p:sp>
        <p:nvSpPr>
          <p:cNvPr id="46" name="Shape 40"/>
          <p:cNvSpPr/>
          <p:nvPr/>
        </p:nvSpPr>
        <p:spPr>
          <a:xfrm>
            <a:off x="1280369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 txBox="1"/>
          <p:nvPr/>
        </p:nvSpPr>
        <p:spPr>
          <a:xfrm>
            <a:off x="1280369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5.28 lakh</a:t>
            </a:r>
            <a:endParaRPr lang="en-US" sz="850" dirty="0"/>
          </a:p>
        </p:txBody>
      </p:sp>
      <p:sp>
        <p:nvSpPr>
          <p:cNvPr id="48" name="Text 42"/>
          <p:cNvSpPr txBox="1"/>
          <p:nvPr/>
        </p:nvSpPr>
        <p:spPr>
          <a:xfrm>
            <a:off x="1262081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micro (small + medium)</a:t>
            </a:r>
            <a:endParaRPr lang="en-US" sz="650" dirty="0"/>
          </a:p>
        </p:txBody>
      </p:sp>
      <p:sp>
        <p:nvSpPr>
          <p:cNvPr id="49" name="Shape 43"/>
          <p:cNvSpPr/>
          <p:nvPr/>
        </p:nvSpPr>
        <p:spPr>
          <a:xfrm>
            <a:off x="1124921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 txBox="1"/>
          <p:nvPr/>
        </p:nvSpPr>
        <p:spPr>
          <a:xfrm>
            <a:off x="1152353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650" dirty="0"/>
          </a:p>
        </p:txBody>
      </p:sp>
      <p:sp>
        <p:nvSpPr>
          <p:cNvPr id="51" name="Shape 45"/>
          <p:cNvSpPr/>
          <p:nvPr/>
        </p:nvSpPr>
        <p:spPr>
          <a:xfrm>
            <a:off x="1948090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 txBox="1"/>
          <p:nvPr/>
        </p:nvSpPr>
        <p:spPr>
          <a:xfrm>
            <a:off x="1948090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1.85 lakh</a:t>
            </a:r>
            <a:endParaRPr lang="en-US" sz="850" dirty="0"/>
          </a:p>
        </p:txBody>
      </p:sp>
      <p:sp>
        <p:nvSpPr>
          <p:cNvPr id="53" name="Text 47"/>
          <p:cNvSpPr txBox="1"/>
          <p:nvPr/>
        </p:nvSpPr>
        <p:spPr>
          <a:xfrm>
            <a:off x="1929802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manufacturing</a:t>
            </a:r>
            <a:endParaRPr lang="en-US" sz="650" dirty="0"/>
          </a:p>
        </p:txBody>
      </p:sp>
      <p:sp>
        <p:nvSpPr>
          <p:cNvPr id="54" name="Shape 48"/>
          <p:cNvSpPr/>
          <p:nvPr/>
        </p:nvSpPr>
        <p:spPr>
          <a:xfrm>
            <a:off x="1792642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 txBox="1"/>
          <p:nvPr/>
        </p:nvSpPr>
        <p:spPr>
          <a:xfrm>
            <a:off x="1820074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650" dirty="0"/>
          </a:p>
        </p:txBody>
      </p:sp>
      <p:sp>
        <p:nvSpPr>
          <p:cNvPr id="56" name="Shape 50"/>
          <p:cNvSpPr/>
          <p:nvPr/>
        </p:nvSpPr>
        <p:spPr>
          <a:xfrm>
            <a:off x="2615811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 txBox="1"/>
          <p:nvPr/>
        </p:nvSpPr>
        <p:spPr>
          <a:xfrm>
            <a:off x="2615811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55,451</a:t>
            </a:r>
            <a:endParaRPr lang="en-US" sz="1000" dirty="0"/>
          </a:p>
        </p:txBody>
      </p:sp>
      <p:sp>
        <p:nvSpPr>
          <p:cNvPr id="58" name="Text 52"/>
          <p:cNvSpPr txBox="1"/>
          <p:nvPr/>
        </p:nvSpPr>
        <p:spPr>
          <a:xfrm>
            <a:off x="2597523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Meesho’s categories</a:t>
            </a:r>
            <a:endParaRPr lang="en-US" sz="650" dirty="0"/>
          </a:p>
        </p:txBody>
      </p:sp>
      <p:sp>
        <p:nvSpPr>
          <p:cNvPr id="59" name="Shape 53"/>
          <p:cNvSpPr/>
          <p:nvPr/>
        </p:nvSpPr>
        <p:spPr>
          <a:xfrm>
            <a:off x="2460363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4"/>
          <p:cNvSpPr txBox="1"/>
          <p:nvPr/>
        </p:nvSpPr>
        <p:spPr>
          <a:xfrm>
            <a:off x="2487795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650" dirty="0"/>
          </a:p>
        </p:txBody>
      </p:sp>
      <p:sp>
        <p:nvSpPr>
          <p:cNvPr id="61" name="Shape 55"/>
          <p:cNvSpPr/>
          <p:nvPr/>
        </p:nvSpPr>
        <p:spPr>
          <a:xfrm>
            <a:off x="3283532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6"/>
          <p:cNvSpPr txBox="1"/>
          <p:nvPr/>
        </p:nvSpPr>
        <p:spPr>
          <a:xfrm>
            <a:off x="3283532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19,408</a:t>
            </a:r>
            <a:endParaRPr lang="en-US" sz="1000" dirty="0"/>
          </a:p>
        </p:txBody>
      </p:sp>
      <p:sp>
        <p:nvSpPr>
          <p:cNvPr id="63" name="Text 57"/>
          <p:cNvSpPr txBox="1"/>
          <p:nvPr/>
        </p:nvSpPr>
        <p:spPr>
          <a:xfrm>
            <a:off x="3265244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3+ of 4 cost levers</a:t>
            </a:r>
            <a:endParaRPr lang="en-US" sz="650" dirty="0"/>
          </a:p>
        </p:txBody>
      </p:sp>
      <p:sp>
        <p:nvSpPr>
          <p:cNvPr id="64" name="Shape 58"/>
          <p:cNvSpPr/>
          <p:nvPr/>
        </p:nvSpPr>
        <p:spPr>
          <a:xfrm>
            <a:off x="3128084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9"/>
          <p:cNvSpPr txBox="1"/>
          <p:nvPr/>
        </p:nvSpPr>
        <p:spPr>
          <a:xfrm>
            <a:off x="3155516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650" dirty="0"/>
          </a:p>
        </p:txBody>
      </p:sp>
      <p:sp>
        <p:nvSpPr>
          <p:cNvPr id="66" name="Shape 60"/>
          <p:cNvSpPr/>
          <p:nvPr/>
        </p:nvSpPr>
        <p:spPr>
          <a:xfrm>
            <a:off x="3951253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1"/>
          <p:cNvSpPr txBox="1"/>
          <p:nvPr/>
        </p:nvSpPr>
        <p:spPr>
          <a:xfrm>
            <a:off x="3951253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11,645</a:t>
            </a:r>
            <a:endParaRPr lang="en-US" sz="1000" dirty="0"/>
          </a:p>
        </p:txBody>
      </p:sp>
      <p:sp>
        <p:nvSpPr>
          <p:cNvPr id="68" name="Text 62"/>
          <p:cNvSpPr txBox="1"/>
          <p:nvPr/>
        </p:nvSpPr>
        <p:spPr>
          <a:xfrm>
            <a:off x="3932965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12 screened clusters</a:t>
            </a:r>
            <a:endParaRPr lang="en-US" sz="650" dirty="0"/>
          </a:p>
        </p:txBody>
      </p:sp>
      <p:sp>
        <p:nvSpPr>
          <p:cNvPr id="69" name="Shape 63"/>
          <p:cNvSpPr/>
          <p:nvPr/>
        </p:nvSpPr>
        <p:spPr>
          <a:xfrm>
            <a:off x="3795805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4"/>
          <p:cNvSpPr txBox="1"/>
          <p:nvPr/>
        </p:nvSpPr>
        <p:spPr>
          <a:xfrm>
            <a:off x="3823237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650" dirty="0"/>
          </a:p>
        </p:txBody>
      </p:sp>
      <p:sp>
        <p:nvSpPr>
          <p:cNvPr id="71" name="Shape 65"/>
          <p:cNvSpPr/>
          <p:nvPr/>
        </p:nvSpPr>
        <p:spPr>
          <a:xfrm>
            <a:off x="4618974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 txBox="1"/>
          <p:nvPr/>
        </p:nvSpPr>
        <p:spPr>
          <a:xfrm>
            <a:off x="4618974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</a:t>
            </a:r>
            <a:endParaRPr lang="en-US" sz="1000" dirty="0"/>
          </a:p>
        </p:txBody>
      </p:sp>
      <p:sp>
        <p:nvSpPr>
          <p:cNvPr id="73" name="Text 67"/>
          <p:cNvSpPr txBox="1"/>
          <p:nvPr/>
        </p:nvSpPr>
        <p:spPr>
          <a:xfrm>
            <a:off x="4600686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C2M sellers by Year 4</a:t>
            </a:r>
            <a:endParaRPr lang="en-US" sz="650" dirty="0"/>
          </a:p>
        </p:txBody>
      </p:sp>
      <p:sp>
        <p:nvSpPr>
          <p:cNvPr id="74" name="Shape 68"/>
          <p:cNvSpPr/>
          <p:nvPr/>
        </p:nvSpPr>
        <p:spPr>
          <a:xfrm>
            <a:off x="4463526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9"/>
          <p:cNvSpPr txBox="1"/>
          <p:nvPr/>
        </p:nvSpPr>
        <p:spPr>
          <a:xfrm>
            <a:off x="4490958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650" dirty="0"/>
          </a:p>
        </p:txBody>
      </p:sp>
      <p:sp>
        <p:nvSpPr>
          <p:cNvPr id="76" name="Text 70"/>
          <p:cNvSpPr txBox="1"/>
          <p:nvPr/>
        </p:nvSpPr>
        <p:spPr>
          <a:xfrm>
            <a:off x="612648" y="5811926"/>
            <a:ext cx="4619183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55,451 make Meesho’s categories · </a:t>
            </a: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11,645 own ≥ 3 of 4 cost levers in the 12 clusters · </a:t>
            </a: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active by Year 4 (12%) = ₹1,995 cr run-rate NMV</a:t>
            </a:r>
            <a:endParaRPr lang="en-US" sz="750" dirty="0"/>
          </a:p>
        </p:txBody>
      </p:sp>
      <p:sp>
        <p:nvSpPr>
          <p:cNvPr id="77" name="Shape 71"/>
          <p:cNvSpPr/>
          <p:nvPr/>
        </p:nvSpPr>
        <p:spPr>
          <a:xfrm>
            <a:off x="5387279" y="1051560"/>
            <a:ext cx="356030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2"/>
          <p:cNvSpPr txBox="1"/>
          <p:nvPr/>
        </p:nvSpPr>
        <p:spPr>
          <a:xfrm>
            <a:off x="5451287" y="1051560"/>
            <a:ext cx="3432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manufacturer personas (cohort score out of 5)</a:t>
            </a:r>
            <a:endParaRPr lang="en-US" sz="950" dirty="0"/>
          </a:p>
        </p:txBody>
      </p:sp>
      <p:sp>
        <p:nvSpPr>
          <p:cNvPr id="79" name="Shape 73"/>
          <p:cNvSpPr/>
          <p:nvPr/>
        </p:nvSpPr>
        <p:spPr>
          <a:xfrm>
            <a:off x="5387279" y="1298448"/>
            <a:ext cx="3560308" cy="482803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4"/>
          <p:cNvSpPr/>
          <p:nvPr/>
        </p:nvSpPr>
        <p:spPr>
          <a:xfrm>
            <a:off x="5451287" y="1344168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5"/>
          <p:cNvSpPr/>
          <p:nvPr/>
        </p:nvSpPr>
        <p:spPr>
          <a:xfrm>
            <a:off x="5506151" y="1399032"/>
            <a:ext cx="420624" cy="42062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2" name="Image 3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688" y="1491569"/>
            <a:ext cx="235549" cy="235549"/>
          </a:xfrm>
          <a:prstGeom prst="rect">
            <a:avLst/>
          </a:prstGeom>
        </p:spPr>
      </p:pic>
      <p:sp>
        <p:nvSpPr>
          <p:cNvPr id="83" name="Text 76"/>
          <p:cNvSpPr txBox="1"/>
          <p:nvPr/>
        </p:nvSpPr>
        <p:spPr>
          <a:xfrm>
            <a:off x="5981639" y="1380744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Export-hit knitwear owner</a:t>
            </a: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 · Tiruppur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₹10-50 cr turnover · Cohort A = 72% of SAM ≈ 8,400 firms</a:t>
            </a:r>
            <a:endParaRPr lang="en-US" sz="800" dirty="0"/>
          </a:p>
        </p:txBody>
      </p:sp>
      <p:sp>
        <p:nvSpPr>
          <p:cNvPr id="84" name="Shape 77"/>
          <p:cNvSpPr/>
          <p:nvPr/>
        </p:nvSpPr>
        <p:spPr>
          <a:xfrm>
            <a:off x="8334939" y="1417320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8"/>
          <p:cNvSpPr txBox="1"/>
          <p:nvPr/>
        </p:nvSpPr>
        <p:spPr>
          <a:xfrm>
            <a:off x="8362371" y="14173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4.35</a:t>
            </a:r>
            <a:endParaRPr lang="en-US" sz="1100" dirty="0"/>
          </a:p>
        </p:txBody>
      </p:sp>
      <p:sp>
        <p:nvSpPr>
          <p:cNvPr id="86" name="Text 79"/>
          <p:cNvSpPr txBox="1"/>
          <p:nvPr/>
        </p:nvSpPr>
        <p:spPr>
          <a:xfrm>
            <a:off x="5506151" y="1874520"/>
            <a:ext cx="3322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unit-level ops; making to stock is a balance-sheet change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lines after the US tariff; wants a domestic hedge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orders · no packing team · cash before 45-60 days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camps, 40-60 units each</a:t>
            </a:r>
            <a:endParaRPr lang="en-US" sz="750" dirty="0"/>
          </a:p>
        </p:txBody>
      </p:sp>
      <p:sp>
        <p:nvSpPr>
          <p:cNvPr id="87" name="Shape 80"/>
          <p:cNvSpPr/>
          <p:nvPr/>
        </p:nvSpPr>
        <p:spPr>
          <a:xfrm>
            <a:off x="5451287" y="2542032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1"/>
          <p:cNvSpPr/>
          <p:nvPr/>
        </p:nvSpPr>
        <p:spPr>
          <a:xfrm>
            <a:off x="5506151" y="2596896"/>
            <a:ext cx="420624" cy="42062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9" name="Image 4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688" y="2689433"/>
            <a:ext cx="235549" cy="235549"/>
          </a:xfrm>
          <a:prstGeom prst="rect">
            <a:avLst/>
          </a:prstGeom>
        </p:spPr>
      </p:pic>
      <p:sp>
        <p:nvSpPr>
          <p:cNvPr id="90" name="Text 82"/>
          <p:cNvSpPr txBox="1"/>
          <p:nvPr/>
        </p:nvSpPr>
        <p:spPr>
          <a:xfrm>
            <a:off x="5981639" y="2578608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home-textile maker</a:t>
            </a: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 · Panipat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medium units, bulky low-return SKUs</a:t>
            </a:r>
            <a:endParaRPr lang="en-US" sz="800" dirty="0"/>
          </a:p>
        </p:txBody>
      </p:sp>
      <p:sp>
        <p:nvSpPr>
          <p:cNvPr id="91" name="Shape 83"/>
          <p:cNvSpPr/>
          <p:nvPr/>
        </p:nvSpPr>
        <p:spPr>
          <a:xfrm>
            <a:off x="8334939" y="2615184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4"/>
          <p:cNvSpPr txBox="1"/>
          <p:nvPr/>
        </p:nvSpPr>
        <p:spPr>
          <a:xfrm>
            <a:off x="8362371" y="261518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4.35</a:t>
            </a:r>
            <a:endParaRPr lang="en-US" sz="1100" dirty="0"/>
          </a:p>
        </p:txBody>
      </p:sp>
      <p:sp>
        <p:nvSpPr>
          <p:cNvPr id="93" name="Text 85"/>
          <p:cNvSpPr txBox="1"/>
          <p:nvPr/>
        </p:nvSpPr>
        <p:spPr>
          <a:xfrm>
            <a:off x="5506151" y="3072384"/>
            <a:ext cx="3322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Bulky SKUs; no way to handle online returns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−50%, domestic −35% this year: idle looms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domestic orders · bulk freight · price check first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HCCI Panipat chapter; Udyam lists</a:t>
            </a:r>
            <a:endParaRPr lang="en-US" sz="750" dirty="0"/>
          </a:p>
        </p:txBody>
      </p:sp>
      <p:sp>
        <p:nvSpPr>
          <p:cNvPr id="94" name="Shape 86"/>
          <p:cNvSpPr/>
          <p:nvPr/>
        </p:nvSpPr>
        <p:spPr>
          <a:xfrm>
            <a:off x="5451287" y="3739896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87"/>
          <p:cNvSpPr/>
          <p:nvPr/>
        </p:nvSpPr>
        <p:spPr>
          <a:xfrm>
            <a:off x="5506151" y="3794760"/>
            <a:ext cx="420624" cy="420624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6" name="Image 5" descr="/Users/prathmeshwalimbe/Downloads/Meesho/02_round2_detailed_submission/deck/source/assets/icons/FaRotateLef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8688" y="3887297"/>
            <a:ext cx="235549" cy="235549"/>
          </a:xfrm>
          <a:prstGeom prst="rect">
            <a:avLst/>
          </a:prstGeom>
        </p:spPr>
      </p:pic>
      <p:sp>
        <p:nvSpPr>
          <p:cNvPr id="97" name="Text 88"/>
          <p:cNvSpPr txBox="1"/>
          <p:nvPr/>
        </p:nvSpPr>
        <p:spPr>
          <a:xfrm>
            <a:off x="5981639" y="3776472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Meesho manufacturer</a:t>
            </a: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 · Ludhiana, Surat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 = 9% of SAM ≈ 1,050 firms</a:t>
            </a:r>
            <a:endParaRPr lang="en-US" sz="800" dirty="0"/>
          </a:p>
        </p:txBody>
      </p:sp>
      <p:sp>
        <p:nvSpPr>
          <p:cNvPr id="98" name="Shape 89"/>
          <p:cNvSpPr/>
          <p:nvPr/>
        </p:nvSpPr>
        <p:spPr>
          <a:xfrm>
            <a:off x="8334939" y="3813048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0"/>
          <p:cNvSpPr txBox="1"/>
          <p:nvPr/>
        </p:nvSpPr>
        <p:spPr>
          <a:xfrm>
            <a:off x="8362371" y="38130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3.55</a:t>
            </a:r>
            <a:endParaRPr lang="en-US" sz="1100" dirty="0"/>
          </a:p>
        </p:txBody>
      </p:sp>
      <p:sp>
        <p:nvSpPr>
          <p:cNvPr id="100" name="Text 91"/>
          <p:cNvSpPr txBox="1"/>
          <p:nvPr/>
        </p:nvSpPr>
        <p:spPr>
          <a:xfrm>
            <a:off x="5506151" y="4270248"/>
            <a:ext cx="3322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first 30 orders, then a returns or RTO shock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and KYC already done: sunk effort to reuse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capped at the node · early orders · penalty-free re-entry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Dormant-seller list; one WhatsApp re-invite</a:t>
            </a:r>
            <a:endParaRPr lang="en-US" sz="750" dirty="0"/>
          </a:p>
        </p:txBody>
      </p:sp>
      <p:sp>
        <p:nvSpPr>
          <p:cNvPr id="101" name="Shape 92"/>
          <p:cNvSpPr/>
          <p:nvPr/>
        </p:nvSpPr>
        <p:spPr>
          <a:xfrm>
            <a:off x="5451287" y="4937760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3"/>
          <p:cNvSpPr/>
          <p:nvPr/>
        </p:nvSpPr>
        <p:spPr>
          <a:xfrm>
            <a:off x="5506151" y="4992624"/>
            <a:ext cx="420624" cy="420624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3" name="Image 6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8688" y="5085161"/>
            <a:ext cx="235549" cy="235549"/>
          </a:xfrm>
          <a:prstGeom prst="rect">
            <a:avLst/>
          </a:prstGeom>
        </p:spPr>
      </p:pic>
      <p:sp>
        <p:nvSpPr>
          <p:cNvPr id="104" name="Text 94"/>
          <p:cNvSpPr txBox="1"/>
          <p:nvPr/>
        </p:nvSpPr>
        <p:spPr>
          <a:xfrm>
            <a:off x="5981639" y="4974336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Online-elsewhere D2C maker</a:t>
            </a: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 · metros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 = 19% of SAM ≈ 2,200 firms</a:t>
            </a:r>
            <a:endParaRPr lang="en-US" sz="800" dirty="0"/>
          </a:p>
        </p:txBody>
      </p:sp>
      <p:sp>
        <p:nvSpPr>
          <p:cNvPr id="105" name="Shape 95"/>
          <p:cNvSpPr/>
          <p:nvPr/>
        </p:nvSpPr>
        <p:spPr>
          <a:xfrm>
            <a:off x="8334939" y="5010912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6B6B6B"/>
          </a:solidFill>
          <a:ln w="9525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96"/>
          <p:cNvSpPr txBox="1"/>
          <p:nvPr/>
        </p:nvSpPr>
        <p:spPr>
          <a:xfrm>
            <a:off x="8362371" y="5010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</a:t>
            </a:r>
            <a:endParaRPr lang="en-US" sz="1100" dirty="0"/>
          </a:p>
        </p:txBody>
      </p:sp>
      <p:sp>
        <p:nvSpPr>
          <p:cNvPr id="107" name="Text 97"/>
          <p:cNvSpPr txBox="1"/>
          <p:nvPr/>
        </p:nvSpPr>
        <p:spPr>
          <a:xfrm>
            <a:off x="5506151" y="5468112"/>
            <a:ext cx="3322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₹800+ basket catalogue loses money at a ₹265 order value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mn buyers and Tier-2+ reach it lacks elsewhere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Value-tier SKUs, not discounts · no brand dilution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agencies; price-check link</a:t>
            </a:r>
            <a:endParaRPr lang="en-US" sz="750" dirty="0"/>
          </a:p>
        </p:txBody>
      </p:sp>
      <p:sp>
        <p:nvSpPr>
          <p:cNvPr id="108" name="Shape 98"/>
          <p:cNvSpPr/>
          <p:nvPr/>
        </p:nvSpPr>
        <p:spPr>
          <a:xfrm>
            <a:off x="9039027" y="1051560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99"/>
          <p:cNvSpPr txBox="1"/>
          <p:nvPr/>
        </p:nvSpPr>
        <p:spPr>
          <a:xfrm>
            <a:off x="9103035" y="1051560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likely to adopt</a:t>
            </a:r>
            <a:endParaRPr lang="en-US" sz="950" dirty="0"/>
          </a:p>
        </p:txBody>
      </p:sp>
      <p:sp>
        <p:nvSpPr>
          <p:cNvPr id="110" name="Shape 100"/>
          <p:cNvSpPr/>
          <p:nvPr/>
        </p:nvSpPr>
        <p:spPr>
          <a:xfrm>
            <a:off x="9039027" y="1298448"/>
            <a:ext cx="2921325" cy="275234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1"/>
          <p:cNvSpPr/>
          <p:nvPr/>
        </p:nvSpPr>
        <p:spPr>
          <a:xfrm>
            <a:off x="9103035" y="1344168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2"/>
          <p:cNvSpPr txBox="1"/>
          <p:nvPr/>
        </p:nvSpPr>
        <p:spPr>
          <a:xfrm>
            <a:off x="9130467" y="1344168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ethnic-wear traders</a:t>
            </a:r>
            <a:endParaRPr lang="en-US" sz="800" dirty="0"/>
          </a:p>
        </p:txBody>
      </p:sp>
      <p:sp>
        <p:nvSpPr>
          <p:cNvPr id="113" name="Text 103"/>
          <p:cNvSpPr txBox="1"/>
          <p:nvPr/>
        </p:nvSpPr>
        <p:spPr>
          <a:xfrm>
            <a:off x="9130467" y="1545336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out weaving and stitching: no cost ownership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return band; cluster AHP last (3.28)</a:t>
            </a:r>
            <a:endParaRPr lang="en-US" sz="750" dirty="0"/>
          </a:p>
        </p:txBody>
      </p:sp>
      <p:sp>
        <p:nvSpPr>
          <p:cNvPr id="114" name="Shape 104"/>
          <p:cNvSpPr/>
          <p:nvPr/>
        </p:nvSpPr>
        <p:spPr>
          <a:xfrm>
            <a:off x="9103035" y="2020824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05"/>
          <p:cNvSpPr txBox="1"/>
          <p:nvPr/>
        </p:nvSpPr>
        <p:spPr>
          <a:xfrm>
            <a:off x="9130467" y="2020824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Import-assemblers</a:t>
            </a:r>
            <a:endParaRPr lang="en-US" sz="800" dirty="0"/>
          </a:p>
        </p:txBody>
      </p:sp>
      <p:sp>
        <p:nvSpPr>
          <p:cNvPr id="116" name="Text 106"/>
          <p:cNvSpPr txBox="1"/>
          <p:nvPr/>
        </p:nvSpPr>
        <p:spPr>
          <a:xfrm>
            <a:off x="9130467" y="2221992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accessories: cost set by imports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price gap must be funded: a subsidy</a:t>
            </a:r>
            <a:endParaRPr lang="en-US" sz="750" dirty="0"/>
          </a:p>
        </p:txBody>
      </p:sp>
      <p:sp>
        <p:nvSpPr>
          <p:cNvPr id="117" name="Shape 107"/>
          <p:cNvSpPr/>
          <p:nvPr/>
        </p:nvSpPr>
        <p:spPr>
          <a:xfrm>
            <a:off x="9103035" y="2697480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08"/>
          <p:cNvSpPr txBox="1"/>
          <p:nvPr/>
        </p:nvSpPr>
        <p:spPr>
          <a:xfrm>
            <a:off x="9130467" y="2697480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western-wear makers</a:t>
            </a:r>
            <a:endParaRPr lang="en-US" sz="800" dirty="0"/>
          </a:p>
        </p:txBody>
      </p:sp>
      <p:sp>
        <p:nvSpPr>
          <p:cNvPr id="119" name="Text 109"/>
          <p:cNvSpPr txBox="1"/>
          <p:nvPr/>
        </p:nvSpPr>
        <p:spPr>
          <a:xfrm>
            <a:off x="9130467" y="2898648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returns swallow the cost edge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 fee on every return</a:t>
            </a:r>
            <a:endParaRPr lang="en-US" sz="750" dirty="0"/>
          </a:p>
        </p:txBody>
      </p:sp>
      <p:sp>
        <p:nvSpPr>
          <p:cNvPr id="120" name="Shape 110"/>
          <p:cNvSpPr/>
          <p:nvPr/>
        </p:nvSpPr>
        <p:spPr>
          <a:xfrm>
            <a:off x="9103035" y="3374136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1"/>
          <p:cNvSpPr txBox="1"/>
          <p:nvPr/>
        </p:nvSpPr>
        <p:spPr>
          <a:xfrm>
            <a:off x="9130467" y="3374136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D2C lines (Cohort B)</a:t>
            </a:r>
            <a:endParaRPr lang="en-US" sz="800" dirty="0"/>
          </a:p>
        </p:txBody>
      </p:sp>
      <p:sp>
        <p:nvSpPr>
          <p:cNvPr id="122" name="Text 112"/>
          <p:cNvSpPr txBox="1"/>
          <p:nvPr/>
        </p:nvSpPr>
        <p:spPr>
          <a:xfrm>
            <a:off x="9130467" y="3575304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dilution at a ₹265 order value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barrier Meesho cannot fix</a:t>
            </a:r>
            <a:endParaRPr lang="en-US" sz="750" dirty="0"/>
          </a:p>
        </p:txBody>
      </p:sp>
      <p:sp>
        <p:nvSpPr>
          <p:cNvPr id="123" name="Shape 113"/>
          <p:cNvSpPr/>
          <p:nvPr/>
        </p:nvSpPr>
        <p:spPr>
          <a:xfrm>
            <a:off x="9039027" y="4142232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14"/>
          <p:cNvSpPr txBox="1"/>
          <p:nvPr/>
        </p:nvSpPr>
        <p:spPr>
          <a:xfrm>
            <a:off x="9103035" y="4142232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to Meesho</a:t>
            </a:r>
            <a:endParaRPr lang="en-US" sz="950" dirty="0"/>
          </a:p>
        </p:txBody>
      </p:sp>
      <p:sp>
        <p:nvSpPr>
          <p:cNvPr id="125" name="Shape 115"/>
          <p:cNvSpPr/>
          <p:nvPr/>
        </p:nvSpPr>
        <p:spPr>
          <a:xfrm>
            <a:off x="9039027" y="4389120"/>
            <a:ext cx="2921325" cy="173736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16"/>
          <p:cNvSpPr txBox="1"/>
          <p:nvPr/>
        </p:nvSpPr>
        <p:spPr>
          <a:xfrm>
            <a:off x="9103035" y="4434840"/>
            <a:ext cx="279330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Cohort A in hosiery (Tiruppur) and home textiles (Panipat): top cost edge, low returns.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Re-invite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 in parallel: KYC and catalogues already on file.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 a separate value-tier range, never a discount on brand lines.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seller on price, not turnover: 7 of the 10 largest prototype sellers fail.</a:t>
            </a:r>
            <a:endParaRPr lang="en-US" sz="800" dirty="0"/>
          </a:p>
        </p:txBody>
      </p:sp>
      <p:pic>
        <p:nvPicPr>
          <p:cNvPr id="127" name="Graphic 127" descr="Segment evalu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92700" y="1085850"/>
            <a:ext cx="165100" cy="165100"/>
          </a:xfrm>
          <a:prstGeom prst="rect">
            <a:avLst/>
          </a:prstGeom>
        </p:spPr>
      </p:pic>
      <p:pic>
        <p:nvPicPr>
          <p:cNvPr id="128" name="Graphic 128" descr="Market siz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92700" y="4781550"/>
            <a:ext cx="165100" cy="165100"/>
          </a:xfrm>
          <a:prstGeom prst="rect">
            <a:avLst/>
          </a:prstGeom>
        </p:spPr>
      </p:pic>
      <p:pic>
        <p:nvPicPr>
          <p:cNvPr id="129" name="Graphic 129" descr="Person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37600" y="1085850"/>
            <a:ext cx="165100" cy="165100"/>
          </a:xfrm>
          <a:prstGeom prst="rect">
            <a:avLst/>
          </a:prstGeom>
        </p:spPr>
      </p:pic>
      <p:pic>
        <p:nvPicPr>
          <p:cNvPr id="130" name="Graphic 130" descr="Least likel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131" name="Graphic 131" descr="Recommend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60200" y="4171950"/>
            <a:ext cx="165100" cy="165100"/>
          </a:xfrm>
          <a:prstGeom prst="rect">
            <a:avLst/>
          </a:prstGeom>
        </p:spPr>
      </p:pic>
      <p:pic>
        <p:nvPicPr>
          <p:cNvPr id="132" name="Graphic 132" descr="Sare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" y="1668780"/>
            <a:ext cx="114300" cy="114300"/>
          </a:xfrm>
          <a:prstGeom prst="rect">
            <a:avLst/>
          </a:prstGeom>
        </p:spPr>
      </p:pic>
      <p:pic>
        <p:nvPicPr>
          <p:cNvPr id="133" name="Graphic 133" descr="Home textil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700" y="1883410"/>
            <a:ext cx="114300" cy="114300"/>
          </a:xfrm>
          <a:prstGeom prst="rect">
            <a:avLst/>
          </a:prstGeom>
        </p:spPr>
      </p:pic>
      <p:pic>
        <p:nvPicPr>
          <p:cNvPr id="134" name="Graphic 134" descr="Moulded plast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" y="2098040"/>
            <a:ext cx="114300" cy="114300"/>
          </a:xfrm>
          <a:prstGeom prst="rect">
            <a:avLst/>
          </a:prstGeom>
        </p:spPr>
      </p:pic>
      <p:pic>
        <p:nvPicPr>
          <p:cNvPr id="135" name="Graphic 135" descr="Hosi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700" y="2312670"/>
            <a:ext cx="114300" cy="114300"/>
          </a:xfrm>
          <a:prstGeom prst="rect">
            <a:avLst/>
          </a:prstGeom>
        </p:spPr>
      </p:pic>
      <p:pic>
        <p:nvPicPr>
          <p:cNvPr id="136" name="Graphic 136" descr="Jewell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7700" y="2527300"/>
            <a:ext cx="114300" cy="114300"/>
          </a:xfrm>
          <a:prstGeom prst="rect">
            <a:avLst/>
          </a:prstGeom>
        </p:spPr>
      </p:pic>
      <p:pic>
        <p:nvPicPr>
          <p:cNvPr id="137" name="Graphic 137" descr="Footwe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7700" y="2741930"/>
            <a:ext cx="114300" cy="114300"/>
          </a:xfrm>
          <a:prstGeom prst="rect">
            <a:avLst/>
          </a:prstGeom>
        </p:spPr>
      </p:pic>
      <p:pic>
        <p:nvPicPr>
          <p:cNvPr id="138" name="Graphic 138" descr="Kitchenwa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7700" y="2956560"/>
            <a:ext cx="114300" cy="114300"/>
          </a:xfrm>
          <a:prstGeom prst="rect">
            <a:avLst/>
          </a:prstGeom>
        </p:spPr>
      </p:pic>
      <p:pic>
        <p:nvPicPr>
          <p:cNvPr id="139" name="Graphic 139" descr="Brass dec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7700" y="3171190"/>
            <a:ext cx="114300" cy="114300"/>
          </a:xfrm>
          <a:prstGeom prst="rect">
            <a:avLst/>
          </a:prstGeom>
        </p:spPr>
      </p:pic>
      <p:pic>
        <p:nvPicPr>
          <p:cNvPr id="140" name="Graphic 140" descr="Ba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7700" y="3385820"/>
            <a:ext cx="114300" cy="114300"/>
          </a:xfrm>
          <a:prstGeom prst="rect">
            <a:avLst/>
          </a:prstGeom>
        </p:spPr>
      </p:pic>
      <p:pic>
        <p:nvPicPr>
          <p:cNvPr id="141" name="Graphic 141" descr="Western we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7700" y="3600450"/>
            <a:ext cx="114300" cy="114300"/>
          </a:xfrm>
          <a:prstGeom prst="rect">
            <a:avLst/>
          </a:prstGeom>
        </p:spPr>
      </p:pic>
      <p:pic>
        <p:nvPicPr>
          <p:cNvPr id="142" name="Graphic 142" descr="Electron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700" y="3815080"/>
            <a:ext cx="114300" cy="114300"/>
          </a:xfrm>
          <a:prstGeom prst="rect">
            <a:avLst/>
          </a:prstGeom>
        </p:spPr>
      </p:pic>
      <p:pic>
        <p:nvPicPr>
          <p:cNvPr id="143" name="Graphic 143" descr="Ethnic we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7700" y="4029710"/>
            <a:ext cx="114300" cy="114300"/>
          </a:xfrm>
          <a:prstGeom prst="rect">
            <a:avLst/>
          </a:prstGeom>
        </p:spPr>
      </p:pic>
      <p:pic>
        <p:nvPicPr>
          <p:cNvPr id="144" name="Graphic 144" descr="Ethnic wear tra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69400" y="1377950"/>
            <a:ext cx="114300" cy="114300"/>
          </a:xfrm>
          <a:prstGeom prst="rect">
            <a:avLst/>
          </a:prstGeom>
        </p:spPr>
      </p:pic>
      <p:pic>
        <p:nvPicPr>
          <p:cNvPr id="145" name="Graphic 145" descr="Import-assembl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169400" y="2051050"/>
            <a:ext cx="114300" cy="114300"/>
          </a:xfrm>
          <a:prstGeom prst="rect">
            <a:avLst/>
          </a:prstGeom>
        </p:spPr>
      </p:pic>
      <p:pic>
        <p:nvPicPr>
          <p:cNvPr id="146" name="Graphic 146" descr="Western-wear mak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69400" y="2724150"/>
            <a:ext cx="114300" cy="114300"/>
          </a:xfrm>
          <a:prstGeom prst="rect">
            <a:avLst/>
          </a:prstGeom>
        </p:spPr>
      </p:pic>
      <p:pic>
        <p:nvPicPr>
          <p:cNvPr id="147" name="Graphic 147" descr="Premium D2C lin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169400" y="340995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1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users, one flow: buyers prepay, factories make, nodes ship, an NBFC funds and Meesho runs the rules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FLOW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sign the three partner roles before the first batch (two associations, one Tiruppur node, one NBFC); first prepaid batches in Week 10. Owner: Category + Valmo + Finance · KPI: all signed by Day 60.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(10.3 orders per buyer a year; 37% of shipped orders prepaid), S9, S12 (₹24 SMB fulfilment), S18 MSME-TEAM, S26 seller loans; prototype (~910 sellers per manager)   |   Flow numbers: one 1,000-pack batch   |   Personas are composites, not real people or firms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for one 1,000-pack prepaid batch: who does what, and when (D = day of the pre-order window)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11411712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1819656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Recruit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D−10</a:t>
            </a:r>
            <a:endParaRPr lang="en-US" sz="750" dirty="0"/>
          </a:p>
        </p:txBody>
      </p:sp>
      <p:sp>
        <p:nvSpPr>
          <p:cNvPr id="39" name="Text 34"/>
          <p:cNvSpPr txBox="1"/>
          <p:nvPr/>
        </p:nvSpPr>
        <p:spPr>
          <a:xfrm>
            <a:off x="2827325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Qualify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D−7</a:t>
            </a:r>
            <a:endParaRPr lang="en-US" sz="750" dirty="0"/>
          </a:p>
        </p:txBody>
      </p:sp>
      <p:sp>
        <p:nvSpPr>
          <p:cNvPr id="40" name="Text 35"/>
          <p:cNvSpPr txBox="1"/>
          <p:nvPr/>
        </p:nvSpPr>
        <p:spPr>
          <a:xfrm>
            <a:off x="3834994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Brief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D−5</a:t>
            </a:r>
            <a:endParaRPr lang="en-US" sz="750" dirty="0"/>
          </a:p>
        </p:txBody>
      </p:sp>
      <p:sp>
        <p:nvSpPr>
          <p:cNvPr id="41" name="Text 36"/>
          <p:cNvSpPr txBox="1"/>
          <p:nvPr/>
        </p:nvSpPr>
        <p:spPr>
          <a:xfrm>
            <a:off x="4842662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Commit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D−5</a:t>
            </a:r>
            <a:endParaRPr lang="en-US" sz="750" dirty="0"/>
          </a:p>
        </p:txBody>
      </p:sp>
      <p:sp>
        <p:nvSpPr>
          <p:cNvPr id="42" name="Text 37"/>
          <p:cNvSpPr txBox="1"/>
          <p:nvPr/>
        </p:nvSpPr>
        <p:spPr>
          <a:xfrm>
            <a:off x="5850331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Pre-order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D0-3</a:t>
            </a:r>
            <a:endParaRPr lang="en-US" sz="750" dirty="0"/>
          </a:p>
        </p:txBody>
      </p:sp>
      <p:sp>
        <p:nvSpPr>
          <p:cNvPr id="43" name="Text 38"/>
          <p:cNvSpPr txBox="1"/>
          <p:nvPr/>
        </p:nvSpPr>
        <p:spPr>
          <a:xfrm>
            <a:off x="6858000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Make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D0-4</a:t>
            </a:r>
            <a:endParaRPr lang="en-US" sz="750" dirty="0"/>
          </a:p>
        </p:txBody>
      </p:sp>
      <p:sp>
        <p:nvSpPr>
          <p:cNvPr id="44" name="Text 39"/>
          <p:cNvSpPr txBox="1"/>
          <p:nvPr/>
        </p:nvSpPr>
        <p:spPr>
          <a:xfrm>
            <a:off x="7865669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Handover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750" dirty="0"/>
          </a:p>
        </p:txBody>
      </p:sp>
      <p:sp>
        <p:nvSpPr>
          <p:cNvPr id="45" name="Text 40"/>
          <p:cNvSpPr txBox="1"/>
          <p:nvPr/>
        </p:nvSpPr>
        <p:spPr>
          <a:xfrm>
            <a:off x="8873338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Ship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D6-12</a:t>
            </a:r>
            <a:endParaRPr lang="en-US" sz="750" dirty="0"/>
          </a:p>
        </p:txBody>
      </p:sp>
      <p:sp>
        <p:nvSpPr>
          <p:cNvPr id="46" name="Text 41"/>
          <p:cNvSpPr txBox="1"/>
          <p:nvPr/>
        </p:nvSpPr>
        <p:spPr>
          <a:xfrm>
            <a:off x="9881006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Settle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D13-19</a:t>
            </a:r>
            <a:endParaRPr lang="en-US" sz="750" dirty="0"/>
          </a:p>
        </p:txBody>
      </p:sp>
      <p:sp>
        <p:nvSpPr>
          <p:cNvPr id="47" name="Text 42"/>
          <p:cNvSpPr txBox="1"/>
          <p:nvPr/>
        </p:nvSpPr>
        <p:spPr>
          <a:xfrm>
            <a:off x="10888675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Score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612648" y="1632204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8EEF4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4"/>
          <p:cNvSpPr/>
          <p:nvPr/>
        </p:nvSpPr>
        <p:spPr>
          <a:xfrm>
            <a:off x="649224" y="1660093"/>
            <a:ext cx="246888" cy="246888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3" descr="/Users/prathmeshwalimbe/Downloads/Meesho/02_round2_detailed_submission/deck/source/assets/icons/FaUserTi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39" y="1714409"/>
            <a:ext cx="138257" cy="138257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932688" y="1618488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612648" y="1962302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7"/>
          <p:cNvSpPr/>
          <p:nvPr/>
        </p:nvSpPr>
        <p:spPr>
          <a:xfrm>
            <a:off x="649224" y="1990192"/>
            <a:ext cx="246888" cy="24688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4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539" y="2044507"/>
            <a:ext cx="138257" cy="138257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932688" y="1948586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612648" y="2292401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8EEF4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649224" y="2320290"/>
            <a:ext cx="246888" cy="246888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5" descr="/Users/prathmeshwalimbe/Downloads/Meesho/02_round2_detailed_submission/deck/source/assets/icons/FaGaugeHigh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539" y="2374605"/>
            <a:ext cx="138257" cy="138257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932688" y="2278685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rules + data</a:t>
            </a:r>
            <a:endParaRPr lang="en-US" sz="800" dirty="0"/>
          </a:p>
        </p:txBody>
      </p:sp>
      <p:sp>
        <p:nvSpPr>
          <p:cNvPr id="60" name="Shape 52"/>
          <p:cNvSpPr/>
          <p:nvPr/>
        </p:nvSpPr>
        <p:spPr>
          <a:xfrm>
            <a:off x="612648" y="2622499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3"/>
          <p:cNvSpPr/>
          <p:nvPr/>
        </p:nvSpPr>
        <p:spPr>
          <a:xfrm>
            <a:off x="649224" y="2650388"/>
            <a:ext cx="246888" cy="246888"/>
          </a:xfrm>
          <a:prstGeom prst="ellipse">
            <a:avLst/>
          </a:prstGeom>
          <a:solidFill>
            <a:srgbClr val="F7A21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6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539" y="2704704"/>
            <a:ext cx="138257" cy="138257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932688" y="2608783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64" name="Shape 55"/>
          <p:cNvSpPr/>
          <p:nvPr/>
        </p:nvSpPr>
        <p:spPr>
          <a:xfrm>
            <a:off x="612648" y="2952598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8EEF4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6"/>
          <p:cNvSpPr/>
          <p:nvPr/>
        </p:nvSpPr>
        <p:spPr>
          <a:xfrm>
            <a:off x="649224" y="2980487"/>
            <a:ext cx="246888" cy="246888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7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539" y="3034802"/>
            <a:ext cx="138257" cy="138257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932688" y="2938882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Valmo</a:t>
            </a:r>
            <a:endParaRPr lang="en-US" sz="800" dirty="0"/>
          </a:p>
        </p:txBody>
      </p:sp>
      <p:sp>
        <p:nvSpPr>
          <p:cNvPr id="68" name="Shape 58"/>
          <p:cNvSpPr/>
          <p:nvPr/>
        </p:nvSpPr>
        <p:spPr>
          <a:xfrm>
            <a:off x="612648" y="3282696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59"/>
          <p:cNvSpPr/>
          <p:nvPr/>
        </p:nvSpPr>
        <p:spPr>
          <a:xfrm>
            <a:off x="649224" y="3310585"/>
            <a:ext cx="246888" cy="24688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8" descr="/Users/prathmeshwalimbe/Downloads/Meesho/02_round2_detailed_submission/deck/source/assets/icons/FaIndianRupeeSign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539" y="3364901"/>
            <a:ext cx="138257" cy="138257"/>
          </a:xfrm>
          <a:prstGeom prst="rect">
            <a:avLst/>
          </a:prstGeom>
        </p:spPr>
      </p:pic>
      <p:sp>
        <p:nvSpPr>
          <p:cNvPr id="71" name="Text 60"/>
          <p:cNvSpPr txBox="1"/>
          <p:nvPr/>
        </p:nvSpPr>
        <p:spPr>
          <a:xfrm>
            <a:off x="932688" y="3268980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</a:t>
            </a:r>
            <a:endParaRPr lang="en-US" sz="800" dirty="0"/>
          </a:p>
        </p:txBody>
      </p:sp>
      <p:sp>
        <p:nvSpPr>
          <p:cNvPr id="72" name="Shape 61"/>
          <p:cNvSpPr/>
          <p:nvPr/>
        </p:nvSpPr>
        <p:spPr>
          <a:xfrm>
            <a:off x="2708453" y="1783537"/>
            <a:ext cx="237744" cy="660197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2"/>
          <p:cNvSpPr/>
          <p:nvPr/>
        </p:nvSpPr>
        <p:spPr>
          <a:xfrm>
            <a:off x="3716122" y="2443734"/>
            <a:ext cx="237744" cy="914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3"/>
          <p:cNvSpPr/>
          <p:nvPr/>
        </p:nvSpPr>
        <p:spPr>
          <a:xfrm flipV="1">
            <a:off x="4723790" y="2113636"/>
            <a:ext cx="237744" cy="330098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64"/>
          <p:cNvSpPr/>
          <p:nvPr/>
        </p:nvSpPr>
        <p:spPr>
          <a:xfrm>
            <a:off x="5731459" y="2113636"/>
            <a:ext cx="237744" cy="660197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65"/>
          <p:cNvSpPr/>
          <p:nvPr/>
        </p:nvSpPr>
        <p:spPr>
          <a:xfrm flipV="1">
            <a:off x="6739128" y="2113636"/>
            <a:ext cx="237744" cy="660197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66"/>
          <p:cNvSpPr/>
          <p:nvPr/>
        </p:nvSpPr>
        <p:spPr>
          <a:xfrm>
            <a:off x="7746797" y="2113636"/>
            <a:ext cx="237744" cy="990295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67"/>
          <p:cNvSpPr/>
          <p:nvPr/>
        </p:nvSpPr>
        <p:spPr>
          <a:xfrm>
            <a:off x="8754466" y="3103931"/>
            <a:ext cx="237744" cy="914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68"/>
          <p:cNvSpPr/>
          <p:nvPr/>
        </p:nvSpPr>
        <p:spPr>
          <a:xfrm flipV="1">
            <a:off x="9762134" y="2443734"/>
            <a:ext cx="237744" cy="660197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69"/>
          <p:cNvSpPr/>
          <p:nvPr/>
        </p:nvSpPr>
        <p:spPr>
          <a:xfrm>
            <a:off x="10769803" y="2443734"/>
            <a:ext cx="237744" cy="914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0"/>
          <p:cNvSpPr/>
          <p:nvPr/>
        </p:nvSpPr>
        <p:spPr>
          <a:xfrm>
            <a:off x="1938528" y="1659636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1"/>
          <p:cNvSpPr txBox="1"/>
          <p:nvPr/>
        </p:nvSpPr>
        <p:spPr>
          <a:xfrm>
            <a:off x="1965960" y="1659636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for 40-60 units</a:t>
            </a:r>
            <a:endParaRPr lang="en-US" sz="700" dirty="0"/>
          </a:p>
        </p:txBody>
      </p:sp>
      <p:sp>
        <p:nvSpPr>
          <p:cNvPr id="83" name="Shape 72"/>
          <p:cNvSpPr/>
          <p:nvPr/>
        </p:nvSpPr>
        <p:spPr>
          <a:xfrm>
            <a:off x="2946197" y="2319833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73"/>
          <p:cNvSpPr txBox="1"/>
          <p:nvPr/>
        </p:nvSpPr>
        <p:spPr>
          <a:xfrm>
            <a:off x="2973629" y="2319833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check: ₹180 vs ₹192 gate</a:t>
            </a:r>
            <a:endParaRPr lang="en-US" sz="700" dirty="0"/>
          </a:p>
        </p:txBody>
      </p:sp>
      <p:sp>
        <p:nvSpPr>
          <p:cNvPr id="85" name="Shape 74"/>
          <p:cNvSpPr/>
          <p:nvPr/>
        </p:nvSpPr>
        <p:spPr>
          <a:xfrm>
            <a:off x="3953866" y="2319833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75"/>
          <p:cNvSpPr txBox="1"/>
          <p:nvPr/>
        </p:nvSpPr>
        <p:spPr>
          <a:xfrm>
            <a:off x="3981298" y="2319833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Brief: districts, sizes</a:t>
            </a:r>
            <a:endParaRPr lang="en-US" sz="700" dirty="0"/>
          </a:p>
        </p:txBody>
      </p:sp>
      <p:sp>
        <p:nvSpPr>
          <p:cNvPr id="87" name="Shape 76"/>
          <p:cNvSpPr/>
          <p:nvPr/>
        </p:nvSpPr>
        <p:spPr>
          <a:xfrm>
            <a:off x="4961534" y="1989734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77"/>
          <p:cNvSpPr txBox="1"/>
          <p:nvPr/>
        </p:nvSpPr>
        <p:spPr>
          <a:xfrm>
            <a:off x="4988966" y="1989734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 1,000-pack batch</a:t>
            </a:r>
            <a:endParaRPr lang="en-US" sz="700" dirty="0"/>
          </a:p>
        </p:txBody>
      </p:sp>
      <p:sp>
        <p:nvSpPr>
          <p:cNvPr id="89" name="Shape 78"/>
          <p:cNvSpPr/>
          <p:nvPr/>
        </p:nvSpPr>
        <p:spPr>
          <a:xfrm>
            <a:off x="5969203" y="2649931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79"/>
          <p:cNvSpPr txBox="1"/>
          <p:nvPr/>
        </p:nvSpPr>
        <p:spPr>
          <a:xfrm>
            <a:off x="5996635" y="2649931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Prepays ₹182, waits 7-8 days</a:t>
            </a:r>
            <a:endParaRPr lang="en-US" sz="700" dirty="0"/>
          </a:p>
        </p:txBody>
      </p:sp>
      <p:sp>
        <p:nvSpPr>
          <p:cNvPr id="91" name="Shape 80"/>
          <p:cNvSpPr/>
          <p:nvPr/>
        </p:nvSpPr>
        <p:spPr>
          <a:xfrm>
            <a:off x="6976872" y="1989734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1"/>
          <p:cNvSpPr txBox="1"/>
          <p:nvPr/>
        </p:nvSpPr>
        <p:spPr>
          <a:xfrm>
            <a:off x="7004304" y="1989734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1,150 (+15%)</a:t>
            </a:r>
            <a:endParaRPr lang="en-US" sz="700" dirty="0"/>
          </a:p>
        </p:txBody>
      </p:sp>
      <p:sp>
        <p:nvSpPr>
          <p:cNvPr id="93" name="Shape 82"/>
          <p:cNvSpPr/>
          <p:nvPr/>
        </p:nvSpPr>
        <p:spPr>
          <a:xfrm>
            <a:off x="7984541" y="2980030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83"/>
          <p:cNvSpPr txBox="1"/>
          <p:nvPr/>
        </p:nvSpPr>
        <p:spPr>
          <a:xfrm>
            <a:off x="8011973" y="2980030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truck in; QC sample</a:t>
            </a:r>
            <a:endParaRPr lang="en-US" sz="700" dirty="0"/>
          </a:p>
        </p:txBody>
      </p:sp>
      <p:sp>
        <p:nvSpPr>
          <p:cNvPr id="95" name="Shape 84"/>
          <p:cNvSpPr/>
          <p:nvPr/>
        </p:nvSpPr>
        <p:spPr>
          <a:xfrm>
            <a:off x="7984541" y="3310128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85"/>
          <p:cNvSpPr txBox="1"/>
          <p:nvPr/>
        </p:nvSpPr>
        <p:spPr>
          <a:xfrm>
            <a:off x="8011973" y="3310128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₹54,684 (30%)</a:t>
            </a:r>
            <a:endParaRPr lang="en-US" sz="700" dirty="0"/>
          </a:p>
        </p:txBody>
      </p:sp>
      <p:sp>
        <p:nvSpPr>
          <p:cNvPr id="97" name="Shape 86"/>
          <p:cNvSpPr/>
          <p:nvPr/>
        </p:nvSpPr>
        <p:spPr>
          <a:xfrm>
            <a:off x="8992210" y="2980030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87"/>
          <p:cNvSpPr txBox="1"/>
          <p:nvPr/>
        </p:nvSpPr>
        <p:spPr>
          <a:xfrm>
            <a:off x="9019642" y="2980030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Packs, ships; grades returns</a:t>
            </a:r>
            <a:endParaRPr lang="en-US" sz="700" dirty="0"/>
          </a:p>
        </p:txBody>
      </p:sp>
      <p:sp>
        <p:nvSpPr>
          <p:cNvPr id="99" name="Shape 88"/>
          <p:cNvSpPr/>
          <p:nvPr/>
        </p:nvSpPr>
        <p:spPr>
          <a:xfrm>
            <a:off x="9999878" y="2319833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89"/>
          <p:cNvSpPr txBox="1"/>
          <p:nvPr/>
        </p:nvSpPr>
        <p:spPr>
          <a:xfrm>
            <a:off x="10027310" y="2319833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₹88,524 net of fees</a:t>
            </a:r>
            <a:endParaRPr lang="en-US" sz="700" dirty="0"/>
          </a:p>
        </p:txBody>
      </p:sp>
      <p:sp>
        <p:nvSpPr>
          <p:cNvPr id="101" name="Shape 90"/>
          <p:cNvSpPr/>
          <p:nvPr/>
        </p:nvSpPr>
        <p:spPr>
          <a:xfrm>
            <a:off x="9999878" y="3310128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1"/>
          <p:cNvSpPr txBox="1"/>
          <p:nvPr/>
        </p:nvSpPr>
        <p:spPr>
          <a:xfrm>
            <a:off x="10027310" y="3310128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Repaid from the payout</a:t>
            </a:r>
            <a:endParaRPr lang="en-US" sz="700" dirty="0"/>
          </a:p>
        </p:txBody>
      </p:sp>
      <p:sp>
        <p:nvSpPr>
          <p:cNvPr id="103" name="Shape 92"/>
          <p:cNvSpPr/>
          <p:nvPr/>
        </p:nvSpPr>
        <p:spPr>
          <a:xfrm>
            <a:off x="9999878" y="1989734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93"/>
          <p:cNvSpPr txBox="1"/>
          <p:nvPr/>
        </p:nvSpPr>
        <p:spPr>
          <a:xfrm>
            <a:off x="10027310" y="1989734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+₹33,840</a:t>
            </a:r>
            <a:endParaRPr lang="en-US" sz="700" dirty="0"/>
          </a:p>
        </p:txBody>
      </p:sp>
      <p:sp>
        <p:nvSpPr>
          <p:cNvPr id="105" name="Shape 94"/>
          <p:cNvSpPr/>
          <p:nvPr/>
        </p:nvSpPr>
        <p:spPr>
          <a:xfrm>
            <a:off x="11007547" y="2319833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95"/>
          <p:cNvSpPr txBox="1"/>
          <p:nvPr/>
        </p:nvSpPr>
        <p:spPr>
          <a:xfrm>
            <a:off x="11034979" y="2319833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Score; grants if slow</a:t>
            </a:r>
            <a:endParaRPr lang="en-US" sz="700" dirty="0"/>
          </a:p>
        </p:txBody>
      </p:sp>
      <p:sp>
        <p:nvSpPr>
          <p:cNvPr id="107" name="Shape 96"/>
          <p:cNvSpPr/>
          <p:nvPr/>
        </p:nvSpPr>
        <p:spPr>
          <a:xfrm>
            <a:off x="11007547" y="1659636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97"/>
          <p:cNvSpPr txBox="1"/>
          <p:nvPr/>
        </p:nvSpPr>
        <p:spPr>
          <a:xfrm>
            <a:off x="11034979" y="1659636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referred to camps</a:t>
            </a:r>
            <a:endParaRPr lang="en-US" sz="700" dirty="0"/>
          </a:p>
        </p:txBody>
      </p:sp>
      <p:sp>
        <p:nvSpPr>
          <p:cNvPr id="109" name="Shape 98"/>
          <p:cNvSpPr/>
          <p:nvPr/>
        </p:nvSpPr>
        <p:spPr>
          <a:xfrm>
            <a:off x="548640" y="3736238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99"/>
          <p:cNvSpPr txBox="1"/>
          <p:nvPr/>
        </p:nvSpPr>
        <p:spPr>
          <a:xfrm>
            <a:off x="612648" y="3736238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user personas (resellers are affected, not users: the badge is capped at 20% of category impressions)</a:t>
            </a:r>
            <a:endParaRPr lang="en-US" sz="950" dirty="0"/>
          </a:p>
        </p:txBody>
      </p:sp>
      <p:sp>
        <p:nvSpPr>
          <p:cNvPr id="111" name="Shape 100"/>
          <p:cNvSpPr/>
          <p:nvPr/>
        </p:nvSpPr>
        <p:spPr>
          <a:xfrm>
            <a:off x="548640" y="3983126"/>
            <a:ext cx="11411712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01"/>
          <p:cNvSpPr/>
          <p:nvPr/>
        </p:nvSpPr>
        <p:spPr>
          <a:xfrm>
            <a:off x="612648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02"/>
          <p:cNvSpPr/>
          <p:nvPr/>
        </p:nvSpPr>
        <p:spPr>
          <a:xfrm>
            <a:off x="658368" y="4074566"/>
            <a:ext cx="347472" cy="347472"/>
          </a:xfrm>
          <a:prstGeom prst="ellipse">
            <a:avLst/>
          </a:prstGeom>
          <a:solidFill>
            <a:srgbClr val="F7A21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4" name="Image 9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812" y="4151010"/>
            <a:ext cx="194584" cy="194584"/>
          </a:xfrm>
          <a:prstGeom prst="rect">
            <a:avLst/>
          </a:prstGeom>
        </p:spPr>
      </p:pic>
      <p:sp>
        <p:nvSpPr>
          <p:cNvPr id="115" name="Text 103"/>
          <p:cNvSpPr txBox="1"/>
          <p:nvPr/>
        </p:nvSpPr>
        <p:spPr>
          <a:xfrm>
            <a:off x="1042416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Value-seeking buyer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Tier-2+ shopper · ~10 orders a year</a:t>
            </a:r>
            <a:endParaRPr lang="en-US" sz="800" dirty="0"/>
          </a:p>
        </p:txBody>
      </p:sp>
      <p:sp>
        <p:nvSpPr>
          <p:cNvPr id="116" name="Text 104"/>
          <p:cNvSpPr txBox="1"/>
          <p:nvPr/>
        </p:nvSpPr>
        <p:spPr>
          <a:xfrm>
            <a:off x="667512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price, reliable delivery, easy returns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still pay cash on delivery; unsure about prepaying for a 7-8 day wait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prepays ₹182 for a 3-pack instead of ₹209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₹26.7 off a pack; a “Sold directly by the manufacturer” badge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app; UPI pre-order at checkout</a:t>
            </a:r>
            <a:endParaRPr lang="en-US" sz="750" dirty="0"/>
          </a:p>
        </p:txBody>
      </p:sp>
      <p:sp>
        <p:nvSpPr>
          <p:cNvPr id="117" name="Shape 105"/>
          <p:cNvSpPr/>
          <p:nvPr/>
        </p:nvSpPr>
        <p:spPr>
          <a:xfrm>
            <a:off x="658368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06"/>
          <p:cNvSpPr txBox="1"/>
          <p:nvPr/>
        </p:nvSpPr>
        <p:spPr>
          <a:xfrm>
            <a:off x="685800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Prepaid share ≥ 68.5%</a:t>
            </a:r>
            <a:endParaRPr lang="en-US" sz="750" dirty="0"/>
          </a:p>
        </p:txBody>
      </p:sp>
      <p:sp>
        <p:nvSpPr>
          <p:cNvPr id="119" name="Shape 107"/>
          <p:cNvSpPr/>
          <p:nvPr/>
        </p:nvSpPr>
        <p:spPr>
          <a:xfrm>
            <a:off x="2505456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08"/>
          <p:cNvSpPr/>
          <p:nvPr/>
        </p:nvSpPr>
        <p:spPr>
          <a:xfrm>
            <a:off x="2551176" y="4074566"/>
            <a:ext cx="347472" cy="347472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1" name="Image 10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7620" y="4151010"/>
            <a:ext cx="194584" cy="194584"/>
          </a:xfrm>
          <a:prstGeom prst="rect">
            <a:avLst/>
          </a:prstGeom>
        </p:spPr>
      </p:pic>
      <p:sp>
        <p:nvSpPr>
          <p:cNvPr id="122" name="Text 109"/>
          <p:cNvSpPr txBox="1"/>
          <p:nvPr/>
        </p:nvSpPr>
        <p:spPr>
          <a:xfrm>
            <a:off x="2935224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owner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factory personas: cohorts A, A, C, B</a:t>
            </a:r>
            <a:endParaRPr lang="en-US" sz="800" dirty="0"/>
          </a:p>
        </p:txBody>
      </p:sp>
      <p:sp>
        <p:nvSpPr>
          <p:cNvPr id="123" name="Text 110"/>
          <p:cNvSpPr txBox="1"/>
          <p:nvPr/>
        </p:nvSpPr>
        <p:spPr>
          <a:xfrm>
            <a:off x="2560320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before cutting fabric; no packing team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build-to-stock risk; 45-60 day distributor terms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check, commits batches, drops stock in bulk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₹18.3 a pack vs ₹7.9 ex-factory; cash in ~11 days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app, WhatsApp, voice agent</a:t>
            </a:r>
            <a:endParaRPr lang="en-US" sz="750" dirty="0"/>
          </a:p>
        </p:txBody>
      </p:sp>
      <p:sp>
        <p:nvSpPr>
          <p:cNvPr id="124" name="Shape 111"/>
          <p:cNvSpPr/>
          <p:nvPr/>
        </p:nvSpPr>
        <p:spPr>
          <a:xfrm>
            <a:off x="2551176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12"/>
          <p:cNvSpPr txBox="1"/>
          <p:nvPr/>
        </p:nvSpPr>
        <p:spPr>
          <a:xfrm>
            <a:off x="2578608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First batch ≤ 14 days</a:t>
            </a:r>
            <a:endParaRPr lang="en-US" sz="750" dirty="0"/>
          </a:p>
        </p:txBody>
      </p:sp>
      <p:sp>
        <p:nvSpPr>
          <p:cNvPr id="126" name="Shape 113"/>
          <p:cNvSpPr/>
          <p:nvPr/>
        </p:nvSpPr>
        <p:spPr>
          <a:xfrm>
            <a:off x="4398264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14"/>
          <p:cNvSpPr/>
          <p:nvPr/>
        </p:nvSpPr>
        <p:spPr>
          <a:xfrm>
            <a:off x="4443984" y="4074566"/>
            <a:ext cx="347472" cy="347472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8" name="Image 11" descr="/Users/prathmeshwalimbe/Downloads/Meesho/02_round2_detailed_submission/deck/source/assets/icons/FaGaugeHigh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0428" y="4151010"/>
            <a:ext cx="194584" cy="194584"/>
          </a:xfrm>
          <a:prstGeom prst="rect">
            <a:avLst/>
          </a:prstGeom>
        </p:spPr>
      </p:pic>
      <p:sp>
        <p:nvSpPr>
          <p:cNvPr id="129" name="Text 115"/>
          <p:cNvSpPr txBox="1"/>
          <p:nvPr/>
        </p:nvSpPr>
        <p:spPr>
          <a:xfrm>
            <a:off x="4828032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· ~910 C2M sellers each</a:t>
            </a:r>
            <a:endParaRPr lang="en-US" sz="800" dirty="0"/>
          </a:p>
        </p:txBody>
      </p:sp>
      <p:sp>
        <p:nvSpPr>
          <p:cNvPr id="130" name="Text 116"/>
          <p:cNvSpPr txBox="1"/>
          <p:nvPr/>
        </p:nvSpPr>
        <p:spPr>
          <a:xfrm>
            <a:off x="4453128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NMV protected; few manual cases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chase hundreds of sellers by phone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only when a score stays below 40 after an automatic fix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tower: price screen, Health Score queue, Day-30 readout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Control-tower dashboard (prototype)</a:t>
            </a:r>
            <a:endParaRPr lang="en-US" sz="750" dirty="0"/>
          </a:p>
        </p:txBody>
      </p:sp>
      <p:sp>
        <p:nvSpPr>
          <p:cNvPr id="131" name="Shape 117"/>
          <p:cNvSpPr/>
          <p:nvPr/>
        </p:nvSpPr>
        <p:spPr>
          <a:xfrm>
            <a:off x="4443984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18"/>
          <p:cNvSpPr txBox="1"/>
          <p:nvPr/>
        </p:nvSpPr>
        <p:spPr>
          <a:xfrm>
            <a:off x="4471416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≤ 5 escalations per 100 a month</a:t>
            </a:r>
            <a:endParaRPr lang="en-US" sz="750" dirty="0"/>
          </a:p>
        </p:txBody>
      </p:sp>
      <p:sp>
        <p:nvSpPr>
          <p:cNvPr id="133" name="Shape 119"/>
          <p:cNvSpPr/>
          <p:nvPr/>
        </p:nvSpPr>
        <p:spPr>
          <a:xfrm>
            <a:off x="6291072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20"/>
          <p:cNvSpPr/>
          <p:nvPr/>
        </p:nvSpPr>
        <p:spPr>
          <a:xfrm>
            <a:off x="6336792" y="4074566"/>
            <a:ext cx="347472" cy="347472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5" name="Image 12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3236" y="4151010"/>
            <a:ext cx="194584" cy="194584"/>
          </a:xfrm>
          <a:prstGeom prst="rect">
            <a:avLst/>
          </a:prstGeom>
        </p:spPr>
      </p:pic>
      <p:sp>
        <p:nvSpPr>
          <p:cNvPr id="136" name="Text 121"/>
          <p:cNvSpPr txBox="1"/>
          <p:nvPr/>
        </p:nvSpPr>
        <p:spPr>
          <a:xfrm>
            <a:off x="6720840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operator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3PL in the cluster; Valmo delivers onward</a:t>
            </a:r>
            <a:endParaRPr lang="en-US" sz="800" dirty="0"/>
          </a:p>
        </p:txBody>
      </p:sp>
      <p:sp>
        <p:nvSpPr>
          <p:cNvPr id="137" name="Text 122"/>
          <p:cNvSpPr txBox="1"/>
          <p:nvPr/>
        </p:nvSpPr>
        <p:spPr>
          <a:xfrm>
            <a:off x="6345936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daily volume; clean order data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space between seasons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bulk drops; picks, packs, ships; grades returns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a unit (pack ₹6, handle ₹9, freight ₹5); ₹1.3 cr set-up support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feed from Meesho; Valmo pickups</a:t>
            </a:r>
            <a:endParaRPr lang="en-US" sz="750" dirty="0"/>
          </a:p>
        </p:txBody>
      </p:sp>
      <p:sp>
        <p:nvSpPr>
          <p:cNvPr id="138" name="Shape 123"/>
          <p:cNvSpPr/>
          <p:nvPr/>
        </p:nvSpPr>
        <p:spPr>
          <a:xfrm>
            <a:off x="6336792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24"/>
          <p:cNvSpPr txBox="1"/>
          <p:nvPr/>
        </p:nvSpPr>
        <p:spPr>
          <a:xfrm>
            <a:off x="6364224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95% shipped within 48 h</a:t>
            </a:r>
            <a:endParaRPr lang="en-US" sz="750" dirty="0"/>
          </a:p>
        </p:txBody>
      </p:sp>
      <p:sp>
        <p:nvSpPr>
          <p:cNvPr id="140" name="Shape 125"/>
          <p:cNvSpPr/>
          <p:nvPr/>
        </p:nvSpPr>
        <p:spPr>
          <a:xfrm>
            <a:off x="8183880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26"/>
          <p:cNvSpPr/>
          <p:nvPr/>
        </p:nvSpPr>
        <p:spPr>
          <a:xfrm>
            <a:off x="8229600" y="4074566"/>
            <a:ext cx="347472" cy="34747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2" name="Image 13" descr="/Users/prathmeshwalimbe/Downloads/Meesho/02_round2_detailed_submission/deck/source/assets/icons/FaIndianRupeeSign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044" y="4151010"/>
            <a:ext cx="194584" cy="194584"/>
          </a:xfrm>
          <a:prstGeom prst="rect">
            <a:avLst/>
          </a:prstGeom>
        </p:spPr>
      </p:pic>
      <p:sp>
        <p:nvSpPr>
          <p:cNvPr id="143" name="Text 127"/>
          <p:cNvSpPr txBox="1"/>
          <p:nvPr/>
        </p:nvSpPr>
        <p:spPr>
          <a:xfrm>
            <a:off x="8613648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partner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to marketplace sellers</a:t>
            </a:r>
            <a:endParaRPr lang="en-US" sz="800" dirty="0"/>
          </a:p>
        </p:txBody>
      </p:sp>
      <p:sp>
        <p:nvSpPr>
          <p:cNvPr id="144" name="Text 128"/>
          <p:cNvSpPr txBox="1"/>
          <p:nvPr/>
        </p:nvSpPr>
        <p:spPr>
          <a:xfrm>
            <a:off x="8238744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low-risk loans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small factories’ order flow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30% of confirmed pre-order value at handover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repaid from the payout ~7 days after delivery; buyers already prepaid; Meesho covers the first 1% of losses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Confirmed-order data shared by Meesho</a:t>
            </a:r>
            <a:endParaRPr lang="en-US" sz="750" dirty="0"/>
          </a:p>
        </p:txBody>
      </p:sp>
      <p:sp>
        <p:nvSpPr>
          <p:cNvPr id="145" name="Shape 129"/>
          <p:cNvSpPr/>
          <p:nvPr/>
        </p:nvSpPr>
        <p:spPr>
          <a:xfrm>
            <a:off x="8229600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30"/>
          <p:cNvSpPr txBox="1"/>
          <p:nvPr/>
        </p:nvSpPr>
        <p:spPr>
          <a:xfrm>
            <a:off x="8257032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Advance within 24 h; losses ≤ 1%</a:t>
            </a:r>
            <a:endParaRPr lang="en-US" sz="750" dirty="0"/>
          </a:p>
        </p:txBody>
      </p:sp>
      <p:sp>
        <p:nvSpPr>
          <p:cNvPr id="147" name="Shape 131"/>
          <p:cNvSpPr/>
          <p:nvPr/>
        </p:nvSpPr>
        <p:spPr>
          <a:xfrm>
            <a:off x="10076688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32"/>
          <p:cNvSpPr/>
          <p:nvPr/>
        </p:nvSpPr>
        <p:spPr>
          <a:xfrm>
            <a:off x="10122408" y="4074566"/>
            <a:ext cx="347472" cy="347472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9" name="Image 14" descr="/Users/prathmeshwalimbe/Downloads/Meesho/02_round2_detailed_submission/deck/source/assets/icons/FaUserTi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8852" y="4151010"/>
            <a:ext cx="194584" cy="194584"/>
          </a:xfrm>
          <a:prstGeom prst="rect">
            <a:avLst/>
          </a:prstGeom>
        </p:spPr>
      </p:pic>
      <p:sp>
        <p:nvSpPr>
          <p:cNvPr id="150" name="Text 133"/>
          <p:cNvSpPr txBox="1"/>
          <p:nvPr/>
        </p:nvSpPr>
        <p:spPr>
          <a:xfrm>
            <a:off x="10506456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association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Tiruppur and Panipat industry bodies</a:t>
            </a:r>
            <a:endParaRPr lang="en-US" sz="800" dirty="0"/>
          </a:p>
        </p:txBody>
      </p:sp>
      <p:sp>
        <p:nvSpPr>
          <p:cNvPr id="151" name="Text 134"/>
          <p:cNvSpPr txBox="1"/>
          <p:nvPr/>
        </p:nvSpPr>
        <p:spPr>
          <a:xfrm>
            <a:off x="10131552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for members hit by export swings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Panipat exports −50%, domestic −35%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camps of 40-60 units; vouches for members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demand for members; MSME-TEAM co-funding, ₹277 cr scheme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Camps, member WhatsApp groups</a:t>
            </a:r>
            <a:endParaRPr lang="en-US" sz="750" dirty="0"/>
          </a:p>
        </p:txBody>
      </p:sp>
      <p:sp>
        <p:nvSpPr>
          <p:cNvPr id="152" name="Shape 135"/>
          <p:cNvSpPr/>
          <p:nvPr/>
        </p:nvSpPr>
        <p:spPr>
          <a:xfrm>
            <a:off x="10122408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36"/>
          <p:cNvSpPr txBox="1"/>
          <p:nvPr/>
        </p:nvSpPr>
        <p:spPr>
          <a:xfrm>
            <a:off x="10149840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≥ 50% of camp units listed</a:t>
            </a:r>
            <a:endParaRPr lang="en-US" sz="750" dirty="0"/>
          </a:p>
        </p:txBody>
      </p:sp>
      <p:pic>
        <p:nvPicPr>
          <p:cNvPr id="154" name="Graphic 154" descr="Flo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155" name="Graphic 155" descr="User person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60200" y="3765550"/>
            <a:ext cx="165100" cy="165100"/>
          </a:xfrm>
          <a:prstGeom prst="rect">
            <a:avLst/>
          </a:prstGeom>
        </p:spPr>
      </p:pic>
      <p:pic>
        <p:nvPicPr>
          <p:cNvPr id="156" name="Graphic 156" descr="Recru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17700" y="1371600"/>
            <a:ext cx="101600" cy="101600"/>
          </a:xfrm>
          <a:prstGeom prst="rect">
            <a:avLst/>
          </a:prstGeom>
        </p:spPr>
      </p:pic>
      <p:pic>
        <p:nvPicPr>
          <p:cNvPr id="157" name="Graphic 157" descr="Qualif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97200" y="1371600"/>
            <a:ext cx="101600" cy="101600"/>
          </a:xfrm>
          <a:prstGeom prst="rect">
            <a:avLst/>
          </a:prstGeom>
        </p:spPr>
      </p:pic>
      <p:pic>
        <p:nvPicPr>
          <p:cNvPr id="158" name="Graphic 158" descr="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51300" y="1371600"/>
            <a:ext cx="101600" cy="101600"/>
          </a:xfrm>
          <a:prstGeom prst="rect">
            <a:avLst/>
          </a:prstGeom>
        </p:spPr>
      </p:pic>
      <p:pic>
        <p:nvPicPr>
          <p:cNvPr id="159" name="Graphic 159" descr="Comm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04232" y="1371600"/>
            <a:ext cx="201168" cy="201168"/>
          </a:xfrm>
          <a:prstGeom prst="rect">
            <a:avLst/>
          </a:prstGeom>
        </p:spPr>
      </p:pic>
      <p:pic>
        <p:nvPicPr>
          <p:cNvPr id="160" name="Graphic 160" descr="Pre-or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84143" y="1371599"/>
            <a:ext cx="186457" cy="186457"/>
          </a:xfrm>
          <a:prstGeom prst="rect">
            <a:avLst/>
          </a:prstGeom>
        </p:spPr>
      </p:pic>
      <p:pic>
        <p:nvPicPr>
          <p:cNvPr id="161" name="Graphic 161" descr="Mak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61632" y="1371600"/>
            <a:ext cx="201168" cy="201168"/>
          </a:xfrm>
          <a:prstGeom prst="rect">
            <a:avLst/>
          </a:prstGeom>
        </p:spPr>
      </p:pic>
      <p:pic>
        <p:nvPicPr>
          <p:cNvPr id="162" name="Graphic 162" descr="Hando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88300" y="1371600"/>
            <a:ext cx="101600" cy="101600"/>
          </a:xfrm>
          <a:prstGeom prst="rect">
            <a:avLst/>
          </a:prstGeom>
        </p:spPr>
      </p:pic>
      <p:pic>
        <p:nvPicPr>
          <p:cNvPr id="163" name="Graphic 163" descr="Shi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06332" y="1371600"/>
            <a:ext cx="201168" cy="201168"/>
          </a:xfrm>
          <a:prstGeom prst="rect">
            <a:avLst/>
          </a:prstGeom>
        </p:spPr>
      </p:pic>
      <p:pic>
        <p:nvPicPr>
          <p:cNvPr id="164" name="Graphic 164" descr="Sett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84232" y="1371600"/>
            <a:ext cx="201168" cy="201168"/>
          </a:xfrm>
          <a:prstGeom prst="rect">
            <a:avLst/>
          </a:prstGeom>
        </p:spPr>
      </p:pic>
      <p:pic>
        <p:nvPicPr>
          <p:cNvPr id="165" name="Graphic 165" descr="Sco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61827" y="1371599"/>
            <a:ext cx="214173" cy="214173"/>
          </a:xfrm>
          <a:prstGeom prst="rect">
            <a:avLst/>
          </a:prstGeom>
        </p:spPr>
      </p:pic>
      <p:pic>
        <p:nvPicPr>
          <p:cNvPr id="166" name="Graphic 166" descr="KPI prepai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2000" y="5886450"/>
            <a:ext cx="114300" cy="114300"/>
          </a:xfrm>
          <a:prstGeom prst="rect">
            <a:avLst/>
          </a:prstGeom>
        </p:spPr>
      </p:pic>
      <p:pic>
        <p:nvPicPr>
          <p:cNvPr id="167" name="Graphic 167" descr="KPI first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54300" y="5886450"/>
            <a:ext cx="114300" cy="114300"/>
          </a:xfrm>
          <a:prstGeom prst="rect">
            <a:avLst/>
          </a:prstGeom>
        </p:spPr>
      </p:pic>
      <p:pic>
        <p:nvPicPr>
          <p:cNvPr id="168" name="Graphic 168" descr="KPI escala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483100" y="5899150"/>
            <a:ext cx="88900" cy="88900"/>
          </a:xfrm>
          <a:prstGeom prst="rect">
            <a:avLst/>
          </a:prstGeom>
        </p:spPr>
      </p:pic>
      <p:pic>
        <p:nvPicPr>
          <p:cNvPr id="169" name="Graphic 169" descr="KPI shipp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438900" y="5886450"/>
            <a:ext cx="114300" cy="114300"/>
          </a:xfrm>
          <a:prstGeom prst="rect">
            <a:avLst/>
          </a:prstGeom>
        </p:spPr>
      </p:pic>
      <p:pic>
        <p:nvPicPr>
          <p:cNvPr id="170" name="Graphic 170" descr="KPI adv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267700" y="5899150"/>
            <a:ext cx="88900" cy="88900"/>
          </a:xfrm>
          <a:prstGeom prst="rect">
            <a:avLst/>
          </a:prstGeom>
        </p:spPr>
      </p:pic>
      <p:pic>
        <p:nvPicPr>
          <p:cNvPr id="171" name="Graphic 171" descr="KPI camp uni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223500" y="588645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6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idea: Factory Direct lets a factory sell to 274 mn buyers without an e-commerce team, reached through cluster camps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&amp; STRATEGY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launch Factory Direct camps with the Tiruppur and Panipat associations. Owner: Category + Growth · KPI: 40-60 units a camp, ≥ 50% of qualified factories listed within 30 days.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(274 mn buyers; 1.04 mn sellers; Gen-AI voice agents), S8 Tiruppur, S9 Panipat, S18 MSME-TEAM, S21   |   Story is an illustrative composite (Murugan is not a real person); its numbers come from the model (Appendix B)   |   Assumptions: A10, A20, A22, A32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change, one factory owner (illustrative): from export shock to repeat batches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11411712" cy="158511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630936" y="1362456"/>
            <a:ext cx="475488" cy="47548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3" descr="/Users/prathmeshwalimbe/Downloads/Meesho/02_round2_detailed_submission/deck/source/assets/icons/FaTriangleExclamatio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543" y="1467063"/>
            <a:ext cx="266273" cy="266273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1161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1188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−30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2097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612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Murugan’s US order is cut under the 50% tariff; a third of his knitting lines sit idle.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612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 txBox="1"/>
          <p:nvPr/>
        </p:nvSpPr>
        <p:spPr>
          <a:xfrm>
            <a:off x="640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export shock</a:t>
            </a:r>
            <a:endParaRPr lang="en-US" sz="800" dirty="0"/>
          </a:p>
        </p:txBody>
      </p:sp>
      <p:sp>
        <p:nvSpPr>
          <p:cNvPr id="46" name="Text 40"/>
          <p:cNvSpPr txBox="1"/>
          <p:nvPr/>
        </p:nvSpPr>
        <p:spPr>
          <a:xfrm>
            <a:off x="2371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2535936" y="1362456"/>
            <a:ext cx="475488" cy="475488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4" descr="/Users/prathmeshwalimbe/Downloads/Meesho/02_round2_detailed_submission/deck/source/assets/icons/FaUserTi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0543" y="1467063"/>
            <a:ext cx="266273" cy="266273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3066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3093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−10</a:t>
            </a:r>
            <a:endParaRPr lang="en-US" sz="800" dirty="0"/>
          </a:p>
        </p:txBody>
      </p:sp>
      <p:sp>
        <p:nvSpPr>
          <p:cNvPr id="51" name="Text 44"/>
          <p:cNvSpPr txBox="1"/>
          <p:nvPr/>
        </p:nvSpPr>
        <p:spPr>
          <a:xfrm>
            <a:off x="4002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2" name="Text 45"/>
          <p:cNvSpPr txBox="1"/>
          <p:nvPr/>
        </p:nvSpPr>
        <p:spPr>
          <a:xfrm>
            <a:off x="2517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Tiruppur association meet, Meesho’s cluster team runs a Factory Direct camp for 50 units.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2517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 txBox="1"/>
          <p:nvPr/>
        </p:nvSpPr>
        <p:spPr>
          <a:xfrm>
            <a:off x="2545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cluster camp</a:t>
            </a:r>
            <a:endParaRPr lang="en-US" sz="800" dirty="0"/>
          </a:p>
        </p:txBody>
      </p:sp>
      <p:sp>
        <p:nvSpPr>
          <p:cNvPr id="55" name="Text 48"/>
          <p:cNvSpPr txBox="1"/>
          <p:nvPr/>
        </p:nvSpPr>
        <p:spPr>
          <a:xfrm>
            <a:off x="4276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56" name="Shape 49"/>
          <p:cNvSpPr/>
          <p:nvPr/>
        </p:nvSpPr>
        <p:spPr>
          <a:xfrm>
            <a:off x="4440936" y="1362456"/>
            <a:ext cx="475488" cy="47548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5" descr="/Users/prathmeshwalimbe/Downloads/Meesho/02_round2_detailed_submission/deck/source/assets/icons/FaWhatsap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5543" y="1467063"/>
            <a:ext cx="266273" cy="266273"/>
          </a:xfrm>
          <a:prstGeom prst="rect">
            <a:avLst/>
          </a:prstGeom>
        </p:spPr>
      </p:pic>
      <p:sp>
        <p:nvSpPr>
          <p:cNvPr id="58" name="Shape 50"/>
          <p:cNvSpPr/>
          <p:nvPr/>
        </p:nvSpPr>
        <p:spPr>
          <a:xfrm>
            <a:off x="4971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1"/>
          <p:cNvSpPr txBox="1"/>
          <p:nvPr/>
        </p:nvSpPr>
        <p:spPr>
          <a:xfrm>
            <a:off x="4998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−7</a:t>
            </a:r>
            <a:endParaRPr lang="en-US" sz="800" dirty="0"/>
          </a:p>
        </p:txBody>
      </p:sp>
      <p:sp>
        <p:nvSpPr>
          <p:cNvPr id="60" name="Text 52"/>
          <p:cNvSpPr txBox="1"/>
          <p:nvPr/>
        </p:nvSpPr>
        <p:spPr>
          <a:xfrm>
            <a:off x="5907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53"/>
          <p:cNvSpPr txBox="1"/>
          <p:nvPr/>
        </p:nvSpPr>
        <p:spPr>
          <a:xfrm>
            <a:off x="4422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sends his making cost on WhatsApp: lowest viable price ₹180 vs the ₹192 gate. He qualifies.</a:t>
            </a:r>
            <a:endParaRPr lang="en-US" sz="850" dirty="0"/>
          </a:p>
        </p:txBody>
      </p:sp>
      <p:sp>
        <p:nvSpPr>
          <p:cNvPr id="62" name="Shape 54"/>
          <p:cNvSpPr/>
          <p:nvPr/>
        </p:nvSpPr>
        <p:spPr>
          <a:xfrm>
            <a:off x="4422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5"/>
          <p:cNvSpPr txBox="1"/>
          <p:nvPr/>
        </p:nvSpPr>
        <p:spPr>
          <a:xfrm>
            <a:off x="4450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price check</a:t>
            </a:r>
            <a:endParaRPr lang="en-US" sz="800" dirty="0"/>
          </a:p>
        </p:txBody>
      </p:sp>
      <p:sp>
        <p:nvSpPr>
          <p:cNvPr id="64" name="Text 56"/>
          <p:cNvSpPr txBox="1"/>
          <p:nvPr/>
        </p:nvSpPr>
        <p:spPr>
          <a:xfrm>
            <a:off x="6181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65" name="Shape 57"/>
          <p:cNvSpPr/>
          <p:nvPr/>
        </p:nvSpPr>
        <p:spPr>
          <a:xfrm>
            <a:off x="6345936" y="1362456"/>
            <a:ext cx="475488" cy="475488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6" descr="/Users/prathmeshwalimbe/Downloads/Meesho/02_round2_detailed_submission/deck/source/assets/icons/FaMapLocationDo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0543" y="1467063"/>
            <a:ext cx="266273" cy="266273"/>
          </a:xfrm>
          <a:prstGeom prst="rect">
            <a:avLst/>
          </a:prstGeom>
        </p:spPr>
      </p:pic>
      <p:sp>
        <p:nvSpPr>
          <p:cNvPr id="67" name="Shape 58"/>
          <p:cNvSpPr/>
          <p:nvPr/>
        </p:nvSpPr>
        <p:spPr>
          <a:xfrm>
            <a:off x="6876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9"/>
          <p:cNvSpPr txBox="1"/>
          <p:nvPr/>
        </p:nvSpPr>
        <p:spPr>
          <a:xfrm>
            <a:off x="6903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−5</a:t>
            </a:r>
            <a:endParaRPr lang="en-US" sz="800" dirty="0"/>
          </a:p>
        </p:txBody>
      </p:sp>
      <p:sp>
        <p:nvSpPr>
          <p:cNvPr id="69" name="Text 60"/>
          <p:cNvSpPr txBox="1"/>
          <p:nvPr/>
        </p:nvSpPr>
        <p:spPr>
          <a:xfrm>
            <a:off x="7812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70" name="Text 61"/>
          <p:cNvSpPr txBox="1"/>
          <p:nvPr/>
        </p:nvSpPr>
        <p:spPr>
          <a:xfrm>
            <a:off x="6327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Brief shows which districts buy men’s briefs; he commits a 1,000-pack prepaid batch.</a:t>
            </a:r>
            <a:endParaRPr lang="en-US" sz="850" dirty="0"/>
          </a:p>
        </p:txBody>
      </p:sp>
      <p:sp>
        <p:nvSpPr>
          <p:cNvPr id="71" name="Shape 62"/>
          <p:cNvSpPr/>
          <p:nvPr/>
        </p:nvSpPr>
        <p:spPr>
          <a:xfrm>
            <a:off x="6327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3"/>
          <p:cNvSpPr txBox="1"/>
          <p:nvPr/>
        </p:nvSpPr>
        <p:spPr>
          <a:xfrm>
            <a:off x="6355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Demand Brief + pre-order</a:t>
            </a:r>
            <a:endParaRPr lang="en-US" sz="800" dirty="0"/>
          </a:p>
        </p:txBody>
      </p:sp>
      <p:sp>
        <p:nvSpPr>
          <p:cNvPr id="73" name="Text 64"/>
          <p:cNvSpPr txBox="1"/>
          <p:nvPr/>
        </p:nvSpPr>
        <p:spPr>
          <a:xfrm>
            <a:off x="8086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74" name="Shape 65"/>
          <p:cNvSpPr/>
          <p:nvPr/>
        </p:nvSpPr>
        <p:spPr>
          <a:xfrm>
            <a:off x="8250936" y="1362456"/>
            <a:ext cx="475488" cy="47548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5" name="Image 7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5543" y="1467063"/>
            <a:ext cx="266273" cy="266273"/>
          </a:xfrm>
          <a:prstGeom prst="rect">
            <a:avLst/>
          </a:prstGeom>
        </p:spPr>
      </p:pic>
      <p:sp>
        <p:nvSpPr>
          <p:cNvPr id="76" name="Shape 66"/>
          <p:cNvSpPr/>
          <p:nvPr/>
        </p:nvSpPr>
        <p:spPr>
          <a:xfrm>
            <a:off x="8781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7"/>
          <p:cNvSpPr txBox="1"/>
          <p:nvPr/>
        </p:nvSpPr>
        <p:spPr>
          <a:xfrm>
            <a:off x="8808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00" dirty="0"/>
          </a:p>
        </p:txBody>
      </p:sp>
      <p:sp>
        <p:nvSpPr>
          <p:cNvPr id="78" name="Text 68"/>
          <p:cNvSpPr txBox="1"/>
          <p:nvPr/>
        </p:nvSpPr>
        <p:spPr>
          <a:xfrm>
            <a:off x="9717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79" name="Text 69"/>
          <p:cNvSpPr txBox="1"/>
          <p:nvPr/>
        </p:nvSpPr>
        <p:spPr>
          <a:xfrm>
            <a:off x="8232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truck to the Tiruppur node: ₹54,684 lands at handover; the node ships every order.</a:t>
            </a:r>
            <a:endParaRPr lang="en-US" sz="850" dirty="0"/>
          </a:p>
        </p:txBody>
      </p:sp>
      <p:sp>
        <p:nvSpPr>
          <p:cNvPr id="80" name="Shape 70"/>
          <p:cNvSpPr/>
          <p:nvPr/>
        </p:nvSpPr>
        <p:spPr>
          <a:xfrm>
            <a:off x="8232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1"/>
          <p:cNvSpPr txBox="1"/>
          <p:nvPr/>
        </p:nvSpPr>
        <p:spPr>
          <a:xfrm>
            <a:off x="8260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node + 30% advance</a:t>
            </a:r>
            <a:endParaRPr lang="en-US" sz="800" dirty="0"/>
          </a:p>
        </p:txBody>
      </p:sp>
      <p:sp>
        <p:nvSpPr>
          <p:cNvPr id="82" name="Text 72"/>
          <p:cNvSpPr txBox="1"/>
          <p:nvPr/>
        </p:nvSpPr>
        <p:spPr>
          <a:xfrm>
            <a:off x="9991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83" name="Shape 73"/>
          <p:cNvSpPr/>
          <p:nvPr/>
        </p:nvSpPr>
        <p:spPr>
          <a:xfrm>
            <a:off x="10155936" y="1362456"/>
            <a:ext cx="475488" cy="47548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4" name="Image 8" descr="/Users/prathmeshwalimbe/Downloads/Meesho/02_round2_detailed_submission/deck/source/assets/icons/FaRocke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60543" y="1467063"/>
            <a:ext cx="266273" cy="266273"/>
          </a:xfrm>
          <a:prstGeom prst="rect">
            <a:avLst/>
          </a:prstGeom>
        </p:spPr>
      </p:pic>
      <p:sp>
        <p:nvSpPr>
          <p:cNvPr id="85" name="Shape 74"/>
          <p:cNvSpPr/>
          <p:nvPr/>
        </p:nvSpPr>
        <p:spPr>
          <a:xfrm>
            <a:off x="10686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75"/>
          <p:cNvSpPr txBox="1"/>
          <p:nvPr/>
        </p:nvSpPr>
        <p:spPr>
          <a:xfrm>
            <a:off x="10713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13-19</a:t>
            </a:r>
            <a:endParaRPr lang="en-US" sz="800" dirty="0"/>
          </a:p>
        </p:txBody>
      </p:sp>
      <p:sp>
        <p:nvSpPr>
          <p:cNvPr id="87" name="Text 76"/>
          <p:cNvSpPr txBox="1"/>
          <p:nvPr/>
        </p:nvSpPr>
        <p:spPr>
          <a:xfrm>
            <a:off x="11622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88" name="Text 77"/>
          <p:cNvSpPr txBox="1"/>
          <p:nvPr/>
        </p:nvSpPr>
        <p:spPr>
          <a:xfrm>
            <a:off x="10137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₹33,840 more for kept orders, net of fees; he refers two neighbouring units.</a:t>
            </a:r>
            <a:endParaRPr lang="en-US" sz="850" dirty="0"/>
          </a:p>
        </p:txBody>
      </p:sp>
      <p:sp>
        <p:nvSpPr>
          <p:cNvPr id="89" name="Shape 78"/>
          <p:cNvSpPr/>
          <p:nvPr/>
        </p:nvSpPr>
        <p:spPr>
          <a:xfrm>
            <a:off x="10137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79"/>
          <p:cNvSpPr txBox="1"/>
          <p:nvPr/>
        </p:nvSpPr>
        <p:spPr>
          <a:xfrm>
            <a:off x="10165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repeat + referral</a:t>
            </a:r>
            <a:endParaRPr lang="en-US" sz="800" dirty="0"/>
          </a:p>
        </p:txBody>
      </p:sp>
      <p:sp>
        <p:nvSpPr>
          <p:cNvPr id="91" name="Shape 80"/>
          <p:cNvSpPr/>
          <p:nvPr/>
        </p:nvSpPr>
        <p:spPr>
          <a:xfrm>
            <a:off x="548640" y="2975000"/>
            <a:ext cx="212250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1"/>
          <p:cNvSpPr txBox="1"/>
          <p:nvPr/>
        </p:nvSpPr>
        <p:spPr>
          <a:xfrm>
            <a:off x="612648" y="2975000"/>
            <a:ext cx="19944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why factories switch</a:t>
            </a:r>
            <a:endParaRPr lang="en-US" sz="950" dirty="0"/>
          </a:p>
        </p:txBody>
      </p:sp>
      <p:sp>
        <p:nvSpPr>
          <p:cNvPr id="93" name="Shape 82"/>
          <p:cNvSpPr/>
          <p:nvPr/>
        </p:nvSpPr>
        <p:spPr>
          <a:xfrm>
            <a:off x="548640" y="3221888"/>
            <a:ext cx="2122505" cy="143789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83"/>
          <p:cNvSpPr txBox="1"/>
          <p:nvPr/>
        </p:nvSpPr>
        <p:spPr>
          <a:xfrm>
            <a:off x="612648" y="3267608"/>
            <a:ext cx="1994489" cy="134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pick-pack-ship team needed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only confirmed orders (+15%)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cash at handover, rest in ~11 days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₹18.3 a pack vs ₹7.9 ex-factory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hedge against export swings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commission; ₹0 RTO fee</a:t>
            </a:r>
            <a:endParaRPr lang="en-US" sz="850" dirty="0"/>
          </a:p>
        </p:txBody>
      </p:sp>
      <p:sp>
        <p:nvSpPr>
          <p:cNvPr id="95" name="Shape 84"/>
          <p:cNvSpPr/>
          <p:nvPr/>
        </p:nvSpPr>
        <p:spPr>
          <a:xfrm>
            <a:off x="2762585" y="2975000"/>
            <a:ext cx="618500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85"/>
          <p:cNvSpPr txBox="1"/>
          <p:nvPr/>
        </p:nvSpPr>
        <p:spPr>
          <a:xfrm>
            <a:off x="2826593" y="2975000"/>
            <a:ext cx="6056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to reach factories: ATL · TTL · BTL (segment each one targets)</a:t>
            </a:r>
            <a:endParaRPr lang="en-US" sz="950" dirty="0"/>
          </a:p>
        </p:txBody>
      </p:sp>
      <p:sp>
        <p:nvSpPr>
          <p:cNvPr id="97" name="Shape 86"/>
          <p:cNvSpPr/>
          <p:nvPr/>
        </p:nvSpPr>
        <p:spPr>
          <a:xfrm>
            <a:off x="2762585" y="3221888"/>
            <a:ext cx="6185002" cy="143789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87"/>
          <p:cNvSpPr/>
          <p:nvPr/>
        </p:nvSpPr>
        <p:spPr>
          <a:xfrm>
            <a:off x="2826593" y="3267608"/>
            <a:ext cx="1970227" cy="219456"/>
          </a:xfrm>
          <a:prstGeom prst="roundRect">
            <a:avLst>
              <a:gd name="adj" fmla="val 20833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88"/>
          <p:cNvSpPr txBox="1"/>
          <p:nvPr/>
        </p:nvSpPr>
        <p:spPr>
          <a:xfrm>
            <a:off x="2854025" y="3267608"/>
            <a:ext cx="191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 reach</a:t>
            </a:r>
            <a:endParaRPr lang="en-US" sz="900" dirty="0"/>
          </a:p>
        </p:txBody>
      </p:sp>
      <p:sp>
        <p:nvSpPr>
          <p:cNvPr id="100" name="Text 89"/>
          <p:cNvSpPr txBox="1"/>
          <p:nvPr/>
        </p:nvSpPr>
        <p:spPr>
          <a:xfrm>
            <a:off x="2826593" y="3541928"/>
            <a:ext cx="1970227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business news + YouTube explainers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Tamil and Hindi (A)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Supplier-app banner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1.04 mn existing sellers (C)</a:t>
            </a:r>
            <a:endParaRPr lang="en-US" sz="850" dirty="0"/>
          </a:p>
        </p:txBody>
      </p:sp>
      <p:sp>
        <p:nvSpPr>
          <p:cNvPr id="101" name="Shape 90"/>
          <p:cNvSpPr/>
          <p:nvPr/>
        </p:nvSpPr>
        <p:spPr>
          <a:xfrm>
            <a:off x="4869972" y="3267608"/>
            <a:ext cx="1970227" cy="219456"/>
          </a:xfrm>
          <a:prstGeom prst="roundRect">
            <a:avLst>
              <a:gd name="adj" fmla="val 20833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1"/>
          <p:cNvSpPr txBox="1"/>
          <p:nvPr/>
        </p:nvSpPr>
        <p:spPr>
          <a:xfrm>
            <a:off x="4897404" y="3267608"/>
            <a:ext cx="191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reach</a:t>
            </a:r>
            <a:endParaRPr lang="en-US" sz="900" dirty="0"/>
          </a:p>
        </p:txBody>
      </p:sp>
      <p:sp>
        <p:nvSpPr>
          <p:cNvPr id="103" name="Text 92"/>
          <p:cNvSpPr txBox="1"/>
          <p:nvPr/>
        </p:nvSpPr>
        <p:spPr>
          <a:xfrm>
            <a:off x="4869972" y="3541928"/>
            <a:ext cx="1970227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Gen-AI voice agents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local languages, already live at Meesho (A, C)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Price-check link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seller agencies (B)</a:t>
            </a:r>
            <a:endParaRPr lang="en-US" sz="850" dirty="0"/>
          </a:p>
        </p:txBody>
      </p:sp>
      <p:sp>
        <p:nvSpPr>
          <p:cNvPr id="104" name="Shape 93"/>
          <p:cNvSpPr/>
          <p:nvPr/>
        </p:nvSpPr>
        <p:spPr>
          <a:xfrm>
            <a:off x="6913352" y="3267608"/>
            <a:ext cx="1970227" cy="219456"/>
          </a:xfrm>
          <a:prstGeom prst="roundRect">
            <a:avLst>
              <a:gd name="adj" fmla="val 20833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94"/>
          <p:cNvSpPr txBox="1"/>
          <p:nvPr/>
        </p:nvSpPr>
        <p:spPr>
          <a:xfrm>
            <a:off x="6940784" y="3267608"/>
            <a:ext cx="191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 reach</a:t>
            </a:r>
            <a:endParaRPr lang="en-US" sz="900" dirty="0"/>
          </a:p>
        </p:txBody>
      </p:sp>
      <p:sp>
        <p:nvSpPr>
          <p:cNvPr id="106" name="Text 95"/>
          <p:cNvSpPr txBox="1"/>
          <p:nvPr/>
        </p:nvSpPr>
        <p:spPr>
          <a:xfrm>
            <a:off x="6913352" y="3541928"/>
            <a:ext cx="1970227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camps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Tiruppur and Panipat bodies, 40-60 units each (A)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MSME-TEAM / ONDC workshops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₹277 cr scheme to co-fund camps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Dormant-seller re-invite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WhatsApp, KYC on file (C)</a:t>
            </a:r>
            <a:endParaRPr lang="en-US" sz="850" dirty="0"/>
          </a:p>
        </p:txBody>
      </p:sp>
      <p:sp>
        <p:nvSpPr>
          <p:cNvPr id="107" name="Shape 96"/>
          <p:cNvSpPr/>
          <p:nvPr/>
        </p:nvSpPr>
        <p:spPr>
          <a:xfrm>
            <a:off x="9039027" y="2975000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97"/>
          <p:cNvSpPr txBox="1"/>
          <p:nvPr/>
        </p:nvSpPr>
        <p:spPr>
          <a:xfrm>
            <a:off x="9103035" y="2975000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camps: why · what · how</a:t>
            </a:r>
            <a:endParaRPr lang="en-US" sz="950" dirty="0"/>
          </a:p>
        </p:txBody>
      </p:sp>
      <p:sp>
        <p:nvSpPr>
          <p:cNvPr id="109" name="Shape 98"/>
          <p:cNvSpPr/>
          <p:nvPr/>
        </p:nvSpPr>
        <p:spPr>
          <a:xfrm>
            <a:off x="9039027" y="3221888"/>
            <a:ext cx="2921325" cy="143789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99"/>
          <p:cNvSpPr txBox="1"/>
          <p:nvPr/>
        </p:nvSpPr>
        <p:spPr>
          <a:xfrm>
            <a:off x="9103035" y="3267608"/>
            <a:ext cx="2793309" cy="134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sit together: ~3,200 knitwear units in Tiruppur; ~₹60,000 cr turnover in Panipat.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check, Demand Brief demo, node visit, GST and KYC desk.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association hosts; 40-60 units a camp; a factory can list the same day.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attended → price checks → listed → first batch, per camp.</a:t>
            </a:r>
            <a:endParaRPr lang="en-US" sz="850" dirty="0"/>
          </a:p>
        </p:txBody>
      </p:sp>
      <p:sp>
        <p:nvSpPr>
          <p:cNvPr id="111" name="Shape 100"/>
          <p:cNvSpPr/>
          <p:nvPr/>
        </p:nvSpPr>
        <p:spPr>
          <a:xfrm>
            <a:off x="548640" y="4751222"/>
            <a:ext cx="839894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1"/>
          <p:cNvSpPr txBox="1"/>
          <p:nvPr/>
        </p:nvSpPr>
        <p:spPr>
          <a:xfrm>
            <a:off x="612648" y="4751222"/>
            <a:ext cx="82709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offer: product · promotion · place · price</a:t>
            </a:r>
            <a:endParaRPr lang="en-US" sz="950" dirty="0"/>
          </a:p>
        </p:txBody>
      </p:sp>
      <p:sp>
        <p:nvSpPr>
          <p:cNvPr id="113" name="Shape 102"/>
          <p:cNvSpPr/>
          <p:nvPr/>
        </p:nvSpPr>
        <p:spPr>
          <a:xfrm>
            <a:off x="548640" y="4998110"/>
            <a:ext cx="8398947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03"/>
          <p:cNvSpPr/>
          <p:nvPr/>
        </p:nvSpPr>
        <p:spPr>
          <a:xfrm>
            <a:off x="612648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04"/>
          <p:cNvSpPr txBox="1"/>
          <p:nvPr/>
        </p:nvSpPr>
        <p:spPr>
          <a:xfrm>
            <a:off x="640080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116" name="Text 105"/>
          <p:cNvSpPr txBox="1"/>
          <p:nvPr/>
        </p:nvSpPr>
        <p:spPr>
          <a:xfrm>
            <a:off x="640080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Direct stack: price check, Demand Brief, pre-order window, Factory Node, 30% advance, returns firewall. One supplier app, six levers.</a:t>
            </a:r>
            <a:endParaRPr lang="en-US" sz="850" dirty="0"/>
          </a:p>
        </p:txBody>
      </p:sp>
      <p:sp>
        <p:nvSpPr>
          <p:cNvPr id="117" name="Shape 106"/>
          <p:cNvSpPr/>
          <p:nvPr/>
        </p:nvSpPr>
        <p:spPr>
          <a:xfrm>
            <a:off x="2698669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07"/>
          <p:cNvSpPr txBox="1"/>
          <p:nvPr/>
        </p:nvSpPr>
        <p:spPr>
          <a:xfrm>
            <a:off x="2726101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900" dirty="0"/>
          </a:p>
        </p:txBody>
      </p:sp>
      <p:sp>
        <p:nvSpPr>
          <p:cNvPr id="119" name="Text 108"/>
          <p:cNvSpPr txBox="1"/>
          <p:nvPr/>
        </p:nvSpPr>
        <p:spPr>
          <a:xfrm>
            <a:off x="2726101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+ WhatsApp campaign “Your factory, India’s buyers”; buyers see “Sold directly by the manufacturer” and the price gap.</a:t>
            </a:r>
            <a:endParaRPr lang="en-US" sz="850" dirty="0"/>
          </a:p>
        </p:txBody>
      </p:sp>
      <p:sp>
        <p:nvSpPr>
          <p:cNvPr id="120" name="Shape 109"/>
          <p:cNvSpPr/>
          <p:nvPr/>
        </p:nvSpPr>
        <p:spPr>
          <a:xfrm>
            <a:off x="4784689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0"/>
          <p:cNvSpPr txBox="1"/>
          <p:nvPr/>
        </p:nvSpPr>
        <p:spPr>
          <a:xfrm>
            <a:off x="4812121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900" dirty="0"/>
          </a:p>
        </p:txBody>
      </p:sp>
      <p:sp>
        <p:nvSpPr>
          <p:cNvPr id="122" name="Text 111"/>
          <p:cNvSpPr txBox="1"/>
          <p:nvPr/>
        </p:nvSpPr>
        <p:spPr>
          <a:xfrm>
            <a:off x="4812121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Tiruppur and Panipat first, 12 clusters by Year 4, one partner node each; supplier app, WhatsApp and voice agent.</a:t>
            </a:r>
            <a:endParaRPr lang="en-US" sz="850" dirty="0"/>
          </a:p>
        </p:txBody>
      </p:sp>
      <p:sp>
        <p:nvSpPr>
          <p:cNvPr id="123" name="Shape 112"/>
          <p:cNvSpPr/>
          <p:nvPr/>
        </p:nvSpPr>
        <p:spPr>
          <a:xfrm>
            <a:off x="6870710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13"/>
          <p:cNvSpPr txBox="1"/>
          <p:nvPr/>
        </p:nvSpPr>
        <p:spPr>
          <a:xfrm>
            <a:off x="6898142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125" name="Text 114"/>
          <p:cNvSpPr txBox="1"/>
          <p:nvPr/>
        </p:nvSpPr>
        <p:spPr>
          <a:xfrm>
            <a:off x="6898142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 · node fee ₹20/unit · ₹0 RTO fee · ₹10 pre-order discount, funded by the ₹11 batch saving</a:t>
            </a:r>
            <a:endParaRPr lang="en-US" sz="850" dirty="0"/>
          </a:p>
        </p:txBody>
      </p:sp>
      <p:sp>
        <p:nvSpPr>
          <p:cNvPr id="126" name="Shape 115"/>
          <p:cNvSpPr/>
          <p:nvPr/>
        </p:nvSpPr>
        <p:spPr>
          <a:xfrm>
            <a:off x="9039027" y="4751222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16"/>
          <p:cNvSpPr txBox="1"/>
          <p:nvPr/>
        </p:nvSpPr>
        <p:spPr>
          <a:xfrm>
            <a:off x="9103035" y="4751222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and solutions</a:t>
            </a:r>
            <a:endParaRPr lang="en-US" sz="950" dirty="0"/>
          </a:p>
        </p:txBody>
      </p:sp>
      <p:sp>
        <p:nvSpPr>
          <p:cNvPr id="128" name="Shape 117"/>
          <p:cNvSpPr/>
          <p:nvPr/>
        </p:nvSpPr>
        <p:spPr>
          <a:xfrm>
            <a:off x="9039027" y="4998110"/>
            <a:ext cx="2921325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18"/>
          <p:cNvSpPr txBox="1"/>
          <p:nvPr/>
        </p:nvSpPr>
        <p:spPr>
          <a:xfrm>
            <a:off x="9103035" y="5043830"/>
            <a:ext cx="2793309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Distrust after returns shocks →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end at the node; a pool caps losses.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orders return (tariff now 18%) →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fill idle lines between export runs.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a price squeeze →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rewards a gap that exists; Meesho never asks for cuts.</a:t>
            </a:r>
            <a:endParaRPr lang="en-US" sz="850" dirty="0"/>
          </a:p>
        </p:txBody>
      </p:sp>
      <p:pic>
        <p:nvPicPr>
          <p:cNvPr id="130" name="Graphic 130" descr="Behaviour chan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131" name="Graphic 131" descr="Rationa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63800" y="3003550"/>
            <a:ext cx="165100" cy="165100"/>
          </a:xfrm>
          <a:prstGeom prst="rect">
            <a:avLst/>
          </a:prstGeom>
        </p:spPr>
      </p:pic>
      <p:pic>
        <p:nvPicPr>
          <p:cNvPr id="132" name="Graphic 132" descr="Channe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50300" y="3003550"/>
            <a:ext cx="165100" cy="165100"/>
          </a:xfrm>
          <a:prstGeom prst="rect">
            <a:avLst/>
          </a:prstGeom>
        </p:spPr>
      </p:pic>
      <p:pic>
        <p:nvPicPr>
          <p:cNvPr id="133" name="Graphic 133" descr="Cluster camp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760200" y="3003550"/>
            <a:ext cx="165100" cy="165100"/>
          </a:xfrm>
          <a:prstGeom prst="rect">
            <a:avLst/>
          </a:prstGeom>
        </p:spPr>
      </p:pic>
      <p:pic>
        <p:nvPicPr>
          <p:cNvPr id="134" name="Graphic 134" descr="The off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37600" y="4781550"/>
            <a:ext cx="165100" cy="165100"/>
          </a:xfrm>
          <a:prstGeom prst="rect">
            <a:avLst/>
          </a:prstGeom>
        </p:spPr>
      </p:pic>
      <p:pic>
        <p:nvPicPr>
          <p:cNvPr id="135" name="Graphic 135" descr="Bottleneck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60200" y="4781550"/>
            <a:ext cx="165100" cy="165100"/>
          </a:xfrm>
          <a:prstGeom prst="rect">
            <a:avLst/>
          </a:prstGeom>
        </p:spPr>
      </p:pic>
      <p:pic>
        <p:nvPicPr>
          <p:cNvPr id="136" name="Graphic 136" descr="Trigg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8500" y="2654300"/>
            <a:ext cx="114300" cy="114300"/>
          </a:xfrm>
          <a:prstGeom prst="rect">
            <a:avLst/>
          </a:prstGeom>
        </p:spPr>
      </p:pic>
      <p:pic>
        <p:nvPicPr>
          <p:cNvPr id="137" name="Graphic 137" descr="Cluster cam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03500" y="2654300"/>
            <a:ext cx="114300" cy="114300"/>
          </a:xfrm>
          <a:prstGeom prst="rect">
            <a:avLst/>
          </a:prstGeom>
        </p:spPr>
      </p:pic>
      <p:pic>
        <p:nvPicPr>
          <p:cNvPr id="138" name="Graphic 138" descr="Price 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08500" y="2654300"/>
            <a:ext cx="114300" cy="114300"/>
          </a:xfrm>
          <a:prstGeom prst="rect">
            <a:avLst/>
          </a:prstGeom>
        </p:spPr>
      </p:pic>
      <p:pic>
        <p:nvPicPr>
          <p:cNvPr id="139" name="Graphic 139" descr="Demand 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75400" y="2654300"/>
            <a:ext cx="114300" cy="114300"/>
          </a:xfrm>
          <a:prstGeom prst="rect">
            <a:avLst/>
          </a:prstGeom>
        </p:spPr>
      </p:pic>
      <p:pic>
        <p:nvPicPr>
          <p:cNvPr id="140" name="Graphic 140" descr="No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18500" y="2654300"/>
            <a:ext cx="114300" cy="114300"/>
          </a:xfrm>
          <a:prstGeom prst="rect">
            <a:avLst/>
          </a:prstGeom>
        </p:spPr>
      </p:pic>
      <p:pic>
        <p:nvPicPr>
          <p:cNvPr id="141" name="Graphic 141" descr="Outcom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223500" y="2654300"/>
            <a:ext cx="114300" cy="114300"/>
          </a:xfrm>
          <a:prstGeom prst="rect">
            <a:avLst/>
          </a:prstGeom>
        </p:spPr>
      </p:pic>
      <p:pic>
        <p:nvPicPr>
          <p:cNvPr id="142" name="Graphic 142" descr="AT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908300" y="3314700"/>
            <a:ext cx="114300" cy="114300"/>
          </a:xfrm>
          <a:prstGeom prst="rect">
            <a:avLst/>
          </a:prstGeom>
        </p:spPr>
      </p:pic>
      <p:pic>
        <p:nvPicPr>
          <p:cNvPr id="143" name="Graphic 143" descr="TT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940300" y="3314700"/>
            <a:ext cx="114300" cy="114300"/>
          </a:xfrm>
          <a:prstGeom prst="rect">
            <a:avLst/>
          </a:prstGeom>
        </p:spPr>
      </p:pic>
      <p:pic>
        <p:nvPicPr>
          <p:cNvPr id="144" name="Graphic 144" descr="BT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985000" y="3314700"/>
            <a:ext cx="114300" cy="114300"/>
          </a:xfrm>
          <a:prstGeom prst="rect">
            <a:avLst/>
          </a:prstGeom>
        </p:spPr>
      </p:pic>
      <p:pic>
        <p:nvPicPr>
          <p:cNvPr id="145" name="Graphic 145" descr="Produ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85800" y="5099050"/>
            <a:ext cx="114300" cy="114300"/>
          </a:xfrm>
          <a:prstGeom prst="rect">
            <a:avLst/>
          </a:prstGeom>
        </p:spPr>
      </p:pic>
      <p:pic>
        <p:nvPicPr>
          <p:cNvPr id="146" name="Graphic 146" descr="Promo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768600" y="5099050"/>
            <a:ext cx="114300" cy="114300"/>
          </a:xfrm>
          <a:prstGeom prst="rect">
            <a:avLst/>
          </a:prstGeom>
        </p:spPr>
      </p:pic>
      <p:pic>
        <p:nvPicPr>
          <p:cNvPr id="147" name="Graphic 147" descr="Pla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51400" y="5099050"/>
            <a:ext cx="114300" cy="114300"/>
          </a:xfrm>
          <a:prstGeom prst="rect">
            <a:avLst/>
          </a:prstGeom>
        </p:spPr>
      </p:pic>
      <p:pic>
        <p:nvPicPr>
          <p:cNvPr id="148" name="Graphic 148" descr="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46900" y="509905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38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three ways to bring factories online, only Factory Direct removes unit operations, stock risk and returns within FDI rules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build Factory Direct (seller-owned stock at partner nodes plus prepaid batches); Meesho never takes title to stock. Owner: Valmo + Legal · KPI: zero inventory-control findings.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S1, S2 (Valmo 50-55% of deliveries), S16 Temu semi-managed, S17 Shein Brazil, S12 SMB fulfilment fee, S19 Press Note 2 (marketplace may not own or control seller inventory), S23-S25   |   Costs per pack from the unit-economics table; workings in Appendix C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375818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 marketplace (factory self-ships)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3758184" cy="173736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612648" y="13441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lists, then packs, ships and takes back every return itself.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704088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3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" y="1717243"/>
            <a:ext cx="204826" cy="204826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391668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1097280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1731264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4" descr="/Users/prathmeshwalimbe/Downloads/Meesho/02_round2_detailed_submission/deck/source/assets/icons/FaClipboard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1731" y="1717243"/>
            <a:ext cx="204826" cy="204826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418844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each order</a:t>
            </a:r>
            <a:endParaRPr lang="en-US" sz="750" dirty="0"/>
          </a:p>
        </p:txBody>
      </p:sp>
      <p:sp>
        <p:nvSpPr>
          <p:cNvPr id="46" name="Shape 39"/>
          <p:cNvSpPr/>
          <p:nvPr/>
        </p:nvSpPr>
        <p:spPr>
          <a:xfrm>
            <a:off x="2124456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2758440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5" descr="/Users/prathmeshwalimbe/Downloads/Meesho/02_round2_detailed_submission/deck/source/assets/icons/FaTruckFas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8907" y="1717243"/>
            <a:ext cx="204826" cy="20482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2446020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</a:t>
            </a:r>
            <a:endParaRPr lang="en-US" sz="750" dirty="0"/>
          </a:p>
        </p:txBody>
      </p:sp>
      <p:sp>
        <p:nvSpPr>
          <p:cNvPr id="50" name="Shape 42"/>
          <p:cNvSpPr/>
          <p:nvPr/>
        </p:nvSpPr>
        <p:spPr>
          <a:xfrm>
            <a:off x="3151632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3"/>
          <p:cNvSpPr/>
          <p:nvPr/>
        </p:nvSpPr>
        <p:spPr>
          <a:xfrm>
            <a:off x="3785616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6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6083" y="1717243"/>
            <a:ext cx="204826" cy="204826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3473196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750" dirty="0"/>
          </a:p>
        </p:txBody>
      </p:sp>
      <p:sp>
        <p:nvSpPr>
          <p:cNvPr id="55" name="Shape 46"/>
          <p:cNvSpPr/>
          <p:nvPr/>
        </p:nvSpPr>
        <p:spPr>
          <a:xfrm>
            <a:off x="609600" y="2806700"/>
            <a:ext cx="3632200" cy="190500"/>
          </a:xfrm>
          <a:prstGeom prst="roundRect">
            <a:avLst>
              <a:gd name="adj" fmla="val 12500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7"/>
          <p:cNvSpPr txBox="1"/>
          <p:nvPr/>
        </p:nvSpPr>
        <p:spPr>
          <a:xfrm>
            <a:off x="660400" y="2806700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it: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today · Amazon · Flipkart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4398264" y="1051560"/>
            <a:ext cx="371246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9"/>
          <p:cNvSpPr txBox="1"/>
          <p:nvPr/>
        </p:nvSpPr>
        <p:spPr>
          <a:xfrm>
            <a:off x="4462272" y="1051560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Fully managed (platform buys and holds stock)</a:t>
            </a:r>
            <a:endParaRPr lang="en-US" sz="950" dirty="0"/>
          </a:p>
        </p:txBody>
      </p:sp>
      <p:sp>
        <p:nvSpPr>
          <p:cNvPr id="59" name="Shape 50"/>
          <p:cNvSpPr/>
          <p:nvPr/>
        </p:nvSpPr>
        <p:spPr>
          <a:xfrm>
            <a:off x="4398264" y="1298448"/>
            <a:ext cx="3712464" cy="173736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1"/>
          <p:cNvSpPr txBox="1"/>
          <p:nvPr/>
        </p:nvSpPr>
        <p:spPr>
          <a:xfrm>
            <a:off x="4462272" y="13441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sells stock to the platform, which prices, stores and ships it.</a:t>
            </a:r>
            <a:endParaRPr lang="en-US" sz="800" dirty="0"/>
          </a:p>
        </p:txBody>
      </p:sp>
      <p:sp>
        <p:nvSpPr>
          <p:cNvPr id="61" name="Shape 52"/>
          <p:cNvSpPr/>
          <p:nvPr/>
        </p:nvSpPr>
        <p:spPr>
          <a:xfrm>
            <a:off x="4553712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7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4179" y="1717243"/>
            <a:ext cx="204826" cy="204826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4248912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750" dirty="0"/>
          </a:p>
        </p:txBody>
      </p:sp>
      <p:sp>
        <p:nvSpPr>
          <p:cNvPr id="64" name="Shape 54"/>
          <p:cNvSpPr/>
          <p:nvPr/>
        </p:nvSpPr>
        <p:spPr>
          <a:xfrm>
            <a:off x="4946904" y="1819656"/>
            <a:ext cx="59131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5"/>
          <p:cNvSpPr/>
          <p:nvPr/>
        </p:nvSpPr>
        <p:spPr>
          <a:xfrm>
            <a:off x="5565648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8" descr="/Users/prathmeshwalimbe/Downloads/Meesho/02_round2_detailed_submission/deck/source/assets/icons/FaIndianRupeeSign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6115" y="1717243"/>
            <a:ext cx="204826" cy="204826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5260848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buys</a:t>
            </a:r>
            <a:endParaRPr lang="en-US" sz="750" dirty="0"/>
          </a:p>
        </p:txBody>
      </p:sp>
      <p:sp>
        <p:nvSpPr>
          <p:cNvPr id="68" name="Shape 57"/>
          <p:cNvSpPr/>
          <p:nvPr/>
        </p:nvSpPr>
        <p:spPr>
          <a:xfrm>
            <a:off x="5958840" y="1819656"/>
            <a:ext cx="59131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58"/>
          <p:cNvSpPr/>
          <p:nvPr/>
        </p:nvSpPr>
        <p:spPr>
          <a:xfrm>
            <a:off x="6577584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9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8051" y="1717243"/>
            <a:ext cx="204826" cy="204826"/>
          </a:xfrm>
          <a:prstGeom prst="rect">
            <a:avLst/>
          </a:prstGeom>
        </p:spPr>
      </p:pic>
      <p:sp>
        <p:nvSpPr>
          <p:cNvPr id="71" name="Text 59"/>
          <p:cNvSpPr txBox="1"/>
          <p:nvPr/>
        </p:nvSpPr>
        <p:spPr>
          <a:xfrm>
            <a:off x="6272784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warehouse</a:t>
            </a:r>
            <a:endParaRPr lang="en-US" sz="750" dirty="0"/>
          </a:p>
        </p:txBody>
      </p:sp>
      <p:sp>
        <p:nvSpPr>
          <p:cNvPr id="72" name="Shape 60"/>
          <p:cNvSpPr/>
          <p:nvPr/>
        </p:nvSpPr>
        <p:spPr>
          <a:xfrm>
            <a:off x="6970776" y="1819656"/>
            <a:ext cx="59131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1"/>
          <p:cNvSpPr/>
          <p:nvPr/>
        </p:nvSpPr>
        <p:spPr>
          <a:xfrm>
            <a:off x="7589520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4" name="Image 10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9987" y="1717243"/>
            <a:ext cx="204826" cy="204826"/>
          </a:xfrm>
          <a:prstGeom prst="rect">
            <a:avLst/>
          </a:prstGeom>
        </p:spPr>
      </p:pic>
      <p:sp>
        <p:nvSpPr>
          <p:cNvPr id="75" name="Text 62"/>
          <p:cNvSpPr txBox="1"/>
          <p:nvPr/>
        </p:nvSpPr>
        <p:spPr>
          <a:xfrm>
            <a:off x="7284720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750" dirty="0"/>
          </a:p>
        </p:txBody>
      </p:sp>
      <p:sp>
        <p:nvSpPr>
          <p:cNvPr id="77" name="Shape 64"/>
          <p:cNvSpPr/>
          <p:nvPr/>
        </p:nvSpPr>
        <p:spPr>
          <a:xfrm>
            <a:off x="4457700" y="2806700"/>
            <a:ext cx="3581400" cy="190500"/>
          </a:xfrm>
          <a:prstGeom prst="roundRect">
            <a:avLst>
              <a:gd name="adj" fmla="val 12500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65"/>
          <p:cNvSpPr txBox="1"/>
          <p:nvPr/>
        </p:nvSpPr>
        <p:spPr>
          <a:xfrm>
            <a:off x="4508500" y="2806700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it: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 (fully managed) · Shein</a:t>
            </a:r>
            <a:endParaRPr lang="en-US" sz="850" dirty="0"/>
          </a:p>
        </p:txBody>
      </p:sp>
      <p:sp>
        <p:nvSpPr>
          <p:cNvPr id="79" name="Shape 66"/>
          <p:cNvSpPr/>
          <p:nvPr/>
        </p:nvSpPr>
        <p:spPr>
          <a:xfrm>
            <a:off x="8202168" y="1051560"/>
            <a:ext cx="3758184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67"/>
          <p:cNvSpPr txBox="1"/>
          <p:nvPr/>
        </p:nvSpPr>
        <p:spPr>
          <a:xfrm>
            <a:off x="8266176" y="1051560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Factory Direct (seller-owned stock at a node)</a:t>
            </a:r>
            <a:endParaRPr lang="en-US" sz="950" dirty="0"/>
          </a:p>
        </p:txBody>
      </p:sp>
      <p:sp>
        <p:nvSpPr>
          <p:cNvPr id="81" name="Shape 68"/>
          <p:cNvSpPr/>
          <p:nvPr/>
        </p:nvSpPr>
        <p:spPr>
          <a:xfrm>
            <a:off x="8202168" y="1298448"/>
            <a:ext cx="3758184" cy="1737360"/>
          </a:xfrm>
          <a:prstGeom prst="rect">
            <a:avLst/>
          </a:prstGeom>
          <a:solidFill>
            <a:srgbClr val="FFF0F1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69"/>
          <p:cNvSpPr txBox="1"/>
          <p:nvPr/>
        </p:nvSpPr>
        <p:spPr>
          <a:xfrm>
            <a:off x="8266176" y="13441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makes confirmed pre-orders and drops them in bulk; a partner node ships and takes returns.</a:t>
            </a:r>
            <a:endParaRPr lang="en-US" sz="800" dirty="0"/>
          </a:p>
        </p:txBody>
      </p:sp>
      <p:sp>
        <p:nvSpPr>
          <p:cNvPr id="83" name="Shape 70"/>
          <p:cNvSpPr/>
          <p:nvPr/>
        </p:nvSpPr>
        <p:spPr>
          <a:xfrm>
            <a:off x="8357616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4" name="Image 11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083" y="1717243"/>
            <a:ext cx="204826" cy="204826"/>
          </a:xfrm>
          <a:prstGeom prst="rect">
            <a:avLst/>
          </a:prstGeom>
        </p:spPr>
      </p:pic>
      <p:sp>
        <p:nvSpPr>
          <p:cNvPr id="85" name="Text 71"/>
          <p:cNvSpPr txBox="1"/>
          <p:nvPr/>
        </p:nvSpPr>
        <p:spPr>
          <a:xfrm>
            <a:off x="8045196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750" dirty="0"/>
          </a:p>
        </p:txBody>
      </p:sp>
      <p:sp>
        <p:nvSpPr>
          <p:cNvPr id="86" name="Shape 72"/>
          <p:cNvSpPr/>
          <p:nvPr/>
        </p:nvSpPr>
        <p:spPr>
          <a:xfrm>
            <a:off x="8750808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73"/>
          <p:cNvSpPr/>
          <p:nvPr/>
        </p:nvSpPr>
        <p:spPr>
          <a:xfrm>
            <a:off x="9384792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8" name="Image 12" descr="/Users/prathmeshwalimbe/Downloads/Meesho/02_round2_detailed_submission/deck/source/assets/icons/FaUserClock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5259" y="1717243"/>
            <a:ext cx="204826" cy="204826"/>
          </a:xfrm>
          <a:prstGeom prst="rect">
            <a:avLst/>
          </a:prstGeom>
        </p:spPr>
      </p:pic>
      <p:sp>
        <p:nvSpPr>
          <p:cNvPr id="89" name="Text 74"/>
          <p:cNvSpPr txBox="1"/>
          <p:nvPr/>
        </p:nvSpPr>
        <p:spPr>
          <a:xfrm>
            <a:off x="9072372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batch</a:t>
            </a:r>
            <a:endParaRPr lang="en-US" sz="750" dirty="0"/>
          </a:p>
        </p:txBody>
      </p:sp>
      <p:sp>
        <p:nvSpPr>
          <p:cNvPr id="90" name="Shape 75"/>
          <p:cNvSpPr/>
          <p:nvPr/>
        </p:nvSpPr>
        <p:spPr>
          <a:xfrm>
            <a:off x="9777984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76"/>
          <p:cNvSpPr/>
          <p:nvPr/>
        </p:nvSpPr>
        <p:spPr>
          <a:xfrm>
            <a:off x="10411968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2" name="Image 13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2435" y="1717243"/>
            <a:ext cx="204826" cy="204826"/>
          </a:xfrm>
          <a:prstGeom prst="rect">
            <a:avLst/>
          </a:prstGeom>
        </p:spPr>
      </p:pic>
      <p:sp>
        <p:nvSpPr>
          <p:cNvPr id="93" name="Text 77"/>
          <p:cNvSpPr txBox="1"/>
          <p:nvPr/>
        </p:nvSpPr>
        <p:spPr>
          <a:xfrm>
            <a:off x="10099548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Node</a:t>
            </a:r>
            <a:endParaRPr lang="en-US" sz="750" dirty="0"/>
          </a:p>
        </p:txBody>
      </p:sp>
      <p:sp>
        <p:nvSpPr>
          <p:cNvPr id="94" name="Shape 78"/>
          <p:cNvSpPr/>
          <p:nvPr/>
        </p:nvSpPr>
        <p:spPr>
          <a:xfrm>
            <a:off x="10805160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79"/>
          <p:cNvSpPr/>
          <p:nvPr/>
        </p:nvSpPr>
        <p:spPr>
          <a:xfrm>
            <a:off x="11439144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6" name="Image 14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19611" y="1717243"/>
            <a:ext cx="204826" cy="204826"/>
          </a:xfrm>
          <a:prstGeom prst="rect">
            <a:avLst/>
          </a:prstGeom>
        </p:spPr>
      </p:pic>
      <p:sp>
        <p:nvSpPr>
          <p:cNvPr id="97" name="Text 80"/>
          <p:cNvSpPr txBox="1"/>
          <p:nvPr/>
        </p:nvSpPr>
        <p:spPr>
          <a:xfrm>
            <a:off x="11126724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750" dirty="0"/>
          </a:p>
        </p:txBody>
      </p:sp>
      <p:sp>
        <p:nvSpPr>
          <p:cNvPr id="99" name="Shape 82"/>
          <p:cNvSpPr/>
          <p:nvPr/>
        </p:nvSpPr>
        <p:spPr>
          <a:xfrm>
            <a:off x="8267700" y="2806700"/>
            <a:ext cx="3632200" cy="190500"/>
          </a:xfrm>
          <a:prstGeom prst="roundRect">
            <a:avLst>
              <a:gd name="adj" fmla="val 12500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83"/>
          <p:cNvSpPr txBox="1"/>
          <p:nvPr/>
        </p:nvSpPr>
        <p:spPr>
          <a:xfrm>
            <a:off x="8305800" y="2806700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it: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 semi-managed · Pinduoduo · Taobao C2M</a:t>
            </a:r>
            <a:endParaRPr lang="en-US" sz="850" dirty="0"/>
          </a:p>
        </p:txBody>
      </p:sp>
      <p:sp>
        <p:nvSpPr>
          <p:cNvPr id="101" name="Shape 84"/>
          <p:cNvSpPr/>
          <p:nvPr/>
        </p:nvSpPr>
        <p:spPr>
          <a:xfrm>
            <a:off x="548640" y="3127248"/>
            <a:ext cx="771424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85"/>
          <p:cNvSpPr txBox="1"/>
          <p:nvPr/>
        </p:nvSpPr>
        <p:spPr>
          <a:xfrm>
            <a:off x="612648" y="3127248"/>
            <a:ext cx="7586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C2M operating models (✓ removes the barrier · - partly · ✕ no)</a:t>
            </a:r>
            <a:endParaRPr lang="en-US" sz="950" dirty="0"/>
          </a:p>
        </p:txBody>
      </p:sp>
      <p:sp>
        <p:nvSpPr>
          <p:cNvPr id="103" name="Shape 86"/>
          <p:cNvSpPr/>
          <p:nvPr/>
        </p:nvSpPr>
        <p:spPr>
          <a:xfrm>
            <a:off x="548640" y="3374136"/>
            <a:ext cx="7714244" cy="275234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4" name="Table 0"/>
          <p:cNvGraphicFramePr>
            <a:graphicFrameLocks noGrp="1"/>
          </p:cNvGraphicFramePr>
          <p:nvPr/>
        </p:nvGraphicFramePr>
        <p:xfrm>
          <a:off x="612648" y="3419856"/>
          <a:ext cx="7586228" cy="177393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5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considered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Disadvantages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ops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FDI-legal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Open marketplace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capex; the factory keeps 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packing and returns team; builds stock blind; ₹72 logistics per pack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Fully managed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factory only makes; the platform runs everything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owns inventory: barred for FDI marketplaces (Press Note 2); price-squeeze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Factory Direct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runs unit ops; batches only for confirmed orders; seller keeps title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node partners (₹1.3 cr each) and a 7-8 day pre-order wait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5" name="Text 87"/>
          <p:cNvSpPr txBox="1"/>
          <p:nvPr/>
        </p:nvSpPr>
        <p:spPr>
          <a:xfrm>
            <a:off x="787400" y="5230368"/>
            <a:ext cx="7404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i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tick means: </a:t>
            </a:r>
            <a:r>
              <a:rPr lang="en-US" sz="7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takes that barrier off the factory entirely (unit ops, stock risk, returns), is allowed for an FDI-funded marketplace, or needs under ₹2 cr of Meesho capex per cluster.</a:t>
            </a:r>
            <a:endParaRPr lang="en-US" sz="750" dirty="0"/>
          </a:p>
        </p:txBody>
      </p:sp>
      <p:sp>
        <p:nvSpPr>
          <p:cNvPr id="106" name="Shape 88"/>
          <p:cNvSpPr/>
          <p:nvPr/>
        </p:nvSpPr>
        <p:spPr>
          <a:xfrm>
            <a:off x="612648" y="5559552"/>
            <a:ext cx="2479975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89"/>
          <p:cNvSpPr txBox="1"/>
          <p:nvPr/>
        </p:nvSpPr>
        <p:spPr>
          <a:xfrm>
            <a:off x="977900" y="5588000"/>
            <a:ext cx="2082800" cy="29210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US sellers to semi-managed: 20% of US GMV by Q3 2024</a:t>
            </a:r>
            <a:endParaRPr lang="en-US" sz="800" dirty="0"/>
          </a:p>
        </p:txBody>
      </p:sp>
      <p:sp>
        <p:nvSpPr>
          <p:cNvPr id="108" name="Shape 90"/>
          <p:cNvSpPr/>
          <p:nvPr/>
        </p:nvSpPr>
        <p:spPr>
          <a:xfrm>
            <a:off x="3165775" y="5559552"/>
            <a:ext cx="2479975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91"/>
          <p:cNvSpPr txBox="1"/>
          <p:nvPr/>
        </p:nvSpPr>
        <p:spPr>
          <a:xfrm>
            <a:off x="3530600" y="5588000"/>
            <a:ext cx="2082800" cy="29210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Shein Brazil: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of 2,000 factories signed; 1 still producing after price-cut asks</a:t>
            </a:r>
            <a:endParaRPr lang="en-US" sz="800" dirty="0"/>
          </a:p>
        </p:txBody>
      </p:sp>
      <p:sp>
        <p:nvSpPr>
          <p:cNvPr id="110" name="Shape 92"/>
          <p:cNvSpPr/>
          <p:nvPr/>
        </p:nvSpPr>
        <p:spPr>
          <a:xfrm>
            <a:off x="5718901" y="5559552"/>
            <a:ext cx="2479975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93"/>
          <p:cNvSpPr txBox="1"/>
          <p:nvPr/>
        </p:nvSpPr>
        <p:spPr>
          <a:xfrm>
            <a:off x="6083300" y="5588000"/>
            <a:ext cx="2082800" cy="29210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Valmo: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a capped H2 bet; now 50-55% of deliveries</a:t>
            </a:r>
            <a:endParaRPr lang="en-US" sz="800" dirty="0"/>
          </a:p>
        </p:txBody>
      </p:sp>
      <p:sp>
        <p:nvSpPr>
          <p:cNvPr id="112" name="Shape 94"/>
          <p:cNvSpPr/>
          <p:nvPr/>
        </p:nvSpPr>
        <p:spPr>
          <a:xfrm>
            <a:off x="8354324" y="3127248"/>
            <a:ext cx="3606028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95"/>
          <p:cNvSpPr txBox="1"/>
          <p:nvPr/>
        </p:nvSpPr>
        <p:spPr>
          <a:xfrm>
            <a:off x="8418332" y="3127248"/>
            <a:ext cx="3478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considered per model (₹ per 3-pack kept)</a:t>
            </a:r>
            <a:endParaRPr lang="en-US" sz="950" dirty="0"/>
          </a:p>
        </p:txBody>
      </p:sp>
      <p:sp>
        <p:nvSpPr>
          <p:cNvPr id="114" name="Shape 96"/>
          <p:cNvSpPr/>
          <p:nvPr/>
        </p:nvSpPr>
        <p:spPr>
          <a:xfrm>
            <a:off x="8354324" y="3374136"/>
            <a:ext cx="3606028" cy="275234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5" name="Table 1"/>
          <p:cNvGraphicFramePr>
            <a:graphicFrameLocks noGrp="1"/>
          </p:cNvGraphicFramePr>
          <p:nvPr/>
        </p:nvGraphicFramePr>
        <p:xfrm>
          <a:off x="8418332" y="3419856"/>
          <a:ext cx="3478012" cy="131673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Self-ship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Direct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(forward + pack / node)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Unsold stock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(₹150 each)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viable price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7" name="Graphic 117" descr="Open marketpla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02100" y="1085850"/>
            <a:ext cx="165100" cy="165100"/>
          </a:xfrm>
          <a:prstGeom prst="rect">
            <a:avLst/>
          </a:prstGeom>
        </p:spPr>
      </p:pic>
      <p:pic>
        <p:nvPicPr>
          <p:cNvPr id="118" name="Graphic 118" descr="Fully manag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99400" y="1085850"/>
            <a:ext cx="165100" cy="165100"/>
          </a:xfrm>
          <a:prstGeom prst="rect">
            <a:avLst/>
          </a:prstGeom>
        </p:spPr>
      </p:pic>
      <p:pic>
        <p:nvPicPr>
          <p:cNvPr id="119" name="Graphic 119" descr="Factory Dire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120" name="Graphic 120" descr="Comparis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51800" y="3155950"/>
            <a:ext cx="165100" cy="165100"/>
          </a:xfrm>
          <a:prstGeom prst="rect">
            <a:avLst/>
          </a:prstGeom>
        </p:spPr>
      </p:pic>
      <p:pic>
        <p:nvPicPr>
          <p:cNvPr id="121" name="Graphic 121" descr="Cos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60200" y="3155950"/>
            <a:ext cx="165100" cy="165100"/>
          </a:xfrm>
          <a:prstGeom prst="rect">
            <a:avLst/>
          </a:prstGeom>
        </p:spPr>
      </p:pic>
      <p:sp>
        <p:nvSpPr>
          <p:cNvPr id="1200" name="Brand chip TEMU"/>
          <p:cNvSpPr/>
          <p:nvPr/>
        </p:nvSpPr>
        <p:spPr>
          <a:xfrm>
            <a:off x="2451100" y="5892800"/>
            <a:ext cx="571500" cy="139700"/>
          </a:xfrm>
          <a:prstGeom prst="roundRect">
            <a:avLst/>
          </a:prstGeom>
          <a:solidFill>
            <a:srgbClr val="FB770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700" b="1" dirty="0">
                <a:solidFill>
                  <a:srgbClr val="FFFFFF"/>
                </a:solidFill>
              </a:rPr>
              <a:t>TEMU</a:t>
            </a:r>
          </a:p>
        </p:txBody>
      </p:sp>
      <p:sp>
        <p:nvSpPr>
          <p:cNvPr id="1201" name="Brand chip SHEIN"/>
          <p:cNvSpPr/>
          <p:nvPr/>
        </p:nvSpPr>
        <p:spPr>
          <a:xfrm>
            <a:off x="5003800" y="5892800"/>
            <a:ext cx="571500" cy="1397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700" b="1" dirty="0">
                <a:solidFill>
                  <a:srgbClr val="FFFFFF"/>
                </a:solidFill>
              </a:rPr>
              <a:t>SHEIN</a:t>
            </a:r>
          </a:p>
        </p:txBody>
      </p:sp>
      <p:sp>
        <p:nvSpPr>
          <p:cNvPr id="1202" name="Brand chip meesho"/>
          <p:cNvSpPr/>
          <p:nvPr/>
        </p:nvSpPr>
        <p:spPr>
          <a:xfrm>
            <a:off x="7556500" y="5892800"/>
            <a:ext cx="571500" cy="139700"/>
          </a:xfrm>
          <a:prstGeom prst="roundRect">
            <a:avLst/>
          </a:prstGeom>
          <a:solidFill>
            <a:srgbClr val="9F208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700" b="1" dirty="0">
                <a:solidFill>
                  <a:srgbClr val="FFFFFF"/>
                </a:solidFill>
              </a:rPr>
              <a:t>meesho</a:t>
            </a:r>
          </a:p>
        </p:txBody>
      </p:sp>
      <p:sp>
        <p:nvSpPr>
          <p:cNvPr id="1300" name="Outcome card 54-0"/>
          <p:cNvSpPr/>
          <p:nvPr/>
        </p:nvSpPr>
        <p:spPr>
          <a:xfrm>
            <a:off x="609600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does: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pack, ship, take back returns</a:t>
            </a:r>
            <a:endParaRPr lang="en-US" sz="700" dirty="0"/>
          </a:p>
        </p:txBody>
      </p:sp>
      <p:sp>
        <p:nvSpPr>
          <p:cNvPr id="1301" name="Outcome card 54-1"/>
          <p:cNvSpPr/>
          <p:nvPr/>
        </p:nvSpPr>
        <p:spPr>
          <a:xfrm>
            <a:off x="1837267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does: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storefront, payments, courier</a:t>
            </a:r>
            <a:endParaRPr lang="en-US" sz="700" dirty="0"/>
          </a:p>
        </p:txBody>
      </p:sp>
      <p:sp>
        <p:nvSpPr>
          <p:cNvPr id="1302" name="Outcome card 54-2"/>
          <p:cNvSpPr/>
          <p:nvPr/>
        </p:nvSpPr>
        <p:spPr>
          <a:xfrm>
            <a:off x="3064933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FDECEE"/>
          </a:solidFill>
          <a:ln w="9525">
            <a:solidFill>
              <a:srgbClr val="E8434F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viable price ₹194, 7.2% below: fails the 8% gate</a:t>
            </a:r>
            <a:endParaRPr lang="en-US" sz="700" dirty="0"/>
          </a:p>
        </p:txBody>
      </p:sp>
      <p:sp>
        <p:nvSpPr>
          <p:cNvPr id="1303" name="Outcome card 76-0"/>
          <p:cNvSpPr/>
          <p:nvPr/>
        </p:nvSpPr>
        <p:spPr>
          <a:xfrm>
            <a:off x="4457700" y="2260600"/>
            <a:ext cx="1159933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does: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to the platform’s purchase order</a:t>
            </a:r>
            <a:endParaRPr lang="en-US" sz="700" dirty="0"/>
          </a:p>
        </p:txBody>
      </p:sp>
      <p:sp>
        <p:nvSpPr>
          <p:cNvPr id="1304" name="Outcome card 76-1"/>
          <p:cNvSpPr/>
          <p:nvPr/>
        </p:nvSpPr>
        <p:spPr>
          <a:xfrm>
            <a:off x="5668433" y="2260600"/>
            <a:ext cx="1159933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does: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price, store, ship, handle returns</a:t>
            </a:r>
            <a:endParaRPr lang="en-US" sz="700" dirty="0"/>
          </a:p>
        </p:txBody>
      </p:sp>
      <p:sp>
        <p:nvSpPr>
          <p:cNvPr id="1305" name="Outcome card 76-2"/>
          <p:cNvSpPr/>
          <p:nvPr/>
        </p:nvSpPr>
        <p:spPr>
          <a:xfrm>
            <a:off x="6879167" y="2260600"/>
            <a:ext cx="1159933" cy="508000"/>
          </a:xfrm>
          <a:prstGeom prst="roundRect">
            <a:avLst>
              <a:gd name="adj" fmla="val 12000"/>
            </a:avLst>
          </a:prstGeom>
          <a:solidFill>
            <a:srgbClr val="FDECEE"/>
          </a:solidFill>
          <a:ln w="9525">
            <a:solidFill>
              <a:srgbClr val="E8434F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allowed: an FDI marketplace may not own seller stock</a:t>
            </a:r>
            <a:endParaRPr lang="en-US" sz="700" dirty="0"/>
          </a:p>
        </p:txBody>
      </p:sp>
      <p:sp>
        <p:nvSpPr>
          <p:cNvPr id="1306" name="Outcome card 98-0"/>
          <p:cNvSpPr/>
          <p:nvPr/>
        </p:nvSpPr>
        <p:spPr>
          <a:xfrm>
            <a:off x="8267700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does: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confirmed batches, keep title</a:t>
            </a:r>
            <a:endParaRPr lang="en-US" sz="700" dirty="0"/>
          </a:p>
        </p:txBody>
      </p:sp>
      <p:sp>
        <p:nvSpPr>
          <p:cNvPr id="1307" name="Outcome card 98-1"/>
          <p:cNvSpPr/>
          <p:nvPr/>
        </p:nvSpPr>
        <p:spPr>
          <a:xfrm>
            <a:off x="9495367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and Meesho do: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pick, pack, ship, returns; demand data, gate</a:t>
            </a:r>
            <a:endParaRPr lang="en-US" sz="700" dirty="0"/>
          </a:p>
        </p:txBody>
      </p:sp>
      <p:sp>
        <p:nvSpPr>
          <p:cNvPr id="1308" name="Outcome card 98-2"/>
          <p:cNvSpPr/>
          <p:nvPr/>
        </p:nvSpPr>
        <p:spPr>
          <a:xfrm>
            <a:off x="10723033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9525">
            <a:solidFill>
              <a:srgbClr val="2E9E5B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viable price ₹180, 13.8% below: clears the gate</a:t>
            </a:r>
            <a:endParaRPr lang="en-US" sz="700" dirty="0"/>
          </a:p>
        </p:txBody>
      </p:sp>
      <p:cxnSp>
        <p:nvCxnSpPr>
          <p:cNvPr id="1309" name="VS divider"/>
          <p:cNvCxnSpPr/>
          <p:nvPr/>
        </p:nvCxnSpPr>
        <p:spPr>
          <a:xfrm>
            <a:off x="4349750" y="1320800"/>
            <a:ext cx="0" cy="1689100"/>
          </a:xfrm>
          <a:prstGeom prst="line">
            <a:avLst/>
          </a:prstGeom>
          <a:ln w="12700">
            <a:solidFill>
              <a:srgbClr val="7B2A66"/>
            </a:solidFill>
            <a:prstDash val="dash"/>
          </a:ln>
        </p:spPr>
      </p:cxnSp>
      <p:sp>
        <p:nvSpPr>
          <p:cNvPr id="1310" name="VS circle"/>
          <p:cNvSpPr/>
          <p:nvPr/>
        </p:nvSpPr>
        <p:spPr>
          <a:xfrm>
            <a:off x="4210050" y="1676400"/>
            <a:ext cx="279400" cy="279400"/>
          </a:xfrm>
          <a:prstGeom prst="ellipse">
            <a:avLst/>
          </a:prstGeom>
          <a:solidFill>
            <a:srgbClr val="5A0A46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750" b="1" dirty="0">
                <a:solidFill>
                  <a:srgbClr val="FFFFFF"/>
                </a:solidFill>
                <a:latin typeface="Calibri" pitchFamily="34" charset="0"/>
              </a:rPr>
              <a:t>VS</a:t>
            </a:r>
          </a:p>
        </p:txBody>
      </p:sp>
      <p:cxnSp>
        <p:nvCxnSpPr>
          <p:cNvPr id="1311" name="VS divider"/>
          <p:cNvCxnSpPr/>
          <p:nvPr/>
        </p:nvCxnSpPr>
        <p:spPr>
          <a:xfrm>
            <a:off x="8153400" y="1320800"/>
            <a:ext cx="0" cy="1689100"/>
          </a:xfrm>
          <a:prstGeom prst="line">
            <a:avLst/>
          </a:prstGeom>
          <a:ln w="12700">
            <a:solidFill>
              <a:srgbClr val="7B2A66"/>
            </a:solidFill>
            <a:prstDash val="dash"/>
          </a:ln>
        </p:spPr>
      </p:cxnSp>
      <p:sp>
        <p:nvSpPr>
          <p:cNvPr id="1312" name="VS circle"/>
          <p:cNvSpPr/>
          <p:nvPr/>
        </p:nvSpPr>
        <p:spPr>
          <a:xfrm>
            <a:off x="8013700" y="1676400"/>
            <a:ext cx="279400" cy="279400"/>
          </a:xfrm>
          <a:prstGeom prst="ellipse">
            <a:avLst/>
          </a:prstGeom>
          <a:solidFill>
            <a:srgbClr val="5A0A46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750" b="1" dirty="0">
                <a:solidFill>
                  <a:srgbClr val="FFFFFF"/>
                </a:solidFill>
                <a:latin typeface="Calibri" pitchFamily="34" charset="0"/>
              </a:rPr>
              <a:t>VS</a:t>
            </a:r>
          </a:p>
        </p:txBody>
      </p:sp>
      <p:pic>
        <p:nvPicPr>
          <p:cNvPr id="1313" name="Graphic 1313" descr="Open marketpla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3100" y="3822700"/>
            <a:ext cx="215900" cy="215900"/>
          </a:xfrm>
          <a:prstGeom prst="rect">
            <a:avLst/>
          </a:prstGeom>
        </p:spPr>
      </p:pic>
      <p:pic>
        <p:nvPicPr>
          <p:cNvPr id="1314" name="Graphic 1314" descr="Fully manag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3100" y="4330700"/>
            <a:ext cx="215900" cy="215900"/>
          </a:xfrm>
          <a:prstGeom prst="rect">
            <a:avLst/>
          </a:prstGeom>
        </p:spPr>
      </p:pic>
      <p:pic>
        <p:nvPicPr>
          <p:cNvPr id="1315" name="Graphic 1315" descr="Factory Dire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3100" y="4838700"/>
            <a:ext cx="215900" cy="215900"/>
          </a:xfrm>
          <a:prstGeom prst="rect">
            <a:avLst/>
          </a:prstGeom>
        </p:spPr>
      </p:pic>
      <p:pic>
        <p:nvPicPr>
          <p:cNvPr id="1316" name="Graphic 1316" descr="Temu U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1200" y="5626100"/>
            <a:ext cx="215900" cy="215900"/>
          </a:xfrm>
          <a:prstGeom prst="rect">
            <a:avLst/>
          </a:prstGeom>
        </p:spPr>
      </p:pic>
      <p:pic>
        <p:nvPicPr>
          <p:cNvPr id="1317" name="Graphic 1317" descr="Shein Brazi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263900" y="5626100"/>
            <a:ext cx="215900" cy="215900"/>
          </a:xfrm>
          <a:prstGeom prst="rect">
            <a:avLst/>
          </a:prstGeom>
        </p:spPr>
      </p:pic>
      <p:pic>
        <p:nvPicPr>
          <p:cNvPr id="1318" name="Graphic 1318" descr="Meesho Valm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16600" y="5626100"/>
            <a:ext cx="215900" cy="215900"/>
          </a:xfrm>
          <a:prstGeom prst="rect">
            <a:avLst/>
          </a:prstGeom>
        </p:spPr>
      </p:pic>
      <p:sp>
        <p:nvSpPr>
          <p:cNvPr id="1345" name="Cost note card 0"/>
          <p:cNvSpPr/>
          <p:nvPr/>
        </p:nvSpPr>
        <p:spPr>
          <a:xfrm>
            <a:off x="8420100" y="4826000"/>
            <a:ext cx="3479800" cy="3767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406400" tIns="38100" rIns="76200" bIns="38100" anchor="ctr">
            <a:no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costed; an FDI marketplace may not own seller stock.</a:t>
            </a:r>
            <a:endParaRPr lang="en-US" sz="750" dirty="0"/>
          </a:p>
        </p:txBody>
      </p:sp>
      <p:sp>
        <p:nvSpPr>
          <p:cNvPr id="1347" name="Cost note card 1"/>
          <p:cNvSpPr/>
          <p:nvPr/>
        </p:nvSpPr>
        <p:spPr>
          <a:xfrm>
            <a:off x="8420100" y="5266267"/>
            <a:ext cx="3479800" cy="3767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406400" tIns="38100" rIns="76200" bIns="38100" anchor="ctr">
            <a:no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Meesho’s cost: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 cr set-up per partner node; 12 nodes by Year 4.</a:t>
            </a:r>
            <a:endParaRPr lang="en-US" sz="750" dirty="0"/>
          </a:p>
        </p:txBody>
      </p:sp>
      <p:sp>
        <p:nvSpPr>
          <p:cNvPr id="1349" name="Cost note card 2"/>
          <p:cNvSpPr/>
          <p:nvPr/>
        </p:nvSpPr>
        <p:spPr>
          <a:xfrm>
            <a:off x="8420100" y="5706533"/>
            <a:ext cx="3479800" cy="3767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406400" tIns="38100" rIns="76200" bIns="38100" anchor="ctr">
            <a:no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fee: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a unit (pack ₹6, handle ₹9, bulk freight ₹5) vs ₹24 for SMB fulfilment.</a:t>
            </a:r>
            <a:endParaRPr lang="en-US" sz="750" dirty="0"/>
          </a:p>
        </p:txBody>
      </p:sp>
      <p:pic>
        <p:nvPicPr>
          <p:cNvPr id="1351" name="Graphic 1351" descr="Logist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445500" y="3644900"/>
            <a:ext cx="165100" cy="165100"/>
          </a:xfrm>
          <a:prstGeom prst="rect">
            <a:avLst/>
          </a:prstGeom>
        </p:spPr>
      </p:pic>
      <p:pic>
        <p:nvPicPr>
          <p:cNvPr id="1352" name="Graphic 1352" descr="Unsold 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45500" y="3860800"/>
            <a:ext cx="165100" cy="165100"/>
          </a:xfrm>
          <a:prstGeom prst="rect">
            <a:avLst/>
          </a:prstGeom>
        </p:spPr>
      </p:pic>
      <p:pic>
        <p:nvPicPr>
          <p:cNvPr id="1353" name="Graphic 1353" descr="Working capit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445500" y="4076700"/>
            <a:ext cx="165100" cy="165100"/>
          </a:xfrm>
          <a:prstGeom prst="rect">
            <a:avLst/>
          </a:prstGeom>
        </p:spPr>
      </p:pic>
      <p:pic>
        <p:nvPicPr>
          <p:cNvPr id="1354" name="Graphic 1354" descr="Retur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445500" y="4292600"/>
            <a:ext cx="165100" cy="165100"/>
          </a:xfrm>
          <a:prstGeom prst="rect">
            <a:avLst/>
          </a:prstGeom>
        </p:spPr>
      </p:pic>
      <p:pic>
        <p:nvPicPr>
          <p:cNvPr id="1355" name="Graphic 1355" descr="Lowest viable 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45500" y="4521200"/>
            <a:ext cx="165100" cy="165100"/>
          </a:xfrm>
          <a:prstGeom prst="rect">
            <a:avLst/>
          </a:prstGeom>
        </p:spPr>
      </p:pic>
      <p:pic>
        <p:nvPicPr>
          <p:cNvPr id="1356" name="Graphic 1356" descr="Fully manag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509000" y="4899660"/>
            <a:ext cx="228600" cy="228600"/>
          </a:xfrm>
          <a:prstGeom prst="rect">
            <a:avLst/>
          </a:prstGeom>
        </p:spPr>
      </p:pic>
      <p:pic>
        <p:nvPicPr>
          <p:cNvPr id="1357" name="Graphic 1357" descr="Meesho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09000" y="5340350"/>
            <a:ext cx="228600" cy="228600"/>
          </a:xfrm>
          <a:prstGeom prst="rect">
            <a:avLst/>
          </a:prstGeom>
        </p:spPr>
      </p:pic>
      <p:pic>
        <p:nvPicPr>
          <p:cNvPr id="1358" name="Graphic 1358" descr="Node fe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09000" y="5781040"/>
            <a:ext cx="228600" cy="228600"/>
          </a:xfrm>
          <a:prstGeom prst="rect">
            <a:avLst/>
          </a:prstGeom>
        </p:spPr>
      </p:pic>
      <p:pic>
        <p:nvPicPr>
          <p:cNvPr id="1359" name="Graphic 1359" descr="Factory d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7700" y="2438400"/>
            <a:ext cx="139700" cy="139700"/>
          </a:xfrm>
          <a:prstGeom prst="rect">
            <a:avLst/>
          </a:prstGeom>
        </p:spPr>
      </p:pic>
      <p:pic>
        <p:nvPicPr>
          <p:cNvPr id="1360" name="Graphic 1360" descr="Result fai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02610" y="2438400"/>
            <a:ext cx="139700" cy="139700"/>
          </a:xfrm>
          <a:prstGeom prst="rect">
            <a:avLst/>
          </a:prstGeom>
        </p:spPr>
      </p:pic>
      <p:pic>
        <p:nvPicPr>
          <p:cNvPr id="1361" name="Graphic 1361" descr="Factory d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95800" y="2438400"/>
            <a:ext cx="139700" cy="139700"/>
          </a:xfrm>
          <a:prstGeom prst="rect">
            <a:avLst/>
          </a:prstGeom>
        </p:spPr>
      </p:pic>
      <p:pic>
        <p:nvPicPr>
          <p:cNvPr id="1362" name="Graphic 1362" descr="Platform d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706110" y="2438400"/>
            <a:ext cx="139700" cy="139700"/>
          </a:xfrm>
          <a:prstGeom prst="rect">
            <a:avLst/>
          </a:prstGeom>
        </p:spPr>
      </p:pic>
      <p:pic>
        <p:nvPicPr>
          <p:cNvPr id="1363" name="Graphic 1363" descr="Result not allow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17690" y="2438400"/>
            <a:ext cx="139700" cy="139700"/>
          </a:xfrm>
          <a:prstGeom prst="rect">
            <a:avLst/>
          </a:prstGeom>
        </p:spPr>
      </p:pic>
      <p:pic>
        <p:nvPicPr>
          <p:cNvPr id="1364" name="Graphic 1364" descr="Factory d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05800" y="2438400"/>
            <a:ext cx="139700" cy="139700"/>
          </a:xfrm>
          <a:prstGeom prst="rect">
            <a:avLst/>
          </a:prstGeom>
        </p:spPr>
      </p:pic>
      <p:pic>
        <p:nvPicPr>
          <p:cNvPr id="1365" name="Graphic 1365" descr="Node and Meesho d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533890" y="2438400"/>
            <a:ext cx="139700" cy="139700"/>
          </a:xfrm>
          <a:prstGeom prst="rect">
            <a:avLst/>
          </a:prstGeom>
        </p:spPr>
      </p:pic>
      <p:pic>
        <p:nvPicPr>
          <p:cNvPr id="1366" name="Graphic 1366" descr="Result clears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760710" y="2438400"/>
            <a:ext cx="139700" cy="139700"/>
          </a:xfrm>
          <a:prstGeom prst="rect">
            <a:avLst/>
          </a:prstGeom>
        </p:spPr>
      </p:pic>
      <p:pic>
        <p:nvPicPr>
          <p:cNvPr id="1367" name="Graphic 1367" descr="Who runs 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85800" y="2819400"/>
            <a:ext cx="165100" cy="165100"/>
          </a:xfrm>
          <a:prstGeom prst="rect">
            <a:avLst/>
          </a:prstGeom>
        </p:spPr>
      </p:pic>
      <p:pic>
        <p:nvPicPr>
          <p:cNvPr id="1368" name="Graphic 1368" descr="Who runs 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533900" y="2819400"/>
            <a:ext cx="165100" cy="165100"/>
          </a:xfrm>
          <a:prstGeom prst="rect">
            <a:avLst/>
          </a:prstGeom>
        </p:spPr>
      </p:pic>
      <p:pic>
        <p:nvPicPr>
          <p:cNvPr id="1369" name="Graphic 1369" descr="Who runs 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343900" y="2819400"/>
            <a:ext cx="165100" cy="165100"/>
          </a:xfrm>
          <a:prstGeom prst="rect">
            <a:avLst/>
          </a:prstGeom>
        </p:spPr>
      </p:pic>
      <p:pic>
        <p:nvPicPr>
          <p:cNvPr id="1370" name="Graphic 1370" descr="Advanta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803400" y="3454400"/>
            <a:ext cx="152400" cy="152400"/>
          </a:xfrm>
          <a:prstGeom prst="rect">
            <a:avLst/>
          </a:prstGeom>
        </p:spPr>
      </p:pic>
      <p:pic>
        <p:nvPicPr>
          <p:cNvPr id="1371" name="Graphic 1371" descr="Disadvanta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581400" y="3454400"/>
            <a:ext cx="152400" cy="152400"/>
          </a:xfrm>
          <a:prstGeom prst="rect">
            <a:avLst/>
          </a:prstGeom>
        </p:spPr>
      </p:pic>
      <p:pic>
        <p:nvPicPr>
          <p:cNvPr id="1372" name="Graphic 1372" descr="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790700" y="3848100"/>
            <a:ext cx="127000" cy="127000"/>
          </a:xfrm>
          <a:prstGeom prst="rect">
            <a:avLst/>
          </a:prstGeom>
        </p:spPr>
      </p:pic>
      <p:pic>
        <p:nvPicPr>
          <p:cNvPr id="1373" name="Graphic 1373" descr="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790700" y="4356100"/>
            <a:ext cx="127000" cy="127000"/>
          </a:xfrm>
          <a:prstGeom prst="rect">
            <a:avLst/>
          </a:prstGeom>
        </p:spPr>
      </p:pic>
      <p:pic>
        <p:nvPicPr>
          <p:cNvPr id="1374" name="Graphic 1374" descr="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790700" y="4864100"/>
            <a:ext cx="127000" cy="127000"/>
          </a:xfrm>
          <a:prstGeom prst="rect">
            <a:avLst/>
          </a:prstGeom>
        </p:spPr>
      </p:pic>
      <p:pic>
        <p:nvPicPr>
          <p:cNvPr id="1375" name="Graphic 1375" descr="Dis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568700" y="3848100"/>
            <a:ext cx="127000" cy="127000"/>
          </a:xfrm>
          <a:prstGeom prst="rect">
            <a:avLst/>
          </a:prstGeom>
        </p:spPr>
      </p:pic>
      <p:pic>
        <p:nvPicPr>
          <p:cNvPr id="1376" name="Graphic 1376" descr="Dis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568700" y="4356100"/>
            <a:ext cx="127000" cy="127000"/>
          </a:xfrm>
          <a:prstGeom prst="rect">
            <a:avLst/>
          </a:prstGeom>
        </p:spPr>
      </p:pic>
      <p:pic>
        <p:nvPicPr>
          <p:cNvPr id="1377" name="Graphic 1377" descr="Dis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568700" y="4864100"/>
            <a:ext cx="127000" cy="127000"/>
          </a:xfrm>
          <a:prstGeom prst="rect">
            <a:avLst/>
          </a:prstGeom>
        </p:spPr>
      </p:pic>
      <p:pic>
        <p:nvPicPr>
          <p:cNvPr id="1378" name="Graphic 1378" descr="What a tick mea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22300" y="5219700"/>
            <a:ext cx="139700" cy="139700"/>
          </a:xfrm>
          <a:prstGeom prst="rect">
            <a:avLst/>
          </a:prstGeom>
        </p:spPr>
      </p:pic>
      <p:pic>
        <p:nvPicPr>
          <p:cNvPr id="1379" name="Graphic 1379" descr="Cost li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58200" y="3448050"/>
            <a:ext cx="139700" cy="139700"/>
          </a:xfrm>
          <a:prstGeom prst="rect">
            <a:avLst/>
          </a:prstGeom>
        </p:spPr>
      </p:pic>
      <p:pic>
        <p:nvPicPr>
          <p:cNvPr id="1380" name="Graphic 1380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  <p:pic>
        <p:nvPicPr>
          <p:cNvPr id="1381" name="Graphic 1381" descr="Platform d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875790" y="2438400"/>
            <a:ext cx="1397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10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Pinduoduo, Taobao, Temu and Shein built C2M on demand data and small batches; RICE puts the ₹0 price gate first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build in RICE order (price gate → Health Score → co-ops → Demand Brief → batches → node → prepayment → firewall); never ask a factory for a price cut. Owner: Strategy.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S15 KrASIA, S16 Tech Buzz China, S17 Reuters, S23 Xinhua, S24 Alibaba results, S25 AFP · benefits from the master model   |   RICE: reach = sellers touched in Year 2; effort = person-months; full benchmark table: Appendix C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657307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6445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 five platforms × five dimensions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6573073" cy="315833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6445055" cy="261518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4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Pinduoduo NBI · China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Taobao C2M · China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 semi-managed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on-demand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Brazil (avoid)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used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Anonymised demand data to factories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Factory-direct value app (Taobao Deals)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stock in local warehouses; platform storefront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every product in a small first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factories asked for ~30% price cuts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(dated)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900+ factories, 2,200+ custom SKUs, 115 mn+ orders, end-2019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10 bn new orders in 3 yrs, 2020; 280 mn buyers, 2021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of US GMV, Q3 2024; +80,000 merchants planned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100-200 item first runs (2024)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 of 2,000 signed; 1 producing, Feb 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and 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and order data, anonymised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insight for product R&amp;D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pricing and traffic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sell-through decides restocks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Demands without demand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Risk-sharing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keeps its brand; co-developed SKUs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Alibaba finance arms lend to factories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holds stock and returns 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absorbs the test-batch 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bears all cost of the cuts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copies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NBFC batch prepayment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Seller-owned node stock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Confirmed-order batches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ask for price cuts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Text 33"/>
          <p:cNvSpPr txBox="1"/>
          <p:nvPr/>
        </p:nvSpPr>
        <p:spPr>
          <a:xfrm>
            <a:off x="787400" y="4014216"/>
            <a:ext cx="62611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winner gave factories demand data or finance before asking for anything; the one failure asked for price cuts and gave nothing.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7213153" y="105156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7277161" y="105156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Inspiration: what we copy, in order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7213153" y="1298448"/>
            <a:ext cx="4747199" cy="92537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7277161" y="1344168"/>
            <a:ext cx="1177656" cy="632765"/>
          </a:xfrm>
          <a:prstGeom prst="chevron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 txBox="1"/>
          <p:nvPr/>
        </p:nvSpPr>
        <p:spPr>
          <a:xfrm>
            <a:off x="7414321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8890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8418241" y="1344168"/>
            <a:ext cx="1177656" cy="632765"/>
          </a:xfrm>
          <a:prstGeom prst="chevron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 txBox="1"/>
          <p:nvPr/>
        </p:nvSpPr>
        <p:spPr>
          <a:xfrm>
            <a:off x="8555401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8890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9559320" y="1344168"/>
            <a:ext cx="1177656" cy="632765"/>
          </a:xfrm>
          <a:prstGeom prst="chevron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 txBox="1"/>
          <p:nvPr/>
        </p:nvSpPr>
        <p:spPr>
          <a:xfrm>
            <a:off x="9696480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8890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orders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10700400" y="1344168"/>
            <a:ext cx="1177656" cy="632765"/>
          </a:xfrm>
          <a:prstGeom prst="chevron">
            <a:avLst/>
          </a:prstGeom>
          <a:solidFill>
            <a:srgbClr val="F7A21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 txBox="1"/>
          <p:nvPr/>
        </p:nvSpPr>
        <p:spPr>
          <a:xfrm>
            <a:off x="10837560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8890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buyers</a:t>
            </a:r>
            <a:endParaRPr lang="en-US" sz="800" dirty="0"/>
          </a:p>
        </p:txBody>
      </p:sp>
      <p:sp>
        <p:nvSpPr>
          <p:cNvPr id="51" name="Text 45"/>
          <p:cNvSpPr txBox="1"/>
          <p:nvPr/>
        </p:nvSpPr>
        <p:spPr>
          <a:xfrm>
            <a:off x="7277161" y="1995221"/>
            <a:ext cx="4619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Pinduoduo/Taobao → Pinduoduo → Shein → Temu</a:t>
            </a:r>
            <a:endParaRPr lang="en-US" sz="750" dirty="0"/>
          </a:p>
        </p:txBody>
      </p:sp>
      <p:sp>
        <p:nvSpPr>
          <p:cNvPr id="52" name="Shape 46"/>
          <p:cNvSpPr/>
          <p:nvPr/>
        </p:nvSpPr>
        <p:spPr>
          <a:xfrm>
            <a:off x="7213153" y="2315261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 txBox="1"/>
          <p:nvPr/>
        </p:nvSpPr>
        <p:spPr>
          <a:xfrm>
            <a:off x="7277161" y="2315261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pitfalls and our guardrail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7213153" y="2562149"/>
            <a:ext cx="4747199" cy="98115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0"/>
          <p:cNvSpPr/>
          <p:nvPr/>
        </p:nvSpPr>
        <p:spPr>
          <a:xfrm>
            <a:off x="7213153" y="363474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 txBox="1"/>
          <p:nvPr/>
        </p:nvSpPr>
        <p:spPr>
          <a:xfrm>
            <a:off x="7277161" y="363474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R.I.C.E. prioritisation: score = reach × impact × confidence ÷ effort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7213153" y="3881628"/>
            <a:ext cx="4747199" cy="224485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9" name="Table 1"/>
          <p:cNvGraphicFramePr>
            <a:graphicFrameLocks noGrp="1"/>
          </p:cNvGraphicFramePr>
          <p:nvPr/>
        </p:nvGraphicFramePr>
        <p:xfrm>
          <a:off x="7277161" y="3927348"/>
          <a:ext cx="4619183" cy="1655064"/>
        </p:xfrm>
        <a:graphic>
          <a:graphicData uri="http://schemas.openxmlformats.org/drawingml/2006/table">
            <a:tbl>
              <a:tblPr/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Yr-1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Price gate + C2M badge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Health Score + rulebook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Cluster co-op onboarding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District Demand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Prepaid pre-order batches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Factory Node (partner 3PL)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₹7.8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Batch prepayment (NBFC)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₹0.2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Returns firewall pool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0" name="Text 53"/>
          <p:cNvSpPr txBox="1"/>
          <p:nvPr/>
        </p:nvSpPr>
        <p:spPr>
          <a:xfrm>
            <a:off x="7454900" y="5628132"/>
            <a:ext cx="4445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and free first, capital last. RICE order already respects dependencies: batches need the brief, prepayment needs batches, the firewall needs the node.</a:t>
            </a:r>
            <a:endParaRPr lang="en-US" sz="750" dirty="0"/>
          </a:p>
        </p:txBody>
      </p:sp>
      <p:sp>
        <p:nvSpPr>
          <p:cNvPr id="61" name="Shape 54"/>
          <p:cNvSpPr/>
          <p:nvPr/>
        </p:nvSpPr>
        <p:spPr>
          <a:xfrm>
            <a:off x="548640" y="4548226"/>
            <a:ext cx="6573073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5"/>
          <p:cNvSpPr txBox="1"/>
          <p:nvPr/>
        </p:nvSpPr>
        <p:spPr>
          <a:xfrm>
            <a:off x="612648" y="4548226"/>
            <a:ext cx="6445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analysis of Factory Direct (master model)</a:t>
            </a:r>
            <a:endParaRPr lang="en-US" sz="950" dirty="0"/>
          </a:p>
        </p:txBody>
      </p:sp>
      <p:sp>
        <p:nvSpPr>
          <p:cNvPr id="63" name="Shape 56"/>
          <p:cNvSpPr/>
          <p:nvPr/>
        </p:nvSpPr>
        <p:spPr>
          <a:xfrm>
            <a:off x="548640" y="4795114"/>
            <a:ext cx="6573073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7"/>
          <p:cNvSpPr/>
          <p:nvPr/>
        </p:nvSpPr>
        <p:spPr>
          <a:xfrm>
            <a:off x="612648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 txBox="1"/>
          <p:nvPr/>
        </p:nvSpPr>
        <p:spPr>
          <a:xfrm>
            <a:off x="612648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−13.8%</a:t>
            </a:r>
            <a:endParaRPr lang="en-US" sz="1400" dirty="0"/>
          </a:p>
        </p:txBody>
      </p:sp>
      <p:sp>
        <p:nvSpPr>
          <p:cNvPr id="66" name="Text 59"/>
          <p:cNvSpPr txBox="1"/>
          <p:nvPr/>
        </p:nvSpPr>
        <p:spPr>
          <a:xfrm>
            <a:off x="649224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price vs the ₹209 market (briefs)</a:t>
            </a:r>
            <a:endParaRPr lang="en-US" sz="800" dirty="0"/>
          </a:p>
        </p:txBody>
      </p:sp>
      <p:sp>
        <p:nvSpPr>
          <p:cNvPr id="67" name="Shape 60"/>
          <p:cNvSpPr/>
          <p:nvPr/>
        </p:nvSpPr>
        <p:spPr>
          <a:xfrm>
            <a:off x="1694444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1"/>
          <p:cNvSpPr txBox="1"/>
          <p:nvPr/>
        </p:nvSpPr>
        <p:spPr>
          <a:xfrm>
            <a:off x="1694444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2.3×</a:t>
            </a:r>
            <a:endParaRPr lang="en-US" sz="1400" dirty="0"/>
          </a:p>
        </p:txBody>
      </p:sp>
      <p:sp>
        <p:nvSpPr>
          <p:cNvPr id="69" name="Text 62"/>
          <p:cNvSpPr txBox="1"/>
          <p:nvPr/>
        </p:nvSpPr>
        <p:spPr>
          <a:xfrm>
            <a:off x="1731020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margin a pack: ₹18.3 vs ₹7.9 ex-factory</a:t>
            </a:r>
            <a:endParaRPr lang="en-US" sz="800" dirty="0"/>
          </a:p>
        </p:txBody>
      </p:sp>
      <p:sp>
        <p:nvSpPr>
          <p:cNvPr id="70" name="Shape 63"/>
          <p:cNvSpPr/>
          <p:nvPr/>
        </p:nvSpPr>
        <p:spPr>
          <a:xfrm>
            <a:off x="2776240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4"/>
          <p:cNvSpPr txBox="1"/>
          <p:nvPr/>
        </p:nvSpPr>
        <p:spPr>
          <a:xfrm>
            <a:off x="2776240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 days</a:t>
            </a:r>
            <a:endParaRPr lang="en-US" sz="1400" dirty="0"/>
          </a:p>
        </p:txBody>
      </p:sp>
      <p:sp>
        <p:nvSpPr>
          <p:cNvPr id="72" name="Text 65"/>
          <p:cNvSpPr txBox="1"/>
          <p:nvPr/>
        </p:nvSpPr>
        <p:spPr>
          <a:xfrm>
            <a:off x="2812816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cycle vs 45-60 days on distributor terms</a:t>
            </a:r>
            <a:endParaRPr lang="en-US" sz="800" dirty="0"/>
          </a:p>
        </p:txBody>
      </p:sp>
      <p:sp>
        <p:nvSpPr>
          <p:cNvPr id="73" name="Shape 66"/>
          <p:cNvSpPr/>
          <p:nvPr/>
        </p:nvSpPr>
        <p:spPr>
          <a:xfrm>
            <a:off x="3858036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7"/>
          <p:cNvSpPr txBox="1"/>
          <p:nvPr/>
        </p:nvSpPr>
        <p:spPr>
          <a:xfrm>
            <a:off x="3858036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−4.7 pts</a:t>
            </a:r>
            <a:endParaRPr lang="en-US" sz="1400" dirty="0"/>
          </a:p>
        </p:txBody>
      </p:sp>
      <p:sp>
        <p:nvSpPr>
          <p:cNvPr id="75" name="Text 68"/>
          <p:cNvSpPr txBox="1"/>
          <p:nvPr/>
        </p:nvSpPr>
        <p:spPr>
          <a:xfrm>
            <a:off x="3894612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deliveries per C2M order (prepaid pre-orders)</a:t>
            </a:r>
            <a:endParaRPr lang="en-US" sz="800" dirty="0"/>
          </a:p>
        </p:txBody>
      </p:sp>
      <p:sp>
        <p:nvSpPr>
          <p:cNvPr id="76" name="Shape 69"/>
          <p:cNvSpPr/>
          <p:nvPr/>
        </p:nvSpPr>
        <p:spPr>
          <a:xfrm>
            <a:off x="4939833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0"/>
          <p:cNvSpPr txBox="1"/>
          <p:nvPr/>
        </p:nvSpPr>
        <p:spPr>
          <a:xfrm>
            <a:off x="4939833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₹5.8</a:t>
            </a:r>
            <a:endParaRPr lang="en-US" sz="1400" dirty="0"/>
          </a:p>
        </p:txBody>
      </p:sp>
      <p:sp>
        <p:nvSpPr>
          <p:cNvPr id="78" name="Text 71"/>
          <p:cNvSpPr txBox="1"/>
          <p:nvPr/>
        </p:nvSpPr>
        <p:spPr>
          <a:xfrm>
            <a:off x="4976409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value per C2M order</a:t>
            </a:r>
            <a:endParaRPr lang="en-US" sz="800" dirty="0"/>
          </a:p>
        </p:txBody>
      </p:sp>
      <p:sp>
        <p:nvSpPr>
          <p:cNvPr id="79" name="Shape 72"/>
          <p:cNvSpPr/>
          <p:nvPr/>
        </p:nvSpPr>
        <p:spPr>
          <a:xfrm>
            <a:off x="6021629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3"/>
          <p:cNvSpPr txBox="1"/>
          <p:nvPr/>
        </p:nvSpPr>
        <p:spPr>
          <a:xfrm>
            <a:off x="6021629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400" dirty="0"/>
          </a:p>
        </p:txBody>
      </p:sp>
      <p:sp>
        <p:nvSpPr>
          <p:cNvPr id="81" name="Text 74"/>
          <p:cNvSpPr txBox="1"/>
          <p:nvPr/>
        </p:nvSpPr>
        <p:spPr>
          <a:xfrm>
            <a:off x="6058205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stock vs 10% building to stock</a:t>
            </a:r>
            <a:endParaRPr lang="en-US" sz="800" dirty="0"/>
          </a:p>
        </p:txBody>
      </p:sp>
      <p:pic>
        <p:nvPicPr>
          <p:cNvPr id="82" name="Graphic 82" descr="Best practic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1500" y="1085850"/>
            <a:ext cx="165100" cy="165100"/>
          </a:xfrm>
          <a:prstGeom prst="rect">
            <a:avLst/>
          </a:prstGeom>
        </p:spPr>
      </p:pic>
      <p:pic>
        <p:nvPicPr>
          <p:cNvPr id="83" name="Graphic 83" descr="Inspi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84" name="Graphic 84" descr="Pitfal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0200" y="2343150"/>
            <a:ext cx="165100" cy="165100"/>
          </a:xfrm>
          <a:prstGeom prst="rect">
            <a:avLst/>
          </a:prstGeom>
        </p:spPr>
      </p:pic>
      <p:pic>
        <p:nvPicPr>
          <p:cNvPr id="85" name="Graphic 85" descr="RICE prioritis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60200" y="3663950"/>
            <a:ext cx="165100" cy="165100"/>
          </a:xfrm>
          <a:prstGeom prst="rect">
            <a:avLst/>
          </a:prstGeom>
        </p:spPr>
      </p:pic>
      <p:pic>
        <p:nvPicPr>
          <p:cNvPr id="86" name="Graphic 86" descr="Benefi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1500" y="4578350"/>
            <a:ext cx="165100" cy="165100"/>
          </a:xfrm>
          <a:prstGeom prst="rect">
            <a:avLst/>
          </a:prstGeom>
        </p:spPr>
      </p:pic>
      <p:sp>
        <p:nvSpPr>
          <p:cNvPr id="1400" name="Pitfall card 0"/>
          <p:cNvSpPr/>
          <p:nvPr/>
        </p:nvSpPr>
        <p:spPr>
          <a:xfrm>
            <a:off x="7277100" y="2603500"/>
            <a:ext cx="2279650" cy="419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304800" tIns="38100" rIns="63500" bIns="3810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squeeze (Shein Brazil):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measures a gap that exists; no price asks</a:t>
            </a:r>
            <a:endParaRPr lang="en-US" sz="800" dirty="0"/>
          </a:p>
        </p:txBody>
      </p:sp>
      <p:sp>
        <p:nvSpPr>
          <p:cNvPr id="1401" name="Pitfall card 1"/>
          <p:cNvSpPr/>
          <p:nvPr/>
        </p:nvSpPr>
        <p:spPr>
          <a:xfrm>
            <a:off x="9620250" y="2603500"/>
            <a:ext cx="2279650" cy="419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304800" tIns="38100" rIns="63500" bIns="3810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Platform-owned stock (Temu full-managed):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keeps title; the node is an arm’s-length 3PL</a:t>
            </a:r>
            <a:endParaRPr lang="en-US" sz="800" dirty="0"/>
          </a:p>
        </p:txBody>
      </p:sp>
      <p:sp>
        <p:nvSpPr>
          <p:cNvPr id="1402" name="Pitfall card 2"/>
          <p:cNvSpPr/>
          <p:nvPr/>
        </p:nvSpPr>
        <p:spPr>
          <a:xfrm>
            <a:off x="7277100" y="3086100"/>
            <a:ext cx="2279650" cy="419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304800" tIns="38100" rIns="63500" bIns="3810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subsidies: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impressions, never rupees per order</a:t>
            </a:r>
            <a:endParaRPr lang="en-US" sz="800" dirty="0"/>
          </a:p>
        </p:txBody>
      </p:sp>
      <p:sp>
        <p:nvSpPr>
          <p:cNvPr id="1403" name="Pitfall card 3"/>
          <p:cNvSpPr/>
          <p:nvPr/>
        </p:nvSpPr>
        <p:spPr>
          <a:xfrm>
            <a:off x="9620250" y="3086100"/>
            <a:ext cx="2279650" cy="419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304800" tIns="38100" rIns="63500" bIns="3810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before demand: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node before the Day-30 gate</a:t>
            </a:r>
            <a:endParaRPr lang="en-US" sz="800" dirty="0"/>
          </a:p>
        </p:txBody>
      </p:sp>
      <p:pic>
        <p:nvPicPr>
          <p:cNvPr id="1404" name="Graphic 1404" descr="Strategy us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752600"/>
            <a:ext cx="127000" cy="127000"/>
          </a:xfrm>
          <a:prstGeom prst="rect">
            <a:avLst/>
          </a:prstGeom>
        </p:spPr>
      </p:pic>
      <p:pic>
        <p:nvPicPr>
          <p:cNvPr id="1405" name="Graphic 1405" descr="Sca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2317750"/>
            <a:ext cx="127000" cy="127000"/>
          </a:xfrm>
          <a:prstGeom prst="rect">
            <a:avLst/>
          </a:prstGeom>
        </p:spPr>
      </p:pic>
      <p:pic>
        <p:nvPicPr>
          <p:cNvPr id="1406" name="Graphic 1406" descr="Data and te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" y="2882900"/>
            <a:ext cx="127000" cy="127000"/>
          </a:xfrm>
          <a:prstGeom prst="rect">
            <a:avLst/>
          </a:prstGeom>
        </p:spPr>
      </p:pic>
      <p:pic>
        <p:nvPicPr>
          <p:cNvPr id="1407" name="Graphic 1407" descr="Risk-shar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" y="3340100"/>
            <a:ext cx="127000" cy="127000"/>
          </a:xfrm>
          <a:prstGeom prst="rect">
            <a:avLst/>
          </a:prstGeom>
        </p:spPr>
      </p:pic>
      <p:pic>
        <p:nvPicPr>
          <p:cNvPr id="1408" name="Graphic 1408" descr="Meesho cop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3733800"/>
            <a:ext cx="127000" cy="127000"/>
          </a:xfrm>
          <a:prstGeom prst="rect">
            <a:avLst/>
          </a:prstGeom>
        </p:spPr>
      </p:pic>
      <p:pic>
        <p:nvPicPr>
          <p:cNvPr id="1409" name="Graphic 1409" descr="Paramet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" y="1403350"/>
            <a:ext cx="127000" cy="127000"/>
          </a:xfrm>
          <a:prstGeom prst="rect">
            <a:avLst/>
          </a:prstGeom>
        </p:spPr>
      </p:pic>
      <p:pic>
        <p:nvPicPr>
          <p:cNvPr id="1410" name="Graphic 1410" descr="Patter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2300" y="4127500"/>
            <a:ext cx="152400" cy="152400"/>
          </a:xfrm>
          <a:prstGeom prst="rect">
            <a:avLst/>
          </a:prstGeom>
        </p:spPr>
      </p:pic>
      <p:pic>
        <p:nvPicPr>
          <p:cNvPr id="1411" name="Graphic 1411" descr="Measure the ga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23200" y="1397000"/>
            <a:ext cx="177800" cy="177800"/>
          </a:xfrm>
          <a:prstGeom prst="rect">
            <a:avLst/>
          </a:prstGeom>
        </p:spPr>
      </p:pic>
      <p:pic>
        <p:nvPicPr>
          <p:cNvPr id="1412" name="Graphic 1412" descr="Share dema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66200" y="1397000"/>
            <a:ext cx="177800" cy="177800"/>
          </a:xfrm>
          <a:prstGeom prst="rect">
            <a:avLst/>
          </a:prstGeom>
        </p:spPr>
      </p:pic>
      <p:pic>
        <p:nvPicPr>
          <p:cNvPr id="1413" name="Graphic 1413" descr="Batch on or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09200" y="1397000"/>
            <a:ext cx="177800" cy="177800"/>
          </a:xfrm>
          <a:prstGeom prst="rect">
            <a:avLst/>
          </a:prstGeom>
        </p:spPr>
      </p:pic>
      <p:pic>
        <p:nvPicPr>
          <p:cNvPr id="1414" name="Graphic 1414" descr="Stock near buy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39500" y="1397000"/>
            <a:ext cx="177800" cy="177800"/>
          </a:xfrm>
          <a:prstGeom prst="rect">
            <a:avLst/>
          </a:prstGeom>
        </p:spPr>
      </p:pic>
      <p:pic>
        <p:nvPicPr>
          <p:cNvPr id="1415" name="Graphic 1415" descr="Price squeez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53300" y="2730500"/>
            <a:ext cx="165100" cy="165100"/>
          </a:xfrm>
          <a:prstGeom prst="rect">
            <a:avLst/>
          </a:prstGeom>
        </p:spPr>
      </p:pic>
      <p:pic>
        <p:nvPicPr>
          <p:cNvPr id="1416" name="Graphic 1416" descr="Platform-owned 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96450" y="2730500"/>
            <a:ext cx="165100" cy="165100"/>
          </a:xfrm>
          <a:prstGeom prst="rect">
            <a:avLst/>
          </a:prstGeom>
        </p:spPr>
      </p:pic>
      <p:pic>
        <p:nvPicPr>
          <p:cNvPr id="1417" name="Graphic 1417" descr="Order subsid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53300" y="3213100"/>
            <a:ext cx="165100" cy="165100"/>
          </a:xfrm>
          <a:prstGeom prst="rect">
            <a:avLst/>
          </a:prstGeom>
        </p:spPr>
      </p:pic>
      <p:pic>
        <p:nvPicPr>
          <p:cNvPr id="1418" name="Graphic 1418" descr="Capex before dema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696450" y="3213100"/>
            <a:ext cx="165100" cy="165100"/>
          </a:xfrm>
          <a:prstGeom prst="rect">
            <a:avLst/>
          </a:prstGeom>
        </p:spPr>
      </p:pic>
      <p:pic>
        <p:nvPicPr>
          <p:cNvPr id="1419" name="Graphic 1419" descr="Price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02500" y="4146550"/>
            <a:ext cx="114300" cy="114300"/>
          </a:xfrm>
          <a:prstGeom prst="rect">
            <a:avLst/>
          </a:prstGeom>
        </p:spPr>
      </p:pic>
      <p:pic>
        <p:nvPicPr>
          <p:cNvPr id="1420" name="Graphic 1420" descr="Health Sco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02500" y="4324350"/>
            <a:ext cx="114300" cy="114300"/>
          </a:xfrm>
          <a:prstGeom prst="rect">
            <a:avLst/>
          </a:prstGeom>
        </p:spPr>
      </p:pic>
      <p:pic>
        <p:nvPicPr>
          <p:cNvPr id="1421" name="Graphic 1421" descr="Cluster co-o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02500" y="4502150"/>
            <a:ext cx="114300" cy="114300"/>
          </a:xfrm>
          <a:prstGeom prst="rect">
            <a:avLst/>
          </a:prstGeom>
        </p:spPr>
      </p:pic>
      <p:pic>
        <p:nvPicPr>
          <p:cNvPr id="1422" name="Graphic 1422" descr="District Demand 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302500" y="4679950"/>
            <a:ext cx="114300" cy="114300"/>
          </a:xfrm>
          <a:prstGeom prst="rect">
            <a:avLst/>
          </a:prstGeom>
        </p:spPr>
      </p:pic>
      <p:pic>
        <p:nvPicPr>
          <p:cNvPr id="1423" name="Graphic 1423" descr="Prepaid batch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302500" y="4857750"/>
            <a:ext cx="114300" cy="114300"/>
          </a:xfrm>
          <a:prstGeom prst="rect">
            <a:avLst/>
          </a:prstGeom>
        </p:spPr>
      </p:pic>
      <p:pic>
        <p:nvPicPr>
          <p:cNvPr id="1424" name="Graphic 1424" descr="Factory No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302500" y="5035550"/>
            <a:ext cx="114300" cy="114300"/>
          </a:xfrm>
          <a:prstGeom prst="rect">
            <a:avLst/>
          </a:prstGeom>
        </p:spPr>
      </p:pic>
      <p:pic>
        <p:nvPicPr>
          <p:cNvPr id="1425" name="Graphic 1425" descr="Batch prepay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302500" y="5213350"/>
            <a:ext cx="114300" cy="114300"/>
          </a:xfrm>
          <a:prstGeom prst="rect">
            <a:avLst/>
          </a:prstGeom>
        </p:spPr>
      </p:pic>
      <p:pic>
        <p:nvPicPr>
          <p:cNvPr id="1426" name="Graphic 1426" descr="Returns firewa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302500" y="5391150"/>
            <a:ext cx="114300" cy="114300"/>
          </a:xfrm>
          <a:prstGeom prst="rect">
            <a:avLst/>
          </a:prstGeom>
        </p:spPr>
      </p:pic>
      <p:pic>
        <p:nvPicPr>
          <p:cNvPr id="1427" name="Graphic 1427" descr="Le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302500" y="3962400"/>
            <a:ext cx="114300" cy="114300"/>
          </a:xfrm>
          <a:prstGeom prst="rect">
            <a:avLst/>
          </a:prstGeom>
        </p:spPr>
      </p:pic>
      <p:pic>
        <p:nvPicPr>
          <p:cNvPr id="1428" name="Graphic 1428" descr="Sequ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89800" y="5664200"/>
            <a:ext cx="139700" cy="139700"/>
          </a:xfrm>
          <a:prstGeom prst="rect">
            <a:avLst/>
          </a:prstGeom>
        </p:spPr>
      </p:pic>
      <p:pic>
        <p:nvPicPr>
          <p:cNvPr id="1429" name="Graphic 1429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  <p:pic>
        <p:nvPicPr>
          <p:cNvPr id="1430" name="Graphic 1430" descr="Buyer 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1400" y="5829300"/>
            <a:ext cx="190500" cy="190500"/>
          </a:xfrm>
          <a:prstGeom prst="rect">
            <a:avLst/>
          </a:prstGeom>
        </p:spPr>
      </p:pic>
      <p:pic>
        <p:nvPicPr>
          <p:cNvPr id="1431" name="Graphic 1431" descr="Factory marg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120900" y="5829300"/>
            <a:ext cx="190500" cy="190500"/>
          </a:xfrm>
          <a:prstGeom prst="rect">
            <a:avLst/>
          </a:prstGeom>
        </p:spPr>
      </p:pic>
      <p:pic>
        <p:nvPicPr>
          <p:cNvPr id="1432" name="Graphic 1432" descr="Cash cyc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213100" y="5829300"/>
            <a:ext cx="190500" cy="190500"/>
          </a:xfrm>
          <a:prstGeom prst="rect">
            <a:avLst/>
          </a:prstGeom>
        </p:spPr>
      </p:pic>
      <p:pic>
        <p:nvPicPr>
          <p:cNvPr id="1433" name="Graphic 1433" descr="Failed deliver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292600" y="5829300"/>
            <a:ext cx="190500" cy="190500"/>
          </a:xfrm>
          <a:prstGeom prst="rect">
            <a:avLst/>
          </a:prstGeom>
        </p:spPr>
      </p:pic>
      <p:pic>
        <p:nvPicPr>
          <p:cNvPr id="1434" name="Graphic 1434" descr="Meesho val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72100" y="5829300"/>
            <a:ext cx="190500" cy="190500"/>
          </a:xfrm>
          <a:prstGeom prst="rect">
            <a:avLst/>
          </a:prstGeom>
        </p:spPr>
      </p:pic>
      <p:pic>
        <p:nvPicPr>
          <p:cNvPr id="1435" name="Graphic 1435" descr="Unsold 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451600" y="5829300"/>
            <a:ext cx="190500" cy="190500"/>
          </a:xfrm>
          <a:prstGeom prst="rect">
            <a:avLst/>
          </a:prstGeom>
        </p:spPr>
      </p:pic>
      <p:pic>
        <p:nvPicPr>
          <p:cNvPr id="1436" name="Graphic 1436" descr="Pinduoduo demand dat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485900" y="1397000"/>
            <a:ext cx="114300" cy="114300"/>
          </a:xfrm>
          <a:prstGeom prst="rect">
            <a:avLst/>
          </a:prstGeom>
        </p:spPr>
      </p:pic>
      <p:pic>
        <p:nvPicPr>
          <p:cNvPr id="1437" name="Graphic 1437" descr="Taoba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603500" y="1397000"/>
            <a:ext cx="114300" cy="114300"/>
          </a:xfrm>
          <a:prstGeom prst="rect">
            <a:avLst/>
          </a:prstGeom>
        </p:spPr>
      </p:pic>
      <p:pic>
        <p:nvPicPr>
          <p:cNvPr id="1438" name="Graphic 1438" descr="Temu semi-manag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721100" y="1397000"/>
            <a:ext cx="114300" cy="114300"/>
          </a:xfrm>
          <a:prstGeom prst="rect">
            <a:avLst/>
          </a:prstGeom>
        </p:spPr>
      </p:pic>
      <p:pic>
        <p:nvPicPr>
          <p:cNvPr id="1439" name="Graphic 1439" descr="Shein on-demand test batch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851400" y="1397000"/>
            <a:ext cx="114300" cy="114300"/>
          </a:xfrm>
          <a:prstGeom prst="rect">
            <a:avLst/>
          </a:prstGeom>
        </p:spPr>
      </p:pic>
      <p:pic>
        <p:nvPicPr>
          <p:cNvPr id="1440" name="Graphic 1440" descr="Shein Brazil avoi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5969000" y="139700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49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stages, each with a trigger, a non-cash nudge and a KPI, turn first batches into repeat factories without subsidy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&amp; SCALE-UP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switch on grants, the Health Score and the rulebook with the first 60 sellers; cap grants at 20% of category impressions. Owner: Growth + Data Science · KPI: active at D90 ≥ 75%.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(seller tools: demand intelligence, faster visibility for new sellers, Gen-AI voice agents), S2   |   Assumptions: A19 (₹75 per 1,000 impressions); a category manager reviews 40 escalations a month   |   Prototype: synthetic 60-seller pilot, fixed seed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7828361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77003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journey: actions, touchpoints, emotions, pain points, interventions, KPIs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7828361" cy="285384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7700345" cy="2744111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29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 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intervention (automatic)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target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D−30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Hears of it at an association camp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Camp, WhatsApp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Sceptical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“Platforms mean returns”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price check at the camp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 → price check ≥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D−7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Enters making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app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Hopeful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Unsure of the real market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the demand-weighted median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→ listed ≥ 50% in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D0-5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Commits a prepaid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Brief,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of unsold stock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orders + 15%; 30% advance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batch ≤ 14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D0-14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 first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card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Worried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reviews, slow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impressions; +25K grant if &lt;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 of cohort orders at D7, D14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weekly 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 what to fix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rule-based fix at a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recover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batches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Prepayment at score ≥ 80 for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40% graduated by D60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Repeats; refers peers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brief, 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orders return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brief; Meesho Mall path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at D90 ≥ 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" name="Shape 33"/>
          <p:cNvSpPr/>
          <p:nvPr/>
        </p:nvSpPr>
        <p:spPr>
          <a:xfrm>
            <a:off x="8468441" y="1051560"/>
            <a:ext cx="3491911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8532449" y="1051560"/>
            <a:ext cx="3363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(non-cash) and nudges, stage by stage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8468441" y="1298448"/>
            <a:ext cx="3491911" cy="285384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2" name="Table 1"/>
          <p:cNvGraphicFramePr>
            <a:graphicFrameLocks noGrp="1"/>
          </p:cNvGraphicFramePr>
          <p:nvPr/>
        </p:nvGraphicFramePr>
        <p:xfrm>
          <a:off x="8532449" y="1344168"/>
          <a:ext cx="3363895" cy="2744111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8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price check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stories at the camp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badge + re-rank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gap vs the market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cash at handover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 from the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+25K impressions × 7 days (max 2)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WhatsApp: grant applied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suggestions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fix, not ten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batches unlocked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Graduation progress bar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Mall path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Top-factory list at camps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3" name="Shape 36"/>
          <p:cNvSpPr/>
          <p:nvPr/>
        </p:nvSpPr>
        <p:spPr>
          <a:xfrm>
            <a:off x="548640" y="4243730"/>
            <a:ext cx="280720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612648" y="424373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Health Score: 0-100, daily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48640" y="4490618"/>
            <a:ext cx="2807208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612648" y="4554626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640080" y="4554626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1051560" y="4536338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 held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612648" y="4801332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640080" y="4801332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00" dirty="0"/>
          </a:p>
        </p:txBody>
      </p:sp>
      <p:sp>
        <p:nvSpPr>
          <p:cNvPr id="51" name="Text 44"/>
          <p:cNvSpPr txBox="1"/>
          <p:nvPr/>
        </p:nvSpPr>
        <p:spPr>
          <a:xfrm>
            <a:off x="1051560" y="4783044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pace vs cohort</a:t>
            </a:r>
            <a:endParaRPr lang="en-US" sz="800" dirty="0"/>
          </a:p>
        </p:txBody>
      </p:sp>
      <p:sp>
        <p:nvSpPr>
          <p:cNvPr id="52" name="Shape 45"/>
          <p:cNvSpPr/>
          <p:nvPr/>
        </p:nvSpPr>
        <p:spPr>
          <a:xfrm>
            <a:off x="612648" y="5048037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 txBox="1"/>
          <p:nvPr/>
        </p:nvSpPr>
        <p:spPr>
          <a:xfrm>
            <a:off x="640080" y="5048037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00" dirty="0"/>
          </a:p>
        </p:txBody>
      </p:sp>
      <p:sp>
        <p:nvSpPr>
          <p:cNvPr id="54" name="Text 47"/>
          <p:cNvSpPr txBox="1"/>
          <p:nvPr/>
        </p:nvSpPr>
        <p:spPr>
          <a:xfrm>
            <a:off x="1051560" y="5029749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returns</a:t>
            </a:r>
            <a:endParaRPr lang="en-US" sz="800" dirty="0"/>
          </a:p>
        </p:txBody>
      </p:sp>
      <p:sp>
        <p:nvSpPr>
          <p:cNvPr id="55" name="Shape 48"/>
          <p:cNvSpPr/>
          <p:nvPr/>
        </p:nvSpPr>
        <p:spPr>
          <a:xfrm>
            <a:off x="612648" y="5294742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 txBox="1"/>
          <p:nvPr/>
        </p:nvSpPr>
        <p:spPr>
          <a:xfrm>
            <a:off x="640080" y="5294742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00" dirty="0"/>
          </a:p>
        </p:txBody>
      </p:sp>
      <p:sp>
        <p:nvSpPr>
          <p:cNvPr id="57" name="Text 50"/>
          <p:cNvSpPr txBox="1"/>
          <p:nvPr/>
        </p:nvSpPr>
        <p:spPr>
          <a:xfrm>
            <a:off x="1051560" y="5276454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dispatch</a:t>
            </a:r>
            <a:endParaRPr lang="en-US" sz="800" dirty="0"/>
          </a:p>
        </p:txBody>
      </p:sp>
      <p:sp>
        <p:nvSpPr>
          <p:cNvPr id="58" name="Shape 51"/>
          <p:cNvSpPr/>
          <p:nvPr/>
        </p:nvSpPr>
        <p:spPr>
          <a:xfrm>
            <a:off x="612648" y="5541447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 txBox="1"/>
          <p:nvPr/>
        </p:nvSpPr>
        <p:spPr>
          <a:xfrm>
            <a:off x="640080" y="5541447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60" name="Text 53"/>
          <p:cNvSpPr txBox="1"/>
          <p:nvPr/>
        </p:nvSpPr>
        <p:spPr>
          <a:xfrm>
            <a:off x="1051560" y="5523159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In-stock</a:t>
            </a:r>
            <a:endParaRPr lang="en-US" sz="800" dirty="0"/>
          </a:p>
        </p:txBody>
      </p:sp>
      <p:sp>
        <p:nvSpPr>
          <p:cNvPr id="61" name="Text 54"/>
          <p:cNvSpPr txBox="1"/>
          <p:nvPr/>
        </p:nvSpPr>
        <p:spPr>
          <a:xfrm>
            <a:off x="612648" y="5788152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for 30 days → graduate · </a:t>
            </a:r>
            <a:r>
              <a:rPr lang="en-US" sz="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 after a fix → a person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3447288" y="4243730"/>
            <a:ext cx="2647371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6"/>
          <p:cNvSpPr txBox="1"/>
          <p:nvPr/>
        </p:nvSpPr>
        <p:spPr>
          <a:xfrm>
            <a:off x="3511296" y="4243730"/>
            <a:ext cx="2519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Rulebook: 9 automatic actions, 1 human</a:t>
            </a:r>
            <a:endParaRPr lang="en-US" sz="950" dirty="0"/>
          </a:p>
        </p:txBody>
      </p:sp>
      <p:sp>
        <p:nvSpPr>
          <p:cNvPr id="64" name="Shape 57"/>
          <p:cNvSpPr/>
          <p:nvPr/>
        </p:nvSpPr>
        <p:spPr>
          <a:xfrm>
            <a:off x="3447288" y="4490618"/>
            <a:ext cx="2647371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5" name="Table 2"/>
          <p:cNvGraphicFramePr>
            <a:graphicFrameLocks noGrp="1"/>
          </p:cNvGraphicFramePr>
          <p:nvPr/>
        </p:nvGraphicFramePr>
        <p:xfrm>
          <a:off x="3511296" y="4536338"/>
          <a:ext cx="2519355" cy="1526136"/>
        </p:xfrm>
        <a:graphic>
          <a:graphicData uri="http://schemas.openxmlformats.org/drawingml/2006/table">
            <a:tbl>
              <a:tblPr/>
              <a:tblGrid>
                <a:gridCol w="15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&lt; 60% at D7/D14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&lt; 8% for 7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nudge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&lt; 4% for 3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off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&gt; 1.5× norm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hold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&lt; 90% (7 days)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offer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In-stock &lt;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 nudge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≥ 80 ×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&lt; 40 after a fix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6" name="Shape 58"/>
          <p:cNvSpPr/>
          <p:nvPr/>
        </p:nvSpPr>
        <p:spPr>
          <a:xfrm>
            <a:off x="6186099" y="4243730"/>
            <a:ext cx="219090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 txBox="1"/>
          <p:nvPr/>
        </p:nvSpPr>
        <p:spPr>
          <a:xfrm>
            <a:off x="6250107" y="4243730"/>
            <a:ext cx="2062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scale; people don’t</a:t>
            </a:r>
            <a:endParaRPr lang="en-US" sz="950" dirty="0"/>
          </a:p>
        </p:txBody>
      </p:sp>
      <p:sp>
        <p:nvSpPr>
          <p:cNvPr id="68" name="Shape 60"/>
          <p:cNvSpPr/>
          <p:nvPr/>
        </p:nvSpPr>
        <p:spPr>
          <a:xfrm>
            <a:off x="6186099" y="4490618"/>
            <a:ext cx="2190902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1"/>
          <p:cNvSpPr/>
          <p:nvPr/>
        </p:nvSpPr>
        <p:spPr>
          <a:xfrm>
            <a:off x="6250107" y="453633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2"/>
          <p:cNvSpPr txBox="1"/>
          <p:nvPr/>
        </p:nvSpPr>
        <p:spPr>
          <a:xfrm>
            <a:off x="6158667" y="4536338"/>
            <a:ext cx="694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90:3</a:t>
            </a:r>
            <a:endParaRPr lang="en-US" sz="1050" dirty="0"/>
          </a:p>
        </p:txBody>
      </p:sp>
      <p:sp>
        <p:nvSpPr>
          <p:cNvPr id="71" name="Text 63"/>
          <p:cNvSpPr txBox="1"/>
          <p:nvPr/>
        </p:nvSpPr>
        <p:spPr>
          <a:xfrm>
            <a:off x="6798747" y="4536338"/>
            <a:ext cx="15142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vs human actions in the 60-seller simulated pilot</a:t>
            </a:r>
            <a:endParaRPr lang="en-US" sz="750" dirty="0"/>
          </a:p>
        </p:txBody>
      </p:sp>
      <p:sp>
        <p:nvSpPr>
          <p:cNvPr id="72" name="Text 64"/>
          <p:cNvSpPr txBox="1"/>
          <p:nvPr/>
        </p:nvSpPr>
        <p:spPr>
          <a:xfrm>
            <a:off x="6250107" y="5084978"/>
            <a:ext cx="2062886" cy="995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~910 sellers per category manager;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sellers need ~2 reviewers, not ~70 account managers. Grant cost: ₹3,750 per seller at most, </a:t>
            </a: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 cheaper than ₹10 an order for 30 days.</a:t>
            </a:r>
            <a:endParaRPr lang="en-US" sz="750" dirty="0"/>
          </a:p>
        </p:txBody>
      </p:sp>
      <p:sp>
        <p:nvSpPr>
          <p:cNvPr id="73" name="Shape 65"/>
          <p:cNvSpPr/>
          <p:nvPr/>
        </p:nvSpPr>
        <p:spPr>
          <a:xfrm>
            <a:off x="8468441" y="4243730"/>
            <a:ext cx="3491911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6"/>
          <p:cNvSpPr txBox="1"/>
          <p:nvPr/>
        </p:nvSpPr>
        <p:spPr>
          <a:xfrm>
            <a:off x="8532449" y="4243730"/>
            <a:ext cx="3363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WhatsApp, voice agent, supplier app (prototype)</a:t>
            </a:r>
            <a:endParaRPr lang="en-US" sz="950" dirty="0"/>
          </a:p>
        </p:txBody>
      </p:sp>
      <p:sp>
        <p:nvSpPr>
          <p:cNvPr id="75" name="Shape 67"/>
          <p:cNvSpPr/>
          <p:nvPr/>
        </p:nvSpPr>
        <p:spPr>
          <a:xfrm>
            <a:off x="8468441" y="4490618"/>
            <a:ext cx="3491911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6" name="Image 3" descr="/Users/prathmeshwalimbe/Downloads/Meesho/02_round2_detailed_submission/deck/source/assets/shot_phone_pr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449" y="4536338"/>
            <a:ext cx="685520" cy="1379830"/>
          </a:xfrm>
          <a:prstGeom prst="rect">
            <a:avLst/>
          </a:prstGeom>
        </p:spPr>
      </p:pic>
      <p:sp>
        <p:nvSpPr>
          <p:cNvPr id="77" name="Text 68"/>
          <p:cNvSpPr txBox="1"/>
          <p:nvPr/>
        </p:nvSpPr>
        <p:spPr>
          <a:xfrm>
            <a:off x="8441009" y="5916168"/>
            <a:ext cx="86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check</a:t>
            </a:r>
            <a:endParaRPr lang="en-US" sz="700" dirty="0"/>
          </a:p>
        </p:txBody>
      </p:sp>
      <p:pic>
        <p:nvPicPr>
          <p:cNvPr id="78" name="Image 4" descr="/Users/prathmeshwalimbe/Downloads/Meesho/02_round2_detailed_submission/deck/source/assets/shot_phone_bri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1636" y="4536338"/>
            <a:ext cx="685520" cy="1379830"/>
          </a:xfrm>
          <a:prstGeom prst="rect">
            <a:avLst/>
          </a:prstGeom>
        </p:spPr>
      </p:pic>
      <p:sp>
        <p:nvSpPr>
          <p:cNvPr id="79" name="Text 69"/>
          <p:cNvSpPr txBox="1"/>
          <p:nvPr/>
        </p:nvSpPr>
        <p:spPr>
          <a:xfrm>
            <a:off x="9780196" y="5916168"/>
            <a:ext cx="86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Brief</a:t>
            </a:r>
            <a:endParaRPr lang="en-US" sz="700" dirty="0"/>
          </a:p>
        </p:txBody>
      </p:sp>
      <p:pic>
        <p:nvPicPr>
          <p:cNvPr id="80" name="Image 5" descr="/Users/prathmeshwalimbe/Downloads/Meesho/02_round2_detailed_submission/deck/source/assets/shot_phone_whatsap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0824" y="4536338"/>
            <a:ext cx="685520" cy="1379830"/>
          </a:xfrm>
          <a:prstGeom prst="rect">
            <a:avLst/>
          </a:prstGeom>
        </p:spPr>
      </p:pic>
      <p:sp>
        <p:nvSpPr>
          <p:cNvPr id="81" name="Text 70"/>
          <p:cNvSpPr txBox="1"/>
          <p:nvPr/>
        </p:nvSpPr>
        <p:spPr>
          <a:xfrm>
            <a:off x="11119384" y="5916168"/>
            <a:ext cx="86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nudge</a:t>
            </a:r>
            <a:endParaRPr lang="en-US" sz="700" dirty="0"/>
          </a:p>
        </p:txBody>
      </p:sp>
      <p:pic>
        <p:nvPicPr>
          <p:cNvPr id="82" name="Graphic 82" descr="Journe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66100" y="1085850"/>
            <a:ext cx="165100" cy="165100"/>
          </a:xfrm>
          <a:prstGeom prst="rect">
            <a:avLst/>
          </a:prstGeom>
        </p:spPr>
      </p:pic>
      <p:pic>
        <p:nvPicPr>
          <p:cNvPr id="83" name="Graphic 83" descr="Incentiv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84" name="Graphic 84" descr="Health sco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49600" y="4273550"/>
            <a:ext cx="165100" cy="165100"/>
          </a:xfrm>
          <a:prstGeom prst="rect">
            <a:avLst/>
          </a:prstGeom>
        </p:spPr>
      </p:pic>
      <p:pic>
        <p:nvPicPr>
          <p:cNvPr id="85" name="Graphic 85" descr="Ruleboo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80100" y="4273550"/>
            <a:ext cx="165100" cy="165100"/>
          </a:xfrm>
          <a:prstGeom prst="rect">
            <a:avLst/>
          </a:prstGeom>
        </p:spPr>
      </p:pic>
      <p:pic>
        <p:nvPicPr>
          <p:cNvPr id="86" name="Graphic 86" descr="Gran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78800" y="4273550"/>
            <a:ext cx="165100" cy="165100"/>
          </a:xfrm>
          <a:prstGeom prst="rect">
            <a:avLst/>
          </a:prstGeom>
        </p:spPr>
      </p:pic>
      <p:pic>
        <p:nvPicPr>
          <p:cNvPr id="87" name="Graphic 87" descr="Channe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60200" y="4273550"/>
            <a:ext cx="165100" cy="165100"/>
          </a:xfrm>
          <a:prstGeom prst="rect">
            <a:avLst/>
          </a:prstGeom>
        </p:spPr>
      </p:pic>
      <p:pic>
        <p:nvPicPr>
          <p:cNvPr id="88" name="Graphic 88" descr="Disco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1689100"/>
            <a:ext cx="114300" cy="114300"/>
          </a:xfrm>
          <a:prstGeom prst="rect">
            <a:avLst/>
          </a:prstGeom>
        </p:spPr>
      </p:pic>
      <p:pic>
        <p:nvPicPr>
          <p:cNvPr id="89" name="Graphic 89" descr="Qualif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" y="2049780"/>
            <a:ext cx="114300" cy="114300"/>
          </a:xfrm>
          <a:prstGeom prst="rect">
            <a:avLst/>
          </a:prstGeom>
        </p:spPr>
      </p:pic>
      <p:pic>
        <p:nvPicPr>
          <p:cNvPr id="90" name="Graphic 90" descr="First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5000" y="2410460"/>
            <a:ext cx="114300" cy="114300"/>
          </a:xfrm>
          <a:prstGeom prst="rect">
            <a:avLst/>
          </a:prstGeom>
        </p:spPr>
      </p:pic>
      <p:pic>
        <p:nvPicPr>
          <p:cNvPr id="91" name="Graphic 91" descr="Activ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5000" y="2771140"/>
            <a:ext cx="114300" cy="114300"/>
          </a:xfrm>
          <a:prstGeom prst="rect">
            <a:avLst/>
          </a:prstGeom>
        </p:spPr>
      </p:pic>
      <p:pic>
        <p:nvPicPr>
          <p:cNvPr id="92" name="Graphic 92" descr="Diagno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5000" y="3131820"/>
            <a:ext cx="114300" cy="114300"/>
          </a:xfrm>
          <a:prstGeom prst="rect">
            <a:avLst/>
          </a:prstGeom>
        </p:spPr>
      </p:pic>
      <p:pic>
        <p:nvPicPr>
          <p:cNvPr id="93" name="Graphic 93" descr="Gradu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5000" y="3492500"/>
            <a:ext cx="114300" cy="114300"/>
          </a:xfrm>
          <a:prstGeom prst="rect">
            <a:avLst/>
          </a:prstGeom>
        </p:spPr>
      </p:pic>
      <p:pic>
        <p:nvPicPr>
          <p:cNvPr id="94" name="Graphic 94" descr="Reta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5000" y="3853180"/>
            <a:ext cx="114300" cy="114300"/>
          </a:xfrm>
          <a:prstGeom prst="rect">
            <a:avLst/>
          </a:prstGeom>
        </p:spPr>
      </p:pic>
      <p:pic>
        <p:nvPicPr>
          <p:cNvPr id="95" name="Graphic 95" descr="Disco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59800" y="1689100"/>
            <a:ext cx="114300" cy="114300"/>
          </a:xfrm>
          <a:prstGeom prst="rect">
            <a:avLst/>
          </a:prstGeom>
        </p:spPr>
      </p:pic>
      <p:pic>
        <p:nvPicPr>
          <p:cNvPr id="96" name="Graphic 96" descr="Qualif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59800" y="2049780"/>
            <a:ext cx="114300" cy="114300"/>
          </a:xfrm>
          <a:prstGeom prst="rect">
            <a:avLst/>
          </a:prstGeom>
        </p:spPr>
      </p:pic>
      <p:pic>
        <p:nvPicPr>
          <p:cNvPr id="97" name="Graphic 97" descr="First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59800" y="2410460"/>
            <a:ext cx="114300" cy="114300"/>
          </a:xfrm>
          <a:prstGeom prst="rect">
            <a:avLst/>
          </a:prstGeom>
        </p:spPr>
      </p:pic>
      <p:pic>
        <p:nvPicPr>
          <p:cNvPr id="98" name="Graphic 98" descr="Activ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59800" y="2771140"/>
            <a:ext cx="114300" cy="114300"/>
          </a:xfrm>
          <a:prstGeom prst="rect">
            <a:avLst/>
          </a:prstGeom>
        </p:spPr>
      </p:pic>
      <p:pic>
        <p:nvPicPr>
          <p:cNvPr id="99" name="Graphic 99" descr="Diagno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59800" y="3131820"/>
            <a:ext cx="114300" cy="114300"/>
          </a:xfrm>
          <a:prstGeom prst="rect">
            <a:avLst/>
          </a:prstGeom>
        </p:spPr>
      </p:pic>
      <p:pic>
        <p:nvPicPr>
          <p:cNvPr id="100" name="Graphic 100" descr="Gradu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59800" y="3492500"/>
            <a:ext cx="114300" cy="114300"/>
          </a:xfrm>
          <a:prstGeom prst="rect">
            <a:avLst/>
          </a:prstGeom>
        </p:spPr>
      </p:pic>
      <p:pic>
        <p:nvPicPr>
          <p:cNvPr id="101" name="Graphic 101" descr="Reta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59800" y="3853180"/>
            <a:ext cx="114300" cy="114300"/>
          </a:xfrm>
          <a:prstGeom prst="rect">
            <a:avLst/>
          </a:prstGeom>
        </p:spPr>
      </p:pic>
      <p:pic>
        <p:nvPicPr>
          <p:cNvPr id="102" name="Graphic 102" descr="Price ga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111500" y="4591050"/>
            <a:ext cx="152400" cy="152400"/>
          </a:xfrm>
          <a:prstGeom prst="rect">
            <a:avLst/>
          </a:prstGeom>
        </p:spPr>
      </p:pic>
      <p:pic>
        <p:nvPicPr>
          <p:cNvPr id="103" name="Graphic 103" descr="Order pa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11500" y="4832350"/>
            <a:ext cx="152400" cy="152400"/>
          </a:xfrm>
          <a:prstGeom prst="rect">
            <a:avLst/>
          </a:prstGeom>
        </p:spPr>
      </p:pic>
      <p:pic>
        <p:nvPicPr>
          <p:cNvPr id="104" name="Graphic 104" descr="Quality retur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111500" y="5073650"/>
            <a:ext cx="152400" cy="152400"/>
          </a:xfrm>
          <a:prstGeom prst="rect">
            <a:avLst/>
          </a:prstGeom>
        </p:spPr>
      </p:pic>
      <p:pic>
        <p:nvPicPr>
          <p:cNvPr id="105" name="Graphic 105" descr="On-time disp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111500" y="5327650"/>
            <a:ext cx="152400" cy="152400"/>
          </a:xfrm>
          <a:prstGeom prst="rect">
            <a:avLst/>
          </a:prstGeom>
        </p:spPr>
      </p:pic>
      <p:pic>
        <p:nvPicPr>
          <p:cNvPr id="106" name="Graphic 106" descr="In-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111500" y="5568950"/>
            <a:ext cx="152400" cy="152400"/>
          </a:xfrm>
          <a:prstGeom prst="rect">
            <a:avLst/>
          </a:prstGeom>
        </p:spPr>
      </p:pic>
      <p:pic>
        <p:nvPicPr>
          <p:cNvPr id="107" name="Graphic 107" descr="Gra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092700" y="4749800"/>
            <a:ext cx="101600" cy="101600"/>
          </a:xfrm>
          <a:prstGeom prst="rect">
            <a:avLst/>
          </a:prstGeom>
        </p:spPr>
      </p:pic>
      <p:pic>
        <p:nvPicPr>
          <p:cNvPr id="108" name="Graphic 108" descr="Price nud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92700" y="4917440"/>
            <a:ext cx="101600" cy="101600"/>
          </a:xfrm>
          <a:prstGeom prst="rect">
            <a:avLst/>
          </a:prstGeom>
        </p:spPr>
      </p:pic>
      <p:pic>
        <p:nvPicPr>
          <p:cNvPr id="109" name="Graphic 109" descr="Badge of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092700" y="5085080"/>
            <a:ext cx="101600" cy="101600"/>
          </a:xfrm>
          <a:prstGeom prst="rect">
            <a:avLst/>
          </a:prstGeom>
        </p:spPr>
      </p:pic>
      <p:pic>
        <p:nvPicPr>
          <p:cNvPr id="110" name="Graphic 110" descr="QC hol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092700" y="5252720"/>
            <a:ext cx="101600" cy="101600"/>
          </a:xfrm>
          <a:prstGeom prst="rect">
            <a:avLst/>
          </a:prstGeom>
        </p:spPr>
      </p:pic>
      <p:pic>
        <p:nvPicPr>
          <p:cNvPr id="111" name="Graphic 111" descr="Node off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092700" y="5420360"/>
            <a:ext cx="101600" cy="101600"/>
          </a:xfrm>
          <a:prstGeom prst="rect">
            <a:avLst/>
          </a:prstGeom>
        </p:spPr>
      </p:pic>
      <p:pic>
        <p:nvPicPr>
          <p:cNvPr id="112" name="Graphic 112" descr="Restock nud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92700" y="5588000"/>
            <a:ext cx="101600" cy="101600"/>
          </a:xfrm>
          <a:prstGeom prst="rect">
            <a:avLst/>
          </a:prstGeom>
        </p:spPr>
      </p:pic>
      <p:pic>
        <p:nvPicPr>
          <p:cNvPr id="113" name="Graphic 113" descr="Prepay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92700" y="5755640"/>
            <a:ext cx="101600" cy="101600"/>
          </a:xfrm>
          <a:prstGeom prst="rect">
            <a:avLst/>
          </a:prstGeom>
        </p:spPr>
      </p:pic>
      <p:pic>
        <p:nvPicPr>
          <p:cNvPr id="114" name="Graphic 114" descr="A pers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092700" y="5923280"/>
            <a:ext cx="101600" cy="101600"/>
          </a:xfrm>
          <a:prstGeom prst="rect">
            <a:avLst/>
          </a:prstGeom>
        </p:spPr>
      </p:pic>
      <p:pic>
        <p:nvPicPr>
          <p:cNvPr id="115" name="Graphic 115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40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Tiruppur and Panipat top the cluster AHP (CR 0.016); factories qualify only with 60% of SKUs 8% below market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CRITERIA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pilot in Tiruppur and Panipat; run the price gate on demand-weighted medians in weeks 1-3 at ₹0 capex. Owner: Category + Pricing · KPI: badge lift ≥ 12% vs holdout by Day 30.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S2, S8, S9, S10 team teardown (meesho.com, 2 Oct 2026; 56 listings per query; reviews as demand weights), S11, S20, S22 (cluster scores)   |   AHP workings: Appendix C   |   Verdicts: prototype, synthetic sellers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497543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484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 and reasoning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4975433" cy="122986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4847417" cy="120700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8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ownership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raw material, production, scale, automation → a real price edge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 cost-lever index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category already sells at volume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Teardown; category mix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band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returns protect the cost edge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math; seller guides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feasibility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partner warehouse and a Valmo lane nearby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Valmo network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association that recruits 40-60 units a drive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Tiruppur, Panipat bodies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Shape 33"/>
          <p:cNvSpPr/>
          <p:nvPr/>
        </p:nvSpPr>
        <p:spPr>
          <a:xfrm>
            <a:off x="548640" y="2619756"/>
            <a:ext cx="4975433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612648" y="2619756"/>
            <a:ext cx="484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pairwise matrix (CR 0.016 &lt; 0.10: consistent)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548640" y="2866644"/>
            <a:ext cx="4975433" cy="148864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2" name="Table 1"/>
          <p:cNvGraphicFramePr>
            <a:graphicFrameLocks noGrp="1"/>
          </p:cNvGraphicFramePr>
          <p:nvPr/>
        </p:nvGraphicFramePr>
        <p:xfrm>
          <a:off x="612648" y="2912364"/>
          <a:ext cx="4847417" cy="1378913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46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Geo. mean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ownership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band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feasibility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Shape 36"/>
          <p:cNvSpPr/>
          <p:nvPr/>
        </p:nvSpPr>
        <p:spPr>
          <a:xfrm>
            <a:off x="548640" y="4446727"/>
            <a:ext cx="497543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612648" y="4446727"/>
            <a:ext cx="484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scoring → choice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48640" y="4693615"/>
            <a:ext cx="4975433" cy="143286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6" name="Table 2"/>
          <p:cNvGraphicFramePr>
            <a:graphicFrameLocks noGrp="1"/>
          </p:cNvGraphicFramePr>
          <p:nvPr/>
        </p:nvGraphicFramePr>
        <p:xfrm>
          <a:off x="612648" y="4739335"/>
          <a:ext cx="3898900" cy="1140258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Tiruppur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Panipat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Ludhiana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Rajkot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ownership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band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feasibility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· rank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4.68 · #1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 · #2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3.74 · #3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 · #4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 · #5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" name="Text 39"/>
          <p:cNvSpPr txBox="1"/>
          <p:nvPr/>
        </p:nvSpPr>
        <p:spPr>
          <a:xfrm>
            <a:off x="612648" y="5897880"/>
            <a:ext cx="393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Robust: Surat overtakes Panipat only if the demand weight rises from 0.26 to 0.67; equal weights keep the order.</a:t>
            </a:r>
            <a:endParaRPr lang="en-US" sz="700" dirty="0"/>
          </a:p>
        </p:txBody>
      </p:sp>
      <p:sp>
        <p:nvSpPr>
          <p:cNvPr id="48" name="Shape 40"/>
          <p:cNvSpPr/>
          <p:nvPr/>
        </p:nvSpPr>
        <p:spPr>
          <a:xfrm>
            <a:off x="5615513" y="1051560"/>
            <a:ext cx="634483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 txBox="1"/>
          <p:nvPr/>
        </p:nvSpPr>
        <p:spPr>
          <a:xfrm>
            <a:off x="5679521" y="1051560"/>
            <a:ext cx="6216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teardown: what buyers really pay (279 listings, index 100 = demand-weighted median)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5615513" y="1298448"/>
            <a:ext cx="6344839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3"/>
          <p:cNvSpPr/>
          <p:nvPr/>
        </p:nvSpPr>
        <p:spPr>
          <a:xfrm>
            <a:off x="7615769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 txBox="1"/>
          <p:nvPr/>
        </p:nvSpPr>
        <p:spPr>
          <a:xfrm>
            <a:off x="7432889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00" dirty="0"/>
          </a:p>
        </p:txBody>
      </p:sp>
      <p:sp>
        <p:nvSpPr>
          <p:cNvPr id="53" name="Shape 45"/>
          <p:cNvSpPr/>
          <p:nvPr/>
        </p:nvSpPr>
        <p:spPr>
          <a:xfrm>
            <a:off x="8070688" y="1508760"/>
            <a:ext cx="0" cy="1797710"/>
          </a:xfrm>
          <a:prstGeom prst="line">
            <a:avLst/>
          </a:prstGeom>
          <a:noFill/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 txBox="1"/>
          <p:nvPr/>
        </p:nvSpPr>
        <p:spPr>
          <a:xfrm>
            <a:off x="7887808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55" name="Shape 47"/>
          <p:cNvSpPr/>
          <p:nvPr/>
        </p:nvSpPr>
        <p:spPr>
          <a:xfrm>
            <a:off x="8980527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 txBox="1"/>
          <p:nvPr/>
        </p:nvSpPr>
        <p:spPr>
          <a:xfrm>
            <a:off x="8797647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700" dirty="0"/>
          </a:p>
        </p:txBody>
      </p:sp>
      <p:sp>
        <p:nvSpPr>
          <p:cNvPr id="57" name="Shape 49"/>
          <p:cNvSpPr/>
          <p:nvPr/>
        </p:nvSpPr>
        <p:spPr>
          <a:xfrm>
            <a:off x="9890366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/>
          <p:cNvSpPr txBox="1"/>
          <p:nvPr/>
        </p:nvSpPr>
        <p:spPr>
          <a:xfrm>
            <a:off x="9707486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700" dirty="0"/>
          </a:p>
        </p:txBody>
      </p:sp>
      <p:sp>
        <p:nvSpPr>
          <p:cNvPr id="59" name="Shape 51"/>
          <p:cNvSpPr/>
          <p:nvPr/>
        </p:nvSpPr>
        <p:spPr>
          <a:xfrm>
            <a:off x="10800204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2"/>
          <p:cNvSpPr txBox="1"/>
          <p:nvPr/>
        </p:nvSpPr>
        <p:spPr>
          <a:xfrm>
            <a:off x="10617324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700" dirty="0"/>
          </a:p>
        </p:txBody>
      </p:sp>
      <p:sp>
        <p:nvSpPr>
          <p:cNvPr id="61" name="Text 53"/>
          <p:cNvSpPr txBox="1"/>
          <p:nvPr/>
        </p:nvSpPr>
        <p:spPr>
          <a:xfrm>
            <a:off x="11055096" y="13258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median above what buyers pay</a:t>
            </a:r>
            <a:endParaRPr lang="en-US" sz="650" dirty="0"/>
          </a:p>
        </p:txBody>
      </p:sp>
      <p:sp>
        <p:nvSpPr>
          <p:cNvPr id="62" name="Text 54"/>
          <p:cNvSpPr txBox="1"/>
          <p:nvPr/>
        </p:nvSpPr>
        <p:spPr>
          <a:xfrm>
            <a:off x="5867400" y="1508760"/>
            <a:ext cx="127000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glasses, set of 6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55 · buyers pay ₹262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8088051" y="1624523"/>
            <a:ext cx="2613182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6"/>
          <p:cNvSpPr/>
          <p:nvPr/>
        </p:nvSpPr>
        <p:spPr>
          <a:xfrm>
            <a:off x="7888720" y="1569659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7"/>
          <p:cNvSpPr/>
          <p:nvPr/>
        </p:nvSpPr>
        <p:spPr>
          <a:xfrm>
            <a:off x="8015824" y="1633667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8"/>
          <p:cNvSpPr/>
          <p:nvPr/>
        </p:nvSpPr>
        <p:spPr>
          <a:xfrm>
            <a:off x="9334975" y="1624523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 txBox="1"/>
          <p:nvPr/>
        </p:nvSpPr>
        <p:spPr>
          <a:xfrm>
            <a:off x="9472135" y="1505651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₹415</a:t>
            </a:r>
            <a:endParaRPr lang="en-US" sz="700" dirty="0"/>
          </a:p>
        </p:txBody>
      </p:sp>
      <p:sp>
        <p:nvSpPr>
          <p:cNvPr id="68" name="Text 60"/>
          <p:cNvSpPr txBox="1"/>
          <p:nvPr/>
        </p:nvSpPr>
        <p:spPr>
          <a:xfrm>
            <a:off x="11073384" y="1508760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+58%</a:t>
            </a:r>
            <a:endParaRPr lang="en-US" sz="1200" dirty="0"/>
          </a:p>
        </p:txBody>
      </p:sp>
      <p:sp>
        <p:nvSpPr>
          <p:cNvPr id="69" name="Text 61"/>
          <p:cNvSpPr txBox="1"/>
          <p:nvPr/>
        </p:nvSpPr>
        <p:spPr>
          <a:xfrm>
            <a:off x="5867400" y="1868302"/>
            <a:ext cx="127000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Men’s briefs, 3-pack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₹209</a:t>
            </a:r>
            <a:endParaRPr lang="en-US" sz="800" dirty="0"/>
          </a:p>
        </p:txBody>
      </p:sp>
      <p:sp>
        <p:nvSpPr>
          <p:cNvPr id="70" name="Shape 62"/>
          <p:cNvSpPr/>
          <p:nvPr/>
        </p:nvSpPr>
        <p:spPr>
          <a:xfrm>
            <a:off x="8299236" y="1984065"/>
            <a:ext cx="2318130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3"/>
          <p:cNvSpPr/>
          <p:nvPr/>
        </p:nvSpPr>
        <p:spPr>
          <a:xfrm>
            <a:off x="7888720" y="1929201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4"/>
          <p:cNvSpPr/>
          <p:nvPr/>
        </p:nvSpPr>
        <p:spPr>
          <a:xfrm>
            <a:off x="8015824" y="1993209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5"/>
          <p:cNvSpPr/>
          <p:nvPr/>
        </p:nvSpPr>
        <p:spPr>
          <a:xfrm>
            <a:off x="9241928" y="1984065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6"/>
          <p:cNvSpPr txBox="1"/>
          <p:nvPr/>
        </p:nvSpPr>
        <p:spPr>
          <a:xfrm>
            <a:off x="9379088" y="1865193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₹323</a:t>
            </a:r>
            <a:endParaRPr lang="en-US" sz="700" dirty="0"/>
          </a:p>
        </p:txBody>
      </p:sp>
      <p:sp>
        <p:nvSpPr>
          <p:cNvPr id="75" name="Text 67"/>
          <p:cNvSpPr txBox="1"/>
          <p:nvPr/>
        </p:nvSpPr>
        <p:spPr>
          <a:xfrm>
            <a:off x="11073384" y="1868302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+54%</a:t>
            </a:r>
            <a:endParaRPr lang="en-US" sz="1200" dirty="0"/>
          </a:p>
        </p:txBody>
      </p:sp>
      <p:sp>
        <p:nvSpPr>
          <p:cNvPr id="76" name="Text 68"/>
          <p:cNvSpPr txBox="1"/>
          <p:nvPr/>
        </p:nvSpPr>
        <p:spPr>
          <a:xfrm>
            <a:off x="5867400" y="2227844"/>
            <a:ext cx="127000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Bedsheet + 2 covers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₹325</a:t>
            </a:r>
            <a:endParaRPr lang="en-US" sz="800" dirty="0"/>
          </a:p>
        </p:txBody>
      </p:sp>
      <p:sp>
        <p:nvSpPr>
          <p:cNvPr id="77" name="Shape 69"/>
          <p:cNvSpPr/>
          <p:nvPr/>
        </p:nvSpPr>
        <p:spPr>
          <a:xfrm>
            <a:off x="8140676" y="2343607"/>
            <a:ext cx="2246602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0"/>
          <p:cNvSpPr/>
          <p:nvPr/>
        </p:nvSpPr>
        <p:spPr>
          <a:xfrm>
            <a:off x="7888720" y="2288743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1"/>
          <p:cNvSpPr/>
          <p:nvPr/>
        </p:nvSpPr>
        <p:spPr>
          <a:xfrm>
            <a:off x="8015824" y="2352751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2"/>
          <p:cNvSpPr/>
          <p:nvPr/>
        </p:nvSpPr>
        <p:spPr>
          <a:xfrm>
            <a:off x="8559582" y="2343607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3"/>
          <p:cNvSpPr txBox="1"/>
          <p:nvPr/>
        </p:nvSpPr>
        <p:spPr>
          <a:xfrm>
            <a:off x="8696742" y="2224735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₹404</a:t>
            </a:r>
            <a:endParaRPr lang="en-US" sz="700" dirty="0"/>
          </a:p>
        </p:txBody>
      </p:sp>
      <p:sp>
        <p:nvSpPr>
          <p:cNvPr id="82" name="Text 74"/>
          <p:cNvSpPr txBox="1"/>
          <p:nvPr/>
        </p:nvSpPr>
        <p:spPr>
          <a:xfrm>
            <a:off x="11073384" y="2227844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</a:t>
            </a:r>
            <a:endParaRPr lang="en-US" sz="1200" dirty="0"/>
          </a:p>
        </p:txBody>
      </p:sp>
      <p:sp>
        <p:nvSpPr>
          <p:cNvPr id="83" name="Text 75"/>
          <p:cNvSpPr txBox="1"/>
          <p:nvPr/>
        </p:nvSpPr>
        <p:spPr>
          <a:xfrm>
            <a:off x="5867400" y="2587386"/>
            <a:ext cx="127000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 socks, 5-pack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₹128</a:t>
            </a:r>
            <a:endParaRPr lang="en-US" sz="800" dirty="0"/>
          </a:p>
        </p:txBody>
      </p:sp>
      <p:sp>
        <p:nvSpPr>
          <p:cNvPr id="84" name="Shape 76"/>
          <p:cNvSpPr/>
          <p:nvPr/>
        </p:nvSpPr>
        <p:spPr>
          <a:xfrm>
            <a:off x="7786363" y="2703149"/>
            <a:ext cx="924055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77"/>
          <p:cNvSpPr/>
          <p:nvPr/>
        </p:nvSpPr>
        <p:spPr>
          <a:xfrm>
            <a:off x="7888720" y="2648285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78"/>
          <p:cNvSpPr/>
          <p:nvPr/>
        </p:nvSpPr>
        <p:spPr>
          <a:xfrm>
            <a:off x="8015824" y="2712293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79"/>
          <p:cNvSpPr/>
          <p:nvPr/>
        </p:nvSpPr>
        <p:spPr>
          <a:xfrm>
            <a:off x="8095531" y="2703149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0"/>
          <p:cNvSpPr txBox="1"/>
          <p:nvPr/>
        </p:nvSpPr>
        <p:spPr>
          <a:xfrm>
            <a:off x="8232691" y="2584277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₹133</a:t>
            </a:r>
            <a:endParaRPr lang="en-US" sz="700" dirty="0"/>
          </a:p>
        </p:txBody>
      </p:sp>
      <p:sp>
        <p:nvSpPr>
          <p:cNvPr id="89" name="Text 81"/>
          <p:cNvSpPr txBox="1"/>
          <p:nvPr/>
        </p:nvSpPr>
        <p:spPr>
          <a:xfrm>
            <a:off x="11073384" y="2587386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</a:t>
            </a:r>
            <a:endParaRPr lang="en-US" sz="1200" dirty="0"/>
          </a:p>
        </p:txBody>
      </p:sp>
      <p:sp>
        <p:nvSpPr>
          <p:cNvPr id="90" name="Text 82"/>
          <p:cNvSpPr txBox="1"/>
          <p:nvPr/>
        </p:nvSpPr>
        <p:spPr>
          <a:xfrm>
            <a:off x="5867400" y="2946928"/>
            <a:ext cx="127000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towel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₹227</a:t>
            </a:r>
            <a:endParaRPr lang="en-US" sz="800" dirty="0"/>
          </a:p>
        </p:txBody>
      </p:sp>
      <p:sp>
        <p:nvSpPr>
          <p:cNvPr id="91" name="Shape 83"/>
          <p:cNvSpPr/>
          <p:nvPr/>
        </p:nvSpPr>
        <p:spPr>
          <a:xfrm>
            <a:off x="7689919" y="3062691"/>
            <a:ext cx="1122268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4"/>
          <p:cNvSpPr/>
          <p:nvPr/>
        </p:nvSpPr>
        <p:spPr>
          <a:xfrm>
            <a:off x="7888720" y="3007827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85"/>
          <p:cNvSpPr/>
          <p:nvPr/>
        </p:nvSpPr>
        <p:spPr>
          <a:xfrm>
            <a:off x="8015824" y="3071835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86"/>
          <p:cNvSpPr/>
          <p:nvPr/>
        </p:nvSpPr>
        <p:spPr>
          <a:xfrm>
            <a:off x="8076822" y="3062691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7"/>
          <p:cNvSpPr txBox="1"/>
          <p:nvPr/>
        </p:nvSpPr>
        <p:spPr>
          <a:xfrm>
            <a:off x="8213982" y="2943819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₹234</a:t>
            </a:r>
            <a:endParaRPr lang="en-US" sz="700" dirty="0"/>
          </a:p>
        </p:txBody>
      </p:sp>
      <p:sp>
        <p:nvSpPr>
          <p:cNvPr id="96" name="Text 88"/>
          <p:cNvSpPr txBox="1"/>
          <p:nvPr/>
        </p:nvSpPr>
        <p:spPr>
          <a:xfrm>
            <a:off x="11073384" y="2946928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200" dirty="0"/>
          </a:p>
        </p:txBody>
      </p:sp>
      <p:sp>
        <p:nvSpPr>
          <p:cNvPr id="97" name="Text 89"/>
          <p:cNvSpPr txBox="1"/>
          <p:nvPr/>
        </p:nvSpPr>
        <p:spPr>
          <a:xfrm>
            <a:off x="5679521" y="3452774"/>
            <a:ext cx="6216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median   </a:t>
            </a:r>
            <a:r>
              <a:rPr lang="en-US" sz="700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median   </a:t>
            </a: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gate   </a:t>
            </a:r>
            <a:r>
              <a:rPr lang="en-US" sz="700" dirty="0">
                <a:solidFill>
                  <a:srgbClr val="C9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50% of listings</a:t>
            </a:r>
            <a:endParaRPr lang="en-US" sz="700" dirty="0"/>
          </a:p>
        </p:txBody>
      </p:sp>
      <p:sp>
        <p:nvSpPr>
          <p:cNvPr id="98" name="Shape 90"/>
          <p:cNvSpPr/>
          <p:nvPr/>
        </p:nvSpPr>
        <p:spPr>
          <a:xfrm>
            <a:off x="5615513" y="3736238"/>
            <a:ext cx="634483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1"/>
          <p:cNvSpPr txBox="1"/>
          <p:nvPr/>
        </p:nvSpPr>
        <p:spPr>
          <a:xfrm>
            <a:off x="5679521" y="3736238"/>
            <a:ext cx="6216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gate: assumptions → calculation → result (men’s briefs, 3-pack)</a:t>
            </a:r>
            <a:endParaRPr lang="en-US" sz="950" dirty="0"/>
          </a:p>
        </p:txBody>
      </p:sp>
      <p:sp>
        <p:nvSpPr>
          <p:cNvPr id="100" name="Shape 92"/>
          <p:cNvSpPr/>
          <p:nvPr/>
        </p:nvSpPr>
        <p:spPr>
          <a:xfrm>
            <a:off x="5615513" y="3983126"/>
            <a:ext cx="6344839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3"/>
          <p:cNvSpPr/>
          <p:nvPr/>
        </p:nvSpPr>
        <p:spPr>
          <a:xfrm>
            <a:off x="5679521" y="4028846"/>
            <a:ext cx="1865047" cy="205191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4"/>
          <p:cNvSpPr txBox="1"/>
          <p:nvPr/>
        </p:nvSpPr>
        <p:spPr>
          <a:xfrm>
            <a:off x="5734385" y="4065422"/>
            <a:ext cx="1755319" cy="1978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median ₹322.5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median ₹209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SKU ≥ 8% below median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Badge: ≥ 60% of live SKUs clear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above ₹5 cr GMV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with &gt; 30% of a set’s orders scored without its own orders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needs ≥ 10 delivered orders to count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Re-scored weekly; badge off below a 4% gap</a:t>
            </a:r>
            <a:endParaRPr lang="en-US" sz="750" dirty="0"/>
          </a:p>
        </p:txBody>
      </p:sp>
      <p:sp>
        <p:nvSpPr>
          <p:cNvPr id="103" name="Shape 95"/>
          <p:cNvSpPr/>
          <p:nvPr/>
        </p:nvSpPr>
        <p:spPr>
          <a:xfrm>
            <a:off x="7617720" y="4028846"/>
            <a:ext cx="2102736" cy="902842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96"/>
          <p:cNvSpPr txBox="1"/>
          <p:nvPr/>
        </p:nvSpPr>
        <p:spPr>
          <a:xfrm>
            <a:off x="7672584" y="4056278"/>
            <a:ext cx="1993008" cy="84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listing median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= ₹322.5 × 0.92 = ₹296.7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 56 listings clear (43%)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loose: the badge would sit on 4 in 10 listings, including resellers.</a:t>
            </a:r>
            <a:endParaRPr lang="en-US" sz="750" dirty="0"/>
          </a:p>
        </p:txBody>
      </p:sp>
      <p:sp>
        <p:nvSpPr>
          <p:cNvPr id="105" name="Shape 97"/>
          <p:cNvSpPr/>
          <p:nvPr/>
        </p:nvSpPr>
        <p:spPr>
          <a:xfrm>
            <a:off x="9793608" y="4028846"/>
            <a:ext cx="2102736" cy="902842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 txBox="1"/>
          <p:nvPr/>
        </p:nvSpPr>
        <p:spPr>
          <a:xfrm>
            <a:off x="9848472" y="4056278"/>
            <a:ext cx="1993008" cy="84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demand-weighted median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= ₹209 × 0.92 = ₹192.3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56 listings clear (11%)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cost edges clear: the badge means something.</a:t>
            </a:r>
            <a:endParaRPr lang="en-US" sz="750" dirty="0"/>
          </a:p>
        </p:txBody>
      </p:sp>
      <p:sp>
        <p:nvSpPr>
          <p:cNvPr id="107" name="Text 99"/>
          <p:cNvSpPr txBox="1"/>
          <p:nvPr/>
        </p:nvSpPr>
        <p:spPr>
          <a:xfrm>
            <a:off x="7785100" y="49865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 ₹180 → 13.8% below ✓ · reseller ₹220 → −5.4% ✕</a:t>
            </a:r>
            <a:endParaRPr lang="en-US" sz="750" dirty="0"/>
          </a:p>
        </p:txBody>
      </p:sp>
      <p:graphicFrame>
        <p:nvGraphicFramePr>
          <p:cNvPr id="108" name="Table 3"/>
          <p:cNvGraphicFramePr>
            <a:graphicFrameLocks noGrp="1"/>
          </p:cNvGraphicFramePr>
          <p:nvPr/>
        </p:nvGraphicFramePr>
        <p:xfrm>
          <a:off x="7617720" y="5169432"/>
          <a:ext cx="4278624" cy="8930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5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verdict (180 sellers &gt; ₹5 cr)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C2M-ready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+ re-rank + Demand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without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badge; value-tier SKUs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Loss-leader pattern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badge: catalogue gate holds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miss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offer; re-score in 28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0" name="India map (schematic)" descr="Schematic map of India with the five scored clusters"/>
          <p:cNvSpPr/>
          <p:nvPr/>
        </p:nvSpPr>
        <p:spPr>
          <a:xfrm>
            <a:off x="4610100" y="4787900"/>
            <a:ext cx="889000" cy="946193"/>
          </a:xfrm>
          <a:custGeom>
            <a:avLst/>
            <a:gdLst/>
            <a:ahLst/>
            <a:cxnLst/>
            <a:rect l="0" t="0" r="r" b="b"/>
            <a:pathLst>
              <a:path w="889000" h="946193">
                <a:moveTo>
                  <a:pt x="180814" y="84250"/>
                </a:moveTo>
                <a:lnTo>
                  <a:pt x="229031" y="25923"/>
                </a:lnTo>
                <a:lnTo>
                  <a:pt x="295329" y="55087"/>
                </a:lnTo>
                <a:lnTo>
                  <a:pt x="346559" y="142577"/>
                </a:lnTo>
                <a:lnTo>
                  <a:pt x="325464" y="200904"/>
                </a:lnTo>
                <a:lnTo>
                  <a:pt x="391763" y="226827"/>
                </a:lnTo>
                <a:lnTo>
                  <a:pt x="452034" y="272192"/>
                </a:lnTo>
                <a:lnTo>
                  <a:pt x="539427" y="314317"/>
                </a:lnTo>
                <a:lnTo>
                  <a:pt x="605725" y="301356"/>
                </a:lnTo>
                <a:lnTo>
                  <a:pt x="626820" y="320798"/>
                </a:lnTo>
                <a:lnTo>
                  <a:pt x="656956" y="340241"/>
                </a:lnTo>
                <a:lnTo>
                  <a:pt x="723254" y="333760"/>
                </a:lnTo>
                <a:lnTo>
                  <a:pt x="783525" y="311077"/>
                </a:lnTo>
                <a:lnTo>
                  <a:pt x="843797" y="285154"/>
                </a:lnTo>
                <a:lnTo>
                  <a:pt x="882973" y="301356"/>
                </a:lnTo>
                <a:lnTo>
                  <a:pt x="819688" y="346721"/>
                </a:lnTo>
                <a:lnTo>
                  <a:pt x="801607" y="395327"/>
                </a:lnTo>
                <a:lnTo>
                  <a:pt x="789553" y="434212"/>
                </a:lnTo>
                <a:lnTo>
                  <a:pt x="762431" y="427731"/>
                </a:lnTo>
                <a:lnTo>
                  <a:pt x="741336" y="492539"/>
                </a:lnTo>
                <a:lnTo>
                  <a:pt x="720241" y="440693"/>
                </a:lnTo>
                <a:lnTo>
                  <a:pt x="699146" y="437452"/>
                </a:lnTo>
                <a:lnTo>
                  <a:pt x="720241" y="398568"/>
                </a:lnTo>
                <a:lnTo>
                  <a:pt x="662983" y="388846"/>
                </a:lnTo>
                <a:lnTo>
                  <a:pt x="656956" y="362923"/>
                </a:lnTo>
                <a:lnTo>
                  <a:pt x="614766" y="349962"/>
                </a:lnTo>
                <a:lnTo>
                  <a:pt x="605725" y="379125"/>
                </a:lnTo>
                <a:lnTo>
                  <a:pt x="629834" y="463375"/>
                </a:lnTo>
                <a:lnTo>
                  <a:pt x="629834" y="505500"/>
                </a:lnTo>
                <a:lnTo>
                  <a:pt x="572576" y="508741"/>
                </a:lnTo>
                <a:lnTo>
                  <a:pt x="566549" y="541145"/>
                </a:lnTo>
                <a:lnTo>
                  <a:pt x="512305" y="580029"/>
                </a:lnTo>
                <a:lnTo>
                  <a:pt x="485183" y="612433"/>
                </a:lnTo>
                <a:lnTo>
                  <a:pt x="430939" y="667520"/>
                </a:lnTo>
                <a:lnTo>
                  <a:pt x="370668" y="693443"/>
                </a:lnTo>
                <a:lnTo>
                  <a:pt x="370668" y="771212"/>
                </a:lnTo>
                <a:lnTo>
                  <a:pt x="358614" y="839260"/>
                </a:lnTo>
                <a:lnTo>
                  <a:pt x="355600" y="871664"/>
                </a:lnTo>
                <a:lnTo>
                  <a:pt x="328478" y="900827"/>
                </a:lnTo>
                <a:lnTo>
                  <a:pt x="307383" y="917029"/>
                </a:lnTo>
                <a:lnTo>
                  <a:pt x="286288" y="942952"/>
                </a:lnTo>
                <a:lnTo>
                  <a:pt x="259166" y="917029"/>
                </a:lnTo>
                <a:lnTo>
                  <a:pt x="241085" y="855462"/>
                </a:lnTo>
                <a:lnTo>
                  <a:pt x="216976" y="800375"/>
                </a:lnTo>
                <a:lnTo>
                  <a:pt x="198895" y="735568"/>
                </a:lnTo>
                <a:lnTo>
                  <a:pt x="165746" y="686962"/>
                </a:lnTo>
                <a:lnTo>
                  <a:pt x="144651" y="589750"/>
                </a:lnTo>
                <a:lnTo>
                  <a:pt x="147664" y="531423"/>
                </a:lnTo>
                <a:lnTo>
                  <a:pt x="138624" y="508741"/>
                </a:lnTo>
                <a:lnTo>
                  <a:pt x="135610" y="482818"/>
                </a:lnTo>
                <a:lnTo>
                  <a:pt x="75339" y="531423"/>
                </a:lnTo>
                <a:lnTo>
                  <a:pt x="30136" y="482818"/>
                </a:lnTo>
                <a:lnTo>
                  <a:pt x="12054" y="440693"/>
                </a:lnTo>
                <a:lnTo>
                  <a:pt x="60271" y="418010"/>
                </a:lnTo>
                <a:lnTo>
                  <a:pt x="78353" y="372644"/>
                </a:lnTo>
                <a:lnTo>
                  <a:pt x="48217" y="330519"/>
                </a:lnTo>
                <a:lnTo>
                  <a:pt x="84380" y="301356"/>
                </a:lnTo>
                <a:lnTo>
                  <a:pt x="135610" y="265712"/>
                </a:lnTo>
                <a:lnTo>
                  <a:pt x="177800" y="236548"/>
                </a:lnTo>
                <a:lnTo>
                  <a:pt x="198895" y="200904"/>
                </a:lnTo>
                <a:lnTo>
                  <a:pt x="198895" y="152298"/>
                </a:lnTo>
                <a:lnTo>
                  <a:pt x="168759" y="119894"/>
                </a:lnTo>
                <a:close/>
              </a:path>
            </a:pathLst>
          </a:custGeom>
          <a:solidFill>
            <a:srgbClr val="F4E8F0"/>
          </a:solidFill>
          <a:ln w="6350">
            <a:solidFill>
              <a:srgbClr val="5A0F43"/>
            </a:solidFill>
          </a:ln>
        </p:spPr>
        <p:txBody>
          <a:bodyPr/>
          <a:lstStyle/>
          <a:p>
            <a:endParaRPr lang="en-GB" sz="600"/>
          </a:p>
        </p:txBody>
      </p:sp>
      <p:sp>
        <p:nvSpPr>
          <p:cNvPr id="901" name="Pin Tiruppur"/>
          <p:cNvSpPr/>
          <p:nvPr/>
        </p:nvSpPr>
        <p:spPr>
          <a:xfrm>
            <a:off x="4850926" y="5593001"/>
            <a:ext cx="81280" cy="81280"/>
          </a:xfrm>
          <a:prstGeom prst="ellipse">
            <a:avLst/>
          </a:prstGeom>
          <a:solidFill>
            <a:srgbClr val="E8414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Label Tiruppur"/>
          <p:cNvSpPr txBox="1"/>
          <p:nvPr/>
        </p:nvSpPr>
        <p:spPr>
          <a:xfrm>
            <a:off x="4936016" y="5582841"/>
            <a:ext cx="1016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00" b="1" dirty="0">
                <a:solidFill>
                  <a:srgbClr val="E8414F"/>
                </a:solidFill>
              </a:rPr>
              <a:t>1</a:t>
            </a:r>
          </a:p>
        </p:txBody>
      </p:sp>
      <p:sp>
        <p:nvSpPr>
          <p:cNvPr id="903" name="Pin Panipat"/>
          <p:cNvSpPr/>
          <p:nvPr/>
        </p:nvSpPr>
        <p:spPr>
          <a:xfrm>
            <a:off x="4839776" y="5000334"/>
            <a:ext cx="81280" cy="81280"/>
          </a:xfrm>
          <a:prstGeom prst="ellipse">
            <a:avLst/>
          </a:prstGeom>
          <a:solidFill>
            <a:srgbClr val="E8414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4" name="Label Panipat"/>
          <p:cNvSpPr txBox="1"/>
          <p:nvPr/>
        </p:nvSpPr>
        <p:spPr>
          <a:xfrm>
            <a:off x="4924866" y="4990174"/>
            <a:ext cx="1016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00" b="1" dirty="0">
                <a:solidFill>
                  <a:srgbClr val="E8414F"/>
                </a:solidFill>
              </a:rPr>
              <a:t>2</a:t>
            </a:r>
          </a:p>
        </p:txBody>
      </p:sp>
      <p:sp>
        <p:nvSpPr>
          <p:cNvPr id="905" name="Pin Ludhiana"/>
          <p:cNvSpPr/>
          <p:nvPr/>
        </p:nvSpPr>
        <p:spPr>
          <a:xfrm>
            <a:off x="4813644" y="4959024"/>
            <a:ext cx="66040" cy="66040"/>
          </a:xfrm>
          <a:prstGeom prst="ellipse">
            <a:avLst/>
          </a:prstGeom>
          <a:solidFill>
            <a:srgbClr val="5A0F4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6" name="Label Ludhiana"/>
          <p:cNvSpPr txBox="1"/>
          <p:nvPr/>
        </p:nvSpPr>
        <p:spPr>
          <a:xfrm>
            <a:off x="4700614" y="4941244"/>
            <a:ext cx="1016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00" b="1" dirty="0">
                <a:solidFill>
                  <a:srgbClr val="5A0F43"/>
                </a:solidFill>
              </a:rPr>
              <a:t>3</a:t>
            </a:r>
          </a:p>
        </p:txBody>
      </p:sp>
      <p:sp>
        <p:nvSpPr>
          <p:cNvPr id="907" name="Pin Rajkot"/>
          <p:cNvSpPr/>
          <p:nvPr/>
        </p:nvSpPr>
        <p:spPr>
          <a:xfrm>
            <a:off x="4661460" y="5237698"/>
            <a:ext cx="66040" cy="66040"/>
          </a:xfrm>
          <a:prstGeom prst="ellipse">
            <a:avLst/>
          </a:prstGeom>
          <a:solidFill>
            <a:srgbClr val="5A0F4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Label Rajkot"/>
          <p:cNvSpPr txBox="1"/>
          <p:nvPr/>
        </p:nvSpPr>
        <p:spPr>
          <a:xfrm>
            <a:off x="4548430" y="5219918"/>
            <a:ext cx="1016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00" b="1" dirty="0">
                <a:solidFill>
                  <a:srgbClr val="5A0F43"/>
                </a:solidFill>
              </a:rPr>
              <a:t>4</a:t>
            </a:r>
          </a:p>
        </p:txBody>
      </p:sp>
      <p:sp>
        <p:nvSpPr>
          <p:cNvPr id="909" name="Pin Surat"/>
          <p:cNvSpPr/>
          <p:nvPr/>
        </p:nvSpPr>
        <p:spPr>
          <a:xfrm>
            <a:off x="4722635" y="5274314"/>
            <a:ext cx="66040" cy="66040"/>
          </a:xfrm>
          <a:prstGeom prst="ellipse">
            <a:avLst/>
          </a:prstGeom>
          <a:solidFill>
            <a:srgbClr val="5A0F4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0" name="Label Surat"/>
          <p:cNvSpPr txBox="1"/>
          <p:nvPr/>
        </p:nvSpPr>
        <p:spPr>
          <a:xfrm>
            <a:off x="4609605" y="5256534"/>
            <a:ext cx="1016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00" b="1" dirty="0">
                <a:solidFill>
                  <a:srgbClr val="5A0F43"/>
                </a:solidFill>
              </a:rPr>
              <a:t>5</a:t>
            </a:r>
          </a:p>
        </p:txBody>
      </p:sp>
      <p:sp>
        <p:nvSpPr>
          <p:cNvPr id="920" name="Map caption"/>
          <p:cNvSpPr txBox="1"/>
          <p:nvPr/>
        </p:nvSpPr>
        <p:spPr>
          <a:xfrm>
            <a:off x="4572000" y="5803900"/>
            <a:ext cx="9652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650" dirty="0">
                <a:solidFill>
                  <a:srgbClr val="5A0A46"/>
                </a:solidFill>
              </a:rPr>
              <a:t>Pin = rank; coral = pilot</a:t>
            </a:r>
          </a:p>
        </p:txBody>
      </p:sp>
      <p:pic>
        <p:nvPicPr>
          <p:cNvPr id="921" name="Graphic 921" descr="Selection criteri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1300" y="1085850"/>
            <a:ext cx="165100" cy="165100"/>
          </a:xfrm>
          <a:prstGeom prst="rect">
            <a:avLst/>
          </a:prstGeom>
        </p:spPr>
      </p:pic>
      <p:pic>
        <p:nvPicPr>
          <p:cNvPr id="922" name="Graphic 922" descr="AH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21300" y="2647950"/>
            <a:ext cx="165100" cy="165100"/>
          </a:xfrm>
          <a:prstGeom prst="rect">
            <a:avLst/>
          </a:prstGeom>
        </p:spPr>
      </p:pic>
      <p:pic>
        <p:nvPicPr>
          <p:cNvPr id="923" name="Graphic 923" descr="Cluster scor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1300" y="4476750"/>
            <a:ext cx="165100" cy="165100"/>
          </a:xfrm>
          <a:prstGeom prst="rect">
            <a:avLst/>
          </a:prstGeom>
        </p:spPr>
      </p:pic>
      <p:pic>
        <p:nvPicPr>
          <p:cNvPr id="924" name="Graphic 924" descr="Live teardow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925" name="Graphic 925" descr="Price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0200" y="3765550"/>
            <a:ext cx="165100" cy="165100"/>
          </a:xfrm>
          <a:prstGeom prst="rect">
            <a:avLst/>
          </a:prstGeom>
        </p:spPr>
      </p:pic>
      <p:pic>
        <p:nvPicPr>
          <p:cNvPr id="926" name="Graphic 926" descr="Cost ownershi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609090"/>
            <a:ext cx="101600" cy="101600"/>
          </a:xfrm>
          <a:prstGeom prst="rect">
            <a:avLst/>
          </a:prstGeom>
        </p:spPr>
      </p:pic>
      <p:pic>
        <p:nvPicPr>
          <p:cNvPr id="927" name="Graphic 927" descr="Demand on Meesh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1838960"/>
            <a:ext cx="101600" cy="101600"/>
          </a:xfrm>
          <a:prstGeom prst="rect">
            <a:avLst/>
          </a:prstGeom>
        </p:spPr>
      </p:pic>
      <p:pic>
        <p:nvPicPr>
          <p:cNvPr id="928" name="Graphic 928" descr="Returns ba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" y="2028190"/>
            <a:ext cx="101600" cy="101600"/>
          </a:xfrm>
          <a:prstGeom prst="rect">
            <a:avLst/>
          </a:prstGeom>
        </p:spPr>
      </p:pic>
      <p:pic>
        <p:nvPicPr>
          <p:cNvPr id="929" name="Graphic 929" descr="Node feasi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" y="2211070"/>
            <a:ext cx="101600" cy="101600"/>
          </a:xfrm>
          <a:prstGeom prst="rect">
            <a:avLst/>
          </a:prstGeom>
        </p:spPr>
      </p:pic>
      <p:pic>
        <p:nvPicPr>
          <p:cNvPr id="930" name="Graphic 930" descr="Institutional partn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2401570"/>
            <a:ext cx="101600" cy="101600"/>
          </a:xfrm>
          <a:prstGeom prst="rect">
            <a:avLst/>
          </a:prstGeom>
        </p:spPr>
      </p:pic>
      <p:pic>
        <p:nvPicPr>
          <p:cNvPr id="931" name="Graphic 931" descr="Cost ownershi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3168650"/>
            <a:ext cx="114300" cy="114300"/>
          </a:xfrm>
          <a:prstGeom prst="rect">
            <a:avLst/>
          </a:prstGeom>
        </p:spPr>
      </p:pic>
      <p:pic>
        <p:nvPicPr>
          <p:cNvPr id="932" name="Graphic 932" descr="Demand on Meesh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3403600"/>
            <a:ext cx="114300" cy="114300"/>
          </a:xfrm>
          <a:prstGeom prst="rect">
            <a:avLst/>
          </a:prstGeom>
        </p:spPr>
      </p:pic>
      <p:pic>
        <p:nvPicPr>
          <p:cNvPr id="933" name="Graphic 933" descr="Returns ba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" y="3638550"/>
            <a:ext cx="114300" cy="114300"/>
          </a:xfrm>
          <a:prstGeom prst="rect">
            <a:avLst/>
          </a:prstGeom>
        </p:spPr>
      </p:pic>
      <p:pic>
        <p:nvPicPr>
          <p:cNvPr id="934" name="Graphic 934" descr="Node feasi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" y="3873500"/>
            <a:ext cx="114300" cy="114300"/>
          </a:xfrm>
          <a:prstGeom prst="rect">
            <a:avLst/>
          </a:prstGeom>
        </p:spPr>
      </p:pic>
      <p:pic>
        <p:nvPicPr>
          <p:cNvPr id="935" name="Graphic 935" descr="Institutional partn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4108450"/>
            <a:ext cx="114300" cy="114300"/>
          </a:xfrm>
          <a:prstGeom prst="rect">
            <a:avLst/>
          </a:prstGeom>
        </p:spPr>
      </p:pic>
      <p:pic>
        <p:nvPicPr>
          <p:cNvPr id="936" name="Graphic 936" descr="Cost ownershi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4955540"/>
            <a:ext cx="88900" cy="88900"/>
          </a:xfrm>
          <a:prstGeom prst="rect">
            <a:avLst/>
          </a:prstGeom>
        </p:spPr>
      </p:pic>
      <p:pic>
        <p:nvPicPr>
          <p:cNvPr id="937" name="Graphic 937" descr="Demand on Meesh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5115560"/>
            <a:ext cx="88900" cy="88900"/>
          </a:xfrm>
          <a:prstGeom prst="rect">
            <a:avLst/>
          </a:prstGeom>
        </p:spPr>
      </p:pic>
      <p:pic>
        <p:nvPicPr>
          <p:cNvPr id="938" name="Graphic 938" descr="Returns ba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" y="5275580"/>
            <a:ext cx="88900" cy="88900"/>
          </a:xfrm>
          <a:prstGeom prst="rect">
            <a:avLst/>
          </a:prstGeom>
        </p:spPr>
      </p:pic>
      <p:pic>
        <p:nvPicPr>
          <p:cNvPr id="939" name="Graphic 939" descr="Node feasi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" y="5435600"/>
            <a:ext cx="88900" cy="88900"/>
          </a:xfrm>
          <a:prstGeom prst="rect">
            <a:avLst/>
          </a:prstGeom>
        </p:spPr>
      </p:pic>
      <p:pic>
        <p:nvPicPr>
          <p:cNvPr id="940" name="Graphic 940" descr="Institutional partn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5595620"/>
            <a:ext cx="88900" cy="88900"/>
          </a:xfrm>
          <a:prstGeom prst="rect">
            <a:avLst/>
          </a:prstGeom>
        </p:spPr>
      </p:pic>
      <p:pic>
        <p:nvPicPr>
          <p:cNvPr id="941" name="Graphic 941" descr="Steel glass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76900" y="1549400"/>
            <a:ext cx="165100" cy="165100"/>
          </a:xfrm>
          <a:prstGeom prst="rect">
            <a:avLst/>
          </a:prstGeom>
        </p:spPr>
      </p:pic>
      <p:pic>
        <p:nvPicPr>
          <p:cNvPr id="942" name="Graphic 942" descr="Men's brief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76900" y="1905000"/>
            <a:ext cx="165100" cy="165100"/>
          </a:xfrm>
          <a:prstGeom prst="rect">
            <a:avLst/>
          </a:prstGeom>
        </p:spPr>
      </p:pic>
      <p:pic>
        <p:nvPicPr>
          <p:cNvPr id="943" name="Graphic 943" descr="Bedshe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76900" y="2260600"/>
            <a:ext cx="165100" cy="165100"/>
          </a:xfrm>
          <a:prstGeom prst="rect">
            <a:avLst/>
          </a:prstGeom>
        </p:spPr>
      </p:pic>
      <p:pic>
        <p:nvPicPr>
          <p:cNvPr id="944" name="Graphic 944" descr="Ankle sock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76900" y="2628900"/>
            <a:ext cx="165100" cy="165100"/>
          </a:xfrm>
          <a:prstGeom prst="rect">
            <a:avLst/>
          </a:prstGeom>
        </p:spPr>
      </p:pic>
      <p:pic>
        <p:nvPicPr>
          <p:cNvPr id="945" name="Graphic 945" descr="Bath towe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76900" y="2984500"/>
            <a:ext cx="165100" cy="165100"/>
          </a:xfrm>
          <a:prstGeom prst="rect">
            <a:avLst/>
          </a:prstGeom>
        </p:spPr>
      </p:pic>
      <p:pic>
        <p:nvPicPr>
          <p:cNvPr id="946" name="Graphic 946" descr="Assump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27900" y="4076700"/>
            <a:ext cx="165100" cy="165100"/>
          </a:xfrm>
          <a:prstGeom prst="rect">
            <a:avLst/>
          </a:prstGeom>
        </p:spPr>
      </p:pic>
      <p:pic>
        <p:nvPicPr>
          <p:cNvPr id="947" name="Graphic 947" descr="Too loo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12300" y="4076700"/>
            <a:ext cx="165100" cy="165100"/>
          </a:xfrm>
          <a:prstGeom prst="rect">
            <a:avLst/>
          </a:prstGeom>
        </p:spPr>
      </p:pic>
      <p:pic>
        <p:nvPicPr>
          <p:cNvPr id="948" name="Graphic 948" descr="Real cost ed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684000" y="4076700"/>
            <a:ext cx="165100" cy="165100"/>
          </a:xfrm>
          <a:prstGeom prst="rect">
            <a:avLst/>
          </a:prstGeom>
        </p:spPr>
      </p:pic>
      <p:pic>
        <p:nvPicPr>
          <p:cNvPr id="949" name="Graphic 949" descr="Resul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32700" y="5010150"/>
            <a:ext cx="127000" cy="127000"/>
          </a:xfrm>
          <a:prstGeom prst="rect">
            <a:avLst/>
          </a:prstGeom>
        </p:spPr>
      </p:pic>
      <p:pic>
        <p:nvPicPr>
          <p:cNvPr id="950" name="Graphic 950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  <p:pic>
        <p:nvPicPr>
          <p:cNvPr id="951" name="Graphic 951" descr="C2M-read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042400" y="5365750"/>
            <a:ext cx="114300" cy="114300"/>
          </a:xfrm>
          <a:prstGeom prst="rect">
            <a:avLst/>
          </a:prstGeom>
        </p:spPr>
      </p:pic>
      <p:pic>
        <p:nvPicPr>
          <p:cNvPr id="952" name="Graphic 952" descr="Scale without 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042400" y="5549900"/>
            <a:ext cx="114300" cy="114300"/>
          </a:xfrm>
          <a:prstGeom prst="rect">
            <a:avLst/>
          </a:prstGeom>
        </p:spPr>
      </p:pic>
      <p:pic>
        <p:nvPicPr>
          <p:cNvPr id="953" name="Graphic 953" descr="Loss-leader patter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042400" y="5734050"/>
            <a:ext cx="114300" cy="114300"/>
          </a:xfrm>
          <a:prstGeom prst="rect">
            <a:avLst/>
          </a:prstGeom>
        </p:spPr>
      </p:pic>
      <p:pic>
        <p:nvPicPr>
          <p:cNvPr id="954" name="Graphic 954" descr="Near miss re-sco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42400" y="591820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1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prepaid 3-pack costs ₹164 vs a reseller’s ₹200.5; of the ₹45 freed, buyers get ₹26.7 and the factory ₹18.3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price pre-orders at the gate less ₹10 (₹182), funded by the factory’s ₹11 batch saving. Owner: Pricing + Category · KPI: factory margin ≥ ₹18 a pack.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S10 (₹209 demand-weighted median), S11 (₹150 return fee, ₹0 RTO fee), S12, S13   |   Assumptions: A10, A11, A20, A22-A32 (making cost ₹80 to confirm in interviews)   |   Workings: Appendix C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680130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6673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per 3-pack kept, one change per column (Tiruppur men’s briefs)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6801307" cy="336133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6673292" cy="3005328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Reseller today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Factory lists direct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Factory Node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Prepaid pre-order batch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Existing: buys via a wholesaler, ships, stocks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1: no wholesaler mark-up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2: bulk drop; node packs, ships, grades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i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Proposed: make confirmed orders + 15%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100 shipped: failed deliveries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 by buyers (8%)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(paid for)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Goods, net of resold returns (₹)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Unsold stock written down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Logistics: forward + pack / node fee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Customer-return fees (₹150 each)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 (18% a year)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pack kept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viable price (9% margin)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₹209 demand-weighted median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Clears the 8% gate (≤ ₹192)?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9" name="Text 33"/>
          <p:cNvSpPr txBox="1"/>
          <p:nvPr/>
        </p:nvSpPr>
        <p:spPr>
          <a:xfrm>
            <a:off x="787400" y="4394606"/>
            <a:ext cx="6489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making cost that clears the gate: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₹78.7 → ₹80.9 → ₹90.7 (+15%): the levers widen the pool of factories that qualify.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7441387" y="1051560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7505395" y="1051560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prepaid batch of 1,000 packs at ₹182, stage by stage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7441387" y="1298448"/>
            <a:ext cx="4518965" cy="183885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3" name="Table 1"/>
          <p:cNvGraphicFramePr>
            <a:graphicFrameLocks noGrp="1"/>
          </p:cNvGraphicFramePr>
          <p:nvPr/>
        </p:nvGraphicFramePr>
        <p:xfrm>
          <a:off x="7505395" y="1344168"/>
          <a:ext cx="4390949" cy="1782558"/>
        </p:xfrm>
        <a:graphic>
          <a:graphicData uri="http://schemas.openxmlformats.org/drawingml/2006/table">
            <a:tbl>
              <a:tblPr/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Pre-order window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confirmed; make 1,150 (+15%)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₹1,82,280 order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Handover at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advanced by the NBFC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+₹54,684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Delivery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failed (4.6%) · 76 returned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 kept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Revenue on kept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 × ₹182.3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₹1,60,067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Fees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₹40,089 · node ₹20,000 · returns ₹11,454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−₹71,543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Payout, 7 days after delivery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of fees; repays the advance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₹88,524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Balance to the factory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payout − advance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+₹33,840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" name="Shape 37"/>
          <p:cNvSpPr/>
          <p:nvPr/>
        </p:nvSpPr>
        <p:spPr>
          <a:xfrm>
            <a:off x="7441387" y="3228746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7505395" y="3228746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₹45 per pack goes (pre-order vs a reseller at ₹209)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7441387" y="3475634"/>
            <a:ext cx="4518965" cy="118414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7505395" y="3521354"/>
            <a:ext cx="43909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 = ₹36.5 lower cost (no wholesaler, node, batches) + ₹8.5 reseller margin</a:t>
            </a:r>
            <a:endParaRPr lang="en-US" sz="750" dirty="0"/>
          </a:p>
        </p:txBody>
      </p:sp>
      <p:sp>
        <p:nvSpPr>
          <p:cNvPr id="48" name="Shape 41"/>
          <p:cNvSpPr/>
          <p:nvPr/>
        </p:nvSpPr>
        <p:spPr>
          <a:xfrm>
            <a:off x="7505395" y="3759098"/>
            <a:ext cx="2604938" cy="329184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10110334" y="3759098"/>
            <a:ext cx="1786010" cy="32918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7505395" y="3759098"/>
            <a:ext cx="2604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₹26.7 · 59%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10110334" y="3759098"/>
            <a:ext cx="17860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₹18.3 · 41%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7683500" y="4143146"/>
            <a:ext cx="42164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₹182 instead of ₹209.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₹18.3 a pack vs ₹7.9 selling ex-factory (2.3×).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per order, not per rupee: ₹5.8 per C2M order.</a:t>
            </a:r>
            <a:endParaRPr lang="en-US" sz="750" dirty="0"/>
          </a:p>
        </p:txBody>
      </p:sp>
      <p:sp>
        <p:nvSpPr>
          <p:cNvPr id="53" name="Shape 46"/>
          <p:cNvSpPr/>
          <p:nvPr/>
        </p:nvSpPr>
        <p:spPr>
          <a:xfrm>
            <a:off x="548640" y="4751222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 txBox="1"/>
          <p:nvPr/>
        </p:nvSpPr>
        <p:spPr>
          <a:xfrm>
            <a:off x="612648" y="4751222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(all registered in Appendix B)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548640" y="4998110"/>
            <a:ext cx="11411712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9"/>
          <p:cNvSpPr/>
          <p:nvPr/>
        </p:nvSpPr>
        <p:spPr>
          <a:xfrm>
            <a:off x="612648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658368" y="5089550"/>
            <a:ext cx="310896" cy="310896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3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765" y="5157948"/>
            <a:ext cx="174102" cy="174102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1014984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900" dirty="0"/>
          </a:p>
        </p:txBody>
      </p:sp>
      <p:sp>
        <p:nvSpPr>
          <p:cNvPr id="60" name="Text 52"/>
          <p:cNvSpPr txBox="1"/>
          <p:nvPr/>
        </p:nvSpPr>
        <p:spPr>
          <a:xfrm>
            <a:off x="676656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cost ₹80 a pack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9% on price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18% a year</a:t>
            </a:r>
            <a:endParaRPr lang="en-US" sz="750" dirty="0"/>
          </a:p>
        </p:txBody>
      </p:sp>
      <p:sp>
        <p:nvSpPr>
          <p:cNvPr id="61" name="Shape 53"/>
          <p:cNvSpPr/>
          <p:nvPr/>
        </p:nvSpPr>
        <p:spPr>
          <a:xfrm>
            <a:off x="2880360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4"/>
          <p:cNvSpPr/>
          <p:nvPr/>
        </p:nvSpPr>
        <p:spPr>
          <a:xfrm>
            <a:off x="2926080" y="5089550"/>
            <a:ext cx="310896" cy="310896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4" descr="/Users/prathmeshwalimbe/Downloads/Meesho/02_round2_detailed_submission/deck/source/assets/icons/FaMagnifyingGlassCha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4477" y="5157948"/>
            <a:ext cx="174102" cy="174102"/>
          </a:xfrm>
          <a:prstGeom prst="rect">
            <a:avLst/>
          </a:prstGeom>
        </p:spPr>
      </p:pic>
      <p:sp>
        <p:nvSpPr>
          <p:cNvPr id="64" name="Text 55"/>
          <p:cNvSpPr txBox="1"/>
          <p:nvPr/>
        </p:nvSpPr>
        <p:spPr>
          <a:xfrm>
            <a:off x="3282696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2944368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median ₹209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−8% = ₹192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₹10 off</a:t>
            </a:r>
            <a:endParaRPr lang="en-US" sz="750" dirty="0"/>
          </a:p>
        </p:txBody>
      </p:sp>
      <p:sp>
        <p:nvSpPr>
          <p:cNvPr id="66" name="Shape 57"/>
          <p:cNvSpPr/>
          <p:nvPr/>
        </p:nvSpPr>
        <p:spPr>
          <a:xfrm>
            <a:off x="5148072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8"/>
          <p:cNvSpPr/>
          <p:nvPr/>
        </p:nvSpPr>
        <p:spPr>
          <a:xfrm>
            <a:off x="5193792" y="5089550"/>
            <a:ext cx="310896" cy="310896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8" name="Image 5" descr="/Users/prathmeshwalimbe/Downloads/Meesho/02_round2_detailed_submission/deck/source/assets/icons/FaTruckFas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2189" y="5157948"/>
            <a:ext cx="174102" cy="174102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5550408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900" dirty="0"/>
          </a:p>
        </p:txBody>
      </p:sp>
      <p:sp>
        <p:nvSpPr>
          <p:cNvPr id="70" name="Text 60"/>
          <p:cNvSpPr txBox="1"/>
          <p:nvPr/>
        </p:nvSpPr>
        <p:spPr>
          <a:xfrm>
            <a:off x="5212080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₹55 self / ₹42 node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₹10 · node fee ₹20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 +15%</a:t>
            </a:r>
            <a:endParaRPr lang="en-US" sz="750" dirty="0"/>
          </a:p>
        </p:txBody>
      </p:sp>
      <p:sp>
        <p:nvSpPr>
          <p:cNvPr id="71" name="Shape 61"/>
          <p:cNvSpPr/>
          <p:nvPr/>
        </p:nvSpPr>
        <p:spPr>
          <a:xfrm>
            <a:off x="7415784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2"/>
          <p:cNvSpPr/>
          <p:nvPr/>
        </p:nvSpPr>
        <p:spPr>
          <a:xfrm>
            <a:off x="7461504" y="5089550"/>
            <a:ext cx="310896" cy="310896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6" descr="/Users/prathmeshwalimbe/Downloads/Meesho/02_round2_detailed_submission/deck/source/assets/icons/FaRotateLef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9901" y="5157948"/>
            <a:ext cx="174102" cy="174102"/>
          </a:xfrm>
          <a:prstGeom prst="rect">
            <a:avLst/>
          </a:prstGeom>
        </p:spPr>
      </p:pic>
      <p:sp>
        <p:nvSpPr>
          <p:cNvPr id="74" name="Text 63"/>
          <p:cNvSpPr txBox="1"/>
          <p:nvPr/>
        </p:nvSpPr>
        <p:spPr>
          <a:xfrm>
            <a:off x="7818120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7479792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14% (4.6% prepaid)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8% of delivered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 return fee · ₹0 RTO fee</a:t>
            </a:r>
            <a:endParaRPr lang="en-US" sz="750" dirty="0"/>
          </a:p>
        </p:txBody>
      </p:sp>
      <p:sp>
        <p:nvSpPr>
          <p:cNvPr id="76" name="Shape 65"/>
          <p:cNvSpPr/>
          <p:nvPr/>
        </p:nvSpPr>
        <p:spPr>
          <a:xfrm>
            <a:off x="9683496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66"/>
          <p:cNvSpPr/>
          <p:nvPr/>
        </p:nvSpPr>
        <p:spPr>
          <a:xfrm>
            <a:off x="9729216" y="5089550"/>
            <a:ext cx="310896" cy="310896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8" name="Image 7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7613" y="5157948"/>
            <a:ext cx="174102" cy="174102"/>
          </a:xfrm>
          <a:prstGeom prst="rect">
            <a:avLst/>
          </a:prstGeom>
        </p:spPr>
      </p:pic>
      <p:sp>
        <p:nvSpPr>
          <p:cNvPr id="79" name="Text 67"/>
          <p:cNvSpPr txBox="1"/>
          <p:nvPr/>
        </p:nvSpPr>
        <p:spPr>
          <a:xfrm>
            <a:off x="10085832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00" dirty="0"/>
          </a:p>
        </p:txBody>
      </p:sp>
      <p:sp>
        <p:nvSpPr>
          <p:cNvPr id="80" name="Text 68"/>
          <p:cNvSpPr txBox="1"/>
          <p:nvPr/>
        </p:nvSpPr>
        <p:spPr>
          <a:xfrm>
            <a:off x="9747504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10% vs 2%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Salvage 50% · recovery 85%/90%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vs 10 inventory days</a:t>
            </a:r>
            <a:endParaRPr lang="en-US" sz="750" dirty="0"/>
          </a:p>
        </p:txBody>
      </p:sp>
      <p:pic>
        <p:nvPicPr>
          <p:cNvPr id="81" name="Graphic 81" descr="Unit econom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50100" y="1085850"/>
            <a:ext cx="165100" cy="165100"/>
          </a:xfrm>
          <a:prstGeom prst="rect">
            <a:avLst/>
          </a:prstGeom>
        </p:spPr>
      </p:pic>
      <p:pic>
        <p:nvPicPr>
          <p:cNvPr id="82" name="Graphic 82" descr="Prepaid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83" name="Graphic 83" descr="Where the money g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60200" y="3257550"/>
            <a:ext cx="165100" cy="165100"/>
          </a:xfrm>
          <a:prstGeom prst="rect">
            <a:avLst/>
          </a:prstGeom>
        </p:spPr>
      </p:pic>
      <p:pic>
        <p:nvPicPr>
          <p:cNvPr id="84" name="Graphic 84" descr="Assump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60200" y="4781550"/>
            <a:ext cx="165100" cy="165100"/>
          </a:xfrm>
          <a:prstGeom prst="rect">
            <a:avLst/>
          </a:prstGeom>
        </p:spPr>
      </p:pic>
      <p:pic>
        <p:nvPicPr>
          <p:cNvPr id="85" name="Graphic 85" descr="Reseller toda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95600" y="1422400"/>
            <a:ext cx="127000" cy="127000"/>
          </a:xfrm>
          <a:prstGeom prst="rect">
            <a:avLst/>
          </a:prstGeom>
        </p:spPr>
      </p:pic>
      <p:pic>
        <p:nvPicPr>
          <p:cNvPr id="86" name="Graphic 86" descr="Factory lists dire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00500" y="1422400"/>
            <a:ext cx="127000" cy="127000"/>
          </a:xfrm>
          <a:prstGeom prst="rect">
            <a:avLst/>
          </a:prstGeom>
        </p:spPr>
      </p:pic>
      <p:pic>
        <p:nvPicPr>
          <p:cNvPr id="87" name="Graphic 87" descr="Factory No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05400" y="1422400"/>
            <a:ext cx="127000" cy="127000"/>
          </a:xfrm>
          <a:prstGeom prst="rect">
            <a:avLst/>
          </a:prstGeom>
        </p:spPr>
      </p:pic>
      <p:pic>
        <p:nvPicPr>
          <p:cNvPr id="88" name="Graphic 88" descr="Prepaid pre-order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03950" y="1422400"/>
            <a:ext cx="127000" cy="127000"/>
          </a:xfrm>
          <a:prstGeom prst="rect">
            <a:avLst/>
          </a:prstGeom>
        </p:spPr>
      </p:pic>
      <p:pic>
        <p:nvPicPr>
          <p:cNvPr id="89" name="Graphic 89" descr="Scenar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5000" y="1723390"/>
            <a:ext cx="101600" cy="101600"/>
          </a:xfrm>
          <a:prstGeom prst="rect">
            <a:avLst/>
          </a:prstGeom>
        </p:spPr>
      </p:pic>
      <p:pic>
        <p:nvPicPr>
          <p:cNvPr id="90" name="Graphic 90" descr="Failed deliver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5000" y="1940560"/>
            <a:ext cx="101600" cy="101600"/>
          </a:xfrm>
          <a:prstGeom prst="rect">
            <a:avLst/>
          </a:prstGeom>
        </p:spPr>
      </p:pic>
      <p:pic>
        <p:nvPicPr>
          <p:cNvPr id="91" name="Graphic 91" descr="Deliver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5000" y="2117090"/>
            <a:ext cx="101600" cy="101600"/>
          </a:xfrm>
          <a:prstGeom prst="rect">
            <a:avLst/>
          </a:prstGeom>
        </p:spPr>
      </p:pic>
      <p:pic>
        <p:nvPicPr>
          <p:cNvPr id="92" name="Graphic 92" descr="Return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5000" y="2292350"/>
            <a:ext cx="101600" cy="101600"/>
          </a:xfrm>
          <a:prstGeom prst="rect">
            <a:avLst/>
          </a:prstGeom>
        </p:spPr>
      </p:pic>
      <p:pic>
        <p:nvPicPr>
          <p:cNvPr id="93" name="Graphic 93" descr="Kep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5000" y="2468880"/>
            <a:ext cx="101600" cy="101600"/>
          </a:xfrm>
          <a:prstGeom prst="rect">
            <a:avLst/>
          </a:prstGeom>
        </p:spPr>
      </p:pic>
      <p:pic>
        <p:nvPicPr>
          <p:cNvPr id="94" name="Graphic 94" descr="Good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5000" y="2645410"/>
            <a:ext cx="101600" cy="101600"/>
          </a:xfrm>
          <a:prstGeom prst="rect">
            <a:avLst/>
          </a:prstGeom>
        </p:spPr>
      </p:pic>
      <p:pic>
        <p:nvPicPr>
          <p:cNvPr id="95" name="Graphic 95" descr="Unsold 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35000" y="2834640"/>
            <a:ext cx="101600" cy="101600"/>
          </a:xfrm>
          <a:prstGeom prst="rect">
            <a:avLst/>
          </a:prstGeom>
        </p:spPr>
      </p:pic>
      <p:pic>
        <p:nvPicPr>
          <p:cNvPr id="96" name="Graphic 96" descr="Logist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5000" y="3017520"/>
            <a:ext cx="101600" cy="101600"/>
          </a:xfrm>
          <a:prstGeom prst="rect">
            <a:avLst/>
          </a:prstGeom>
        </p:spPr>
      </p:pic>
      <p:pic>
        <p:nvPicPr>
          <p:cNvPr id="97" name="Graphic 97" descr="Customer-return fe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5000" y="3200400"/>
            <a:ext cx="101600" cy="101600"/>
          </a:xfrm>
          <a:prstGeom prst="rect">
            <a:avLst/>
          </a:prstGeom>
        </p:spPr>
      </p:pic>
      <p:pic>
        <p:nvPicPr>
          <p:cNvPr id="98" name="Graphic 98" descr="Working capit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5000" y="3383280"/>
            <a:ext cx="101600" cy="101600"/>
          </a:xfrm>
          <a:prstGeom prst="rect">
            <a:avLst/>
          </a:prstGeom>
        </p:spPr>
      </p:pic>
      <p:pic>
        <p:nvPicPr>
          <p:cNvPr id="99" name="Graphic 99" descr="Cost per pack kep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35000" y="3572510"/>
            <a:ext cx="101600" cy="101600"/>
          </a:xfrm>
          <a:prstGeom prst="rect">
            <a:avLst/>
          </a:prstGeom>
        </p:spPr>
      </p:pic>
      <p:pic>
        <p:nvPicPr>
          <p:cNvPr id="100" name="Graphic 100" descr="Lowest viable 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35000" y="3789680"/>
            <a:ext cx="101600" cy="101600"/>
          </a:xfrm>
          <a:prstGeom prst="rect">
            <a:avLst/>
          </a:prstGeom>
        </p:spPr>
      </p:pic>
      <p:pic>
        <p:nvPicPr>
          <p:cNvPr id="101" name="Graphic 101" descr="Gap vs media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35000" y="4006850"/>
            <a:ext cx="101600" cy="101600"/>
          </a:xfrm>
          <a:prstGeom prst="rect">
            <a:avLst/>
          </a:prstGeom>
        </p:spPr>
      </p:pic>
      <p:pic>
        <p:nvPicPr>
          <p:cNvPr id="102" name="Graphic 102" descr="Clears the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35000" y="4196080"/>
            <a:ext cx="101600" cy="101600"/>
          </a:xfrm>
          <a:prstGeom prst="rect">
            <a:avLst/>
          </a:prstGeom>
        </p:spPr>
      </p:pic>
      <p:pic>
        <p:nvPicPr>
          <p:cNvPr id="103" name="Graphic 103" descr="Highest making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22300" y="4432300"/>
            <a:ext cx="127000" cy="127000"/>
          </a:xfrm>
          <a:prstGeom prst="rect">
            <a:avLst/>
          </a:prstGeom>
        </p:spPr>
      </p:pic>
      <p:pic>
        <p:nvPicPr>
          <p:cNvPr id="104" name="Graphic 104" descr="Pre-order windo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531100" y="1581150"/>
            <a:ext cx="101600" cy="101600"/>
          </a:xfrm>
          <a:prstGeom prst="rect">
            <a:avLst/>
          </a:prstGeom>
        </p:spPr>
      </p:pic>
      <p:pic>
        <p:nvPicPr>
          <p:cNvPr id="105" name="Graphic 105" descr="Hando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531100" y="1798320"/>
            <a:ext cx="101600" cy="101600"/>
          </a:xfrm>
          <a:prstGeom prst="rect">
            <a:avLst/>
          </a:prstGeom>
        </p:spPr>
      </p:pic>
      <p:pic>
        <p:nvPicPr>
          <p:cNvPr id="106" name="Graphic 106" descr="Deliv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531100" y="2021840"/>
            <a:ext cx="101600" cy="101600"/>
          </a:xfrm>
          <a:prstGeom prst="rect">
            <a:avLst/>
          </a:prstGeom>
        </p:spPr>
      </p:pic>
      <p:pic>
        <p:nvPicPr>
          <p:cNvPr id="107" name="Graphic 107" descr="Reven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531100" y="2239010"/>
            <a:ext cx="101600" cy="101600"/>
          </a:xfrm>
          <a:prstGeom prst="rect">
            <a:avLst/>
          </a:prstGeom>
        </p:spPr>
      </p:pic>
      <p:pic>
        <p:nvPicPr>
          <p:cNvPr id="108" name="Graphic 108" descr="Fe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531100" y="2468880"/>
            <a:ext cx="101600" cy="101600"/>
          </a:xfrm>
          <a:prstGeom prst="rect">
            <a:avLst/>
          </a:prstGeom>
        </p:spPr>
      </p:pic>
      <p:pic>
        <p:nvPicPr>
          <p:cNvPr id="109" name="Graphic 109" descr="Payou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531100" y="2686050"/>
            <a:ext cx="101600" cy="101600"/>
          </a:xfrm>
          <a:prstGeom prst="rect">
            <a:avLst/>
          </a:prstGeom>
        </p:spPr>
      </p:pic>
      <p:pic>
        <p:nvPicPr>
          <p:cNvPr id="110" name="Graphic 110" descr="Balance to fac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531100" y="2901950"/>
            <a:ext cx="101600" cy="101600"/>
          </a:xfrm>
          <a:prstGeom prst="rect">
            <a:avLst/>
          </a:prstGeom>
        </p:spPr>
      </p:pic>
      <p:pic>
        <p:nvPicPr>
          <p:cNvPr id="111" name="Graphic 111" descr="Buyer sha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594600" y="3835400"/>
            <a:ext cx="177800" cy="177800"/>
          </a:xfrm>
          <a:prstGeom prst="rect">
            <a:avLst/>
          </a:prstGeom>
        </p:spPr>
      </p:pic>
      <p:pic>
        <p:nvPicPr>
          <p:cNvPr id="112" name="Graphic 112" descr="Factory sha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85400" y="3835400"/>
            <a:ext cx="177800" cy="177800"/>
          </a:xfrm>
          <a:prstGeom prst="rect">
            <a:avLst/>
          </a:prstGeom>
        </p:spPr>
      </p:pic>
      <p:pic>
        <p:nvPicPr>
          <p:cNvPr id="113" name="Graphic 113" descr="Buy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531100" y="4146550"/>
            <a:ext cx="114300" cy="114300"/>
          </a:xfrm>
          <a:prstGeom prst="rect">
            <a:avLst/>
          </a:prstGeom>
        </p:spPr>
      </p:pic>
      <p:pic>
        <p:nvPicPr>
          <p:cNvPr id="114" name="Graphic 114" descr="Fac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531100" y="4273550"/>
            <a:ext cx="114300" cy="114300"/>
          </a:xfrm>
          <a:prstGeom prst="rect">
            <a:avLst/>
          </a:prstGeom>
        </p:spPr>
      </p:pic>
      <p:pic>
        <p:nvPicPr>
          <p:cNvPr id="115" name="Graphic 115" descr="Meesh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531100" y="4400550"/>
            <a:ext cx="114300" cy="114300"/>
          </a:xfrm>
          <a:prstGeom prst="rect">
            <a:avLst/>
          </a:prstGeom>
        </p:spPr>
      </p:pic>
      <p:pic>
        <p:nvPicPr>
          <p:cNvPr id="116" name="Graphic 116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33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 cr NPV at 12% and payback in Year 3; NPV stays positive down to 45% of planned seller yield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approve ₹22.2 cr of Year-1 cash as a capped H2 bet, released at the Day-30 and Day-90 gates. Owner: Finance · KPI: Year-1 C2M NMV ≥ ₹140 cr.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(₹531 cr contribution on 725 mn placed orders; prepaid 37%; NMV ₹11,614 cr on GMV ₹19,054 cr), S3, S11, S13   |   NPV: t = 1..5, year-end, no terminal value; year NMV on average active sellers, ladder at exit run-rates   |   Assumptions: A3, A4, A8, A11-A21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600248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587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case (₹ cr, nominal; NPV = sum of the PV row)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6002487" cy="3056839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4405855" cy="2926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4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active 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NMV, year average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Placed orders (mn)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orders × ₹7.3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failed deliveries × ₹60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 to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onboarding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Nodes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pool, grants, first-loss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flow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factor at 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at 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9" name="Shape 33"/>
          <p:cNvSpPr/>
          <p:nvPr/>
        </p:nvSpPr>
        <p:spPr>
          <a:xfrm>
            <a:off x="5091654" y="1344168"/>
            <a:ext cx="1395466" cy="2965399"/>
          </a:xfrm>
          <a:prstGeom prst="roundRect">
            <a:avLst>
              <a:gd name="adj" fmla="val 3276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5155662" y="1389888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at 12%</a:t>
            </a:r>
            <a:endParaRPr lang="en-US" sz="750" dirty="0"/>
          </a:p>
        </p:txBody>
      </p:sp>
      <p:sp>
        <p:nvSpPr>
          <p:cNvPr id="41" name="Text 35"/>
          <p:cNvSpPr txBox="1"/>
          <p:nvPr/>
        </p:nvSpPr>
        <p:spPr>
          <a:xfrm>
            <a:off x="5155662" y="1527048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A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₹74.9 cr</a:t>
            </a:r>
            <a:endParaRPr lang="en-US" sz="1700" dirty="0"/>
          </a:p>
        </p:txBody>
      </p:sp>
      <p:sp>
        <p:nvSpPr>
          <p:cNvPr id="42" name="Text 36"/>
          <p:cNvSpPr txBox="1"/>
          <p:nvPr/>
        </p:nvSpPr>
        <p:spPr>
          <a:xfrm>
            <a:off x="5155662" y="1868881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at 15%</a:t>
            </a:r>
            <a:endParaRPr lang="en-US" sz="750" dirty="0"/>
          </a:p>
        </p:txBody>
      </p:sp>
      <p:sp>
        <p:nvSpPr>
          <p:cNvPr id="43" name="Text 37"/>
          <p:cNvSpPr txBox="1"/>
          <p:nvPr/>
        </p:nvSpPr>
        <p:spPr>
          <a:xfrm>
            <a:off x="5155662" y="2006041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₹66.1 cr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5155662" y="2347874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750" dirty="0"/>
          </a:p>
        </p:txBody>
      </p:sp>
      <p:sp>
        <p:nvSpPr>
          <p:cNvPr id="45" name="Text 39"/>
          <p:cNvSpPr txBox="1"/>
          <p:nvPr/>
        </p:nvSpPr>
        <p:spPr>
          <a:xfrm>
            <a:off x="5155662" y="2485034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105%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5155662" y="2826868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750" dirty="0"/>
          </a:p>
        </p:txBody>
      </p:sp>
      <p:sp>
        <p:nvSpPr>
          <p:cNvPr id="47" name="Text 41"/>
          <p:cNvSpPr txBox="1"/>
          <p:nvPr/>
        </p:nvSpPr>
        <p:spPr>
          <a:xfrm>
            <a:off x="5155662" y="2964028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5155662" y="3305861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payback</a:t>
            </a:r>
            <a:endParaRPr lang="en-US" sz="750" dirty="0"/>
          </a:p>
        </p:txBody>
      </p:sp>
      <p:sp>
        <p:nvSpPr>
          <p:cNvPr id="49" name="Text 43"/>
          <p:cNvSpPr txBox="1"/>
          <p:nvPr/>
        </p:nvSpPr>
        <p:spPr>
          <a:xfrm>
            <a:off x="5155662" y="3443021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5155662" y="3784854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cash (+ people)</a:t>
            </a:r>
            <a:endParaRPr lang="en-US" sz="750" dirty="0"/>
          </a:p>
        </p:txBody>
      </p:sp>
      <p:sp>
        <p:nvSpPr>
          <p:cNvPr id="51" name="Text 45"/>
          <p:cNvSpPr txBox="1"/>
          <p:nvPr/>
        </p:nvSpPr>
        <p:spPr>
          <a:xfrm>
            <a:off x="5155662" y="3922014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₹22.2 cr (+₹3.6 cr)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6642567" y="1051560"/>
            <a:ext cx="531778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 txBox="1"/>
          <p:nvPr/>
        </p:nvSpPr>
        <p:spPr>
          <a:xfrm>
            <a:off x="6706575" y="1051560"/>
            <a:ext cx="5189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what each phase is worth (exit run-rates)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6642567" y="1298448"/>
            <a:ext cx="5317785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5" name="Table 1"/>
          <p:cNvGraphicFramePr>
            <a:graphicFrameLocks noGrp="1"/>
          </p:cNvGraphicFramePr>
          <p:nvPr/>
        </p:nvGraphicFramePr>
        <p:xfrm>
          <a:off x="6706575" y="1344168"/>
          <a:ext cx="5189769" cy="1221636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· Day 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exit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 exit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 · nodes · active 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1 · 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6 · 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· 12 · 1,400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Run-rate NMV (× ₹1.425 cr per seller)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₹85.5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₹641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₹1,995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FY26 NMV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orders a day (share of Meesho’s)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 (0.2%)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1,13,000 (1.4%)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3,52,000 (4.4%)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savings a year (8-12% gap)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₹7.4 </a:t>
                      </a:r>
                      <a:r>
                        <a:rPr lang="en-US" sz="750" b="1" dirty="0" err="1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-₹11.7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₹55.8 </a:t>
                      </a:r>
                      <a:r>
                        <a:rPr lang="en-US" sz="750" b="1" dirty="0" err="1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-₹87.4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₹173 </a:t>
                      </a:r>
                      <a:r>
                        <a:rPr lang="en-US" sz="750" b="1" dirty="0" err="1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-₹272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value a year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₹3.2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₹23.8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₹74.0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" name="Shape 49"/>
          <p:cNvSpPr/>
          <p:nvPr/>
        </p:nvSpPr>
        <p:spPr>
          <a:xfrm>
            <a:off x="6642567" y="2721254"/>
            <a:ext cx="25903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 txBox="1"/>
          <p:nvPr/>
        </p:nvSpPr>
        <p:spPr>
          <a:xfrm>
            <a:off x="6706575" y="2721254"/>
            <a:ext cx="2462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vs programme cost (₹ cr, nominal)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6642567" y="2968142"/>
            <a:ext cx="2590312" cy="138714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9" name="Chart 0"/>
          <p:cNvGraphicFramePr/>
          <p:nvPr/>
        </p:nvGraphicFramePr>
        <p:xfrm>
          <a:off x="6669999" y="2977286"/>
          <a:ext cx="2535448" cy="1350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0" name="Shape 52"/>
          <p:cNvSpPr/>
          <p:nvPr/>
        </p:nvSpPr>
        <p:spPr>
          <a:xfrm>
            <a:off x="9324320" y="2721254"/>
            <a:ext cx="2636032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3"/>
          <p:cNvSpPr txBox="1"/>
          <p:nvPr/>
        </p:nvSpPr>
        <p:spPr>
          <a:xfrm>
            <a:off x="9388328" y="2721254"/>
            <a:ext cx="250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NPV at −20% / +20%</a:t>
            </a:r>
            <a:endParaRPr lang="en-US" sz="950" dirty="0"/>
          </a:p>
        </p:txBody>
      </p:sp>
      <p:sp>
        <p:nvSpPr>
          <p:cNvPr id="62" name="Shape 54"/>
          <p:cNvSpPr/>
          <p:nvPr/>
        </p:nvSpPr>
        <p:spPr>
          <a:xfrm>
            <a:off x="9324320" y="2968142"/>
            <a:ext cx="2636032" cy="138714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5"/>
          <p:cNvSpPr/>
          <p:nvPr/>
        </p:nvSpPr>
        <p:spPr>
          <a:xfrm>
            <a:off x="11099536" y="3013862"/>
            <a:ext cx="0" cy="1094537"/>
          </a:xfrm>
          <a:prstGeom prst="line">
            <a:avLst/>
          </a:prstGeom>
          <a:noFill/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6"/>
          <p:cNvSpPr txBox="1"/>
          <p:nvPr/>
        </p:nvSpPr>
        <p:spPr>
          <a:xfrm>
            <a:off x="9388328" y="3013862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yield</a:t>
            </a:r>
            <a:endParaRPr lang="en-US" sz="700" dirty="0"/>
          </a:p>
        </p:txBody>
      </p:sp>
      <p:sp>
        <p:nvSpPr>
          <p:cNvPr id="65" name="Shape 57"/>
          <p:cNvSpPr/>
          <p:nvPr/>
        </p:nvSpPr>
        <p:spPr>
          <a:xfrm>
            <a:off x="10549616" y="3062022"/>
            <a:ext cx="549920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8"/>
          <p:cNvSpPr/>
          <p:nvPr/>
        </p:nvSpPr>
        <p:spPr>
          <a:xfrm>
            <a:off x="11099536" y="3062022"/>
            <a:ext cx="549920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 txBox="1"/>
          <p:nvPr/>
        </p:nvSpPr>
        <p:spPr>
          <a:xfrm>
            <a:off x="10330160" y="301386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650" dirty="0"/>
          </a:p>
        </p:txBody>
      </p:sp>
      <p:sp>
        <p:nvSpPr>
          <p:cNvPr id="68" name="Text 60"/>
          <p:cNvSpPr txBox="1"/>
          <p:nvPr/>
        </p:nvSpPr>
        <p:spPr>
          <a:xfrm>
            <a:off x="11667744" y="301386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650" dirty="0"/>
          </a:p>
        </p:txBody>
      </p:sp>
      <p:sp>
        <p:nvSpPr>
          <p:cNvPr id="69" name="Text 61"/>
          <p:cNvSpPr txBox="1"/>
          <p:nvPr/>
        </p:nvSpPr>
        <p:spPr>
          <a:xfrm>
            <a:off x="9388328" y="3232770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orders</a:t>
            </a:r>
            <a:endParaRPr lang="en-US" sz="700" dirty="0"/>
          </a:p>
        </p:txBody>
      </p:sp>
      <p:sp>
        <p:nvSpPr>
          <p:cNvPr id="70" name="Shape 62"/>
          <p:cNvSpPr/>
          <p:nvPr/>
        </p:nvSpPr>
        <p:spPr>
          <a:xfrm>
            <a:off x="10800147" y="3280929"/>
            <a:ext cx="299389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3"/>
          <p:cNvSpPr/>
          <p:nvPr/>
        </p:nvSpPr>
        <p:spPr>
          <a:xfrm>
            <a:off x="11099536" y="3280929"/>
            <a:ext cx="299389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4"/>
          <p:cNvSpPr txBox="1"/>
          <p:nvPr/>
        </p:nvSpPr>
        <p:spPr>
          <a:xfrm>
            <a:off x="10580691" y="3232770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650" dirty="0"/>
          </a:p>
        </p:txBody>
      </p:sp>
      <p:sp>
        <p:nvSpPr>
          <p:cNvPr id="73" name="Text 65"/>
          <p:cNvSpPr txBox="1"/>
          <p:nvPr/>
        </p:nvSpPr>
        <p:spPr>
          <a:xfrm>
            <a:off x="11417212" y="3232770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650" dirty="0"/>
          </a:p>
        </p:txBody>
      </p:sp>
      <p:sp>
        <p:nvSpPr>
          <p:cNvPr id="74" name="Text 66"/>
          <p:cNvSpPr txBox="1"/>
          <p:nvPr/>
        </p:nvSpPr>
        <p:spPr>
          <a:xfrm>
            <a:off x="9388328" y="3451677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Failed-delivery saving</a:t>
            </a:r>
            <a:endParaRPr lang="en-US" sz="700" dirty="0"/>
          </a:p>
        </p:txBody>
      </p:sp>
      <p:sp>
        <p:nvSpPr>
          <p:cNvPr id="75" name="Shape 67"/>
          <p:cNvSpPr/>
          <p:nvPr/>
        </p:nvSpPr>
        <p:spPr>
          <a:xfrm>
            <a:off x="10809820" y="3499837"/>
            <a:ext cx="289716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68"/>
          <p:cNvSpPr/>
          <p:nvPr/>
        </p:nvSpPr>
        <p:spPr>
          <a:xfrm>
            <a:off x="11099536" y="3499837"/>
            <a:ext cx="289716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9"/>
          <p:cNvSpPr txBox="1"/>
          <p:nvPr/>
        </p:nvSpPr>
        <p:spPr>
          <a:xfrm>
            <a:off x="10590364" y="3451677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650" dirty="0"/>
          </a:p>
        </p:txBody>
      </p:sp>
      <p:sp>
        <p:nvSpPr>
          <p:cNvPr id="78" name="Text 70"/>
          <p:cNvSpPr txBox="1"/>
          <p:nvPr/>
        </p:nvSpPr>
        <p:spPr>
          <a:xfrm>
            <a:off x="11407539" y="3451677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650" dirty="0"/>
          </a:p>
        </p:txBody>
      </p:sp>
      <p:sp>
        <p:nvSpPr>
          <p:cNvPr id="79" name="Text 71"/>
          <p:cNvSpPr txBox="1"/>
          <p:nvPr/>
        </p:nvSpPr>
        <p:spPr>
          <a:xfrm>
            <a:off x="9388328" y="3670584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cost</a:t>
            </a:r>
            <a:endParaRPr lang="en-US" sz="700" dirty="0"/>
          </a:p>
        </p:txBody>
      </p:sp>
      <p:sp>
        <p:nvSpPr>
          <p:cNvPr id="80" name="Shape 72"/>
          <p:cNvSpPr/>
          <p:nvPr/>
        </p:nvSpPr>
        <p:spPr>
          <a:xfrm>
            <a:off x="10813105" y="3718744"/>
            <a:ext cx="286430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3"/>
          <p:cNvSpPr/>
          <p:nvPr/>
        </p:nvSpPr>
        <p:spPr>
          <a:xfrm>
            <a:off x="11099536" y="3718744"/>
            <a:ext cx="286430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4"/>
          <p:cNvSpPr txBox="1"/>
          <p:nvPr/>
        </p:nvSpPr>
        <p:spPr>
          <a:xfrm>
            <a:off x="10593649" y="3670584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650" dirty="0"/>
          </a:p>
        </p:txBody>
      </p:sp>
      <p:sp>
        <p:nvSpPr>
          <p:cNvPr id="83" name="Text 75"/>
          <p:cNvSpPr txBox="1"/>
          <p:nvPr/>
        </p:nvSpPr>
        <p:spPr>
          <a:xfrm>
            <a:off x="11404254" y="3670584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650" dirty="0"/>
          </a:p>
        </p:txBody>
      </p:sp>
      <p:sp>
        <p:nvSpPr>
          <p:cNvPr id="84" name="Text 76"/>
          <p:cNvSpPr txBox="1"/>
          <p:nvPr/>
        </p:nvSpPr>
        <p:spPr>
          <a:xfrm>
            <a:off x="9388328" y="3889492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pre-order share</a:t>
            </a:r>
            <a:endParaRPr lang="en-US" sz="700" dirty="0"/>
          </a:p>
        </p:txBody>
      </p:sp>
      <p:sp>
        <p:nvSpPr>
          <p:cNvPr id="85" name="Shape 77"/>
          <p:cNvSpPr/>
          <p:nvPr/>
        </p:nvSpPr>
        <p:spPr>
          <a:xfrm>
            <a:off x="10872404" y="3937651"/>
            <a:ext cx="227132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78"/>
          <p:cNvSpPr/>
          <p:nvPr/>
        </p:nvSpPr>
        <p:spPr>
          <a:xfrm>
            <a:off x="11099536" y="3937651"/>
            <a:ext cx="220013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9"/>
          <p:cNvSpPr txBox="1"/>
          <p:nvPr/>
        </p:nvSpPr>
        <p:spPr>
          <a:xfrm>
            <a:off x="10652948" y="388949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650" dirty="0"/>
          </a:p>
        </p:txBody>
      </p:sp>
      <p:sp>
        <p:nvSpPr>
          <p:cNvPr id="88" name="Text 80"/>
          <p:cNvSpPr txBox="1"/>
          <p:nvPr/>
        </p:nvSpPr>
        <p:spPr>
          <a:xfrm>
            <a:off x="11337837" y="388949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650" dirty="0"/>
          </a:p>
        </p:txBody>
      </p:sp>
      <p:sp>
        <p:nvSpPr>
          <p:cNvPr id="89" name="Text 81"/>
          <p:cNvSpPr txBox="1"/>
          <p:nvPr/>
        </p:nvSpPr>
        <p:spPr>
          <a:xfrm>
            <a:off x="9388328" y="4126687"/>
            <a:ext cx="250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₹75 cr; left = worse</a:t>
            </a:r>
            <a:endParaRPr lang="en-US" sz="700" dirty="0"/>
          </a:p>
        </p:txBody>
      </p:sp>
      <p:sp>
        <p:nvSpPr>
          <p:cNvPr id="90" name="Shape 82"/>
          <p:cNvSpPr/>
          <p:nvPr/>
        </p:nvSpPr>
        <p:spPr>
          <a:xfrm>
            <a:off x="548640" y="4446727"/>
            <a:ext cx="6002487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3"/>
          <p:cNvSpPr txBox="1"/>
          <p:nvPr/>
        </p:nvSpPr>
        <p:spPr>
          <a:xfrm>
            <a:off x="612648" y="4446727"/>
            <a:ext cx="587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and scenarios</a:t>
            </a:r>
            <a:endParaRPr lang="en-US" sz="950" dirty="0"/>
          </a:p>
        </p:txBody>
      </p:sp>
      <p:sp>
        <p:nvSpPr>
          <p:cNvPr id="92" name="Shape 84"/>
          <p:cNvSpPr/>
          <p:nvPr/>
        </p:nvSpPr>
        <p:spPr>
          <a:xfrm>
            <a:off x="548640" y="4693615"/>
            <a:ext cx="6002487" cy="143286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5"/>
          <p:cNvSpPr txBox="1"/>
          <p:nvPr/>
        </p:nvSpPr>
        <p:spPr>
          <a:xfrm>
            <a:off x="612648" y="4739335"/>
            <a:ext cx="5874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0 at 45% of planned seller yield (49% of planned benefit).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even with zero incremental orders (₹1 cr) or no failed-delivery saving (₹9 cr): each lever alone almost repays the programme.</a:t>
            </a:r>
            <a:endParaRPr lang="en-US" sz="800" dirty="0"/>
          </a:p>
        </p:txBody>
      </p:sp>
      <p:sp>
        <p:nvSpPr>
          <p:cNvPr id="94" name="Shape 86"/>
          <p:cNvSpPr/>
          <p:nvPr/>
        </p:nvSpPr>
        <p:spPr>
          <a:xfrm>
            <a:off x="612648" y="5159959"/>
            <a:ext cx="1909389" cy="920801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7"/>
          <p:cNvSpPr txBox="1"/>
          <p:nvPr/>
        </p:nvSpPr>
        <p:spPr>
          <a:xfrm>
            <a:off x="658368" y="5178247"/>
            <a:ext cx="1817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 </a:t>
            </a: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−₹10 cr</a:t>
            </a:r>
            <a:endParaRPr lang="en-US" sz="900" dirty="0"/>
          </a:p>
        </p:txBody>
      </p:sp>
      <p:sp>
        <p:nvSpPr>
          <p:cNvPr id="96" name="Text 88"/>
          <p:cNvSpPr txBox="1"/>
          <p:nvPr/>
        </p:nvSpPr>
        <p:spPr>
          <a:xfrm>
            <a:off x="658368" y="5452567"/>
            <a:ext cx="181794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incremental · 8-pt gap · 75% yield</a:t>
            </a:r>
            <a:endParaRPr lang="en-US" sz="750" dirty="0"/>
          </a:p>
        </p:txBody>
      </p:sp>
      <p:sp>
        <p:nvSpPr>
          <p:cNvPr id="97" name="Shape 89"/>
          <p:cNvSpPr/>
          <p:nvPr/>
        </p:nvSpPr>
        <p:spPr>
          <a:xfrm>
            <a:off x="2595189" y="5159959"/>
            <a:ext cx="1909389" cy="920801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0"/>
          <p:cNvSpPr txBox="1"/>
          <p:nvPr/>
        </p:nvSpPr>
        <p:spPr>
          <a:xfrm>
            <a:off x="2640909" y="5178247"/>
            <a:ext cx="1817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</a:t>
            </a:r>
            <a:r>
              <a:rPr lang="en-US" sz="13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 cr</a:t>
            </a:r>
            <a:endParaRPr lang="en-US" sz="900" dirty="0"/>
          </a:p>
        </p:txBody>
      </p:sp>
      <p:sp>
        <p:nvSpPr>
          <p:cNvPr id="99" name="Text 91"/>
          <p:cNvSpPr txBox="1"/>
          <p:nvPr/>
        </p:nvSpPr>
        <p:spPr>
          <a:xfrm>
            <a:off x="2640909" y="5452567"/>
            <a:ext cx="181794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incremental · 15-pt gap · plan yield</a:t>
            </a:r>
            <a:endParaRPr lang="en-US" sz="750" dirty="0"/>
          </a:p>
        </p:txBody>
      </p:sp>
      <p:sp>
        <p:nvSpPr>
          <p:cNvPr id="100" name="Shape 92"/>
          <p:cNvSpPr/>
          <p:nvPr/>
        </p:nvSpPr>
        <p:spPr>
          <a:xfrm>
            <a:off x="4577730" y="5159959"/>
            <a:ext cx="1909389" cy="920801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 txBox="1"/>
          <p:nvPr/>
        </p:nvSpPr>
        <p:spPr>
          <a:xfrm>
            <a:off x="4623450" y="5178247"/>
            <a:ext cx="1817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 </a:t>
            </a: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₹140 cr</a:t>
            </a:r>
            <a:endParaRPr lang="en-US" sz="900" dirty="0"/>
          </a:p>
        </p:txBody>
      </p:sp>
      <p:sp>
        <p:nvSpPr>
          <p:cNvPr id="102" name="Text 94"/>
          <p:cNvSpPr txBox="1"/>
          <p:nvPr/>
        </p:nvSpPr>
        <p:spPr>
          <a:xfrm>
            <a:off x="4623450" y="5452567"/>
            <a:ext cx="181794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incremental · 20-pt gap · 110% yield</a:t>
            </a:r>
            <a:endParaRPr lang="en-US" sz="750" dirty="0"/>
          </a:p>
        </p:txBody>
      </p:sp>
      <p:sp>
        <p:nvSpPr>
          <p:cNvPr id="103" name="Shape 95"/>
          <p:cNvSpPr/>
          <p:nvPr/>
        </p:nvSpPr>
        <p:spPr>
          <a:xfrm>
            <a:off x="6642567" y="4446727"/>
            <a:ext cx="531778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96"/>
          <p:cNvSpPr txBox="1"/>
          <p:nvPr/>
        </p:nvSpPr>
        <p:spPr>
          <a:xfrm>
            <a:off x="6706575" y="4446727"/>
            <a:ext cx="5189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Round 1, and how money is released</a:t>
            </a:r>
            <a:endParaRPr lang="en-US" sz="950" dirty="0"/>
          </a:p>
        </p:txBody>
      </p:sp>
      <p:sp>
        <p:nvSpPr>
          <p:cNvPr id="105" name="Shape 97"/>
          <p:cNvSpPr/>
          <p:nvPr/>
        </p:nvSpPr>
        <p:spPr>
          <a:xfrm>
            <a:off x="6642567" y="4693615"/>
            <a:ext cx="5317785" cy="143286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 txBox="1"/>
          <p:nvPr/>
        </p:nvSpPr>
        <p:spPr>
          <a:xfrm>
            <a:off x="6706575" y="4739335"/>
            <a:ext cx="518976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₹156 cr NPV counted contribution on every C2M order.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counts only the 40% that are incremental, plus fewer failed deliveries (₹75 cr); if every order were incremental: ₹186 cr. Value per C2M order = 40% × ₹7.3 + ₹2.8 = ₹5.8.</a:t>
            </a:r>
            <a:endParaRPr lang="en-US" sz="750" dirty="0"/>
          </a:p>
        </p:txBody>
      </p:sp>
      <p:sp>
        <p:nvSpPr>
          <p:cNvPr id="107" name="Shape 99"/>
          <p:cNvSpPr/>
          <p:nvPr/>
        </p:nvSpPr>
        <p:spPr>
          <a:xfrm>
            <a:off x="6706575" y="5306263"/>
            <a:ext cx="731520" cy="218542"/>
          </a:xfrm>
          <a:prstGeom prst="roundRect">
            <a:avLst>
              <a:gd name="adj" fmla="val 2092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0"/>
          <p:cNvSpPr txBox="1"/>
          <p:nvPr/>
        </p:nvSpPr>
        <p:spPr>
          <a:xfrm>
            <a:off x="6734007" y="5306263"/>
            <a:ext cx="676656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0-30</a:t>
            </a:r>
            <a:endParaRPr lang="en-US" sz="750" dirty="0"/>
          </a:p>
        </p:txBody>
      </p:sp>
      <p:sp>
        <p:nvSpPr>
          <p:cNvPr id="109" name="Text 101"/>
          <p:cNvSpPr txBox="1"/>
          <p:nvPr/>
        </p:nvSpPr>
        <p:spPr>
          <a:xfrm>
            <a:off x="7502103" y="5287975"/>
            <a:ext cx="285750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₹0: badge test on existing order data</a:t>
            </a:r>
            <a:endParaRPr lang="en-US" sz="750" dirty="0"/>
          </a:p>
        </p:txBody>
      </p:sp>
      <p:sp>
        <p:nvSpPr>
          <p:cNvPr id="110" name="Shape 102"/>
          <p:cNvSpPr/>
          <p:nvPr/>
        </p:nvSpPr>
        <p:spPr>
          <a:xfrm>
            <a:off x="6706575" y="5570525"/>
            <a:ext cx="731520" cy="218542"/>
          </a:xfrm>
          <a:prstGeom prst="roundRect">
            <a:avLst>
              <a:gd name="adj" fmla="val 20920"/>
            </a:avLst>
          </a:prstGeom>
          <a:solidFill>
            <a:srgbClr val="E39B2B"/>
          </a:solidFill>
          <a:ln w="9525">
            <a:solidFill>
              <a:srgbClr val="E3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3"/>
          <p:cNvSpPr txBox="1"/>
          <p:nvPr/>
        </p:nvSpPr>
        <p:spPr>
          <a:xfrm>
            <a:off x="6734007" y="5570525"/>
            <a:ext cx="676656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31-90</a:t>
            </a:r>
            <a:endParaRPr lang="en-US" sz="750" dirty="0"/>
          </a:p>
        </p:txBody>
      </p:sp>
      <p:sp>
        <p:nvSpPr>
          <p:cNvPr id="112" name="Text 104"/>
          <p:cNvSpPr txBox="1"/>
          <p:nvPr/>
        </p:nvSpPr>
        <p:spPr>
          <a:xfrm>
            <a:off x="7502103" y="5552237"/>
            <a:ext cx="285750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 cr: 2 clusters, Brief build, 1 node, pool seed</a:t>
            </a:r>
            <a:endParaRPr lang="en-US" sz="750" dirty="0"/>
          </a:p>
        </p:txBody>
      </p:sp>
      <p:sp>
        <p:nvSpPr>
          <p:cNvPr id="113" name="Shape 105"/>
          <p:cNvSpPr/>
          <p:nvPr/>
        </p:nvSpPr>
        <p:spPr>
          <a:xfrm>
            <a:off x="6706575" y="5834786"/>
            <a:ext cx="731520" cy="218542"/>
          </a:xfrm>
          <a:prstGeom prst="roundRect">
            <a:avLst>
              <a:gd name="adj" fmla="val 2092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06"/>
          <p:cNvSpPr txBox="1"/>
          <p:nvPr/>
        </p:nvSpPr>
        <p:spPr>
          <a:xfrm>
            <a:off x="6734007" y="5834786"/>
            <a:ext cx="676656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Q2-Q4</a:t>
            </a:r>
            <a:endParaRPr lang="en-US" sz="750" dirty="0"/>
          </a:p>
        </p:txBody>
      </p:sp>
      <p:sp>
        <p:nvSpPr>
          <p:cNvPr id="115" name="Text 107"/>
          <p:cNvSpPr txBox="1"/>
          <p:nvPr/>
        </p:nvSpPr>
        <p:spPr>
          <a:xfrm>
            <a:off x="7502103" y="5816498"/>
            <a:ext cx="285750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₹14.9 cr: 3 clusters, 5 nodes, Brief run</a:t>
            </a:r>
            <a:endParaRPr lang="en-US" sz="750" dirty="0"/>
          </a:p>
        </p:txBody>
      </p:sp>
      <p:sp>
        <p:nvSpPr>
          <p:cNvPr id="950" name="Fund axis"/>
          <p:cNvSpPr/>
          <p:nvPr/>
        </p:nvSpPr>
        <p:spPr>
          <a:xfrm>
            <a:off x="10407650" y="5283200"/>
            <a:ext cx="10160" cy="787400"/>
          </a:xfrm>
          <a:prstGeom prst="rect">
            <a:avLst/>
          </a:prstGeom>
          <a:solidFill>
            <a:srgbClr val="D8C2D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1" name="Fund bar ₹0"/>
          <p:cNvSpPr/>
          <p:nvPr/>
        </p:nvSpPr>
        <p:spPr>
          <a:xfrm>
            <a:off x="10414000" y="5346700"/>
            <a:ext cx="19050" cy="1397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2" name="Fund lbl ₹0"/>
          <p:cNvSpPr txBox="1"/>
          <p:nvPr/>
        </p:nvSpPr>
        <p:spPr>
          <a:xfrm>
            <a:off x="10471150" y="5346700"/>
            <a:ext cx="4318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700" b="1" dirty="0">
                <a:solidFill>
                  <a:srgbClr val="5A0A46"/>
                </a:solidFill>
              </a:rPr>
              <a:t>₹0</a:t>
            </a:r>
          </a:p>
        </p:txBody>
      </p:sp>
      <p:sp>
        <p:nvSpPr>
          <p:cNvPr id="953" name="Fund bar ₹7.3 cr"/>
          <p:cNvSpPr/>
          <p:nvPr/>
        </p:nvSpPr>
        <p:spPr>
          <a:xfrm>
            <a:off x="10414000" y="5613400"/>
            <a:ext cx="497772" cy="139700"/>
          </a:xfrm>
          <a:prstGeom prst="rect">
            <a:avLst/>
          </a:prstGeom>
          <a:solidFill>
            <a:srgbClr val="E39B2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4" name="Fund lbl ₹7.3 cr"/>
          <p:cNvSpPr txBox="1"/>
          <p:nvPr/>
        </p:nvSpPr>
        <p:spPr>
          <a:xfrm>
            <a:off x="10949872" y="5613400"/>
            <a:ext cx="4318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700" b="1" dirty="0">
                <a:solidFill>
                  <a:srgbClr val="5A0A46"/>
                </a:solidFill>
              </a:rPr>
              <a:t>₹7.3 cr</a:t>
            </a:r>
          </a:p>
        </p:txBody>
      </p:sp>
      <p:sp>
        <p:nvSpPr>
          <p:cNvPr id="955" name="Fund bar ₹14.9 cr"/>
          <p:cNvSpPr/>
          <p:nvPr/>
        </p:nvSpPr>
        <p:spPr>
          <a:xfrm>
            <a:off x="10414000" y="5867400"/>
            <a:ext cx="1016000" cy="139700"/>
          </a:xfrm>
          <a:prstGeom prst="rect">
            <a:avLst/>
          </a:prstGeom>
          <a:solidFill>
            <a:srgbClr val="E8434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6" name="Fund lbl ₹14.9 cr"/>
          <p:cNvSpPr txBox="1"/>
          <p:nvPr/>
        </p:nvSpPr>
        <p:spPr>
          <a:xfrm>
            <a:off x="11468100" y="5867400"/>
            <a:ext cx="4318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700" b="1" dirty="0">
                <a:solidFill>
                  <a:srgbClr val="5A0A46"/>
                </a:solidFill>
              </a:rPr>
              <a:t>₹14.9 cr</a:t>
            </a:r>
          </a:p>
        </p:txBody>
      </p:sp>
      <p:sp>
        <p:nvSpPr>
          <p:cNvPr id="970" name="NPV track"/>
          <p:cNvSpPr/>
          <p:nvPr/>
        </p:nvSpPr>
        <p:spPr>
          <a:xfrm>
            <a:off x="736600" y="5816600"/>
            <a:ext cx="1651000" cy="76200"/>
          </a:xfrm>
          <a:prstGeom prst="rect">
            <a:avLst/>
          </a:prstGeom>
          <a:solidFill>
            <a:srgbClr val="F6EAF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1" name="NPV zero"/>
          <p:cNvSpPr/>
          <p:nvPr/>
        </p:nvSpPr>
        <p:spPr>
          <a:xfrm>
            <a:off x="925830" y="5753100"/>
            <a:ext cx="10160" cy="203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2" name="NPV bar"/>
          <p:cNvSpPr/>
          <p:nvPr/>
        </p:nvSpPr>
        <p:spPr>
          <a:xfrm>
            <a:off x="833755" y="5816600"/>
            <a:ext cx="97155" cy="7620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3" name="NPV zero lbl"/>
          <p:cNvSpPr/>
          <p:nvPr/>
        </p:nvSpPr>
        <p:spPr>
          <a:xfrm>
            <a:off x="803910" y="5956300"/>
            <a:ext cx="2540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550" b="0" dirty="0">
                <a:solidFill>
                  <a:srgbClr val="6B6B6B"/>
                </a:solidFill>
              </a:rPr>
              <a:t>₹0</a:t>
            </a:r>
          </a:p>
        </p:txBody>
      </p:sp>
      <p:sp>
        <p:nvSpPr>
          <p:cNvPr id="974" name="NPV track"/>
          <p:cNvSpPr/>
          <p:nvPr/>
        </p:nvSpPr>
        <p:spPr>
          <a:xfrm>
            <a:off x="2717800" y="5816600"/>
            <a:ext cx="1651000" cy="76200"/>
          </a:xfrm>
          <a:prstGeom prst="rect">
            <a:avLst/>
          </a:prstGeom>
          <a:solidFill>
            <a:srgbClr val="F6EAF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5" name="NPV zero"/>
          <p:cNvSpPr/>
          <p:nvPr/>
        </p:nvSpPr>
        <p:spPr>
          <a:xfrm>
            <a:off x="2907030" y="5753100"/>
            <a:ext cx="10160" cy="203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6" name="NPV bar"/>
          <p:cNvSpPr/>
          <p:nvPr/>
        </p:nvSpPr>
        <p:spPr>
          <a:xfrm>
            <a:off x="2912110" y="5816600"/>
            <a:ext cx="728663" cy="76200"/>
          </a:xfrm>
          <a:prstGeom prst="rect">
            <a:avLst/>
          </a:prstGeom>
          <a:solidFill>
            <a:srgbClr val="5A0A46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7" name="NPV zero lbl"/>
          <p:cNvSpPr/>
          <p:nvPr/>
        </p:nvSpPr>
        <p:spPr>
          <a:xfrm>
            <a:off x="2785110" y="5956300"/>
            <a:ext cx="2540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550" b="0" dirty="0">
                <a:solidFill>
                  <a:srgbClr val="6B6B6B"/>
                </a:solidFill>
              </a:rPr>
              <a:t>₹0</a:t>
            </a:r>
          </a:p>
        </p:txBody>
      </p:sp>
      <p:sp>
        <p:nvSpPr>
          <p:cNvPr id="978" name="NPV track"/>
          <p:cNvSpPr/>
          <p:nvPr/>
        </p:nvSpPr>
        <p:spPr>
          <a:xfrm>
            <a:off x="4699000" y="5816600"/>
            <a:ext cx="1651000" cy="76200"/>
          </a:xfrm>
          <a:prstGeom prst="rect">
            <a:avLst/>
          </a:prstGeom>
          <a:solidFill>
            <a:srgbClr val="F6EAF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9" name="NPV zero"/>
          <p:cNvSpPr/>
          <p:nvPr/>
        </p:nvSpPr>
        <p:spPr>
          <a:xfrm>
            <a:off x="4888230" y="5753100"/>
            <a:ext cx="10160" cy="203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80" name="NPV bar"/>
          <p:cNvSpPr/>
          <p:nvPr/>
        </p:nvSpPr>
        <p:spPr>
          <a:xfrm>
            <a:off x="4893310" y="5816600"/>
            <a:ext cx="1360170" cy="762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81" name="NPV zero lbl"/>
          <p:cNvSpPr/>
          <p:nvPr/>
        </p:nvSpPr>
        <p:spPr>
          <a:xfrm>
            <a:off x="4766310" y="5956300"/>
            <a:ext cx="2540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550" b="0" dirty="0">
                <a:solidFill>
                  <a:srgbClr val="6B6B6B"/>
                </a:solidFill>
              </a:rPr>
              <a:t>₹0</a:t>
            </a:r>
          </a:p>
        </p:txBody>
      </p:sp>
      <p:pic>
        <p:nvPicPr>
          <p:cNvPr id="982" name="Graphic 982" descr="Five-year c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1085850"/>
            <a:ext cx="165100" cy="165100"/>
          </a:xfrm>
          <a:prstGeom prst="rect">
            <a:avLst/>
          </a:prstGeom>
        </p:spPr>
      </p:pic>
      <p:pic>
        <p:nvPicPr>
          <p:cNvPr id="983" name="Graphic 983" descr="Opportun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984" name="Graphic 984" descr="Benefit vs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9700" y="2749550"/>
            <a:ext cx="165100" cy="165100"/>
          </a:xfrm>
          <a:prstGeom prst="rect">
            <a:avLst/>
          </a:prstGeom>
        </p:spPr>
      </p:pic>
      <p:pic>
        <p:nvPicPr>
          <p:cNvPr id="985" name="Graphic 985" descr="Sensitiv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0200" y="2749550"/>
            <a:ext cx="165100" cy="165100"/>
          </a:xfrm>
          <a:prstGeom prst="rect">
            <a:avLst/>
          </a:prstGeom>
        </p:spPr>
      </p:pic>
      <p:pic>
        <p:nvPicPr>
          <p:cNvPr id="986" name="Graphic 986" descr="Break-eve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4476750"/>
            <a:ext cx="165100" cy="165100"/>
          </a:xfrm>
          <a:prstGeom prst="rect">
            <a:avLst/>
          </a:prstGeom>
        </p:spPr>
      </p:pic>
      <p:pic>
        <p:nvPicPr>
          <p:cNvPr id="987" name="Graphic 987" descr="Money rele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0200" y="4476750"/>
            <a:ext cx="165100" cy="165100"/>
          </a:xfrm>
          <a:prstGeom prst="rect">
            <a:avLst/>
          </a:prstGeom>
        </p:spPr>
      </p:pic>
      <p:pic>
        <p:nvPicPr>
          <p:cNvPr id="988" name="Graphic 988" descr="Active sell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" y="1567180"/>
            <a:ext cx="101600" cy="101600"/>
          </a:xfrm>
          <a:prstGeom prst="rect">
            <a:avLst/>
          </a:prstGeom>
        </p:spPr>
      </p:pic>
      <p:pic>
        <p:nvPicPr>
          <p:cNvPr id="989" name="Graphic 989" descr="C2M NMV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" y="1750060"/>
            <a:ext cx="101600" cy="101600"/>
          </a:xfrm>
          <a:prstGeom prst="rect">
            <a:avLst/>
          </a:prstGeom>
        </p:spPr>
      </p:pic>
      <p:pic>
        <p:nvPicPr>
          <p:cNvPr id="990" name="Graphic 990" descr="Placed or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1932940"/>
            <a:ext cx="101600" cy="101600"/>
          </a:xfrm>
          <a:prstGeom prst="rect">
            <a:avLst/>
          </a:prstGeom>
        </p:spPr>
      </p:pic>
      <p:pic>
        <p:nvPicPr>
          <p:cNvPr id="991" name="Graphic 991" descr="Incremental or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" y="2115820"/>
            <a:ext cx="101600" cy="101600"/>
          </a:xfrm>
          <a:prstGeom prst="rect">
            <a:avLst/>
          </a:prstGeom>
        </p:spPr>
      </p:pic>
      <p:pic>
        <p:nvPicPr>
          <p:cNvPr id="992" name="Graphic 992" descr="Fewer failed deliver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5000" y="2298700"/>
            <a:ext cx="101600" cy="101600"/>
          </a:xfrm>
          <a:prstGeom prst="rect">
            <a:avLst/>
          </a:prstGeom>
        </p:spPr>
      </p:pic>
      <p:pic>
        <p:nvPicPr>
          <p:cNvPr id="993" name="Graphic 993" descr="Benefit to Meesh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5000" y="2481580"/>
            <a:ext cx="101600" cy="101600"/>
          </a:xfrm>
          <a:prstGeom prst="rect">
            <a:avLst/>
          </a:prstGeom>
        </p:spPr>
      </p:pic>
      <p:pic>
        <p:nvPicPr>
          <p:cNvPr id="994" name="Graphic 994" descr="Peop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5000" y="2664460"/>
            <a:ext cx="101600" cy="101600"/>
          </a:xfrm>
          <a:prstGeom prst="rect">
            <a:avLst/>
          </a:prstGeom>
        </p:spPr>
      </p:pic>
      <p:pic>
        <p:nvPicPr>
          <p:cNvPr id="995" name="Graphic 995" descr="Cluster onboard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5000" y="2847340"/>
            <a:ext cx="101600" cy="101600"/>
          </a:xfrm>
          <a:prstGeom prst="rect">
            <a:avLst/>
          </a:prstGeom>
        </p:spPr>
      </p:pic>
      <p:pic>
        <p:nvPicPr>
          <p:cNvPr id="996" name="Graphic 996" descr="Demand 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5000" y="3030220"/>
            <a:ext cx="101600" cy="101600"/>
          </a:xfrm>
          <a:prstGeom prst="rect">
            <a:avLst/>
          </a:prstGeom>
        </p:spPr>
      </p:pic>
      <p:pic>
        <p:nvPicPr>
          <p:cNvPr id="997" name="Graphic 997" descr="Factory Nod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5000" y="3213100"/>
            <a:ext cx="101600" cy="101600"/>
          </a:xfrm>
          <a:prstGeom prst="rect">
            <a:avLst/>
          </a:prstGeom>
        </p:spPr>
      </p:pic>
      <p:pic>
        <p:nvPicPr>
          <p:cNvPr id="998" name="Graphic 998" descr="Returns poo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5000" y="3395980"/>
            <a:ext cx="101600" cy="101600"/>
          </a:xfrm>
          <a:prstGeom prst="rect">
            <a:avLst/>
          </a:prstGeom>
        </p:spPr>
      </p:pic>
      <p:pic>
        <p:nvPicPr>
          <p:cNvPr id="999" name="Graphic 999" descr="Programme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5000" y="3578860"/>
            <a:ext cx="101600" cy="101600"/>
          </a:xfrm>
          <a:prstGeom prst="rect">
            <a:avLst/>
          </a:prstGeom>
        </p:spPr>
      </p:pic>
      <p:pic>
        <p:nvPicPr>
          <p:cNvPr id="1000" name="Graphic 1000" descr="Net cash flo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35000" y="3761740"/>
            <a:ext cx="101600" cy="101600"/>
          </a:xfrm>
          <a:prstGeom prst="rect">
            <a:avLst/>
          </a:prstGeom>
        </p:spPr>
      </p:pic>
      <p:pic>
        <p:nvPicPr>
          <p:cNvPr id="1001" name="Graphic 1001" descr="Discount fac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5000" y="3944620"/>
            <a:ext cx="101600" cy="101600"/>
          </a:xfrm>
          <a:prstGeom prst="rect">
            <a:avLst/>
          </a:prstGeom>
        </p:spPr>
      </p:pic>
      <p:pic>
        <p:nvPicPr>
          <p:cNvPr id="1002" name="Graphic 1002" descr="PV at 12%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35000" y="4127500"/>
            <a:ext cx="101600" cy="101600"/>
          </a:xfrm>
          <a:prstGeom prst="rect">
            <a:avLst/>
          </a:prstGeom>
        </p:spPr>
      </p:pic>
      <p:pic>
        <p:nvPicPr>
          <p:cNvPr id="1003" name="Graphic 1003" descr="NPV at 12%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261100" y="1397000"/>
            <a:ext cx="139700" cy="139700"/>
          </a:xfrm>
          <a:prstGeom prst="rect">
            <a:avLst/>
          </a:prstGeom>
        </p:spPr>
      </p:pic>
      <p:pic>
        <p:nvPicPr>
          <p:cNvPr id="1004" name="Graphic 1004" descr="NPV at 15%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261100" y="1879600"/>
            <a:ext cx="139700" cy="139700"/>
          </a:xfrm>
          <a:prstGeom prst="rect">
            <a:avLst/>
          </a:prstGeom>
        </p:spPr>
      </p:pic>
      <p:pic>
        <p:nvPicPr>
          <p:cNvPr id="1005" name="Graphic 1005" descr="IR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261100" y="2362200"/>
            <a:ext cx="139700" cy="139700"/>
          </a:xfrm>
          <a:prstGeom prst="rect">
            <a:avLst/>
          </a:prstGeom>
        </p:spPr>
      </p:pic>
      <p:pic>
        <p:nvPicPr>
          <p:cNvPr id="1006" name="Graphic 1006" descr="Payba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261100" y="2844800"/>
            <a:ext cx="139700" cy="139700"/>
          </a:xfrm>
          <a:prstGeom prst="rect">
            <a:avLst/>
          </a:prstGeom>
        </p:spPr>
      </p:pic>
      <p:pic>
        <p:nvPicPr>
          <p:cNvPr id="1007" name="Graphic 1007" descr="Discounted payba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261100" y="3314700"/>
            <a:ext cx="139700" cy="139700"/>
          </a:xfrm>
          <a:prstGeom prst="rect">
            <a:avLst/>
          </a:prstGeom>
        </p:spPr>
      </p:pic>
      <p:pic>
        <p:nvPicPr>
          <p:cNvPr id="1008" name="Graphic 1008" descr="Year-1 cas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261100" y="3797300"/>
            <a:ext cx="139700" cy="139700"/>
          </a:xfrm>
          <a:prstGeom prst="rect">
            <a:avLst/>
          </a:prstGeom>
        </p:spPr>
      </p:pic>
      <p:pic>
        <p:nvPicPr>
          <p:cNvPr id="1009" name="Graphic 1009" descr="Clust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31000" y="1563370"/>
            <a:ext cx="101600" cy="101600"/>
          </a:xfrm>
          <a:prstGeom prst="rect">
            <a:avLst/>
          </a:prstGeom>
        </p:spPr>
      </p:pic>
      <p:pic>
        <p:nvPicPr>
          <p:cNvPr id="1010" name="Graphic 1010" descr="Run-rate NMV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31000" y="1736090"/>
            <a:ext cx="101600" cy="101600"/>
          </a:xfrm>
          <a:prstGeom prst="rect">
            <a:avLst/>
          </a:prstGeom>
        </p:spPr>
      </p:pic>
      <p:pic>
        <p:nvPicPr>
          <p:cNvPr id="1011" name="Graphic 1011" descr="Orders a da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31000" y="2082800"/>
            <a:ext cx="101600" cy="101600"/>
          </a:xfrm>
          <a:prstGeom prst="rect">
            <a:avLst/>
          </a:prstGeom>
        </p:spPr>
      </p:pic>
      <p:pic>
        <p:nvPicPr>
          <p:cNvPr id="1012" name="Graphic 1012" descr="Buyer sav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731000" y="2255520"/>
            <a:ext cx="101600" cy="101600"/>
          </a:xfrm>
          <a:prstGeom prst="rect">
            <a:avLst/>
          </a:prstGeom>
        </p:spPr>
      </p:pic>
      <p:pic>
        <p:nvPicPr>
          <p:cNvPr id="1013" name="Graphic 1013" descr="Meesho val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731000" y="2428240"/>
            <a:ext cx="101600" cy="101600"/>
          </a:xfrm>
          <a:prstGeom prst="rect">
            <a:avLst/>
          </a:prstGeom>
        </p:spPr>
      </p:pic>
      <p:pic>
        <p:nvPicPr>
          <p:cNvPr id="1014" name="Graphic 1014" descr="Base c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667000" y="5219700"/>
            <a:ext cx="177800" cy="177800"/>
          </a:xfrm>
          <a:prstGeom prst="rect">
            <a:avLst/>
          </a:prstGeom>
        </p:spPr>
      </p:pic>
      <p:pic>
        <p:nvPicPr>
          <p:cNvPr id="1015" name="Graphic 1015" descr="Bull c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648200" y="5219700"/>
            <a:ext cx="177800" cy="177800"/>
          </a:xfrm>
          <a:prstGeom prst="rect">
            <a:avLst/>
          </a:prstGeom>
        </p:spPr>
      </p:pic>
      <p:pic>
        <p:nvPicPr>
          <p:cNvPr id="1016" name="Graphic 1016" descr="Day 0-30 rele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731000" y="5365750"/>
            <a:ext cx="101600" cy="101600"/>
          </a:xfrm>
          <a:prstGeom prst="rect">
            <a:avLst/>
          </a:prstGeom>
        </p:spPr>
      </p:pic>
      <p:pic>
        <p:nvPicPr>
          <p:cNvPr id="1017" name="Graphic 1017" descr="Q2-Q4 rele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731000" y="5886450"/>
            <a:ext cx="101600" cy="101600"/>
          </a:xfrm>
          <a:prstGeom prst="rect">
            <a:avLst/>
          </a:prstGeom>
        </p:spPr>
      </p:pic>
      <p:pic>
        <p:nvPicPr>
          <p:cNvPr id="1018" name="Graphic 1018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  <p:pic>
        <p:nvPicPr>
          <p:cNvPr id="1019" name="Graphic 1019" descr="Share of NMV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731000" y="1908810"/>
            <a:ext cx="101600" cy="101600"/>
          </a:xfrm>
          <a:prstGeom prst="rect">
            <a:avLst/>
          </a:prstGeom>
        </p:spPr>
      </p:pic>
      <p:pic>
        <p:nvPicPr>
          <p:cNvPr id="1020" name="Graphic 1020" descr="Bear c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85800" y="5219700"/>
            <a:ext cx="177800" cy="177800"/>
          </a:xfrm>
          <a:prstGeom prst="rect">
            <a:avLst/>
          </a:prstGeom>
        </p:spPr>
      </p:pic>
      <p:pic>
        <p:nvPicPr>
          <p:cNvPr id="1021" name="Graphic 1021" descr="Day 31-90 rele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731000" y="563245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96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gap by Day 30, sign partners by Day 60, ship prepaid batches by Day 90, on ₹7.3 cr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approve the ₹0 Day-30 test now and ₹7.3 cr for Days 31-90, released only if the Day-30 gate passes; Year 1 is capped at ₹22.2 cr.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(H2 bets: hard budget cap, graduation on adoption and retention), S19 (Press Note 2; E-Commerce Amendment Rules 2026 in force 1 Jan 2027), S26   |   Day 1 = Mon 2 Nov 2026 · Day 30 = 1 Dec · Day 60 = 31 Dec · Day 90 = 30 Jan 2027   |   Compliance: Appendix C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760012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7472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plan for the first 90 days (bars = active weeks · ◆ = milestone · coral lines = gates), then scale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7600127" cy="295534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612648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· activity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2633472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3DCE6"/>
          </a:solidFill>
          <a:ln w="9525">
            <a:solidFill>
              <a:srgbClr val="F3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2624328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Nov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2940964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3DCE6"/>
          </a:solidFill>
          <a:ln w="9525">
            <a:solidFill>
              <a:srgbClr val="F3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 txBox="1"/>
          <p:nvPr/>
        </p:nvSpPr>
        <p:spPr>
          <a:xfrm>
            <a:off x="2931820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Nov</a:t>
            </a:r>
            <a:endParaRPr lang="en-US" sz="700" dirty="0"/>
          </a:p>
        </p:txBody>
      </p:sp>
      <p:sp>
        <p:nvSpPr>
          <p:cNvPr id="43" name="Shape 38"/>
          <p:cNvSpPr/>
          <p:nvPr/>
        </p:nvSpPr>
        <p:spPr>
          <a:xfrm>
            <a:off x="3248455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3DCE6"/>
          </a:solidFill>
          <a:ln w="9525">
            <a:solidFill>
              <a:srgbClr val="F3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 txBox="1"/>
          <p:nvPr/>
        </p:nvSpPr>
        <p:spPr>
          <a:xfrm>
            <a:off x="3239311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Nov</a:t>
            </a:r>
            <a:endParaRPr lang="en-US" sz="700" dirty="0"/>
          </a:p>
        </p:txBody>
      </p:sp>
      <p:sp>
        <p:nvSpPr>
          <p:cNvPr id="45" name="Shape 40"/>
          <p:cNvSpPr/>
          <p:nvPr/>
        </p:nvSpPr>
        <p:spPr>
          <a:xfrm>
            <a:off x="3555947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3DCE6"/>
          </a:solidFill>
          <a:ln w="9525">
            <a:solidFill>
              <a:srgbClr val="F3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 txBox="1"/>
          <p:nvPr/>
        </p:nvSpPr>
        <p:spPr>
          <a:xfrm>
            <a:off x="3546803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Nov</a:t>
            </a:r>
            <a:endParaRPr lang="en-US" sz="700" dirty="0"/>
          </a:p>
        </p:txBody>
      </p:sp>
      <p:sp>
        <p:nvSpPr>
          <p:cNvPr id="47" name="Shape 42"/>
          <p:cNvSpPr/>
          <p:nvPr/>
        </p:nvSpPr>
        <p:spPr>
          <a:xfrm>
            <a:off x="3863438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 txBox="1"/>
          <p:nvPr/>
        </p:nvSpPr>
        <p:spPr>
          <a:xfrm>
            <a:off x="3854294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Nov</a:t>
            </a:r>
            <a:endParaRPr lang="en-US" sz="700" dirty="0"/>
          </a:p>
        </p:txBody>
      </p:sp>
      <p:sp>
        <p:nvSpPr>
          <p:cNvPr id="49" name="Shape 44"/>
          <p:cNvSpPr/>
          <p:nvPr/>
        </p:nvSpPr>
        <p:spPr>
          <a:xfrm>
            <a:off x="4170930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 txBox="1"/>
          <p:nvPr/>
        </p:nvSpPr>
        <p:spPr>
          <a:xfrm>
            <a:off x="4161786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Dec</a:t>
            </a:r>
            <a:endParaRPr lang="en-US" sz="700" dirty="0"/>
          </a:p>
        </p:txBody>
      </p:sp>
      <p:sp>
        <p:nvSpPr>
          <p:cNvPr id="51" name="Shape 46"/>
          <p:cNvSpPr/>
          <p:nvPr/>
        </p:nvSpPr>
        <p:spPr>
          <a:xfrm>
            <a:off x="4478422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 txBox="1"/>
          <p:nvPr/>
        </p:nvSpPr>
        <p:spPr>
          <a:xfrm>
            <a:off x="4469278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Dec</a:t>
            </a:r>
            <a:endParaRPr lang="en-US" sz="700" dirty="0"/>
          </a:p>
        </p:txBody>
      </p:sp>
      <p:sp>
        <p:nvSpPr>
          <p:cNvPr id="53" name="Shape 48"/>
          <p:cNvSpPr/>
          <p:nvPr/>
        </p:nvSpPr>
        <p:spPr>
          <a:xfrm>
            <a:off x="4785913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 txBox="1"/>
          <p:nvPr/>
        </p:nvSpPr>
        <p:spPr>
          <a:xfrm>
            <a:off x="4776769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Dec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5093405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 txBox="1"/>
          <p:nvPr/>
        </p:nvSpPr>
        <p:spPr>
          <a:xfrm>
            <a:off x="5084261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Dec</a:t>
            </a:r>
            <a:endParaRPr lang="en-US" sz="700" dirty="0"/>
          </a:p>
        </p:txBody>
      </p:sp>
      <p:sp>
        <p:nvSpPr>
          <p:cNvPr id="57" name="Shape 52"/>
          <p:cNvSpPr/>
          <p:nvPr/>
        </p:nvSpPr>
        <p:spPr>
          <a:xfrm>
            <a:off x="5400897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DDEFE4"/>
          </a:solidFill>
          <a:ln w="9525">
            <a:solidFill>
              <a:srgbClr val="DD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3"/>
          <p:cNvSpPr txBox="1"/>
          <p:nvPr/>
        </p:nvSpPr>
        <p:spPr>
          <a:xfrm>
            <a:off x="5391753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Jan</a:t>
            </a:r>
            <a:endParaRPr lang="en-US" sz="700" dirty="0"/>
          </a:p>
        </p:txBody>
      </p:sp>
      <p:sp>
        <p:nvSpPr>
          <p:cNvPr id="59" name="Shape 54"/>
          <p:cNvSpPr/>
          <p:nvPr/>
        </p:nvSpPr>
        <p:spPr>
          <a:xfrm>
            <a:off x="5708388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DDEFE4"/>
          </a:solidFill>
          <a:ln w="9525">
            <a:solidFill>
              <a:srgbClr val="DD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 txBox="1"/>
          <p:nvPr/>
        </p:nvSpPr>
        <p:spPr>
          <a:xfrm>
            <a:off x="5699244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Jan</a:t>
            </a:r>
            <a:endParaRPr lang="en-US" sz="700" dirty="0"/>
          </a:p>
        </p:txBody>
      </p:sp>
      <p:sp>
        <p:nvSpPr>
          <p:cNvPr id="61" name="Shape 56"/>
          <p:cNvSpPr/>
          <p:nvPr/>
        </p:nvSpPr>
        <p:spPr>
          <a:xfrm>
            <a:off x="6015880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DDEFE4"/>
          </a:solidFill>
          <a:ln w="9525">
            <a:solidFill>
              <a:srgbClr val="DD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7"/>
          <p:cNvSpPr txBox="1"/>
          <p:nvPr/>
        </p:nvSpPr>
        <p:spPr>
          <a:xfrm>
            <a:off x="6006736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Jan</a:t>
            </a:r>
            <a:endParaRPr lang="en-US" sz="700" dirty="0"/>
          </a:p>
        </p:txBody>
      </p:sp>
      <p:sp>
        <p:nvSpPr>
          <p:cNvPr id="63" name="Shape 58"/>
          <p:cNvSpPr/>
          <p:nvPr/>
        </p:nvSpPr>
        <p:spPr>
          <a:xfrm>
            <a:off x="6323371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DDEFE4"/>
          </a:solidFill>
          <a:ln w="9525">
            <a:solidFill>
              <a:srgbClr val="DD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9"/>
          <p:cNvSpPr txBox="1"/>
          <p:nvPr/>
        </p:nvSpPr>
        <p:spPr>
          <a:xfrm>
            <a:off x="6314227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Jan</a:t>
            </a:r>
            <a:endParaRPr lang="en-US" sz="700" dirty="0"/>
          </a:p>
        </p:txBody>
      </p:sp>
      <p:sp>
        <p:nvSpPr>
          <p:cNvPr id="65" name="Shape 60"/>
          <p:cNvSpPr/>
          <p:nvPr/>
        </p:nvSpPr>
        <p:spPr>
          <a:xfrm>
            <a:off x="6640007" y="1344168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1"/>
          <p:cNvSpPr txBox="1"/>
          <p:nvPr/>
        </p:nvSpPr>
        <p:spPr>
          <a:xfrm>
            <a:off x="6667439" y="1344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Q2-Q4</a:t>
            </a:r>
            <a:endParaRPr lang="en-US" sz="750" dirty="0"/>
          </a:p>
        </p:txBody>
      </p:sp>
      <p:sp>
        <p:nvSpPr>
          <p:cNvPr id="67" name="Shape 62"/>
          <p:cNvSpPr/>
          <p:nvPr/>
        </p:nvSpPr>
        <p:spPr>
          <a:xfrm>
            <a:off x="7371527" y="1344168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3"/>
          <p:cNvSpPr txBox="1"/>
          <p:nvPr/>
        </p:nvSpPr>
        <p:spPr>
          <a:xfrm>
            <a:off x="7398959" y="1344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2-4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612648" y="1627632"/>
            <a:ext cx="603504" cy="372030"/>
          </a:xfrm>
          <a:prstGeom prst="roundRect">
            <a:avLst>
              <a:gd name="adj" fmla="val 7374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5"/>
          <p:cNvSpPr txBox="1"/>
          <p:nvPr/>
        </p:nvSpPr>
        <p:spPr>
          <a:xfrm>
            <a:off x="630936" y="1618488"/>
            <a:ext cx="566928" cy="39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screen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+ DS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1252728" y="1618488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7"/>
          <p:cNvSpPr txBox="1"/>
          <p:nvPr/>
        </p:nvSpPr>
        <p:spPr>
          <a:xfrm>
            <a:off x="1271016" y="1618488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Medians + scores; badge live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2642616" y="1644509"/>
            <a:ext cx="270916" cy="78064"/>
          </a:xfrm>
          <a:prstGeom prst="roundRect">
            <a:avLst>
              <a:gd name="adj" fmla="val 3514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9"/>
          <p:cNvSpPr/>
          <p:nvPr/>
        </p:nvSpPr>
        <p:spPr>
          <a:xfrm>
            <a:off x="2723210" y="1628677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0"/>
          <p:cNvSpPr txBox="1"/>
          <p:nvPr/>
        </p:nvSpPr>
        <p:spPr>
          <a:xfrm>
            <a:off x="6649151" y="1618488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categories</a:t>
            </a:r>
            <a:endParaRPr lang="en-US" sz="650" dirty="0"/>
          </a:p>
        </p:txBody>
      </p:sp>
      <p:sp>
        <p:nvSpPr>
          <p:cNvPr id="76" name="Text 71"/>
          <p:cNvSpPr txBox="1"/>
          <p:nvPr/>
        </p:nvSpPr>
        <p:spPr>
          <a:xfrm>
            <a:off x="7380671" y="1618488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check</a:t>
            </a:r>
            <a:endParaRPr lang="en-US" sz="650" dirty="0"/>
          </a:p>
        </p:txBody>
      </p:sp>
      <p:sp>
        <p:nvSpPr>
          <p:cNvPr id="77" name="Text 72"/>
          <p:cNvSpPr txBox="1"/>
          <p:nvPr/>
        </p:nvSpPr>
        <p:spPr>
          <a:xfrm>
            <a:off x="1271016" y="1748594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badge test vs holdout</a:t>
            </a:r>
            <a:endParaRPr lang="en-US" sz="700" dirty="0"/>
          </a:p>
        </p:txBody>
      </p:sp>
      <p:sp>
        <p:nvSpPr>
          <p:cNvPr id="78" name="Shape 73"/>
          <p:cNvSpPr/>
          <p:nvPr/>
        </p:nvSpPr>
        <p:spPr>
          <a:xfrm>
            <a:off x="2642616" y="1774615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4"/>
          <p:cNvSpPr/>
          <p:nvPr/>
        </p:nvSpPr>
        <p:spPr>
          <a:xfrm>
            <a:off x="1252728" y="1878700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5"/>
          <p:cNvSpPr txBox="1"/>
          <p:nvPr/>
        </p:nvSpPr>
        <p:spPr>
          <a:xfrm>
            <a:off x="1271016" y="1878700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re-score; badge-off rule</a:t>
            </a:r>
            <a:endParaRPr lang="en-US" sz="700" dirty="0"/>
          </a:p>
        </p:txBody>
      </p:sp>
      <p:sp>
        <p:nvSpPr>
          <p:cNvPr id="81" name="Shape 76"/>
          <p:cNvSpPr/>
          <p:nvPr/>
        </p:nvSpPr>
        <p:spPr>
          <a:xfrm>
            <a:off x="3872582" y="1904721"/>
            <a:ext cx="2730849" cy="78064"/>
          </a:xfrm>
          <a:prstGeom prst="roundRect">
            <a:avLst>
              <a:gd name="adj" fmla="val 3514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7"/>
          <p:cNvSpPr/>
          <p:nvPr/>
        </p:nvSpPr>
        <p:spPr>
          <a:xfrm>
            <a:off x="612648" y="2017950"/>
            <a:ext cx="603504" cy="241924"/>
          </a:xfrm>
          <a:prstGeom prst="roundRect">
            <a:avLst>
              <a:gd name="adj" fmla="val 11339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8"/>
          <p:cNvSpPr txBox="1"/>
          <p:nvPr/>
        </p:nvSpPr>
        <p:spPr>
          <a:xfrm>
            <a:off x="630936" y="2008806"/>
            <a:ext cx="566928" cy="260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700" dirty="0"/>
          </a:p>
        </p:txBody>
      </p:sp>
      <p:sp>
        <p:nvSpPr>
          <p:cNvPr id="84" name="Text 79"/>
          <p:cNvSpPr txBox="1"/>
          <p:nvPr/>
        </p:nvSpPr>
        <p:spPr>
          <a:xfrm>
            <a:off x="1271016" y="2008806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Tiruppur + Panipat bodies</a:t>
            </a:r>
            <a:endParaRPr lang="en-US" sz="700" dirty="0"/>
          </a:p>
        </p:txBody>
      </p:sp>
      <p:sp>
        <p:nvSpPr>
          <p:cNvPr id="85" name="Shape 80"/>
          <p:cNvSpPr/>
          <p:nvPr/>
        </p:nvSpPr>
        <p:spPr>
          <a:xfrm>
            <a:off x="3257599" y="2034827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1"/>
          <p:cNvSpPr/>
          <p:nvPr/>
        </p:nvSpPr>
        <p:spPr>
          <a:xfrm>
            <a:off x="4260668" y="2018995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2"/>
          <p:cNvSpPr txBox="1"/>
          <p:nvPr/>
        </p:nvSpPr>
        <p:spPr>
          <a:xfrm>
            <a:off x="6649151" y="2008806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clusters</a:t>
            </a:r>
            <a:endParaRPr lang="en-US" sz="650" dirty="0"/>
          </a:p>
        </p:txBody>
      </p:sp>
      <p:sp>
        <p:nvSpPr>
          <p:cNvPr id="88" name="Text 83"/>
          <p:cNvSpPr txBox="1"/>
          <p:nvPr/>
        </p:nvSpPr>
        <p:spPr>
          <a:xfrm>
            <a:off x="7380671" y="2008806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clusters</a:t>
            </a:r>
            <a:endParaRPr lang="en-US" sz="650" dirty="0"/>
          </a:p>
        </p:txBody>
      </p:sp>
      <p:sp>
        <p:nvSpPr>
          <p:cNvPr id="89" name="Shape 84"/>
          <p:cNvSpPr/>
          <p:nvPr/>
        </p:nvSpPr>
        <p:spPr>
          <a:xfrm>
            <a:off x="1252728" y="2138912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5"/>
          <p:cNvSpPr txBox="1"/>
          <p:nvPr/>
        </p:nvSpPr>
        <p:spPr>
          <a:xfrm>
            <a:off x="1271016" y="2138912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Camps; catalogue 60 factories</a:t>
            </a:r>
            <a:endParaRPr lang="en-US" sz="700" dirty="0"/>
          </a:p>
        </p:txBody>
      </p:sp>
      <p:sp>
        <p:nvSpPr>
          <p:cNvPr id="91" name="Shape 86"/>
          <p:cNvSpPr/>
          <p:nvPr/>
        </p:nvSpPr>
        <p:spPr>
          <a:xfrm>
            <a:off x="3872582" y="2164933"/>
            <a:ext cx="1500882" cy="78064"/>
          </a:xfrm>
          <a:prstGeom prst="roundRect">
            <a:avLst>
              <a:gd name="adj" fmla="val 3514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7"/>
          <p:cNvSpPr/>
          <p:nvPr/>
        </p:nvSpPr>
        <p:spPr>
          <a:xfrm>
            <a:off x="5183143" y="2149101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8"/>
          <p:cNvSpPr txBox="1"/>
          <p:nvPr/>
        </p:nvSpPr>
        <p:spPr>
          <a:xfrm>
            <a:off x="6649151" y="2138912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factories</a:t>
            </a:r>
            <a:endParaRPr lang="en-US" sz="650" dirty="0"/>
          </a:p>
        </p:txBody>
      </p:sp>
      <p:sp>
        <p:nvSpPr>
          <p:cNvPr id="94" name="Text 89"/>
          <p:cNvSpPr txBox="1"/>
          <p:nvPr/>
        </p:nvSpPr>
        <p:spPr>
          <a:xfrm>
            <a:off x="7380671" y="2138912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factories</a:t>
            </a:r>
            <a:endParaRPr lang="en-US" sz="650" dirty="0"/>
          </a:p>
        </p:txBody>
      </p:sp>
      <p:sp>
        <p:nvSpPr>
          <p:cNvPr id="95" name="Shape 90"/>
          <p:cNvSpPr/>
          <p:nvPr/>
        </p:nvSpPr>
        <p:spPr>
          <a:xfrm>
            <a:off x="612648" y="2278162"/>
            <a:ext cx="603504" cy="372030"/>
          </a:xfrm>
          <a:prstGeom prst="roundRect">
            <a:avLst>
              <a:gd name="adj" fmla="val 7374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1"/>
          <p:cNvSpPr txBox="1"/>
          <p:nvPr/>
        </p:nvSpPr>
        <p:spPr>
          <a:xfrm>
            <a:off x="630936" y="2269018"/>
            <a:ext cx="566928" cy="39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+ Product</a:t>
            </a:r>
            <a:endParaRPr lang="en-US" sz="700" dirty="0"/>
          </a:p>
        </p:txBody>
      </p:sp>
      <p:sp>
        <p:nvSpPr>
          <p:cNvPr id="97" name="Text 92"/>
          <p:cNvSpPr txBox="1"/>
          <p:nvPr/>
        </p:nvSpPr>
        <p:spPr>
          <a:xfrm>
            <a:off x="1271016" y="2269018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Brief build, 5 categories</a:t>
            </a:r>
            <a:endParaRPr lang="en-US" sz="700" dirty="0"/>
          </a:p>
        </p:txBody>
      </p:sp>
      <p:sp>
        <p:nvSpPr>
          <p:cNvPr id="98" name="Shape 93"/>
          <p:cNvSpPr/>
          <p:nvPr/>
        </p:nvSpPr>
        <p:spPr>
          <a:xfrm>
            <a:off x="3257599" y="2295039"/>
            <a:ext cx="1808374" cy="78064"/>
          </a:xfrm>
          <a:prstGeom prst="roundRect">
            <a:avLst>
              <a:gd name="adj" fmla="val 35140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4"/>
          <p:cNvSpPr/>
          <p:nvPr/>
        </p:nvSpPr>
        <p:spPr>
          <a:xfrm>
            <a:off x="4875651" y="2279207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5"/>
          <p:cNvSpPr txBox="1"/>
          <p:nvPr/>
        </p:nvSpPr>
        <p:spPr>
          <a:xfrm>
            <a:off x="6649151" y="2269018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categories</a:t>
            </a:r>
            <a:endParaRPr lang="en-US" sz="650" dirty="0"/>
          </a:p>
        </p:txBody>
      </p:sp>
      <p:sp>
        <p:nvSpPr>
          <p:cNvPr id="101" name="Text 96"/>
          <p:cNvSpPr txBox="1"/>
          <p:nvPr/>
        </p:nvSpPr>
        <p:spPr>
          <a:xfrm>
            <a:off x="7380671" y="2269018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refresh</a:t>
            </a:r>
            <a:endParaRPr lang="en-US" sz="650" dirty="0"/>
          </a:p>
        </p:txBody>
      </p:sp>
      <p:sp>
        <p:nvSpPr>
          <p:cNvPr id="102" name="Shape 97"/>
          <p:cNvSpPr/>
          <p:nvPr/>
        </p:nvSpPr>
        <p:spPr>
          <a:xfrm>
            <a:off x="1252728" y="2399124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8"/>
          <p:cNvSpPr txBox="1"/>
          <p:nvPr/>
        </p:nvSpPr>
        <p:spPr>
          <a:xfrm>
            <a:off x="1271016" y="2399124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window in buyer app</a:t>
            </a:r>
            <a:endParaRPr lang="en-US" sz="700" dirty="0"/>
          </a:p>
        </p:txBody>
      </p:sp>
      <p:sp>
        <p:nvSpPr>
          <p:cNvPr id="104" name="Shape 99"/>
          <p:cNvSpPr/>
          <p:nvPr/>
        </p:nvSpPr>
        <p:spPr>
          <a:xfrm>
            <a:off x="4487566" y="2425146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0"/>
          <p:cNvSpPr/>
          <p:nvPr/>
        </p:nvSpPr>
        <p:spPr>
          <a:xfrm>
            <a:off x="5490634" y="2409313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1"/>
          <p:cNvSpPr txBox="1"/>
          <p:nvPr/>
        </p:nvSpPr>
        <p:spPr>
          <a:xfrm>
            <a:off x="1271016" y="2529230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prepaid batches</a:t>
            </a:r>
            <a:endParaRPr lang="en-US" sz="700" dirty="0"/>
          </a:p>
        </p:txBody>
      </p:sp>
      <p:sp>
        <p:nvSpPr>
          <p:cNvPr id="107" name="Shape 102"/>
          <p:cNvSpPr/>
          <p:nvPr/>
        </p:nvSpPr>
        <p:spPr>
          <a:xfrm>
            <a:off x="5410041" y="2555252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3"/>
          <p:cNvSpPr/>
          <p:nvPr/>
        </p:nvSpPr>
        <p:spPr>
          <a:xfrm>
            <a:off x="5798126" y="2539419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4"/>
          <p:cNvSpPr txBox="1"/>
          <p:nvPr/>
        </p:nvSpPr>
        <p:spPr>
          <a:xfrm>
            <a:off x="6649151" y="2529230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brief</a:t>
            </a:r>
            <a:endParaRPr lang="en-US" sz="650" dirty="0"/>
          </a:p>
        </p:txBody>
      </p:sp>
      <p:sp>
        <p:nvSpPr>
          <p:cNvPr id="110" name="Shape 105"/>
          <p:cNvSpPr/>
          <p:nvPr/>
        </p:nvSpPr>
        <p:spPr>
          <a:xfrm>
            <a:off x="612648" y="2668480"/>
            <a:ext cx="603504" cy="372030"/>
          </a:xfrm>
          <a:prstGeom prst="roundRect">
            <a:avLst>
              <a:gd name="adj" fmla="val 7374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6"/>
          <p:cNvSpPr txBox="1"/>
          <p:nvPr/>
        </p:nvSpPr>
        <p:spPr>
          <a:xfrm>
            <a:off x="630936" y="2659336"/>
            <a:ext cx="566928" cy="39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Valmo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1252728" y="2659336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08"/>
          <p:cNvSpPr txBox="1"/>
          <p:nvPr/>
        </p:nvSpPr>
        <p:spPr>
          <a:xfrm>
            <a:off x="1271016" y="2659336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quotes, Tiruppur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2950108" y="2685358"/>
            <a:ext cx="885899" cy="78064"/>
          </a:xfrm>
          <a:prstGeom prst="roundRect">
            <a:avLst>
              <a:gd name="adj" fmla="val 35140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0"/>
          <p:cNvSpPr txBox="1"/>
          <p:nvPr/>
        </p:nvSpPr>
        <p:spPr>
          <a:xfrm>
            <a:off x="1271016" y="2789443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set-up after Day-30 gate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3872582" y="2815464"/>
            <a:ext cx="1500882" cy="78064"/>
          </a:xfrm>
          <a:prstGeom prst="roundRect">
            <a:avLst>
              <a:gd name="adj" fmla="val 35140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2"/>
          <p:cNvSpPr txBox="1"/>
          <p:nvPr/>
        </p:nvSpPr>
        <p:spPr>
          <a:xfrm>
            <a:off x="6649151" y="2789443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nodes</a:t>
            </a:r>
            <a:endParaRPr lang="en-US" sz="650" dirty="0"/>
          </a:p>
        </p:txBody>
      </p:sp>
      <p:sp>
        <p:nvSpPr>
          <p:cNvPr id="118" name="Text 113"/>
          <p:cNvSpPr txBox="1"/>
          <p:nvPr/>
        </p:nvSpPr>
        <p:spPr>
          <a:xfrm>
            <a:off x="7380671" y="2789443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nodes</a:t>
            </a:r>
            <a:endParaRPr lang="en-US" sz="650" dirty="0"/>
          </a:p>
        </p:txBody>
      </p:sp>
      <p:sp>
        <p:nvSpPr>
          <p:cNvPr id="119" name="Shape 114"/>
          <p:cNvSpPr/>
          <p:nvPr/>
        </p:nvSpPr>
        <p:spPr>
          <a:xfrm>
            <a:off x="1252728" y="2919549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5"/>
          <p:cNvSpPr txBox="1"/>
          <p:nvPr/>
        </p:nvSpPr>
        <p:spPr>
          <a:xfrm>
            <a:off x="1271016" y="2919549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live; returns end at node</a:t>
            </a:r>
            <a:endParaRPr lang="en-US" sz="700" dirty="0"/>
          </a:p>
        </p:txBody>
      </p:sp>
      <p:sp>
        <p:nvSpPr>
          <p:cNvPr id="121" name="Shape 116"/>
          <p:cNvSpPr/>
          <p:nvPr/>
        </p:nvSpPr>
        <p:spPr>
          <a:xfrm>
            <a:off x="5410041" y="2945570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17"/>
          <p:cNvSpPr/>
          <p:nvPr/>
        </p:nvSpPr>
        <p:spPr>
          <a:xfrm>
            <a:off x="5490634" y="2929738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18"/>
          <p:cNvSpPr/>
          <p:nvPr/>
        </p:nvSpPr>
        <p:spPr>
          <a:xfrm>
            <a:off x="612648" y="3058799"/>
            <a:ext cx="603504" cy="372030"/>
          </a:xfrm>
          <a:prstGeom prst="roundRect">
            <a:avLst>
              <a:gd name="adj" fmla="val 7374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19"/>
          <p:cNvSpPr txBox="1"/>
          <p:nvPr/>
        </p:nvSpPr>
        <p:spPr>
          <a:xfrm>
            <a:off x="630936" y="3049655"/>
            <a:ext cx="566928" cy="39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Growth · Legal</a:t>
            </a:r>
            <a:endParaRPr lang="en-US" sz="700" dirty="0"/>
          </a:p>
        </p:txBody>
      </p:sp>
      <p:sp>
        <p:nvSpPr>
          <p:cNvPr id="125" name="Text 120"/>
          <p:cNvSpPr txBox="1"/>
          <p:nvPr/>
        </p:nvSpPr>
        <p:spPr>
          <a:xfrm>
            <a:off x="1271016" y="3049655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NBFC → 30% advances</a:t>
            </a:r>
            <a:endParaRPr lang="en-US" sz="700" dirty="0"/>
          </a:p>
        </p:txBody>
      </p:sp>
      <p:sp>
        <p:nvSpPr>
          <p:cNvPr id="126" name="Shape 121"/>
          <p:cNvSpPr/>
          <p:nvPr/>
        </p:nvSpPr>
        <p:spPr>
          <a:xfrm>
            <a:off x="3565091" y="3075676"/>
            <a:ext cx="1808374" cy="78064"/>
          </a:xfrm>
          <a:prstGeom prst="roundRect">
            <a:avLst>
              <a:gd name="adj" fmla="val 3514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2"/>
          <p:cNvSpPr/>
          <p:nvPr/>
        </p:nvSpPr>
        <p:spPr>
          <a:xfrm>
            <a:off x="5410041" y="3075676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3"/>
          <p:cNvSpPr/>
          <p:nvPr/>
        </p:nvSpPr>
        <p:spPr>
          <a:xfrm>
            <a:off x="5183143" y="3059844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4"/>
          <p:cNvSpPr txBox="1"/>
          <p:nvPr/>
        </p:nvSpPr>
        <p:spPr>
          <a:xfrm>
            <a:off x="6649151" y="3049655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pool</a:t>
            </a:r>
            <a:endParaRPr lang="en-US" sz="650" dirty="0"/>
          </a:p>
        </p:txBody>
      </p:sp>
      <p:sp>
        <p:nvSpPr>
          <p:cNvPr id="130" name="Text 125"/>
          <p:cNvSpPr txBox="1"/>
          <p:nvPr/>
        </p:nvSpPr>
        <p:spPr>
          <a:xfrm>
            <a:off x="7380671" y="3049655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budget</a:t>
            </a:r>
            <a:endParaRPr lang="en-US" sz="650" dirty="0"/>
          </a:p>
        </p:txBody>
      </p:sp>
      <p:sp>
        <p:nvSpPr>
          <p:cNvPr id="131" name="Shape 126"/>
          <p:cNvSpPr/>
          <p:nvPr/>
        </p:nvSpPr>
        <p:spPr>
          <a:xfrm>
            <a:off x="1252728" y="3179761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7"/>
          <p:cNvSpPr txBox="1"/>
          <p:nvPr/>
        </p:nvSpPr>
        <p:spPr>
          <a:xfrm>
            <a:off x="1271016" y="3179761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Health Score → grants</a:t>
            </a:r>
            <a:endParaRPr lang="en-US" sz="700" dirty="0"/>
          </a:p>
        </p:txBody>
      </p:sp>
      <p:sp>
        <p:nvSpPr>
          <p:cNvPr id="133" name="Shape 128"/>
          <p:cNvSpPr/>
          <p:nvPr/>
        </p:nvSpPr>
        <p:spPr>
          <a:xfrm>
            <a:off x="2950108" y="3205782"/>
            <a:ext cx="885899" cy="78064"/>
          </a:xfrm>
          <a:prstGeom prst="roundRect">
            <a:avLst>
              <a:gd name="adj" fmla="val 3514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29"/>
          <p:cNvSpPr/>
          <p:nvPr/>
        </p:nvSpPr>
        <p:spPr>
          <a:xfrm>
            <a:off x="4180074" y="3205782"/>
            <a:ext cx="2423357" cy="78064"/>
          </a:xfrm>
          <a:prstGeom prst="roundRect">
            <a:avLst>
              <a:gd name="adj" fmla="val 3514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0"/>
          <p:cNvSpPr/>
          <p:nvPr/>
        </p:nvSpPr>
        <p:spPr>
          <a:xfrm>
            <a:off x="4260668" y="3189950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1"/>
          <p:cNvSpPr txBox="1"/>
          <p:nvPr/>
        </p:nvSpPr>
        <p:spPr>
          <a:xfrm>
            <a:off x="7380671" y="3179761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reviewers</a:t>
            </a:r>
            <a:endParaRPr lang="en-US" sz="650" dirty="0"/>
          </a:p>
        </p:txBody>
      </p:sp>
      <p:sp>
        <p:nvSpPr>
          <p:cNvPr id="137" name="Text 132"/>
          <p:cNvSpPr txBox="1"/>
          <p:nvPr/>
        </p:nvSpPr>
        <p:spPr>
          <a:xfrm>
            <a:off x="1271016" y="3309867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PN2, GST → badge declared</a:t>
            </a:r>
            <a:endParaRPr lang="en-US" sz="700" dirty="0"/>
          </a:p>
        </p:txBody>
      </p:sp>
      <p:sp>
        <p:nvSpPr>
          <p:cNvPr id="138" name="Shape 133"/>
          <p:cNvSpPr/>
          <p:nvPr/>
        </p:nvSpPr>
        <p:spPr>
          <a:xfrm>
            <a:off x="2950108" y="3335888"/>
            <a:ext cx="2115865" cy="78064"/>
          </a:xfrm>
          <a:prstGeom prst="roundRect">
            <a:avLst>
              <a:gd name="adj" fmla="val 3514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4"/>
          <p:cNvSpPr/>
          <p:nvPr/>
        </p:nvSpPr>
        <p:spPr>
          <a:xfrm>
            <a:off x="4875651" y="3320056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5"/>
          <p:cNvSpPr/>
          <p:nvPr/>
        </p:nvSpPr>
        <p:spPr>
          <a:xfrm>
            <a:off x="3898222" y="1618488"/>
            <a:ext cx="0" cy="1848917"/>
          </a:xfrm>
          <a:prstGeom prst="line">
            <a:avLst/>
          </a:prstGeom>
          <a:noFill/>
          <a:ln w="222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6"/>
          <p:cNvSpPr/>
          <p:nvPr/>
        </p:nvSpPr>
        <p:spPr>
          <a:xfrm>
            <a:off x="3651334" y="3467405"/>
            <a:ext cx="493776" cy="137160"/>
          </a:xfrm>
          <a:prstGeom prst="roundRect">
            <a:avLst>
              <a:gd name="adj" fmla="val 33333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37"/>
          <p:cNvSpPr txBox="1"/>
          <p:nvPr/>
        </p:nvSpPr>
        <p:spPr>
          <a:xfrm>
            <a:off x="3678766" y="3467405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700" dirty="0"/>
          </a:p>
        </p:txBody>
      </p:sp>
      <p:sp>
        <p:nvSpPr>
          <p:cNvPr id="143" name="Shape 138"/>
          <p:cNvSpPr/>
          <p:nvPr/>
        </p:nvSpPr>
        <p:spPr>
          <a:xfrm>
            <a:off x="5216043" y="1618488"/>
            <a:ext cx="0" cy="1848917"/>
          </a:xfrm>
          <a:prstGeom prst="line">
            <a:avLst/>
          </a:prstGeom>
          <a:noFill/>
          <a:ln w="222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39"/>
          <p:cNvSpPr/>
          <p:nvPr/>
        </p:nvSpPr>
        <p:spPr>
          <a:xfrm>
            <a:off x="4969155" y="3467405"/>
            <a:ext cx="493776" cy="137160"/>
          </a:xfrm>
          <a:prstGeom prst="roundRect">
            <a:avLst>
              <a:gd name="adj" fmla="val 33333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0"/>
          <p:cNvSpPr txBox="1"/>
          <p:nvPr/>
        </p:nvSpPr>
        <p:spPr>
          <a:xfrm>
            <a:off x="4996587" y="3467405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700" dirty="0"/>
          </a:p>
        </p:txBody>
      </p:sp>
      <p:sp>
        <p:nvSpPr>
          <p:cNvPr id="146" name="Shape 141"/>
          <p:cNvSpPr/>
          <p:nvPr/>
        </p:nvSpPr>
        <p:spPr>
          <a:xfrm>
            <a:off x="6533864" y="1618488"/>
            <a:ext cx="0" cy="1848917"/>
          </a:xfrm>
          <a:prstGeom prst="line">
            <a:avLst/>
          </a:prstGeom>
          <a:noFill/>
          <a:ln w="222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2"/>
          <p:cNvSpPr/>
          <p:nvPr/>
        </p:nvSpPr>
        <p:spPr>
          <a:xfrm>
            <a:off x="6286976" y="3467405"/>
            <a:ext cx="493776" cy="137160"/>
          </a:xfrm>
          <a:prstGeom prst="roundRect">
            <a:avLst>
              <a:gd name="adj" fmla="val 33333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3"/>
          <p:cNvSpPr txBox="1"/>
          <p:nvPr/>
        </p:nvSpPr>
        <p:spPr>
          <a:xfrm>
            <a:off x="6314408" y="3467405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700" dirty="0"/>
          </a:p>
        </p:txBody>
      </p:sp>
      <p:sp>
        <p:nvSpPr>
          <p:cNvPr id="149" name="Shape 144"/>
          <p:cNvSpPr/>
          <p:nvPr/>
        </p:nvSpPr>
        <p:spPr>
          <a:xfrm>
            <a:off x="612648" y="3659429"/>
            <a:ext cx="18268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5"/>
          <p:cNvSpPr txBox="1"/>
          <p:nvPr/>
        </p:nvSpPr>
        <p:spPr>
          <a:xfrm>
            <a:off x="658368" y="3677717"/>
            <a:ext cx="17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gate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if badge lift ≥ 12% (interval &gt; 0) and ≥ 70% still clear at D14; else tighten to a 10% gap, or stop</a:t>
            </a:r>
            <a:endParaRPr lang="en-US" sz="700" dirty="0"/>
          </a:p>
        </p:txBody>
      </p:sp>
      <p:sp>
        <p:nvSpPr>
          <p:cNvPr id="151" name="Shape 146"/>
          <p:cNvSpPr/>
          <p:nvPr/>
        </p:nvSpPr>
        <p:spPr>
          <a:xfrm>
            <a:off x="2494392" y="3659429"/>
            <a:ext cx="18268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47"/>
          <p:cNvSpPr txBox="1"/>
          <p:nvPr/>
        </p:nvSpPr>
        <p:spPr>
          <a:xfrm>
            <a:off x="2540112" y="3677717"/>
            <a:ext cx="17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 gate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associations signed · 60 factories catalogued · briefs live in 5 categories · NBFC signed</a:t>
            </a:r>
            <a:endParaRPr lang="en-US" sz="700" dirty="0"/>
          </a:p>
        </p:txBody>
      </p:sp>
      <p:sp>
        <p:nvSpPr>
          <p:cNvPr id="153" name="Shape 148"/>
          <p:cNvSpPr/>
          <p:nvPr/>
        </p:nvSpPr>
        <p:spPr>
          <a:xfrm>
            <a:off x="4376136" y="3659429"/>
            <a:ext cx="18268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49"/>
          <p:cNvSpPr txBox="1"/>
          <p:nvPr/>
        </p:nvSpPr>
        <p:spPr>
          <a:xfrm>
            <a:off x="4421856" y="3677717"/>
            <a:ext cx="17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gate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4: batches shipped in SLA · returns end at the node · retention ≥ 70% · category NMV ≥ base</a:t>
            </a:r>
            <a:endParaRPr lang="en-US" sz="700" dirty="0"/>
          </a:p>
        </p:txBody>
      </p:sp>
      <p:sp>
        <p:nvSpPr>
          <p:cNvPr id="155" name="Shape 150"/>
          <p:cNvSpPr/>
          <p:nvPr/>
        </p:nvSpPr>
        <p:spPr>
          <a:xfrm>
            <a:off x="6257879" y="3659429"/>
            <a:ext cx="18268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1"/>
          <p:cNvSpPr txBox="1"/>
          <p:nvPr/>
        </p:nvSpPr>
        <p:spPr>
          <a:xfrm>
            <a:off x="6303599" y="3677717"/>
            <a:ext cx="17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released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to Day 30 → ₹7.3 cr for Days 31-90 → ₹14.9 cr in Q2-Q4 (Year 1 cap ₹22.2 cr)</a:t>
            </a:r>
            <a:endParaRPr lang="en-US" sz="700" dirty="0"/>
          </a:p>
        </p:txBody>
      </p:sp>
      <p:sp>
        <p:nvSpPr>
          <p:cNvPr id="157" name="Shape 152"/>
          <p:cNvSpPr/>
          <p:nvPr/>
        </p:nvSpPr>
        <p:spPr>
          <a:xfrm>
            <a:off x="548640" y="4345229"/>
            <a:ext cx="7600127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3"/>
          <p:cNvSpPr txBox="1"/>
          <p:nvPr/>
        </p:nvSpPr>
        <p:spPr>
          <a:xfrm>
            <a:off x="612648" y="4345229"/>
            <a:ext cx="7472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KPIs: onboarding → activation → retention, with guardrails (north star: C2M NMV still clearing the gate)</a:t>
            </a:r>
            <a:endParaRPr lang="en-US" sz="950" dirty="0"/>
          </a:p>
        </p:txBody>
      </p:sp>
      <p:sp>
        <p:nvSpPr>
          <p:cNvPr id="159" name="Shape 154"/>
          <p:cNvSpPr/>
          <p:nvPr/>
        </p:nvSpPr>
        <p:spPr>
          <a:xfrm>
            <a:off x="548640" y="4592117"/>
            <a:ext cx="7600127" cy="153436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0" name="Table 0"/>
          <p:cNvGraphicFramePr>
            <a:graphicFrameLocks noGrp="1"/>
          </p:cNvGraphicFramePr>
          <p:nvPr/>
        </p:nvGraphicFramePr>
        <p:xfrm>
          <a:off x="612648" y="4637837"/>
          <a:ext cx="7472111" cy="1522476"/>
        </p:xfrm>
        <a:graphic>
          <a:graphicData uri="http://schemas.openxmlformats.org/drawingml/2006/table">
            <a:tbl>
              <a:tblPr/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67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Year-1 exit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· cadence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C2M 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catalogued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live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→ listed within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first prepaid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at D7 / D14 vs cohort median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· daily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share of C2M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68.5%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 still clearing the 8% gate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Factories active at Day 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· monthly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share of category impressions; category NMV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20%; ≥ 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20%; ≥ 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20%; ≥ 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20%; ≥ 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star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Run-rate C2M NMV clearing the gate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₹85.5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₹641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· monthly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1" name="Shape 155"/>
          <p:cNvSpPr/>
          <p:nvPr/>
        </p:nvSpPr>
        <p:spPr>
          <a:xfrm>
            <a:off x="8240207" y="1051560"/>
            <a:ext cx="372014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56"/>
          <p:cNvSpPr txBox="1"/>
          <p:nvPr/>
        </p:nvSpPr>
        <p:spPr>
          <a:xfrm>
            <a:off x="8304215" y="1051560"/>
            <a:ext cx="3592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risks, sorted by likelihood × impact</a:t>
            </a:r>
            <a:endParaRPr lang="en-US" sz="950" dirty="0"/>
          </a:p>
        </p:txBody>
      </p:sp>
      <p:sp>
        <p:nvSpPr>
          <p:cNvPr id="163" name="Shape 157"/>
          <p:cNvSpPr/>
          <p:nvPr/>
        </p:nvSpPr>
        <p:spPr>
          <a:xfrm>
            <a:off x="8240207" y="1298448"/>
            <a:ext cx="3720145" cy="265084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4" name="Table 1"/>
          <p:cNvGraphicFramePr>
            <a:graphicFrameLocks noGrp="1"/>
          </p:cNvGraphicFramePr>
          <p:nvPr/>
        </p:nvGraphicFramePr>
        <p:xfrm>
          <a:off x="8304215" y="1344168"/>
          <a:ext cx="3592129" cy="25411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1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gap was a promotion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Day-30 stop rule; badge off below 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recovery pulls factories back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Batches fill idle capacity between export runs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falls with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 at &gt; 1.5× return norm; QC hold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 game the badge with a few cheap SKUs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 of live SKUs must clear; dominant-seller 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or advances read as inventory control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keeps title; NBFC lends; 3PL fees at arm’s length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Re-rank starves resellers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 of category impressions; category NMV guardrail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5" name="Shape 158"/>
          <p:cNvSpPr/>
          <p:nvPr/>
        </p:nvSpPr>
        <p:spPr>
          <a:xfrm>
            <a:off x="8240207" y="4040734"/>
            <a:ext cx="372014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59"/>
          <p:cNvSpPr txBox="1"/>
          <p:nvPr/>
        </p:nvSpPr>
        <p:spPr>
          <a:xfrm>
            <a:off x="8304215" y="4040734"/>
            <a:ext cx="3592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50" dirty="0"/>
          </a:p>
        </p:txBody>
      </p:sp>
      <p:sp>
        <p:nvSpPr>
          <p:cNvPr id="167" name="Shape 160"/>
          <p:cNvSpPr/>
          <p:nvPr/>
        </p:nvSpPr>
        <p:spPr>
          <a:xfrm>
            <a:off x="8240207" y="4287622"/>
            <a:ext cx="3720145" cy="183885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1"/>
          <p:cNvSpPr txBox="1"/>
          <p:nvPr/>
        </p:nvSpPr>
        <p:spPr>
          <a:xfrm>
            <a:off x="8304215" y="4333342"/>
            <a:ext cx="3592129" cy="174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to Day 30; ₹7.3 cr for Days 31-90; ₹22.2 cr cash in Year 1 (+₹3.6 cr people), capped as an H2 bet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run the badge test with a holdout from Week 1; (2) name owners in Pricing, Category, Valmo, Finance, Legal; (3) sign the associations, a Tiruppur node and an NBFC by Day 60; (4) declare the price-gap badge as a ranking parameter before 1 Jan 2027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badged NMV per live SKU ≥ 12% above holdout, ≥ 70% still clearing at D14</a:t>
            </a:r>
            <a:endParaRPr lang="en-US" sz="800" dirty="0"/>
          </a:p>
        </p:txBody>
      </p:sp>
      <p:sp>
        <p:nvSpPr>
          <p:cNvPr id="950" name="Ask chart title"/>
          <p:cNvSpPr/>
          <p:nvPr/>
        </p:nvSpPr>
        <p:spPr>
          <a:xfrm>
            <a:off x="8407400" y="532130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Year-1 cash released, cumulative (₹ cr)</a:t>
            </a:r>
          </a:p>
        </p:txBody>
      </p:sp>
      <p:sp>
        <p:nvSpPr>
          <p:cNvPr id="951" name="Ask baseline"/>
          <p:cNvSpPr/>
          <p:nvPr/>
        </p:nvSpPr>
        <p:spPr>
          <a:xfrm>
            <a:off x="8356600" y="6007100"/>
            <a:ext cx="3505200" cy="10160"/>
          </a:xfrm>
          <a:prstGeom prst="rect">
            <a:avLst/>
          </a:prstGeom>
          <a:solidFill>
            <a:srgbClr val="D8C2D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2" name="Ask bar Day 0–30"/>
          <p:cNvSpPr/>
          <p:nvPr/>
        </p:nvSpPr>
        <p:spPr>
          <a:xfrm>
            <a:off x="8407400" y="5991860"/>
            <a:ext cx="787400" cy="1524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3" name="Ask val Day 0–30"/>
          <p:cNvSpPr/>
          <p:nvPr/>
        </p:nvSpPr>
        <p:spPr>
          <a:xfrm>
            <a:off x="9220200" y="597916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>
                <a:solidFill>
                  <a:srgbClr val="5A0A46"/>
                </a:solidFill>
              </a:rPr>
              <a:t>₹0</a:t>
            </a:r>
            <a:endParaRPr lang="en-GB" sz="650" b="1" dirty="0">
              <a:solidFill>
                <a:srgbClr val="5A0A46"/>
              </a:solidFill>
            </a:endParaRPr>
          </a:p>
        </p:txBody>
      </p:sp>
      <p:sp>
        <p:nvSpPr>
          <p:cNvPr id="954" name="Ask lbl Day 0–30"/>
          <p:cNvSpPr/>
          <p:nvPr/>
        </p:nvSpPr>
        <p:spPr>
          <a:xfrm>
            <a:off x="8407400" y="6019800"/>
            <a:ext cx="10414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550" b="0" dirty="0">
                <a:solidFill>
                  <a:srgbClr val="6B6B6B"/>
                </a:solidFill>
              </a:rPr>
              <a:t>Day 0-30</a:t>
            </a:r>
          </a:p>
        </p:txBody>
      </p:sp>
      <p:sp>
        <p:nvSpPr>
          <p:cNvPr id="955" name="Ask step"/>
          <p:cNvSpPr/>
          <p:nvPr/>
        </p:nvSpPr>
        <p:spPr>
          <a:xfrm>
            <a:off x="9194800" y="5840055"/>
            <a:ext cx="330200" cy="10160"/>
          </a:xfrm>
          <a:prstGeom prst="rect">
            <a:avLst/>
          </a:prstGeom>
          <a:solidFill>
            <a:srgbClr val="D8C2D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6" name="Ask bar Day 31–90"/>
          <p:cNvSpPr/>
          <p:nvPr/>
        </p:nvSpPr>
        <p:spPr>
          <a:xfrm>
            <a:off x="9525000" y="5840055"/>
            <a:ext cx="787400" cy="167045"/>
          </a:xfrm>
          <a:prstGeom prst="rect">
            <a:avLst/>
          </a:prstGeom>
          <a:solidFill>
            <a:srgbClr val="E39B2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7" name="Ask val Day 31–90"/>
          <p:cNvSpPr/>
          <p:nvPr/>
        </p:nvSpPr>
        <p:spPr>
          <a:xfrm>
            <a:off x="10337800" y="5827355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₹7.3</a:t>
            </a:r>
          </a:p>
        </p:txBody>
      </p:sp>
      <p:sp>
        <p:nvSpPr>
          <p:cNvPr id="958" name="Ask lbl Day 31–90"/>
          <p:cNvSpPr/>
          <p:nvPr/>
        </p:nvSpPr>
        <p:spPr>
          <a:xfrm>
            <a:off x="9525000" y="6019800"/>
            <a:ext cx="10414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550" b="0" dirty="0">
                <a:solidFill>
                  <a:srgbClr val="6B6B6B"/>
                </a:solidFill>
              </a:rPr>
              <a:t>Day 31-90</a:t>
            </a:r>
          </a:p>
        </p:txBody>
      </p:sp>
      <p:sp>
        <p:nvSpPr>
          <p:cNvPr id="959" name="Ask step"/>
          <p:cNvSpPr/>
          <p:nvPr/>
        </p:nvSpPr>
        <p:spPr>
          <a:xfrm>
            <a:off x="10312400" y="5499100"/>
            <a:ext cx="330200" cy="10160"/>
          </a:xfrm>
          <a:prstGeom prst="rect">
            <a:avLst/>
          </a:prstGeom>
          <a:solidFill>
            <a:srgbClr val="D8C2D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60" name="Ask bar Q2–Q4 (cap)"/>
          <p:cNvSpPr/>
          <p:nvPr/>
        </p:nvSpPr>
        <p:spPr>
          <a:xfrm>
            <a:off x="10642600" y="5499100"/>
            <a:ext cx="787400" cy="508000"/>
          </a:xfrm>
          <a:prstGeom prst="rect">
            <a:avLst/>
          </a:prstGeom>
          <a:solidFill>
            <a:srgbClr val="E8434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61" name="Ask val Q2–Q4 (cap)"/>
          <p:cNvSpPr/>
          <p:nvPr/>
        </p:nvSpPr>
        <p:spPr>
          <a:xfrm>
            <a:off x="11455400" y="548640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₹22.2</a:t>
            </a:r>
          </a:p>
        </p:txBody>
      </p:sp>
      <p:sp>
        <p:nvSpPr>
          <p:cNvPr id="962" name="Ask lbl Q2–Q4 (cap)"/>
          <p:cNvSpPr/>
          <p:nvPr/>
        </p:nvSpPr>
        <p:spPr>
          <a:xfrm>
            <a:off x="10642600" y="6019800"/>
            <a:ext cx="10414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550" b="0" dirty="0">
                <a:solidFill>
                  <a:srgbClr val="6B6B6B"/>
                </a:solidFill>
              </a:rPr>
              <a:t>Q2-Q4 (cap)</a:t>
            </a:r>
          </a:p>
        </p:txBody>
      </p:sp>
      <p:pic>
        <p:nvPicPr>
          <p:cNvPr id="963" name="Graphic 963" descr="90-day pla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500" y="1085850"/>
            <a:ext cx="165100" cy="165100"/>
          </a:xfrm>
          <a:prstGeom prst="rect">
            <a:avLst/>
          </a:prstGeom>
        </p:spPr>
      </p:pic>
      <p:pic>
        <p:nvPicPr>
          <p:cNvPr id="964" name="Graphic 964" descr="Metrics and KPI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500" y="4375150"/>
            <a:ext cx="165100" cy="165100"/>
          </a:xfrm>
          <a:prstGeom prst="rect">
            <a:avLst/>
          </a:prstGeom>
        </p:spPr>
      </p:pic>
      <p:pic>
        <p:nvPicPr>
          <p:cNvPr id="965" name="Graphic 965" descr="Top risk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966" name="Graphic 966" descr="The as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60200" y="4070350"/>
            <a:ext cx="165100" cy="165100"/>
          </a:xfrm>
          <a:prstGeom prst="rect">
            <a:avLst/>
          </a:prstGeom>
        </p:spPr>
      </p:pic>
      <p:pic>
        <p:nvPicPr>
          <p:cNvPr id="967" name="Graphic 967" descr="Active C2M sell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6200" y="4828540"/>
            <a:ext cx="88900" cy="88900"/>
          </a:xfrm>
          <a:prstGeom prst="rect">
            <a:avLst/>
          </a:prstGeom>
        </p:spPr>
      </p:pic>
      <p:pic>
        <p:nvPicPr>
          <p:cNvPr id="968" name="Graphic 968" descr="Qualified list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6200" y="4968240"/>
            <a:ext cx="88900" cy="88900"/>
          </a:xfrm>
          <a:prstGeom prst="rect">
            <a:avLst/>
          </a:prstGeom>
        </p:spPr>
      </p:pic>
      <p:pic>
        <p:nvPicPr>
          <p:cNvPr id="969" name="Graphic 969" descr="Days to first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46200" y="5107940"/>
            <a:ext cx="88900" cy="88900"/>
          </a:xfrm>
          <a:prstGeom prst="rect">
            <a:avLst/>
          </a:prstGeom>
        </p:spPr>
      </p:pic>
      <p:pic>
        <p:nvPicPr>
          <p:cNvPr id="970" name="Graphic 970" descr="Or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200" y="5247640"/>
            <a:ext cx="88900" cy="88900"/>
          </a:xfrm>
          <a:prstGeom prst="rect">
            <a:avLst/>
          </a:prstGeom>
        </p:spPr>
      </p:pic>
      <p:pic>
        <p:nvPicPr>
          <p:cNvPr id="971" name="Graphic 971" descr="Prepaid sha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6200" y="5388610"/>
            <a:ext cx="88900" cy="88900"/>
          </a:xfrm>
          <a:prstGeom prst="rect">
            <a:avLst/>
          </a:prstGeom>
        </p:spPr>
      </p:pic>
      <p:pic>
        <p:nvPicPr>
          <p:cNvPr id="972" name="Graphic 972" descr="Sellers clearing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6200" y="5528310"/>
            <a:ext cx="88900" cy="88900"/>
          </a:xfrm>
          <a:prstGeom prst="rect">
            <a:avLst/>
          </a:prstGeom>
        </p:spPr>
      </p:pic>
      <p:pic>
        <p:nvPicPr>
          <p:cNvPr id="973" name="Graphic 973" descr="Factories activ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6200" y="5668010"/>
            <a:ext cx="88900" cy="88900"/>
          </a:xfrm>
          <a:prstGeom prst="rect">
            <a:avLst/>
          </a:prstGeom>
        </p:spPr>
      </p:pic>
      <p:pic>
        <p:nvPicPr>
          <p:cNvPr id="974" name="Graphic 974" descr="Guardrai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46200" y="5807710"/>
            <a:ext cx="88900" cy="88900"/>
          </a:xfrm>
          <a:prstGeom prst="rect">
            <a:avLst/>
          </a:prstGeom>
        </p:spPr>
      </p:pic>
      <p:pic>
        <p:nvPicPr>
          <p:cNvPr id="975" name="Graphic 975" descr="North st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46200" y="5947410"/>
            <a:ext cx="88900" cy="88900"/>
          </a:xfrm>
          <a:prstGeom prst="rect">
            <a:avLst/>
          </a:prstGeom>
        </p:spPr>
      </p:pic>
      <p:pic>
        <p:nvPicPr>
          <p:cNvPr id="976" name="Graphic 976" descr="Gap was a promo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31200" y="1666240"/>
            <a:ext cx="114300" cy="114300"/>
          </a:xfrm>
          <a:prstGeom prst="rect">
            <a:avLst/>
          </a:prstGeom>
        </p:spPr>
      </p:pic>
      <p:pic>
        <p:nvPicPr>
          <p:cNvPr id="977" name="Graphic 977" descr="Export recov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31200" y="2059940"/>
            <a:ext cx="114300" cy="114300"/>
          </a:xfrm>
          <a:prstGeom prst="rect">
            <a:avLst/>
          </a:prstGeom>
        </p:spPr>
      </p:pic>
      <p:pic>
        <p:nvPicPr>
          <p:cNvPr id="978" name="Graphic 978" descr="Quality fal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31200" y="2452370"/>
            <a:ext cx="114300" cy="114300"/>
          </a:xfrm>
          <a:prstGeom prst="rect">
            <a:avLst/>
          </a:prstGeom>
        </p:spPr>
      </p:pic>
      <p:pic>
        <p:nvPicPr>
          <p:cNvPr id="979" name="Graphic 979" descr="Sellers game bad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31200" y="2846070"/>
            <a:ext cx="114300" cy="114300"/>
          </a:xfrm>
          <a:prstGeom prst="rect">
            <a:avLst/>
          </a:prstGeom>
        </p:spPr>
      </p:pic>
      <p:pic>
        <p:nvPicPr>
          <p:cNvPr id="980" name="Graphic 980" descr="Inventory contro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31200" y="3238500"/>
            <a:ext cx="114300" cy="114300"/>
          </a:xfrm>
          <a:prstGeom prst="rect">
            <a:avLst/>
          </a:prstGeom>
        </p:spPr>
      </p:pic>
      <p:pic>
        <p:nvPicPr>
          <p:cNvPr id="981" name="Graphic 981" descr="Re-rank resell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31200" y="3632200"/>
            <a:ext cx="114300" cy="114300"/>
          </a:xfrm>
          <a:prstGeom prst="rect">
            <a:avLst/>
          </a:prstGeom>
        </p:spPr>
      </p:pic>
      <p:pic>
        <p:nvPicPr>
          <p:cNvPr id="982" name="Graphic 982" descr="Day 30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60600" y="3708400"/>
            <a:ext cx="139700" cy="139700"/>
          </a:xfrm>
          <a:prstGeom prst="rect">
            <a:avLst/>
          </a:prstGeom>
        </p:spPr>
      </p:pic>
      <p:pic>
        <p:nvPicPr>
          <p:cNvPr id="983" name="Graphic 983" descr="Day 60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140200" y="3708400"/>
            <a:ext cx="139700" cy="139700"/>
          </a:xfrm>
          <a:prstGeom prst="rect">
            <a:avLst/>
          </a:prstGeom>
        </p:spPr>
      </p:pic>
      <p:pic>
        <p:nvPicPr>
          <p:cNvPr id="984" name="Graphic 984" descr="Day 90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32500" y="3708400"/>
            <a:ext cx="139700" cy="139700"/>
          </a:xfrm>
          <a:prstGeom prst="rect">
            <a:avLst/>
          </a:prstGeom>
        </p:spPr>
      </p:pic>
      <p:pic>
        <p:nvPicPr>
          <p:cNvPr id="985" name="Graphic 985" descr="Money releas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912100" y="3708400"/>
            <a:ext cx="139700" cy="139700"/>
          </a:xfrm>
          <a:prstGeom prst="rect">
            <a:avLst/>
          </a:prstGeom>
        </p:spPr>
      </p:pic>
      <p:pic>
        <p:nvPicPr>
          <p:cNvPr id="986" name="Graphic 986" descr="Q2-Q4 sca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92900" y="1428750"/>
            <a:ext cx="114300" cy="114300"/>
          </a:xfrm>
          <a:prstGeom prst="rect">
            <a:avLst/>
          </a:prstGeom>
        </p:spPr>
      </p:pic>
      <p:pic>
        <p:nvPicPr>
          <p:cNvPr id="987" name="Graphic 987" descr="Years 2-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16800" y="1428750"/>
            <a:ext cx="114300" cy="114300"/>
          </a:xfrm>
          <a:prstGeom prst="rect">
            <a:avLst/>
          </a:prstGeom>
        </p:spPr>
      </p:pic>
      <p:pic>
        <p:nvPicPr>
          <p:cNvPr id="988" name="Graphic 988" descr="As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  <p:pic>
        <p:nvPicPr>
          <p:cNvPr id="989" name="Graphic 989" descr="Sca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06500" y="4828540"/>
            <a:ext cx="88900" cy="88900"/>
          </a:xfrm>
          <a:prstGeom prst="rect">
            <a:avLst/>
          </a:prstGeom>
        </p:spPr>
      </p:pic>
      <p:pic>
        <p:nvPicPr>
          <p:cNvPr id="990" name="Graphic 990" descr="Onboard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06500" y="4968240"/>
            <a:ext cx="88900" cy="88900"/>
          </a:xfrm>
          <a:prstGeom prst="rect">
            <a:avLst/>
          </a:prstGeom>
        </p:spPr>
      </p:pic>
      <p:pic>
        <p:nvPicPr>
          <p:cNvPr id="991" name="Graphic 991" descr="Onboard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06500" y="5107940"/>
            <a:ext cx="88900" cy="88900"/>
          </a:xfrm>
          <a:prstGeom prst="rect">
            <a:avLst/>
          </a:prstGeom>
        </p:spPr>
      </p:pic>
      <p:pic>
        <p:nvPicPr>
          <p:cNvPr id="992" name="Graphic 992" descr="Activ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06500" y="5247640"/>
            <a:ext cx="88900" cy="88900"/>
          </a:xfrm>
          <a:prstGeom prst="rect">
            <a:avLst/>
          </a:prstGeom>
        </p:spPr>
      </p:pic>
      <p:pic>
        <p:nvPicPr>
          <p:cNvPr id="993" name="Graphic 993" descr="Activ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06500" y="5387340"/>
            <a:ext cx="88900" cy="88900"/>
          </a:xfrm>
          <a:prstGeom prst="rect">
            <a:avLst/>
          </a:prstGeom>
        </p:spPr>
      </p:pic>
      <p:pic>
        <p:nvPicPr>
          <p:cNvPr id="994" name="Graphic 994" descr="Reten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06500" y="5527040"/>
            <a:ext cx="88900" cy="88900"/>
          </a:xfrm>
          <a:prstGeom prst="rect">
            <a:avLst/>
          </a:prstGeom>
        </p:spPr>
      </p:pic>
      <p:pic>
        <p:nvPicPr>
          <p:cNvPr id="995" name="Graphic 995" descr="Reten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06500" y="5666740"/>
            <a:ext cx="88900" cy="88900"/>
          </a:xfrm>
          <a:prstGeom prst="rect">
            <a:avLst/>
          </a:prstGeom>
        </p:spPr>
      </p:pic>
      <p:pic>
        <p:nvPicPr>
          <p:cNvPr id="996" name="Graphic 996" descr="Guardrai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206500" y="5806440"/>
            <a:ext cx="88900" cy="88900"/>
          </a:xfrm>
          <a:prstGeom prst="rect">
            <a:avLst/>
          </a:prstGeom>
        </p:spPr>
      </p:pic>
      <p:pic>
        <p:nvPicPr>
          <p:cNvPr id="997" name="Graphic 997" descr="North st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206500" y="5946140"/>
            <a:ext cx="88900" cy="88900"/>
          </a:xfrm>
          <a:prstGeom prst="rect">
            <a:avLst/>
          </a:prstGeom>
        </p:spPr>
      </p:pic>
      <p:pic>
        <p:nvPicPr>
          <p:cNvPr id="998" name="Graphic 998" descr="KP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397000" y="4676140"/>
            <a:ext cx="88900" cy="88900"/>
          </a:xfrm>
          <a:prstGeom prst="rect">
            <a:avLst/>
          </a:prstGeom>
        </p:spPr>
      </p:pic>
      <p:pic>
        <p:nvPicPr>
          <p:cNvPr id="999" name="Graphic 999" descr="Day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33800" y="4676140"/>
            <a:ext cx="88900" cy="88900"/>
          </a:xfrm>
          <a:prstGeom prst="rect">
            <a:avLst/>
          </a:prstGeom>
        </p:spPr>
      </p:pic>
      <p:pic>
        <p:nvPicPr>
          <p:cNvPr id="1000" name="Graphic 1000" descr="Day 6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33900" y="4676140"/>
            <a:ext cx="88900" cy="88900"/>
          </a:xfrm>
          <a:prstGeom prst="rect">
            <a:avLst/>
          </a:prstGeom>
        </p:spPr>
      </p:pic>
      <p:pic>
        <p:nvPicPr>
          <p:cNvPr id="1001" name="Graphic 1001" descr="Day 9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4800" y="4676140"/>
            <a:ext cx="88900" cy="8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54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3360" y="7315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050792" y="731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Product walkthrough</a:t>
            </a:r>
            <a:endParaRPr lang="en-US" sz="1400" dirty="0"/>
          </a:p>
        </p:txBody>
      </p:sp>
      <p:pic>
        <p:nvPicPr>
          <p:cNvPr id="6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7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phone screens take a factory from “will I make money?” to a prepaid batch, with no e-commerce team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Screens: the live prototype, captured 4 Oct 2026, on seeded synthetic data; Kavin Knit Mills is fictional. Its inputs (₹98 making cost, ₹245 synthetic median) differ from the costed case (₹80 making cost, ₹209 demand-weighted median)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051560"/>
            <a:ext cx="280720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12648" y="105156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Price check: will I make money?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1298448"/>
            <a:ext cx="2807208" cy="391957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6" name="Image 3" descr="/Users/prathmeshwalimbe/Downloads/Meesho/02_round2_detailed_submission/deck/source/assets/icons/FaIndianRupeeSig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088136"/>
            <a:ext cx="155448" cy="155448"/>
          </a:xfrm>
          <a:prstGeom prst="rect">
            <a:avLst/>
          </a:prstGeom>
        </p:spPr>
      </p:pic>
      <p:pic>
        <p:nvPicPr>
          <p:cNvPr id="17" name="Image 4" descr="/Users/prathmeshwalimbe/Downloads/Meesho/02_round2_detailed_submission/deck/source/assets/phone/phone_price_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1344168"/>
            <a:ext cx="1225296" cy="2463159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57758" y="1797066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57758" y="179706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657758" y="2836604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57758" y="28366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22" name="Text 15"/>
          <p:cNvSpPr txBox="1"/>
          <p:nvPr/>
        </p:nvSpPr>
        <p:spPr>
          <a:xfrm>
            <a:off x="653796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+ verdict</a:t>
            </a:r>
            <a:endParaRPr lang="en-US" sz="700" dirty="0"/>
          </a:p>
        </p:txBody>
      </p:sp>
      <p:pic>
        <p:nvPicPr>
          <p:cNvPr id="23" name="Image 5" descr="/Users/prathmeshwalimbe/Downloads/Meesho/02_round2_detailed_submission/deck/source/assets/phone/phone_price_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820" y="1344168"/>
            <a:ext cx="1225296" cy="2463159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956206" y="2236523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1956206" y="223652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1956206" y="3061634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1956206" y="306163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28" name="Text 20"/>
          <p:cNvSpPr txBox="1"/>
          <p:nvPr/>
        </p:nvSpPr>
        <p:spPr>
          <a:xfrm>
            <a:off x="1952244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pack + cash</a:t>
            </a:r>
            <a:endParaRPr lang="en-US" sz="700" dirty="0"/>
          </a:p>
        </p:txBody>
      </p:sp>
      <p:sp>
        <p:nvSpPr>
          <p:cNvPr id="29" name="Shape 21"/>
          <p:cNvSpPr/>
          <p:nvPr/>
        </p:nvSpPr>
        <p:spPr>
          <a:xfrm>
            <a:off x="612648" y="4008495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12648" y="4008495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31" name="Text 23"/>
          <p:cNvSpPr txBox="1"/>
          <p:nvPr/>
        </p:nvSpPr>
        <p:spPr>
          <a:xfrm>
            <a:off x="804672" y="4008495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product, then enters making cost, the margin it needs and how orders ship.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612648" y="4241667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12648" y="4241667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34" name="Text 26"/>
          <p:cNvSpPr txBox="1"/>
          <p:nvPr/>
        </p:nvSpPr>
        <p:spPr>
          <a:xfrm>
            <a:off x="804672" y="4241667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before listing: lowest viable price vs what buyers pay; the badge needs 8% below.</a:t>
            </a:r>
            <a:endParaRPr lang="en-US" sz="750" dirty="0"/>
          </a:p>
        </p:txBody>
      </p:sp>
      <p:sp>
        <p:nvSpPr>
          <p:cNvPr id="35" name="Shape 27"/>
          <p:cNvSpPr/>
          <p:nvPr/>
        </p:nvSpPr>
        <p:spPr>
          <a:xfrm>
            <a:off x="612648" y="4474839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12648" y="4474839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37" name="Text 29"/>
          <p:cNvSpPr txBox="1"/>
          <p:nvPr/>
        </p:nvSpPr>
        <p:spPr>
          <a:xfrm>
            <a:off x="804672" y="4474839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pack the buyer keeps: making, shipping, returns and failed deliveries, then profit.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612648" y="4708011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612648" y="4708011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40" name="Text 32"/>
          <p:cNvSpPr txBox="1"/>
          <p:nvPr/>
        </p:nvSpPr>
        <p:spPr>
          <a:xfrm>
            <a:off x="804672" y="4708011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back in ~11 days (30% at node handover) vs 50 days on distributor terms.</a:t>
            </a:r>
            <a:endParaRPr lang="en-US" sz="750" dirty="0"/>
          </a:p>
        </p:txBody>
      </p:sp>
      <p:sp>
        <p:nvSpPr>
          <p:cNvPr id="41" name="Shape 33"/>
          <p:cNvSpPr/>
          <p:nvPr/>
        </p:nvSpPr>
        <p:spPr>
          <a:xfrm>
            <a:off x="612648" y="4998568"/>
            <a:ext cx="2679192" cy="173736"/>
          </a:xfrm>
          <a:prstGeom prst="roundRect">
            <a:avLst>
              <a:gd name="adj" fmla="val 26316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640080" y="4998568"/>
            <a:ext cx="2624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unknown margin · returns exposure · slow cash</a:t>
            </a:r>
            <a:endParaRPr lang="en-US" sz="700" dirty="0"/>
          </a:p>
        </p:txBody>
      </p:sp>
      <p:sp>
        <p:nvSpPr>
          <p:cNvPr id="43" name="Shape 35"/>
          <p:cNvSpPr/>
          <p:nvPr/>
        </p:nvSpPr>
        <p:spPr>
          <a:xfrm>
            <a:off x="3447288" y="1051560"/>
            <a:ext cx="2761488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3511296" y="105156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Demand Brief: is there demand?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3447288" y="1298448"/>
            <a:ext cx="2761488" cy="391957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46" name="Image 6" descr="/Users/prathmeshwalimbe/Downloads/Meesho/02_round2_detailed_submission/deck/source/assets/icons/FaMapLocationDot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1088136"/>
            <a:ext cx="155448" cy="155448"/>
          </a:xfrm>
          <a:prstGeom prst="rect">
            <a:avLst/>
          </a:prstGeom>
        </p:spPr>
      </p:pic>
      <p:pic>
        <p:nvPicPr>
          <p:cNvPr id="47" name="Image 7" descr="/Users/prathmeshwalimbe/Downloads/Meesho/02_round2_detailed_submission/deck/source/assets/phone/phone_brief_to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1344168"/>
            <a:ext cx="1225296" cy="2463159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3533546" y="1797066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3533546" y="179706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0" name="Shape 40"/>
          <p:cNvSpPr/>
          <p:nvPr/>
        </p:nvSpPr>
        <p:spPr>
          <a:xfrm>
            <a:off x="3533546" y="2107710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3533546" y="210771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52" name="Text 42"/>
          <p:cNvSpPr txBox="1"/>
          <p:nvPr/>
        </p:nvSpPr>
        <p:spPr>
          <a:xfrm>
            <a:off x="3529584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districts</a:t>
            </a:r>
            <a:endParaRPr lang="en-US" sz="700" dirty="0"/>
          </a:p>
        </p:txBody>
      </p:sp>
      <p:pic>
        <p:nvPicPr>
          <p:cNvPr id="53" name="Image 8" descr="/Users/prathmeshwalimbe/Downloads/Meesho/02_round2_detailed_submission/deck/source/assets/phone/phone_brief_e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1344168"/>
            <a:ext cx="1225296" cy="2463159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4831994" y="2877447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4831994" y="287744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56" name="Text 45"/>
          <p:cNvSpPr txBox="1"/>
          <p:nvPr/>
        </p:nvSpPr>
        <p:spPr>
          <a:xfrm>
            <a:off x="4828032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batch</a:t>
            </a:r>
            <a:endParaRPr lang="en-US" sz="700" dirty="0"/>
          </a:p>
        </p:txBody>
      </p:sp>
      <p:sp>
        <p:nvSpPr>
          <p:cNvPr id="57" name="Shape 46"/>
          <p:cNvSpPr/>
          <p:nvPr/>
        </p:nvSpPr>
        <p:spPr>
          <a:xfrm>
            <a:off x="3511296" y="4008495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3511296" y="4008495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9" name="Text 48"/>
          <p:cNvSpPr txBox="1"/>
          <p:nvPr/>
        </p:nvSpPr>
        <p:spPr>
          <a:xfrm>
            <a:off x="3703320" y="4008495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product in the top 12 districts: 15,630 orders a week, refreshed every Monday.</a:t>
            </a:r>
            <a:endParaRPr lang="en-US" sz="750" dirty="0"/>
          </a:p>
        </p:txBody>
      </p:sp>
      <p:sp>
        <p:nvSpPr>
          <p:cNvPr id="60" name="Shape 49"/>
          <p:cNvSpPr/>
          <p:nvPr/>
        </p:nvSpPr>
        <p:spPr>
          <a:xfrm>
            <a:off x="3511296" y="4241667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3511296" y="4241667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62" name="Text 51"/>
          <p:cNvSpPr txBox="1"/>
          <p:nvPr/>
        </p:nvSpPr>
        <p:spPr>
          <a:xfrm>
            <a:off x="3703320" y="4241667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district: orders a week, the price band that sells, the best-selling size and colour.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3511296" y="4474839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3511296" y="4474839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65" name="Text 54"/>
          <p:cNvSpPr txBox="1"/>
          <p:nvPr/>
        </p:nvSpPr>
        <p:spPr>
          <a:xfrm>
            <a:off x="3703320" y="4474839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batch suggested: 1,900 units (6% of 14 days of demand), split by size.</a:t>
            </a:r>
            <a:endParaRPr lang="en-US" sz="750" dirty="0"/>
          </a:p>
        </p:txBody>
      </p:sp>
      <p:sp>
        <p:nvSpPr>
          <p:cNvPr id="66" name="Text 55"/>
          <p:cNvSpPr txBox="1"/>
          <p:nvPr/>
        </p:nvSpPr>
        <p:spPr>
          <a:xfrm>
            <a:off x="3511296" y="4708011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3703320" y="4708011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weekly from search and delivered orders, summed by district: no buyer is identifiable.</a:t>
            </a:r>
            <a:endParaRPr lang="en-US" sz="750" dirty="0"/>
          </a:p>
        </p:txBody>
      </p:sp>
      <p:sp>
        <p:nvSpPr>
          <p:cNvPr id="68" name="Shape 57"/>
          <p:cNvSpPr/>
          <p:nvPr/>
        </p:nvSpPr>
        <p:spPr>
          <a:xfrm>
            <a:off x="3511296" y="4998568"/>
            <a:ext cx="2633472" cy="173736"/>
          </a:xfrm>
          <a:prstGeom prst="roundRect">
            <a:avLst>
              <a:gd name="adj" fmla="val 26316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3538728" y="4998568"/>
            <a:ext cx="2578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unproven demand · guessing sizes and price</a:t>
            </a:r>
            <a:endParaRPr lang="en-US" sz="700" dirty="0"/>
          </a:p>
        </p:txBody>
      </p:sp>
      <p:sp>
        <p:nvSpPr>
          <p:cNvPr id="70" name="Shape 59"/>
          <p:cNvSpPr/>
          <p:nvPr/>
        </p:nvSpPr>
        <p:spPr>
          <a:xfrm>
            <a:off x="6300216" y="1051560"/>
            <a:ext cx="276148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6364224" y="105156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Batch: must I stock up blind?</a:t>
            </a:r>
            <a:endParaRPr lang="en-US" sz="950" dirty="0"/>
          </a:p>
        </p:txBody>
      </p:sp>
      <p:sp>
        <p:nvSpPr>
          <p:cNvPr id="72" name="Shape 61"/>
          <p:cNvSpPr/>
          <p:nvPr/>
        </p:nvSpPr>
        <p:spPr>
          <a:xfrm>
            <a:off x="6300216" y="1298448"/>
            <a:ext cx="2761488" cy="391957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73" name="Image 9" descr="/Users/prathmeshwalimbe/Downloads/Meesho/02_round2_detailed_submission/deck/source/assets/icons/FaWarehouse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3104" y="1088136"/>
            <a:ext cx="155448" cy="155448"/>
          </a:xfrm>
          <a:prstGeom prst="rect">
            <a:avLst/>
          </a:prstGeom>
        </p:spPr>
      </p:pic>
      <p:pic>
        <p:nvPicPr>
          <p:cNvPr id="74" name="Image 10" descr="/Users/prathmeshwalimbe/Downloads/Meesho/02_round2_detailed_submission/deck/source/assets/phone/phone_batch_op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1344168"/>
            <a:ext cx="1225296" cy="2463159"/>
          </a:xfrm>
          <a:prstGeom prst="rect">
            <a:avLst/>
          </a:prstGeom>
        </p:spPr>
      </p:pic>
      <p:sp>
        <p:nvSpPr>
          <p:cNvPr id="75" name="Shape 62"/>
          <p:cNvSpPr/>
          <p:nvPr/>
        </p:nvSpPr>
        <p:spPr>
          <a:xfrm>
            <a:off x="6386474" y="1797066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63"/>
          <p:cNvSpPr txBox="1"/>
          <p:nvPr/>
        </p:nvSpPr>
        <p:spPr>
          <a:xfrm>
            <a:off x="6386474" y="179706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77" name="Shape 64"/>
          <p:cNvSpPr/>
          <p:nvPr/>
        </p:nvSpPr>
        <p:spPr>
          <a:xfrm>
            <a:off x="6386474" y="2481975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65"/>
          <p:cNvSpPr txBox="1"/>
          <p:nvPr/>
        </p:nvSpPr>
        <p:spPr>
          <a:xfrm>
            <a:off x="6386474" y="24819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9" name="Shape 66"/>
          <p:cNvSpPr/>
          <p:nvPr/>
        </p:nvSpPr>
        <p:spPr>
          <a:xfrm>
            <a:off x="6386474" y="3216760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67"/>
          <p:cNvSpPr txBox="1"/>
          <p:nvPr/>
        </p:nvSpPr>
        <p:spPr>
          <a:xfrm>
            <a:off x="6386474" y="321676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1" name="Text 68"/>
          <p:cNvSpPr txBox="1"/>
          <p:nvPr/>
        </p:nvSpPr>
        <p:spPr>
          <a:xfrm>
            <a:off x="6382512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</a:t>
            </a:r>
            <a:endParaRPr lang="en-US" sz="700" dirty="0"/>
          </a:p>
        </p:txBody>
      </p:sp>
      <p:pic>
        <p:nvPicPr>
          <p:cNvPr id="82" name="Image 11" descr="/Users/prathmeshwalimbe/Downloads/Meesho/02_round2_detailed_submission/deck/source/assets/phone/phone_batch_don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7536" y="1344168"/>
            <a:ext cx="1225296" cy="2463159"/>
          </a:xfrm>
          <a:prstGeom prst="rect">
            <a:avLst/>
          </a:prstGeom>
        </p:spPr>
      </p:pic>
      <p:sp>
        <p:nvSpPr>
          <p:cNvPr id="83" name="Shape 69"/>
          <p:cNvSpPr/>
          <p:nvPr/>
        </p:nvSpPr>
        <p:spPr>
          <a:xfrm>
            <a:off x="7684922" y="3153924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70"/>
          <p:cNvSpPr txBox="1"/>
          <p:nvPr/>
        </p:nvSpPr>
        <p:spPr>
          <a:xfrm>
            <a:off x="7684922" y="315392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5" name="Text 71"/>
          <p:cNvSpPr txBox="1"/>
          <p:nvPr/>
        </p:nvSpPr>
        <p:spPr>
          <a:xfrm>
            <a:off x="7680960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tap</a:t>
            </a:r>
            <a:endParaRPr lang="en-US" sz="700" dirty="0"/>
          </a:p>
        </p:txBody>
      </p:sp>
      <p:sp>
        <p:nvSpPr>
          <p:cNvPr id="86" name="Shape 72"/>
          <p:cNvSpPr/>
          <p:nvPr/>
        </p:nvSpPr>
        <p:spPr>
          <a:xfrm>
            <a:off x="6364224" y="4008495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73"/>
          <p:cNvSpPr txBox="1"/>
          <p:nvPr/>
        </p:nvSpPr>
        <p:spPr>
          <a:xfrm>
            <a:off x="6364224" y="4008495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88" name="Text 74"/>
          <p:cNvSpPr txBox="1"/>
          <p:nvPr/>
        </p:nvSpPr>
        <p:spPr>
          <a:xfrm>
            <a:off x="6556248" y="4008495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who accept “ships in 7 days” for a small discount prepay: 1,052 of 1,900 in a 3-day window.</a:t>
            </a:r>
            <a:endParaRPr lang="en-US" sz="750" dirty="0"/>
          </a:p>
        </p:txBody>
      </p:sp>
      <p:sp>
        <p:nvSpPr>
          <p:cNvPr id="89" name="Shape 75"/>
          <p:cNvSpPr/>
          <p:nvPr/>
        </p:nvSpPr>
        <p:spPr>
          <a:xfrm>
            <a:off x="6364224" y="4241667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76"/>
          <p:cNvSpPr txBox="1"/>
          <p:nvPr/>
        </p:nvSpPr>
        <p:spPr>
          <a:xfrm>
            <a:off x="6364224" y="4241667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91" name="Text 77"/>
          <p:cNvSpPr txBox="1"/>
          <p:nvPr/>
        </p:nvSpPr>
        <p:spPr>
          <a:xfrm>
            <a:off x="6556248" y="4241667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confirmed orders + 15% buffer = 1,210 units; 30% of confirmed value is paid at handover.</a:t>
            </a:r>
            <a:endParaRPr lang="en-US" sz="750" dirty="0"/>
          </a:p>
        </p:txBody>
      </p:sp>
      <p:sp>
        <p:nvSpPr>
          <p:cNvPr id="92" name="Shape 78"/>
          <p:cNvSpPr/>
          <p:nvPr/>
        </p:nvSpPr>
        <p:spPr>
          <a:xfrm>
            <a:off x="6364224" y="4474839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79"/>
          <p:cNvSpPr txBox="1"/>
          <p:nvPr/>
        </p:nvSpPr>
        <p:spPr>
          <a:xfrm>
            <a:off x="6364224" y="4474839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94" name="Text 80"/>
          <p:cNvSpPr txBox="1"/>
          <p:nvPr/>
        </p:nvSpPr>
        <p:spPr>
          <a:xfrm>
            <a:off x="6556248" y="4474839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commits the batch; nothing beyond it is made.</a:t>
            </a:r>
            <a:endParaRPr lang="en-US" sz="750" dirty="0"/>
          </a:p>
        </p:txBody>
      </p:sp>
      <p:sp>
        <p:nvSpPr>
          <p:cNvPr id="95" name="Shape 81"/>
          <p:cNvSpPr/>
          <p:nvPr/>
        </p:nvSpPr>
        <p:spPr>
          <a:xfrm>
            <a:off x="6364224" y="4708011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82"/>
          <p:cNvSpPr txBox="1"/>
          <p:nvPr/>
        </p:nvSpPr>
        <p:spPr>
          <a:xfrm>
            <a:off x="6364224" y="4708011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97" name="Text 83"/>
          <p:cNvSpPr txBox="1"/>
          <p:nvPr/>
        </p:nvSpPr>
        <p:spPr>
          <a:xfrm>
            <a:off x="6556248" y="4708011"/>
            <a:ext cx="24414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bulk handover at the Tiruppur node; Days 4-8 the node ships; Day 15 the balance is paid.</a:t>
            </a:r>
            <a:endParaRPr lang="en-US" sz="750" dirty="0"/>
          </a:p>
        </p:txBody>
      </p:sp>
      <p:sp>
        <p:nvSpPr>
          <p:cNvPr id="98" name="Shape 84"/>
          <p:cNvSpPr/>
          <p:nvPr/>
        </p:nvSpPr>
        <p:spPr>
          <a:xfrm>
            <a:off x="6364224" y="4998568"/>
            <a:ext cx="2633472" cy="173736"/>
          </a:xfrm>
          <a:prstGeom prst="roundRect">
            <a:avLst>
              <a:gd name="adj" fmla="val 26316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9" name="Text 85"/>
          <p:cNvSpPr txBox="1"/>
          <p:nvPr/>
        </p:nvSpPr>
        <p:spPr>
          <a:xfrm>
            <a:off x="6391656" y="4998568"/>
            <a:ext cx="2578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build-to-stock risk · unit shipping · cash gap</a:t>
            </a:r>
            <a:endParaRPr lang="en-US" sz="700" dirty="0"/>
          </a:p>
        </p:txBody>
      </p:sp>
      <p:sp>
        <p:nvSpPr>
          <p:cNvPr id="100" name="Shape 86"/>
          <p:cNvSpPr/>
          <p:nvPr/>
        </p:nvSpPr>
        <p:spPr>
          <a:xfrm>
            <a:off x="9153144" y="1051560"/>
            <a:ext cx="2807208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01" name="Text 87"/>
          <p:cNvSpPr txBox="1"/>
          <p:nvPr/>
        </p:nvSpPr>
        <p:spPr>
          <a:xfrm>
            <a:off x="9217152" y="105156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WhatsApp: no app, no manager</a:t>
            </a:r>
            <a:endParaRPr lang="en-US" sz="950" dirty="0"/>
          </a:p>
        </p:txBody>
      </p:sp>
      <p:sp>
        <p:nvSpPr>
          <p:cNvPr id="102" name="Shape 88"/>
          <p:cNvSpPr/>
          <p:nvPr/>
        </p:nvSpPr>
        <p:spPr>
          <a:xfrm>
            <a:off x="9153144" y="1298448"/>
            <a:ext cx="2807208" cy="391957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03" name="Image 12" descr="/Users/prathmeshwalimbe/Downloads/Meesho/02_round2_detailed_submission/deck/source/assets/icons/FaWhatsapp_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31752" y="1088136"/>
            <a:ext cx="155448" cy="155448"/>
          </a:xfrm>
          <a:prstGeom prst="rect">
            <a:avLst/>
          </a:prstGeom>
        </p:spPr>
      </p:pic>
      <p:pic>
        <p:nvPicPr>
          <p:cNvPr id="104" name="Image 13" descr="/Users/prathmeshwalimbe/Downloads/Meesho/02_round2_detailed_submission/deck/source/assets/phone/phone_wa_brief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4876" y="1344168"/>
            <a:ext cx="1225296" cy="2463159"/>
          </a:xfrm>
          <a:prstGeom prst="rect">
            <a:avLst/>
          </a:prstGeom>
        </p:spPr>
      </p:pic>
      <p:sp>
        <p:nvSpPr>
          <p:cNvPr id="105" name="Shape 89"/>
          <p:cNvSpPr/>
          <p:nvPr/>
        </p:nvSpPr>
        <p:spPr>
          <a:xfrm>
            <a:off x="9262262" y="1797066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Text 90"/>
          <p:cNvSpPr txBox="1"/>
          <p:nvPr/>
        </p:nvSpPr>
        <p:spPr>
          <a:xfrm>
            <a:off x="9262262" y="179706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07" name="Shape 91"/>
          <p:cNvSpPr/>
          <p:nvPr/>
        </p:nvSpPr>
        <p:spPr>
          <a:xfrm>
            <a:off x="9262262" y="2737245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92"/>
          <p:cNvSpPr txBox="1"/>
          <p:nvPr/>
        </p:nvSpPr>
        <p:spPr>
          <a:xfrm>
            <a:off x="9262262" y="273724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09" name="Text 93"/>
          <p:cNvSpPr txBox="1"/>
          <p:nvPr/>
        </p:nvSpPr>
        <p:spPr>
          <a:xfrm>
            <a:off x="9258300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brief</a:t>
            </a:r>
            <a:endParaRPr lang="en-US" sz="700" dirty="0"/>
          </a:p>
        </p:txBody>
      </p:sp>
      <p:pic>
        <p:nvPicPr>
          <p:cNvPr id="110" name="Image 14" descr="/Users/prathmeshwalimbe/Downloads/Meesho/02_round2_detailed_submission/deck/source/assets/phone/phone_wa_repl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93324" y="1344168"/>
            <a:ext cx="1225296" cy="2463159"/>
          </a:xfrm>
          <a:prstGeom prst="rect">
            <a:avLst/>
          </a:prstGeom>
        </p:spPr>
      </p:pic>
      <p:sp>
        <p:nvSpPr>
          <p:cNvPr id="111" name="Shape 94"/>
          <p:cNvSpPr/>
          <p:nvPr/>
        </p:nvSpPr>
        <p:spPr>
          <a:xfrm>
            <a:off x="11470754" y="2737245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Text 95"/>
          <p:cNvSpPr txBox="1"/>
          <p:nvPr/>
        </p:nvSpPr>
        <p:spPr>
          <a:xfrm>
            <a:off x="11470754" y="273724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13" name="Shape 96"/>
          <p:cNvSpPr/>
          <p:nvPr/>
        </p:nvSpPr>
        <p:spPr>
          <a:xfrm>
            <a:off x="10560710" y="2873912"/>
            <a:ext cx="155448" cy="15544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97"/>
          <p:cNvSpPr txBox="1"/>
          <p:nvPr/>
        </p:nvSpPr>
        <p:spPr>
          <a:xfrm>
            <a:off x="10560710" y="287391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15" name="Text 98"/>
          <p:cNvSpPr txBox="1"/>
          <p:nvPr/>
        </p:nvSpPr>
        <p:spPr>
          <a:xfrm>
            <a:off x="10556748" y="3825615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1: committed</a:t>
            </a:r>
            <a:endParaRPr lang="en-US" sz="700" dirty="0"/>
          </a:p>
        </p:txBody>
      </p:sp>
      <p:sp>
        <p:nvSpPr>
          <p:cNvPr id="116" name="Shape 99"/>
          <p:cNvSpPr/>
          <p:nvPr/>
        </p:nvSpPr>
        <p:spPr>
          <a:xfrm>
            <a:off x="9217152" y="4008495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" name="Text 100"/>
          <p:cNvSpPr txBox="1"/>
          <p:nvPr/>
        </p:nvSpPr>
        <p:spPr>
          <a:xfrm>
            <a:off x="9217152" y="4008495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18" name="Text 101"/>
          <p:cNvSpPr txBox="1"/>
          <p:nvPr/>
        </p:nvSpPr>
        <p:spPr>
          <a:xfrm>
            <a:off x="9409176" y="4008495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brief every week on WhatsApp: top districts, price bands, suggested batch, pre-orders.</a:t>
            </a:r>
            <a:endParaRPr lang="en-US" sz="750" dirty="0"/>
          </a:p>
        </p:txBody>
      </p:sp>
      <p:sp>
        <p:nvSpPr>
          <p:cNvPr id="119" name="Shape 102"/>
          <p:cNvSpPr/>
          <p:nvPr/>
        </p:nvSpPr>
        <p:spPr>
          <a:xfrm>
            <a:off x="9217152" y="4241667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0" name="Text 103"/>
          <p:cNvSpPr txBox="1"/>
          <p:nvPr/>
        </p:nvSpPr>
        <p:spPr>
          <a:xfrm>
            <a:off x="9217152" y="4241667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21" name="Text 104"/>
          <p:cNvSpPr txBox="1"/>
          <p:nvPr/>
        </p:nvSpPr>
        <p:spPr>
          <a:xfrm>
            <a:off x="9409176" y="4241667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replies: 1 commits the batch, 2 opens the size mix, 3 asks for a callback.</a:t>
            </a:r>
            <a:endParaRPr lang="en-US" sz="750" dirty="0"/>
          </a:p>
        </p:txBody>
      </p:sp>
      <p:sp>
        <p:nvSpPr>
          <p:cNvPr id="122" name="Shape 105"/>
          <p:cNvSpPr/>
          <p:nvPr/>
        </p:nvSpPr>
        <p:spPr>
          <a:xfrm>
            <a:off x="9217152" y="4474839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Text 106"/>
          <p:cNvSpPr txBox="1"/>
          <p:nvPr/>
        </p:nvSpPr>
        <p:spPr>
          <a:xfrm>
            <a:off x="9217152" y="4474839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24" name="Text 107"/>
          <p:cNvSpPr txBox="1"/>
          <p:nvPr/>
        </p:nvSpPr>
        <p:spPr>
          <a:xfrm>
            <a:off x="9409176" y="4474839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replies “1”: no app install, no login, no account manager.</a:t>
            </a:r>
            <a:endParaRPr lang="en-US" sz="750" dirty="0"/>
          </a:p>
        </p:txBody>
      </p:sp>
      <p:sp>
        <p:nvSpPr>
          <p:cNvPr id="125" name="Shape 108"/>
          <p:cNvSpPr/>
          <p:nvPr/>
        </p:nvSpPr>
        <p:spPr>
          <a:xfrm>
            <a:off x="9217152" y="4708011"/>
            <a:ext cx="146304" cy="14630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Text 109"/>
          <p:cNvSpPr txBox="1"/>
          <p:nvPr/>
        </p:nvSpPr>
        <p:spPr>
          <a:xfrm>
            <a:off x="9217152" y="4708011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27" name="Text 110"/>
          <p:cNvSpPr txBox="1"/>
          <p:nvPr/>
        </p:nvSpPr>
        <p:spPr>
          <a:xfrm>
            <a:off x="9409176" y="4708011"/>
            <a:ext cx="24871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Confirmation: units to make, the node to drop them at, and the cash paid at handover.</a:t>
            </a:r>
            <a:endParaRPr lang="en-US" sz="750" dirty="0"/>
          </a:p>
        </p:txBody>
      </p:sp>
      <p:sp>
        <p:nvSpPr>
          <p:cNvPr id="128" name="Shape 111"/>
          <p:cNvSpPr/>
          <p:nvPr/>
        </p:nvSpPr>
        <p:spPr>
          <a:xfrm>
            <a:off x="9217152" y="4998568"/>
            <a:ext cx="2679192" cy="173736"/>
          </a:xfrm>
          <a:prstGeom prst="roundRect">
            <a:avLst>
              <a:gd name="adj" fmla="val 26316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29" name="Text 112"/>
          <p:cNvSpPr txBox="1"/>
          <p:nvPr/>
        </p:nvSpPr>
        <p:spPr>
          <a:xfrm>
            <a:off x="9244584" y="4998568"/>
            <a:ext cx="2624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tech know-how · dashboards · account managers</a:t>
            </a:r>
            <a:endParaRPr lang="en-US" sz="700" dirty="0"/>
          </a:p>
        </p:txBody>
      </p:sp>
      <p:sp>
        <p:nvSpPr>
          <p:cNvPr id="130" name="Shape 113"/>
          <p:cNvSpPr/>
          <p:nvPr/>
        </p:nvSpPr>
        <p:spPr>
          <a:xfrm>
            <a:off x="548640" y="5309464"/>
            <a:ext cx="531778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31" name="Text 114"/>
          <p:cNvSpPr txBox="1"/>
          <p:nvPr/>
        </p:nvSpPr>
        <p:spPr>
          <a:xfrm>
            <a:off x="612648" y="5309464"/>
            <a:ext cx="5189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KPI per step: how the pilot proves the app works</a:t>
            </a:r>
            <a:endParaRPr lang="en-US" sz="950" dirty="0"/>
          </a:p>
        </p:txBody>
      </p:sp>
      <p:sp>
        <p:nvSpPr>
          <p:cNvPr id="132" name="Shape 115"/>
          <p:cNvSpPr/>
          <p:nvPr/>
        </p:nvSpPr>
        <p:spPr>
          <a:xfrm>
            <a:off x="548640" y="5556352"/>
            <a:ext cx="5317785" cy="57012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33" name="Image 15" descr="/Users/prathmeshwalimbe/Downloads/Meesho/02_round2_detailed_submission/deck/source/assets/icons/FaFlagCheckered_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37825" y="5346040"/>
            <a:ext cx="155448" cy="155448"/>
          </a:xfrm>
          <a:prstGeom prst="rect">
            <a:avLst/>
          </a:prstGeom>
        </p:spPr>
      </p:pic>
      <p:sp>
        <p:nvSpPr>
          <p:cNvPr id="134" name="Shape 116"/>
          <p:cNvSpPr/>
          <p:nvPr/>
        </p:nvSpPr>
        <p:spPr>
          <a:xfrm>
            <a:off x="612648" y="5602072"/>
            <a:ext cx="1270010" cy="478688"/>
          </a:xfrm>
          <a:prstGeom prst="homePlat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Text 117"/>
          <p:cNvSpPr txBox="1"/>
          <p:nvPr/>
        </p:nvSpPr>
        <p:spPr>
          <a:xfrm>
            <a:off x="676656" y="5602072"/>
            <a:ext cx="98654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check → listed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50% list within 30 days</a:t>
            </a:r>
            <a:endParaRPr lang="en-US" sz="750" dirty="0"/>
          </a:p>
        </p:txBody>
      </p:sp>
      <p:sp>
        <p:nvSpPr>
          <p:cNvPr id="136" name="Shape 118"/>
          <p:cNvSpPr/>
          <p:nvPr/>
        </p:nvSpPr>
        <p:spPr>
          <a:xfrm>
            <a:off x="1919234" y="5602072"/>
            <a:ext cx="1270010" cy="478688"/>
          </a:xfrm>
          <a:prstGeom prst="homePlat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Text 119"/>
          <p:cNvSpPr txBox="1"/>
          <p:nvPr/>
        </p:nvSpPr>
        <p:spPr>
          <a:xfrm>
            <a:off x="1983242" y="5602072"/>
            <a:ext cx="98654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Brief → batch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prepaid batch ≤ 14 days</a:t>
            </a:r>
            <a:endParaRPr lang="en-US" sz="750" dirty="0"/>
          </a:p>
        </p:txBody>
      </p:sp>
      <p:sp>
        <p:nvSpPr>
          <p:cNvPr id="138" name="Shape 120"/>
          <p:cNvSpPr/>
          <p:nvPr/>
        </p:nvSpPr>
        <p:spPr>
          <a:xfrm>
            <a:off x="3225820" y="5602072"/>
            <a:ext cx="1270010" cy="478688"/>
          </a:xfrm>
          <a:prstGeom prst="homePlat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Text 121"/>
          <p:cNvSpPr txBox="1"/>
          <p:nvPr/>
        </p:nvSpPr>
        <p:spPr>
          <a:xfrm>
            <a:off x="3289828" y="5602072"/>
            <a:ext cx="98654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→ first orders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 of cohort orders at D7, D14</a:t>
            </a:r>
            <a:endParaRPr lang="en-US" sz="750" dirty="0"/>
          </a:p>
        </p:txBody>
      </p:sp>
      <p:sp>
        <p:nvSpPr>
          <p:cNvPr id="140" name="Shape 122"/>
          <p:cNvSpPr/>
          <p:nvPr/>
        </p:nvSpPr>
        <p:spPr>
          <a:xfrm>
            <a:off x="4532406" y="5602072"/>
            <a:ext cx="1270010" cy="478688"/>
          </a:xfrm>
          <a:prstGeom prst="homePlate">
            <a:avLst/>
          </a:prstGeom>
          <a:solidFill>
            <a:srgbClr val="F7A2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Text 123"/>
          <p:cNvSpPr txBox="1"/>
          <p:nvPr/>
        </p:nvSpPr>
        <p:spPr>
          <a:xfrm>
            <a:off x="4596414" y="5602072"/>
            <a:ext cx="986546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→ repeat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at D90 ≥ 75%</a:t>
            </a:r>
            <a:endParaRPr lang="en-US" sz="750" dirty="0"/>
          </a:p>
        </p:txBody>
      </p:sp>
      <p:sp>
        <p:nvSpPr>
          <p:cNvPr id="142" name="Shape 124"/>
          <p:cNvSpPr/>
          <p:nvPr/>
        </p:nvSpPr>
        <p:spPr>
          <a:xfrm>
            <a:off x="5957865" y="5309464"/>
            <a:ext cx="3332074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43" name="Text 125"/>
          <p:cNvSpPr txBox="1"/>
          <p:nvPr/>
        </p:nvSpPr>
        <p:spPr>
          <a:xfrm>
            <a:off x="6021873" y="5309464"/>
            <a:ext cx="3204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in 60 seconds</a:t>
            </a:r>
            <a:endParaRPr lang="en-US" sz="950" dirty="0"/>
          </a:p>
        </p:txBody>
      </p:sp>
      <p:sp>
        <p:nvSpPr>
          <p:cNvPr id="144" name="Shape 126"/>
          <p:cNvSpPr/>
          <p:nvPr/>
        </p:nvSpPr>
        <p:spPr>
          <a:xfrm>
            <a:off x="5957865" y="5556352"/>
            <a:ext cx="3332074" cy="57012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45" name="Image 16" descr="/Users/prathmeshwalimbe/Downloads/Meesho/02_round2_detailed_submission/deck/source/assets/icons/FaBolt_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61338" y="5346040"/>
            <a:ext cx="155448" cy="155448"/>
          </a:xfrm>
          <a:prstGeom prst="rect">
            <a:avLst/>
          </a:prstGeom>
        </p:spPr>
      </p:pic>
      <p:sp>
        <p:nvSpPr>
          <p:cNvPr id="146" name="Shape 127"/>
          <p:cNvSpPr/>
          <p:nvPr/>
        </p:nvSpPr>
        <p:spPr>
          <a:xfrm>
            <a:off x="6026445" y="5602072"/>
            <a:ext cx="137160" cy="1371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7" name="Text 128"/>
          <p:cNvSpPr txBox="1"/>
          <p:nvPr/>
        </p:nvSpPr>
        <p:spPr>
          <a:xfrm>
            <a:off x="6026445" y="56020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48" name="Text 129"/>
          <p:cNvSpPr txBox="1"/>
          <p:nvPr/>
        </p:nvSpPr>
        <p:spPr>
          <a:xfrm>
            <a:off x="6213897" y="5602072"/>
            <a:ext cx="301203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and open the Manufacturer app tab.</a:t>
            </a:r>
            <a:endParaRPr lang="en-US" sz="750" dirty="0"/>
          </a:p>
        </p:txBody>
      </p:sp>
      <p:sp>
        <p:nvSpPr>
          <p:cNvPr id="149" name="Shape 130"/>
          <p:cNvSpPr/>
          <p:nvPr/>
        </p:nvSpPr>
        <p:spPr>
          <a:xfrm>
            <a:off x="6026445" y="5739232"/>
            <a:ext cx="137160" cy="1371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Text 131"/>
          <p:cNvSpPr txBox="1"/>
          <p:nvPr/>
        </p:nvSpPr>
        <p:spPr>
          <a:xfrm>
            <a:off x="6026445" y="57392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51" name="Text 132"/>
          <p:cNvSpPr txBox="1"/>
          <p:nvPr/>
        </p:nvSpPr>
        <p:spPr>
          <a:xfrm>
            <a:off x="6213897" y="5739232"/>
            <a:ext cx="30120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making cost to ₹105 and pick Ship myself: Not yet, 7.5% below the market (the badge needs 8%).</a:t>
            </a:r>
            <a:endParaRPr lang="en-US" sz="750" dirty="0"/>
          </a:p>
        </p:txBody>
      </p:sp>
      <p:sp>
        <p:nvSpPr>
          <p:cNvPr id="152" name="Shape 133"/>
          <p:cNvSpPr/>
          <p:nvPr/>
        </p:nvSpPr>
        <p:spPr>
          <a:xfrm>
            <a:off x="6026445" y="5967832"/>
            <a:ext cx="137160" cy="1371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3" name="Text 134"/>
          <p:cNvSpPr txBox="1"/>
          <p:nvPr/>
        </p:nvSpPr>
        <p:spPr>
          <a:xfrm>
            <a:off x="6026445" y="59678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54" name="Text 135"/>
          <p:cNvSpPr txBox="1"/>
          <p:nvPr/>
        </p:nvSpPr>
        <p:spPr>
          <a:xfrm>
            <a:off x="6213897" y="5967832"/>
            <a:ext cx="301203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Factory Node: Qualifies, 10.0% below.</a:t>
            </a:r>
            <a:endParaRPr lang="en-US" sz="750" dirty="0"/>
          </a:p>
        </p:txBody>
      </p:sp>
      <p:sp>
        <p:nvSpPr>
          <p:cNvPr id="155" name="Shape 136"/>
          <p:cNvSpPr/>
          <p:nvPr/>
        </p:nvSpPr>
        <p:spPr>
          <a:xfrm>
            <a:off x="9381378" y="5309464"/>
            <a:ext cx="257897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56" name="Text 137"/>
          <p:cNvSpPr txBox="1"/>
          <p:nvPr/>
        </p:nvSpPr>
        <p:spPr>
          <a:xfrm>
            <a:off x="9445386" y="5309464"/>
            <a:ext cx="2450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live</a:t>
            </a:r>
            <a:endParaRPr lang="en-US" sz="950" dirty="0"/>
          </a:p>
        </p:txBody>
      </p:sp>
      <p:sp>
        <p:nvSpPr>
          <p:cNvPr id="157" name="Shape 138"/>
          <p:cNvSpPr/>
          <p:nvPr/>
        </p:nvSpPr>
        <p:spPr>
          <a:xfrm>
            <a:off x="9381378" y="5556352"/>
            <a:ext cx="2578974" cy="57012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58" name="Image 17" descr="/Users/prathmeshwalimbe/Downloads/Meesho/02_round2_detailed_submission/deck/source/assets/icons/FaLink_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731752" y="5346040"/>
            <a:ext cx="155448" cy="155448"/>
          </a:xfrm>
          <a:prstGeom prst="rect">
            <a:avLst/>
          </a:prstGeom>
        </p:spPr>
      </p:pic>
      <p:pic>
        <p:nvPicPr>
          <p:cNvPr id="159" name="Image 18" descr="/Users/prathmeshwalimbe/Downloads/Meesho/02_round2_detailed_submission/deck/source/assets/qr_liv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45386" y="5602072"/>
            <a:ext cx="478688" cy="478688"/>
          </a:xfrm>
          <a:prstGeom prst="rect">
            <a:avLst/>
          </a:prstGeom>
        </p:spPr>
      </p:pic>
      <p:sp>
        <p:nvSpPr>
          <p:cNvPr id="160" name="Text 139"/>
          <p:cNvSpPr txBox="1"/>
          <p:nvPr/>
        </p:nvSpPr>
        <p:spPr>
          <a:xfrm>
            <a:off x="9988083" y="5602072"/>
            <a:ext cx="1908261" cy="4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meesho-dice-c2m-iitb.vercel.app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Mirror: prathmesh-28.github.io/c2m-control-tower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Meesho’s control tower: 3 more tabs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 synthetic sellers · 4,415 SKUs · 4 model tests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3360" y="7315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050792" y="731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Sources, method, assumptions</a:t>
            </a:r>
            <a:endParaRPr lang="en-US" sz="1400" dirty="0"/>
          </a:p>
        </p:txBody>
      </p:sp>
      <p:pic>
        <p:nvPicPr>
          <p:cNvPr id="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in the deck traces to a numbered source (S1-S26) or a registered assumption (A1-A32) in one master model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S10 team teardown, S21 published owner interviews, S22 Round 1 interviews (full list at left)   |   Master model: deck/source/model.mjs (every slide number is read from it) · prototype results: proto.mjs · survey kit: research/13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051560"/>
            <a:ext cx="337779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612648" y="1051560"/>
            <a:ext cx="3249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(publisher · title · date)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1298448"/>
            <a:ext cx="3377794" cy="482803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12648" y="1344168"/>
            <a:ext cx="3249778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Meesho: Q1 FY27 Shareholders’ Letter (quarter to 30 Jun 2026) (Aug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Meesho: Q4 FY26 earnings call transcript (6 May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Deccan Herald; Apparel Resources; Inc42: Meesho FY26 results coverage (May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 ICRIER: Annual Survey of MSMEs in India 2025 (n = 2,365, Fig. 16) (Mar 2025)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Ministry of MSME: S.O. 1364(E): revised MSME limits (21 Mar 2025)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 RBI: OBICUS, Q2 FY26: capacity utilisation 74.3% (Oct 2025)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 Udyam portal (team pull); PIB: Udyam registrations (Jun 2026; 28 Feb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 The Federal; Deccan Herald: Tiruppur output, exports, tariff impact (2025-26)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 The Tribune: Panipat textile industry hit by weak demand, high costs (17 Aug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 Team teardown: meesho.com search: 279 live listings, 5 product types (2 Oct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 Shiprocket; Robnu: Meesho seller fee guides (return fee, RTO policy) (2026)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  Shiprocket: Fulfilment pricing: ₹24 per order, 500-3,000 orders a month (2026)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 GoKwik via Base; TrackVid: COD vs prepaid RTO benchmarks (industry estimates) (2026)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  Flipkart newsroom; Business Standard: 0% commission moves (Amazon, Flipkart) (Nov 2025 - 8 Jul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  KrASIA: Pinduoduo New Brand Initiative (end-2019 figures) (2020)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 Tech Buzz China: Temu Watch #6: semi-managed share of GMV (27 Dec 2024)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  Reuters via FashionNetwork: Shein tried to turn Brazil into a production hub (Feb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  Inc42: MSME-TEAM: ₹277 cr to onboard 5 lakh MSMEs onto ONDC (2024)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S19  Khaitan &amp; Co; LexOrbis: Press Note 2 (2018); E-Commerce Amendment Rules 2026 (2018; Sep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  Finnovate; Zappchai (DRHP-based): Meesho category mix estimates (2025)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 Apparel Resources: Tirupur rewires its growth playbook (owner interviews) (25 Jun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 Team 23B0747: Round 1 research: 24 interviews, cluster AHP, sizing funnel, category screen (Sep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  Xinhua: Taobao C2M: 10 bn new orders for factories in 3 years (27 Mar 2020)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  Alibaba Group: December Quarter 2021 Results (Taobao Deals) (23 Feb 2022)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S25  AFP via Malay Mail: Shein statement on 100-200 item first batches (24 Mar 2024)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  Bank of Baroda: E-commerce business loans for marketplace sellers (2026)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4017874" y="1051560"/>
            <a:ext cx="794247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4081882" y="1051560"/>
            <a:ext cx="78144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register (value · source · confidence H/M/L)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017874" y="1298448"/>
            <a:ext cx="7942478" cy="315833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4081882" y="1344168"/>
          <a:ext cx="3870655" cy="3048608"/>
        </p:xfrm>
        <a:graphic>
          <a:graphicData uri="http://schemas.openxmlformats.org/drawingml/2006/table">
            <a:tbl>
              <a:tblPr/>
              <a:tblGrid>
                <a:gridCol w="29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NMV per C2M seller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₹1.425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Year-4 capture of SAM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active sellers, Y1-Y5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→ 1,450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NMV per seller, Y1-Y5 (₹ cr)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 → 1.425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target factory turnover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NMV in C2M categories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gap passed to buyers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8%-12%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share of C2M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GMV per order vs average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pre-order share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Failed-delivery gap, COD vs prepaid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cost per failed delivery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S11, S13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 cost per FTE-year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₹0.3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FTE, Y1-Y5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→ 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 (year-end); onboarding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→ 12; ₹1 cr each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 cost, Y1-Y5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 cr, then ₹3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/>
        </p:nvGraphicFramePr>
        <p:xfrm>
          <a:off x="8025689" y="1344168"/>
          <a:ext cx="3870655" cy="3048608"/>
        </p:xfrm>
        <a:graphic>
          <a:graphicData uri="http://schemas.openxmlformats.org/drawingml/2006/table">
            <a:tbl>
              <a:tblPr/>
              <a:tblGrid>
                <a:gridCol w="29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(year-end); set-up; life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→ 12; ₹1.3 cr; 5 yrs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firewall pool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 cr; then 0.1% of NMV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valuation; impressions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 CPM; 50,000 impr.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NBFC advance; Meesho first-loss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30%; 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rate; stress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12%; 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Making cost, briefs 3-pack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margin on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Wholesaler mark-up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Hosiery: failed deliveries; returns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 14%; returns 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fee to seller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Failed-delivery fee to seller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fees, self /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₹55/42 fwd; ₹10/20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S11, S12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recovered, self /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/ 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cost; inventory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18%; 45 vs 10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Unsold share; salvage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vs 2%; salvage 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Pre-order discount (7-8 days)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4017874" y="4548226"/>
            <a:ext cx="390265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4081882" y="4548226"/>
            <a:ext cx="37746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sample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017874" y="4795114"/>
            <a:ext cx="3902659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 txBox="1"/>
          <p:nvPr/>
        </p:nvSpPr>
        <p:spPr>
          <a:xfrm>
            <a:off x="4081882" y="4840834"/>
            <a:ext cx="3774643" cy="1239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meesho.com search, 2 Oct 2026; first 56 listings per query; 279 listings, 5 product types; demand weight = review count; plastics query returned none and was dropped.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owners (8 per cohort, Round 1) + 3 published owner interviews.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survey: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n, dates, quotas achieved vs target (≥ 150; ≥ 30 per tier); stated intent counted at 50%]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sellers × 28 days, SE ≈ 1.6 pts, MDE ≈ 4.5% at 80% power.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8011973" y="4548226"/>
            <a:ext cx="394837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 txBox="1"/>
          <p:nvPr/>
        </p:nvSpPr>
        <p:spPr>
          <a:xfrm>
            <a:off x="8075981" y="4548226"/>
            <a:ext cx="3820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Workings index (formulas)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011973" y="4795114"/>
            <a:ext cx="3948379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2"/>
          <p:cNvSpPr txBox="1"/>
          <p:nvPr/>
        </p:nvSpPr>
        <p:spPr>
          <a:xfrm>
            <a:off x="8075981" y="4840834"/>
            <a:ext cx="3820363" cy="1239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NMV = sellers × ₹1.425 cr; savings = NMV × g ÷ (1 − g)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(make + unsold − resold + logistics + returns + capital) ÷ kept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× (incremental × ₹7.3 + Δfailed × ₹60)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Δfailed: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share × (1 − 37%) × 15 pts = 4.7 pts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means, CR = (λ − 5) ÷ 4 ÷ 1.12 (Appendix C)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× impact × confidence ÷ effort</a:t>
            </a:r>
            <a:endParaRPr lang="en-US" sz="750" dirty="0"/>
          </a:p>
        </p:txBody>
      </p:sp>
      <p:sp>
        <p:nvSpPr>
          <p:cNvPr id="950" name="Trace 26 sources"/>
          <p:cNvSpPr/>
          <p:nvPr/>
        </p:nvSpPr>
        <p:spPr>
          <a:xfrm>
            <a:off x="8089900" y="5664200"/>
            <a:ext cx="965200" cy="381000"/>
          </a:xfrm>
          <a:prstGeom prst="homePlate">
            <a:avLst/>
          </a:prstGeom>
          <a:solidFill>
            <a:srgbClr val="5A0A46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600" b="1" dirty="0">
                <a:solidFill>
                  <a:srgbClr val="FFFFFF"/>
                </a:solidFill>
              </a:rPr>
              <a:t>26 sources</a:t>
            </a:r>
          </a:p>
          <a:p>
            <a:pPr algn="ctr"/>
            <a:r>
              <a:rPr lang="en-GB" sz="600" b="0" dirty="0">
                <a:solidFill>
                  <a:srgbClr val="FFFFFF"/>
                </a:solidFill>
              </a:rPr>
              <a:t>S1-S26</a:t>
            </a:r>
          </a:p>
        </p:txBody>
      </p:sp>
      <p:sp>
        <p:nvSpPr>
          <p:cNvPr id="951" name="Trace 32 assumptions"/>
          <p:cNvSpPr/>
          <p:nvPr/>
        </p:nvSpPr>
        <p:spPr>
          <a:xfrm>
            <a:off x="9029700" y="5664200"/>
            <a:ext cx="965200" cy="381000"/>
          </a:xfrm>
          <a:prstGeom prst="chevron">
            <a:avLst/>
          </a:prstGeom>
          <a:solidFill>
            <a:srgbClr val="E8434F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600" b="1" dirty="0">
                <a:solidFill>
                  <a:srgbClr val="FFFFFF"/>
                </a:solidFill>
              </a:rPr>
              <a:t>32 assumptions</a:t>
            </a:r>
          </a:p>
          <a:p>
            <a:pPr algn="ctr"/>
            <a:r>
              <a:rPr lang="en-GB" sz="600" b="0" dirty="0">
                <a:solidFill>
                  <a:srgbClr val="FFFFFF"/>
                </a:solidFill>
              </a:rPr>
              <a:t>A1-A32</a:t>
            </a:r>
          </a:p>
        </p:txBody>
      </p:sp>
      <p:sp>
        <p:nvSpPr>
          <p:cNvPr id="952" name="Trace Master model"/>
          <p:cNvSpPr/>
          <p:nvPr/>
        </p:nvSpPr>
        <p:spPr>
          <a:xfrm>
            <a:off x="9969500" y="5664200"/>
            <a:ext cx="965200" cy="381000"/>
          </a:xfrm>
          <a:prstGeom prst="chevron">
            <a:avLst/>
          </a:prstGeom>
          <a:solidFill>
            <a:srgbClr val="F7A21B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600" b="1" dirty="0">
                <a:solidFill>
                  <a:srgbClr val="FFFFFF"/>
                </a:solidFill>
              </a:rPr>
              <a:t>Master model</a:t>
            </a:r>
          </a:p>
          <a:p>
            <a:pPr algn="ctr"/>
            <a:r>
              <a:rPr lang="en-GB" sz="600" b="0" dirty="0">
                <a:solidFill>
                  <a:srgbClr val="FFFFFF"/>
                </a:solidFill>
              </a:rPr>
              <a:t>model.mjs</a:t>
            </a:r>
          </a:p>
        </p:txBody>
      </p:sp>
      <p:sp>
        <p:nvSpPr>
          <p:cNvPr id="953" name="Trace Every page"/>
          <p:cNvSpPr/>
          <p:nvPr/>
        </p:nvSpPr>
        <p:spPr>
          <a:xfrm>
            <a:off x="10909300" y="5664200"/>
            <a:ext cx="965200" cy="381000"/>
          </a:xfrm>
          <a:prstGeom prst="chevron">
            <a:avLst/>
          </a:prstGeom>
          <a:solidFill>
            <a:srgbClr val="2E9E5B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600" b="1" dirty="0">
                <a:solidFill>
                  <a:srgbClr val="FFFFFF"/>
                </a:solidFill>
              </a:rPr>
              <a:t>Every page</a:t>
            </a:r>
          </a:p>
          <a:p>
            <a:pPr algn="ctr"/>
            <a:r>
              <a:rPr lang="en-GB" sz="600" b="0" dirty="0">
                <a:solidFill>
                  <a:srgbClr val="FFFFFF"/>
                </a:solidFill>
              </a:rPr>
              <a:t>reads the model</a:t>
            </a:r>
          </a:p>
        </p:txBody>
      </p:sp>
      <p:sp>
        <p:nvSpPr>
          <p:cNvPr id="954" name="Sample 279"/>
          <p:cNvSpPr/>
          <p:nvPr/>
        </p:nvSpPr>
        <p:spPr>
          <a:xfrm>
            <a:off x="4076700" y="5664200"/>
            <a:ext cx="914400" cy="381000"/>
          </a:xfrm>
          <a:prstGeom prst="roundRect">
            <a:avLst/>
          </a:prstGeom>
          <a:solidFill>
            <a:srgbClr val="F6EAF2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1000" b="1" dirty="0">
                <a:solidFill>
                  <a:srgbClr val="5A0A46"/>
                </a:solidFill>
              </a:rPr>
              <a:t>279</a:t>
            </a:r>
          </a:p>
          <a:p>
            <a:pPr algn="ctr"/>
            <a:r>
              <a:rPr lang="en-GB" sz="600" b="0" dirty="0">
                <a:solidFill>
                  <a:srgbClr val="1F1F1F"/>
                </a:solidFill>
              </a:rPr>
              <a:t>listings</a:t>
            </a:r>
          </a:p>
        </p:txBody>
      </p:sp>
      <p:sp>
        <p:nvSpPr>
          <p:cNvPr id="955" name="Sample 24"/>
          <p:cNvSpPr/>
          <p:nvPr/>
        </p:nvSpPr>
        <p:spPr>
          <a:xfrm>
            <a:off x="5029200" y="5664200"/>
            <a:ext cx="914400" cy="381000"/>
          </a:xfrm>
          <a:prstGeom prst="roundRect">
            <a:avLst/>
          </a:prstGeom>
          <a:solidFill>
            <a:srgbClr val="F6EAF2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1000" b="1" dirty="0">
                <a:solidFill>
                  <a:srgbClr val="5A0A46"/>
                </a:solidFill>
              </a:rPr>
              <a:t>24</a:t>
            </a:r>
          </a:p>
          <a:p>
            <a:pPr algn="ctr"/>
            <a:r>
              <a:rPr lang="en-GB" sz="600" b="0" dirty="0">
                <a:solidFill>
                  <a:srgbClr val="1F1F1F"/>
                </a:solidFill>
              </a:rPr>
              <a:t>owner interviews</a:t>
            </a:r>
          </a:p>
        </p:txBody>
      </p:sp>
      <p:sp>
        <p:nvSpPr>
          <p:cNvPr id="956" name="Sample 62 × 28"/>
          <p:cNvSpPr/>
          <p:nvPr/>
        </p:nvSpPr>
        <p:spPr>
          <a:xfrm>
            <a:off x="5981700" y="5664200"/>
            <a:ext cx="914400" cy="381000"/>
          </a:xfrm>
          <a:prstGeom prst="roundRect">
            <a:avLst/>
          </a:prstGeom>
          <a:solidFill>
            <a:srgbClr val="F6EAF2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1000" b="1" dirty="0">
                <a:solidFill>
                  <a:srgbClr val="5A0A46"/>
                </a:solidFill>
              </a:rPr>
              <a:t>62 × 28</a:t>
            </a:r>
          </a:p>
          <a:p>
            <a:pPr algn="ctr"/>
            <a:r>
              <a:rPr lang="en-GB" sz="600" b="0" dirty="0">
                <a:solidFill>
                  <a:srgbClr val="1F1F1F"/>
                </a:solidFill>
              </a:rPr>
              <a:t>sellers × days</a:t>
            </a:r>
          </a:p>
        </p:txBody>
      </p:sp>
      <p:sp>
        <p:nvSpPr>
          <p:cNvPr id="957" name="Sample 4.5%"/>
          <p:cNvSpPr/>
          <p:nvPr/>
        </p:nvSpPr>
        <p:spPr>
          <a:xfrm>
            <a:off x="6934200" y="5664200"/>
            <a:ext cx="914400" cy="381000"/>
          </a:xfrm>
          <a:prstGeom prst="roundRect">
            <a:avLst/>
          </a:prstGeom>
          <a:solidFill>
            <a:srgbClr val="F6EAF2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1000" b="1" dirty="0">
                <a:solidFill>
                  <a:srgbClr val="5A0A46"/>
                </a:solidFill>
              </a:rPr>
              <a:t>4.5%</a:t>
            </a:r>
          </a:p>
          <a:p>
            <a:pPr algn="ctr"/>
            <a:r>
              <a:rPr lang="en-GB" sz="600" b="0" dirty="0">
                <a:solidFill>
                  <a:srgbClr val="1F1F1F"/>
                </a:solidFill>
              </a:rPr>
              <a:t>MDE at 80% power</a:t>
            </a:r>
          </a:p>
        </p:txBody>
      </p:sp>
      <p:pic>
        <p:nvPicPr>
          <p:cNvPr id="958" name="Graphic 958" descr="Sourc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21100" y="1085850"/>
            <a:ext cx="165100" cy="165100"/>
          </a:xfrm>
          <a:prstGeom prst="rect">
            <a:avLst/>
          </a:prstGeom>
        </p:spPr>
      </p:pic>
      <p:pic>
        <p:nvPicPr>
          <p:cNvPr id="959" name="Graphic 959" descr="Assumption regist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47500" y="1085850"/>
            <a:ext cx="165100" cy="165100"/>
          </a:xfrm>
          <a:prstGeom prst="rect">
            <a:avLst/>
          </a:prstGeom>
        </p:spPr>
      </p:pic>
      <p:pic>
        <p:nvPicPr>
          <p:cNvPr id="960" name="Graphic 960" descr="Metho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08900" y="4578350"/>
            <a:ext cx="165100" cy="165100"/>
          </a:xfrm>
          <a:prstGeom prst="rect">
            <a:avLst/>
          </a:prstGeom>
        </p:spPr>
      </p:pic>
      <p:pic>
        <p:nvPicPr>
          <p:cNvPr id="961" name="Graphic 961" descr="Workings index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60200" y="4578350"/>
            <a:ext cx="165100" cy="165100"/>
          </a:xfrm>
          <a:prstGeom prst="rect">
            <a:avLst/>
          </a:prstGeom>
        </p:spPr>
      </p:pic>
      <p:pic>
        <p:nvPicPr>
          <p:cNvPr id="962" name="Graphic 962" descr="List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02100" y="5676900"/>
            <a:ext cx="127000" cy="127000"/>
          </a:xfrm>
          <a:prstGeom prst="rect">
            <a:avLst/>
          </a:prstGeom>
        </p:spPr>
      </p:pic>
      <p:pic>
        <p:nvPicPr>
          <p:cNvPr id="963" name="Graphic 963" descr="Interview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4600" y="5676900"/>
            <a:ext cx="127000" cy="127000"/>
          </a:xfrm>
          <a:prstGeom prst="rect">
            <a:avLst/>
          </a:prstGeom>
        </p:spPr>
      </p:pic>
      <p:pic>
        <p:nvPicPr>
          <p:cNvPr id="964" name="Graphic 964" descr="Sellers x day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94400" y="5676900"/>
            <a:ext cx="127000" cy="127000"/>
          </a:xfrm>
          <a:prstGeom prst="rect">
            <a:avLst/>
          </a:prstGeom>
        </p:spPr>
      </p:pic>
      <p:pic>
        <p:nvPicPr>
          <p:cNvPr id="965" name="Graphic 965" descr="M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46900" y="5676900"/>
            <a:ext cx="127000" cy="127000"/>
          </a:xfrm>
          <a:prstGeom prst="rect">
            <a:avLst/>
          </a:prstGeom>
        </p:spPr>
      </p:pic>
      <p:pic>
        <p:nvPicPr>
          <p:cNvPr id="966" name="Graphic 966" descr="Siz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47500" y="4806950"/>
            <a:ext cx="101600" cy="101600"/>
          </a:xfrm>
          <a:prstGeom prst="rect">
            <a:avLst/>
          </a:prstGeom>
        </p:spPr>
      </p:pic>
      <p:pic>
        <p:nvPicPr>
          <p:cNvPr id="967" name="Graphic 967" descr="Unit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747500" y="4946650"/>
            <a:ext cx="101600" cy="101600"/>
          </a:xfrm>
          <a:prstGeom prst="rect">
            <a:avLst/>
          </a:prstGeom>
        </p:spPr>
      </p:pic>
      <p:pic>
        <p:nvPicPr>
          <p:cNvPr id="968" name="Graphic 968" descr="Benef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47500" y="5086350"/>
            <a:ext cx="101600" cy="101600"/>
          </a:xfrm>
          <a:prstGeom prst="rect">
            <a:avLst/>
          </a:prstGeom>
        </p:spPr>
      </p:pic>
      <p:pic>
        <p:nvPicPr>
          <p:cNvPr id="969" name="Graphic 969" descr="Failed deliv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47500" y="5226050"/>
            <a:ext cx="101600" cy="101600"/>
          </a:xfrm>
          <a:prstGeom prst="rect">
            <a:avLst/>
          </a:prstGeom>
        </p:spPr>
      </p:pic>
      <p:pic>
        <p:nvPicPr>
          <p:cNvPr id="970" name="Graphic 970" descr="AH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747500" y="5359400"/>
            <a:ext cx="101600" cy="101600"/>
          </a:xfrm>
          <a:prstGeom prst="rect">
            <a:avLst/>
          </a:prstGeom>
        </p:spPr>
      </p:pic>
      <p:pic>
        <p:nvPicPr>
          <p:cNvPr id="971" name="Graphic 971" descr="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747500" y="54991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00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3360" y="7315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050792" y="731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· Benchmarks, compliance, model detail</a:t>
            </a:r>
            <a:endParaRPr lang="en-US" sz="1400" dirty="0"/>
          </a:p>
        </p:txBody>
      </p:sp>
      <p:pic>
        <p:nvPicPr>
          <p:cNvPr id="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benchmarking, compliance by design, and the workings behind the cohort, cluster and unit-cost numbers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S15-S19, S22-S25   |   Compliance rows are design responses, not legal advice: Meesho legal confirms each before the pilot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051560"/>
            <a:ext cx="657307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612648" y="1051560"/>
            <a:ext cx="6445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benchmarking: KPI × company (dated, sourced) and how Meesho uses it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1298448"/>
            <a:ext cx="6573073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612648" y="1344168"/>
          <a:ext cx="6410257" cy="2243328"/>
        </p:xfrm>
        <a:graphic>
          <a:graphicData uri="http://schemas.openxmlformats.org/drawingml/2006/table">
            <a:tbl>
              <a:tblPr/>
              <a:tblGrid>
                <a:gridCol w="1291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3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3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Pinduoduo NBI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Taobao C2M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 semi-managed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Brazil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of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End-2019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2020; Dec 2021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2023 - Feb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Factories / merchants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900+ in C2M 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“super factories” targeted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+80,000 planned for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(not disclosed)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 signed of 2,000; 1 producing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data to factories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anonymised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consumer insight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platform prices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real-time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holds stock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Merchant, local warehouse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100-200 item first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runs, fast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lever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scale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+ insight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batches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~30% price-cut asks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Meesho uses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NBFC prepayment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Seller-owned node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Pre-order batches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ask for cuts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Shape 11"/>
          <p:cNvSpPr/>
          <p:nvPr/>
        </p:nvSpPr>
        <p:spPr>
          <a:xfrm>
            <a:off x="7213153" y="105156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7277161" y="105156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by design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7213153" y="1298448"/>
            <a:ext cx="4747199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1" name="Table 1"/>
          <p:cNvGraphicFramePr>
            <a:graphicFrameLocks noGrp="1"/>
          </p:cNvGraphicFramePr>
          <p:nvPr/>
        </p:nvGraphicFramePr>
        <p:xfrm>
          <a:off x="7277161" y="1344168"/>
          <a:ext cx="4619183" cy="2292094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design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Note 2 (2018)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may not own or control seller inventory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keeps title at the node; Valmo sells warehousing at arm’s length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Note 2 (2018)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Fair, non-discriminatory services; no exclusivity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and grants are published rules any seller can meet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Rules, 2026 amendment (from 1 Jan 2027)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parameters by importance; sponsored labelled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the price-gap badge as a ranking parameter; grants are organic, never sold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Dark-pattern guidelines (2023)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false urgency or hidden terms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“Ships in 7-8 days, ₹10 off” shown before 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Act (2023)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personal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Briefs use district aggregates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at a third-party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registered as the seller’s additional place of business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4"/>
          <p:cNvSpPr/>
          <p:nvPr/>
        </p:nvSpPr>
        <p:spPr>
          <a:xfrm>
            <a:off x="548640" y="3736238"/>
            <a:ext cx="383426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612648" y="3736238"/>
            <a:ext cx="3706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scoring behind the personas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548640" y="3983126"/>
            <a:ext cx="3834262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6" name="Table 2"/>
          <p:cNvGraphicFramePr>
            <a:graphicFrameLocks noGrp="1"/>
          </p:cNvGraphicFramePr>
          <p:nvPr/>
        </p:nvGraphicFramePr>
        <p:xfrm>
          <a:off x="612648" y="4028846"/>
          <a:ext cx="3706246" cy="105613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44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edge 30%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size 25%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Fixable 20%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supply 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Offline B2B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Churned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Online elsewhere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612648" y="5089550"/>
            <a:ext cx="3706246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(5 =):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edge: sells ex-factory B2B · pool: &gt; 50% of SAM · fixable: all HIGH barriers fixable · speed: KYC + catalogue on Meesho · new supply: new to Meesho. </a:t>
            </a:r>
            <a:r>
              <a:rPr lang="en-US" sz="7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weights give the same order (4.2 / 3.4 / 3.2).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4474342" y="3736238"/>
            <a:ext cx="367442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 txBox="1"/>
          <p:nvPr/>
        </p:nvSpPr>
        <p:spPr>
          <a:xfrm>
            <a:off x="4538350" y="3736238"/>
            <a:ext cx="3546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workings (CR 0.016)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474342" y="3983126"/>
            <a:ext cx="3674425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 txBox="1"/>
          <p:nvPr/>
        </p:nvSpPr>
        <p:spPr>
          <a:xfrm>
            <a:off x="4538350" y="4028846"/>
            <a:ext cx="3546409" cy="205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1-9 matrix → geometric mean of each row → weight = mean ÷ sum of means. </a:t>
            </a:r>
            <a:endParaRPr lang="en-US" sz="7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λmax = 5.072; CI = (λmax − 5) ÷ 4 = 0.018; CR = CI ÷ 1.12 = 0.016 &lt; 0.10.</a:t>
            </a:r>
            <a:endParaRPr lang="en-US" sz="7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0.338 / 0.256 / 0.179 / 0.144 / 0.083 reproduce Round 1’s cluster scores (Tiruppur 4.68, Panipat 4.52).</a:t>
            </a:r>
            <a:endParaRPr lang="en-US" sz="7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overtakes Panipat only above a 0.67 demand weight.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8240207" y="3736238"/>
            <a:ext cx="372014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3"/>
          <p:cNvSpPr txBox="1"/>
          <p:nvPr/>
        </p:nvSpPr>
        <p:spPr>
          <a:xfrm>
            <a:off x="8304215" y="3736238"/>
            <a:ext cx="3592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Unit-economics workings (per 100 shipped)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8240207" y="3983126"/>
            <a:ext cx="3720145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 txBox="1"/>
          <p:nvPr/>
        </p:nvSpPr>
        <p:spPr>
          <a:xfrm>
            <a:off x="8304215" y="4028846"/>
            <a:ext cx="3592129" cy="205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units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 × (1 − RTO) × (1 − returns) = 79.1 (prepaid: 87.8)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extra units made × cost × (1 − 50% salvage); 10% build-to-stock vs 2% batch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delivered × forward fee + shipped × packing (₹10) or node fee (₹20)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make cost × 18% × days ÷ 365 (45 vs 10 days)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cost per kept ÷ (1 − 9%) → proposed ₹164.0 ÷ 0.91 = ₹180.2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checks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₹74.9 cr = Σ PV row ✓ · Year-4 NMV ₹1,853 cr (average 1,300 sellers) vs ₹1,995 cr exit run-rate (1,400) ✓ · batch payout ₹88,524 = revenue − fees ✓ · RICE order = dependency order ✓</a:t>
            </a:r>
            <a:endParaRPr lang="en-US" sz="750" dirty="0"/>
          </a:p>
        </p:txBody>
      </p:sp>
      <p:sp>
        <p:nvSpPr>
          <p:cNvPr id="950" name="AHP chart title"/>
          <p:cNvSpPr/>
          <p:nvPr/>
        </p:nvSpPr>
        <p:spPr>
          <a:xfrm>
            <a:off x="4533900" y="4978400"/>
            <a:ext cx="35433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700" b="1" dirty="0">
                <a:solidFill>
                  <a:srgbClr val="5A0A46"/>
                </a:solidFill>
              </a:rPr>
              <a:t>Criterion weights (sum = 1.00)</a:t>
            </a:r>
          </a:p>
        </p:txBody>
      </p:sp>
      <p:sp>
        <p:nvSpPr>
          <p:cNvPr id="951" name="AHP lbl Cost ownership"/>
          <p:cNvSpPr/>
          <p:nvPr/>
        </p:nvSpPr>
        <p:spPr>
          <a:xfrm>
            <a:off x="4533900" y="51435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Cost ownership</a:t>
            </a:r>
          </a:p>
        </p:txBody>
      </p:sp>
      <p:sp>
        <p:nvSpPr>
          <p:cNvPr id="952" name="AHP bar Cost ownership"/>
          <p:cNvSpPr/>
          <p:nvPr/>
        </p:nvSpPr>
        <p:spPr>
          <a:xfrm>
            <a:off x="5613400" y="5162550"/>
            <a:ext cx="1905000" cy="101600"/>
          </a:xfrm>
          <a:prstGeom prst="rect">
            <a:avLst/>
          </a:prstGeom>
          <a:solidFill>
            <a:srgbClr val="E8434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3" name="AHP val Cost ownership"/>
          <p:cNvSpPr/>
          <p:nvPr/>
        </p:nvSpPr>
        <p:spPr>
          <a:xfrm>
            <a:off x="7556500" y="514350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C2303C"/>
                </a:solidFill>
              </a:rPr>
              <a:t>0.338</a:t>
            </a:r>
          </a:p>
        </p:txBody>
      </p:sp>
      <p:sp>
        <p:nvSpPr>
          <p:cNvPr id="954" name="AHP lbl Demand on Meesho"/>
          <p:cNvSpPr/>
          <p:nvPr/>
        </p:nvSpPr>
        <p:spPr>
          <a:xfrm>
            <a:off x="4533900" y="532765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Demand on Meesho</a:t>
            </a:r>
          </a:p>
        </p:txBody>
      </p:sp>
      <p:sp>
        <p:nvSpPr>
          <p:cNvPr id="955" name="AHP bar Demand on Meesho"/>
          <p:cNvSpPr/>
          <p:nvPr/>
        </p:nvSpPr>
        <p:spPr>
          <a:xfrm>
            <a:off x="5613400" y="5346700"/>
            <a:ext cx="1442840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6" name="AHP val Demand on Meesho"/>
          <p:cNvSpPr/>
          <p:nvPr/>
        </p:nvSpPr>
        <p:spPr>
          <a:xfrm>
            <a:off x="7094340" y="532765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0.256</a:t>
            </a:r>
          </a:p>
        </p:txBody>
      </p:sp>
      <p:sp>
        <p:nvSpPr>
          <p:cNvPr id="957" name="AHP lbl Returns band"/>
          <p:cNvSpPr/>
          <p:nvPr/>
        </p:nvSpPr>
        <p:spPr>
          <a:xfrm>
            <a:off x="4533900" y="55118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Returns band</a:t>
            </a:r>
          </a:p>
        </p:txBody>
      </p:sp>
      <p:sp>
        <p:nvSpPr>
          <p:cNvPr id="958" name="AHP bar Returns band"/>
          <p:cNvSpPr/>
          <p:nvPr/>
        </p:nvSpPr>
        <p:spPr>
          <a:xfrm>
            <a:off x="5613400" y="5530850"/>
            <a:ext cx="1008861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9" name="AHP val Returns band"/>
          <p:cNvSpPr/>
          <p:nvPr/>
        </p:nvSpPr>
        <p:spPr>
          <a:xfrm>
            <a:off x="6660361" y="551180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0.179</a:t>
            </a:r>
          </a:p>
        </p:txBody>
      </p:sp>
      <p:sp>
        <p:nvSpPr>
          <p:cNvPr id="960" name="AHP lbl Node feasibility"/>
          <p:cNvSpPr/>
          <p:nvPr/>
        </p:nvSpPr>
        <p:spPr>
          <a:xfrm>
            <a:off x="4533900" y="569595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Node feasibility</a:t>
            </a:r>
          </a:p>
        </p:txBody>
      </p:sp>
      <p:sp>
        <p:nvSpPr>
          <p:cNvPr id="961" name="AHP bar Node feasibility"/>
          <p:cNvSpPr/>
          <p:nvPr/>
        </p:nvSpPr>
        <p:spPr>
          <a:xfrm>
            <a:off x="5613400" y="5715000"/>
            <a:ext cx="811598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62" name="AHP val Node feasibility"/>
          <p:cNvSpPr/>
          <p:nvPr/>
        </p:nvSpPr>
        <p:spPr>
          <a:xfrm>
            <a:off x="6463098" y="569595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0.144</a:t>
            </a:r>
          </a:p>
        </p:txBody>
      </p:sp>
      <p:sp>
        <p:nvSpPr>
          <p:cNvPr id="963" name="AHP lbl Institutional partner"/>
          <p:cNvSpPr/>
          <p:nvPr/>
        </p:nvSpPr>
        <p:spPr>
          <a:xfrm>
            <a:off x="4533900" y="58801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Institutional partner</a:t>
            </a:r>
          </a:p>
        </p:txBody>
      </p:sp>
      <p:sp>
        <p:nvSpPr>
          <p:cNvPr id="964" name="AHP bar Institutional partner"/>
          <p:cNvSpPr/>
          <p:nvPr/>
        </p:nvSpPr>
        <p:spPr>
          <a:xfrm>
            <a:off x="5613400" y="5899150"/>
            <a:ext cx="467796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65" name="AHP val Institutional partner"/>
          <p:cNvSpPr/>
          <p:nvPr/>
        </p:nvSpPr>
        <p:spPr>
          <a:xfrm>
            <a:off x="6119296" y="588010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0.083</a:t>
            </a:r>
          </a:p>
        </p:txBody>
      </p:sp>
      <p:sp>
        <p:nvSpPr>
          <p:cNvPr id="966" name="Cost chart title"/>
          <p:cNvSpPr/>
          <p:nvPr/>
        </p:nvSpPr>
        <p:spPr>
          <a:xfrm>
            <a:off x="8305800" y="5105400"/>
            <a:ext cx="35941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700" b="1" dirty="0">
                <a:solidFill>
                  <a:srgbClr val="5A0A46"/>
                </a:solidFill>
              </a:rPr>
              <a:t>Cost per pack kept (₹), each lever added</a:t>
            </a:r>
          </a:p>
        </p:txBody>
      </p:sp>
      <p:sp>
        <p:nvSpPr>
          <p:cNvPr id="967" name="Cost lbl Reseller today"/>
          <p:cNvSpPr/>
          <p:nvPr/>
        </p:nvSpPr>
        <p:spPr>
          <a:xfrm>
            <a:off x="8305800" y="5270500"/>
            <a:ext cx="1092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Reseller today</a:t>
            </a:r>
          </a:p>
        </p:txBody>
      </p:sp>
      <p:sp>
        <p:nvSpPr>
          <p:cNvPr id="968" name="Cost bar Reseller today"/>
          <p:cNvSpPr/>
          <p:nvPr/>
        </p:nvSpPr>
        <p:spPr>
          <a:xfrm>
            <a:off x="9461500" y="5289550"/>
            <a:ext cx="1778000" cy="1016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69" name="Cost val Reseller today"/>
          <p:cNvSpPr/>
          <p:nvPr/>
        </p:nvSpPr>
        <p:spPr>
          <a:xfrm>
            <a:off x="11277600" y="527050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1F1F1F"/>
                </a:solidFill>
              </a:rPr>
              <a:t>200.5</a:t>
            </a:r>
          </a:p>
        </p:txBody>
      </p:sp>
      <p:sp>
        <p:nvSpPr>
          <p:cNvPr id="970" name="Cost lbl + Factory lists direct"/>
          <p:cNvSpPr/>
          <p:nvPr/>
        </p:nvSpPr>
        <p:spPr>
          <a:xfrm>
            <a:off x="8305800" y="5467350"/>
            <a:ext cx="1092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+ Factory lists direct</a:t>
            </a:r>
          </a:p>
        </p:txBody>
      </p:sp>
      <p:sp>
        <p:nvSpPr>
          <p:cNvPr id="971" name="Cost bar + Factory lists direct"/>
          <p:cNvSpPr/>
          <p:nvPr/>
        </p:nvSpPr>
        <p:spPr>
          <a:xfrm>
            <a:off x="9461500" y="5486400"/>
            <a:ext cx="1565172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2" name="Cost val + Factory lists direct"/>
          <p:cNvSpPr/>
          <p:nvPr/>
        </p:nvSpPr>
        <p:spPr>
          <a:xfrm>
            <a:off x="11064772" y="546735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1F1F1F"/>
                </a:solidFill>
              </a:rPr>
              <a:t>176.5</a:t>
            </a:r>
          </a:p>
        </p:txBody>
      </p:sp>
      <p:sp>
        <p:nvSpPr>
          <p:cNvPr id="973" name="Cost lbl + Factory Node"/>
          <p:cNvSpPr/>
          <p:nvPr/>
        </p:nvSpPr>
        <p:spPr>
          <a:xfrm>
            <a:off x="8305800" y="5664200"/>
            <a:ext cx="1092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+ Factory Node</a:t>
            </a:r>
          </a:p>
        </p:txBody>
      </p:sp>
      <p:sp>
        <p:nvSpPr>
          <p:cNvPr id="974" name="Cost bar + Factory Node"/>
          <p:cNvSpPr/>
          <p:nvPr/>
        </p:nvSpPr>
        <p:spPr>
          <a:xfrm>
            <a:off x="9461500" y="5683250"/>
            <a:ext cx="1542116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5" name="Cost val + Factory Node"/>
          <p:cNvSpPr/>
          <p:nvPr/>
        </p:nvSpPr>
        <p:spPr>
          <a:xfrm>
            <a:off x="11041716" y="566420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1F1F1F"/>
                </a:solidFill>
              </a:rPr>
              <a:t>173.9</a:t>
            </a:r>
          </a:p>
        </p:txBody>
      </p:sp>
      <p:sp>
        <p:nvSpPr>
          <p:cNvPr id="976" name="Cost lbl + Prepaid batch"/>
          <p:cNvSpPr/>
          <p:nvPr/>
        </p:nvSpPr>
        <p:spPr>
          <a:xfrm>
            <a:off x="8305800" y="5861050"/>
            <a:ext cx="1092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+ Prepaid batch</a:t>
            </a:r>
          </a:p>
        </p:txBody>
      </p:sp>
      <p:sp>
        <p:nvSpPr>
          <p:cNvPr id="977" name="Cost bar + Prepaid batch"/>
          <p:cNvSpPr/>
          <p:nvPr/>
        </p:nvSpPr>
        <p:spPr>
          <a:xfrm>
            <a:off x="9461500" y="5880100"/>
            <a:ext cx="1454324" cy="1016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8" name="Cost val + Prepaid batch"/>
          <p:cNvSpPr/>
          <p:nvPr/>
        </p:nvSpPr>
        <p:spPr>
          <a:xfrm>
            <a:off x="10953924" y="586105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1F7A44"/>
                </a:solidFill>
              </a:rPr>
              <a:t>164.0</a:t>
            </a:r>
          </a:p>
        </p:txBody>
      </p:sp>
      <p:pic>
        <p:nvPicPr>
          <p:cNvPr id="979" name="Graphic 979" descr="Benchmark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1500" y="1085850"/>
            <a:ext cx="165100" cy="165100"/>
          </a:xfrm>
          <a:prstGeom prst="rect">
            <a:avLst/>
          </a:prstGeom>
        </p:spPr>
      </p:pic>
      <p:pic>
        <p:nvPicPr>
          <p:cNvPr id="980" name="Graphic 980" descr="Compli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981" name="Graphic 981" descr="Cohort scor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8300" y="3765550"/>
            <a:ext cx="165100" cy="165100"/>
          </a:xfrm>
          <a:prstGeom prst="rect">
            <a:avLst/>
          </a:prstGeom>
        </p:spPr>
      </p:pic>
      <p:pic>
        <p:nvPicPr>
          <p:cNvPr id="982" name="Graphic 982" descr="AHP work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500" y="3765550"/>
            <a:ext cx="165100" cy="165100"/>
          </a:xfrm>
          <a:prstGeom prst="rect">
            <a:avLst/>
          </a:prstGeom>
        </p:spPr>
      </p:pic>
      <p:pic>
        <p:nvPicPr>
          <p:cNvPr id="983" name="Graphic 983" descr="Unit-economics work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0200" y="3765550"/>
            <a:ext cx="165100" cy="165100"/>
          </a:xfrm>
          <a:prstGeom prst="rect">
            <a:avLst/>
          </a:prstGeom>
        </p:spPr>
      </p:pic>
      <p:pic>
        <p:nvPicPr>
          <p:cNvPr id="984" name="Graphic 984" descr="Year of dat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" y="1695450"/>
            <a:ext cx="127000" cy="127000"/>
          </a:xfrm>
          <a:prstGeom prst="rect">
            <a:avLst/>
          </a:prstGeom>
        </p:spPr>
      </p:pic>
      <p:pic>
        <p:nvPicPr>
          <p:cNvPr id="985" name="Graphic 985" descr="Factor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" y="1962150"/>
            <a:ext cx="127000" cy="127000"/>
          </a:xfrm>
          <a:prstGeom prst="rect">
            <a:avLst/>
          </a:prstGeom>
        </p:spPr>
      </p:pic>
      <p:pic>
        <p:nvPicPr>
          <p:cNvPr id="986" name="Graphic 986" descr="Demand dat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" y="2266950"/>
            <a:ext cx="127000" cy="127000"/>
          </a:xfrm>
          <a:prstGeom prst="rect">
            <a:avLst/>
          </a:prstGeom>
        </p:spPr>
      </p:pic>
      <p:pic>
        <p:nvPicPr>
          <p:cNvPr id="987" name="Graphic 987" descr="Who holds 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" y="2546350"/>
            <a:ext cx="127000" cy="127000"/>
          </a:xfrm>
          <a:prstGeom prst="rect">
            <a:avLst/>
          </a:prstGeom>
        </p:spPr>
      </p:pic>
      <p:pic>
        <p:nvPicPr>
          <p:cNvPr id="988" name="Graphic 988" descr="Batch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" y="2825750"/>
            <a:ext cx="127000" cy="127000"/>
          </a:xfrm>
          <a:prstGeom prst="rect">
            <a:avLst/>
          </a:prstGeom>
        </p:spPr>
      </p:pic>
      <p:pic>
        <p:nvPicPr>
          <p:cNvPr id="989" name="Graphic 989" descr="Price le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700" y="3105150"/>
            <a:ext cx="127000" cy="127000"/>
          </a:xfrm>
          <a:prstGeom prst="rect">
            <a:avLst/>
          </a:prstGeom>
        </p:spPr>
      </p:pic>
      <p:pic>
        <p:nvPicPr>
          <p:cNvPr id="990" name="Graphic 990" descr="How Meesho uses 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" y="3384550"/>
            <a:ext cx="127000" cy="127000"/>
          </a:xfrm>
          <a:prstGeom prst="rect">
            <a:avLst/>
          </a:prstGeom>
        </p:spPr>
      </p:pic>
      <p:pic>
        <p:nvPicPr>
          <p:cNvPr id="991" name="Graphic 991" descr="Offline B2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700" y="4476750"/>
            <a:ext cx="127000" cy="127000"/>
          </a:xfrm>
          <a:prstGeom prst="rect">
            <a:avLst/>
          </a:prstGeom>
        </p:spPr>
      </p:pic>
      <p:pic>
        <p:nvPicPr>
          <p:cNvPr id="992" name="Graphic 992" descr="Churn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7700" y="4692650"/>
            <a:ext cx="127000" cy="127000"/>
          </a:xfrm>
          <a:prstGeom prst="rect">
            <a:avLst/>
          </a:prstGeom>
        </p:spPr>
      </p:pic>
      <p:pic>
        <p:nvPicPr>
          <p:cNvPr id="993" name="Graphic 993" descr="Online elsewhe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7700" y="4921250"/>
            <a:ext cx="127000" cy="127000"/>
          </a:xfrm>
          <a:prstGeom prst="rect">
            <a:avLst/>
          </a:prstGeom>
        </p:spPr>
      </p:pic>
      <p:pic>
        <p:nvPicPr>
          <p:cNvPr id="994" name="Graphic 994" descr="Press Note 2 inven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15200" y="1631950"/>
            <a:ext cx="127000" cy="127000"/>
          </a:xfrm>
          <a:prstGeom prst="rect">
            <a:avLst/>
          </a:prstGeom>
        </p:spPr>
      </p:pic>
      <p:pic>
        <p:nvPicPr>
          <p:cNvPr id="995" name="Graphic 995" descr="Fair servic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15200" y="1974850"/>
            <a:ext cx="127000" cy="127000"/>
          </a:xfrm>
          <a:prstGeom prst="rect">
            <a:avLst/>
          </a:prstGeom>
        </p:spPr>
      </p:pic>
      <p:pic>
        <p:nvPicPr>
          <p:cNvPr id="996" name="Graphic 996" descr="Ranking paramet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15200" y="2368550"/>
            <a:ext cx="127000" cy="127000"/>
          </a:xfrm>
          <a:prstGeom prst="rect">
            <a:avLst/>
          </a:prstGeom>
        </p:spPr>
      </p:pic>
      <p:pic>
        <p:nvPicPr>
          <p:cNvPr id="997" name="Graphic 997" descr="Dark patter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15200" y="2711450"/>
            <a:ext cx="127000" cy="127000"/>
          </a:xfrm>
          <a:prstGeom prst="rect">
            <a:avLst/>
          </a:prstGeom>
        </p:spPr>
      </p:pic>
      <p:pic>
        <p:nvPicPr>
          <p:cNvPr id="998" name="Graphic 998" descr="DPD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15200" y="3054350"/>
            <a:ext cx="127000" cy="127000"/>
          </a:xfrm>
          <a:prstGeom prst="rect">
            <a:avLst/>
          </a:prstGeom>
        </p:spPr>
      </p:pic>
      <p:pic>
        <p:nvPicPr>
          <p:cNvPr id="999" name="Graphic 999" descr="G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15200" y="3397250"/>
            <a:ext cx="127000" cy="127000"/>
          </a:xfrm>
          <a:prstGeom prst="rect">
            <a:avLst/>
          </a:prstGeom>
        </p:spPr>
      </p:pic>
      <p:pic>
        <p:nvPicPr>
          <p:cNvPr id="1000" name="Graphic 1000" descr="Pinduoduo NB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68500" y="1428750"/>
            <a:ext cx="101600" cy="101600"/>
          </a:xfrm>
          <a:prstGeom prst="rect">
            <a:avLst/>
          </a:prstGeom>
        </p:spPr>
      </p:pic>
      <p:pic>
        <p:nvPicPr>
          <p:cNvPr id="1001" name="Graphic 1001" descr="Taobao C2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984500" y="1428750"/>
            <a:ext cx="101600" cy="101600"/>
          </a:xfrm>
          <a:prstGeom prst="rect">
            <a:avLst/>
          </a:prstGeom>
        </p:spPr>
      </p:pic>
      <p:pic>
        <p:nvPicPr>
          <p:cNvPr id="1003" name="Graphic 1003" descr="She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29200" y="1428750"/>
            <a:ext cx="101600" cy="101600"/>
          </a:xfrm>
          <a:prstGeom prst="rect">
            <a:avLst/>
          </a:prstGeom>
        </p:spPr>
      </p:pic>
      <p:pic>
        <p:nvPicPr>
          <p:cNvPr id="1004" name="Graphic 1004" descr="Shein Brazi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057900" y="142875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42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7DEE71-88E1-7E4C-BACD-20D3F487EBF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54863c7a-aea1-49e5-8cc2-8e3bcc783e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11224</Words>
  <Application>Microsoft Macintosh PowerPoint</Application>
  <PresentationFormat>Widescreen</PresentationFormat>
  <Paragraphs>2253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Direct: building Meesho’s C2M base</dc:title>
  <dc:subject>PptxGenJS Presentation</dc:subject>
  <dc:creator>Team 23B0747, IIT Bombay</dc:creator>
  <cp:lastModifiedBy>[BTECH-005-2023-24] UDAYAN PRASHANTPAWAR</cp:lastModifiedBy>
  <cp:revision>3</cp:revision>
  <dcterms:created xsi:type="dcterms:W3CDTF">2026-10-02T18:49:41Z</dcterms:created>
  <dcterms:modified xsi:type="dcterms:W3CDTF">2026-10-03T17:34:17Z</dcterms:modified>
</cp:coreProperties>
</file>