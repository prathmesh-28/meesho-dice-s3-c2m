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Benefit</c:v>
                </c:pt>
              </c:strCache>
            </c:strRef>
          </c:tx>
          <c:spPr>
            <a:solidFill>
              <a:srgbClr val="2E9E5B"/>
            </a:solidFill>
            <a:ln w="25400" cap="flat">
              <a:solidFill>
                <a:srgbClr val="2E9E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E9E5B"/>
              </a:solidFill>
              <a:ln w="9525" cap="flat">
                <a:solidFill>
                  <a:srgbClr val="2E9E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26</c:v>
                </c:pt>
                <c:pt idx="2">
                  <c:v>46.8</c:v>
                </c:pt>
                <c:pt idx="3">
                  <c:v>68.7</c:v>
                </c:pt>
                <c:pt idx="4">
                  <c:v>76.7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D64545"/>
            </a:solidFill>
            <a:ln w="25400" cap="flat">
              <a:solidFill>
                <a:srgbClr val="D64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64545"/>
              </a:solidFill>
              <a:ln w="9525" cap="flat">
                <a:solidFill>
                  <a:srgbClr val="D64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25.8</c:v>
                </c:pt>
                <c:pt idx="1">
                  <c:v>16.5</c:v>
                </c:pt>
                <c:pt idx="2">
                  <c:v>18</c:v>
                </c:pt>
                <c:pt idx="3">
                  <c:v>20.1</c:v>
                </c:pt>
                <c:pt idx="4">
                  <c:v>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Governing thought: screen on price, not size; make only what is sold; 1,400 factories by Year 4; ₹1,995 cr NMV 8–12% below market; NPV from model.mjs.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Stakeholders’ voice uses published interviews. Add 1–2 rows from the team’s own Round 1 interviews (data/primary_research.json → interviews[]) when the notes arrive.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6.png"/><Relationship Id="rId7" Type="http://schemas.openxmlformats.org/officeDocument/2006/relationships/image" Target="../media/image-2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7.png"/><Relationship Id="rId11" Type="http://schemas.openxmlformats.org/officeDocument/2006/relationships/image" Target="../media/image-4-5.png"/><Relationship Id="rId12" Type="http://schemas.openxmlformats.org/officeDocument/2006/relationships/image" Target="../media/image-4-6.png"/><Relationship Id="rId13" Type="http://schemas.openxmlformats.org/officeDocument/2006/relationships/image" Target="../media/image-4-8.png"/><Relationship Id="rId14" Type="http://schemas.openxmlformats.org/officeDocument/2006/relationships/image" Target="../media/image-4-9.png"/><Relationship Id="rId15" Type="http://schemas.openxmlformats.org/officeDocument/2006/relationships/image" Target="../media/image-4-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4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7.png"/><Relationship Id="rId12" Type="http://schemas.openxmlformats.org/officeDocument/2006/relationships/image" Target="../media/image-6-4.png"/><Relationship Id="rId13" Type="http://schemas.openxmlformats.org/officeDocument/2006/relationships/image" Target="../media/image-6-13.png"/><Relationship Id="rId14" Type="http://schemas.openxmlformats.org/officeDocument/2006/relationships/image" Target="../media/image-6-10.png"/><Relationship Id="rId15" Type="http://schemas.openxmlformats.org/officeDocument/2006/relationships/image" Target="../media/image-6-7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0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74320"/>
            <a:ext cx="566928" cy="566928"/>
          </a:xfrm>
          <a:prstGeom prst="rect">
            <a:avLst/>
          </a:prstGeom>
        </p:spPr>
      </p:pic>
      <p:pic>
        <p:nvPicPr>
          <p:cNvPr id="3" name="Image 1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201168"/>
            <a:ext cx="713232" cy="69494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1051560"/>
            <a:ext cx="5120640" cy="5120640"/>
          </a:xfrm>
          <a:prstGeom prst="ellipse">
            <a:avLst/>
          </a:prstGeom>
          <a:solidFill>
            <a:srgbClr val="F7A21B"/>
          </a:solidFill>
          <a:ln w="12700">
            <a:solidFill>
              <a:srgbClr val="F7A21B"/>
            </a:solidFill>
            <a:prstDash val="solid"/>
          </a:ln>
        </p:spPr>
      </p:sp>
      <p:pic>
        <p:nvPicPr>
          <p:cNvPr id="5" name="Image 2" descr="/Users/prathmeshwalimbe/Downloads/Meesho/02_round2_detailed_submission/deck/source/assets/cover_bann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1188720"/>
            <a:ext cx="4846320" cy="4846320"/>
          </a:xfrm>
          <a:prstGeom prst="ellipse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35040" y="411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TRACK  ·  DETAILED SUBMISSION  ·  ROUND 2</a:t>
            </a:r>
            <a:endParaRPr lang="en-US" sz="1100" dirty="0"/>
          </a:p>
        </p:txBody>
      </p:sp>
      <p:sp>
        <p:nvSpPr>
          <p:cNvPr id="7" name="Shape 2"/>
          <p:cNvSpPr/>
          <p:nvPr/>
        </p:nvSpPr>
        <p:spPr>
          <a:xfrm>
            <a:off x="6309360" y="868680"/>
            <a:ext cx="4754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035040" y="96012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7A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Meesho’s Consumer-to-Manufacturer (C2M) Base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7452360" y="2103120"/>
            <a:ext cx="3017520" cy="420624"/>
          </a:xfrm>
          <a:prstGeom prst="roundRect">
            <a:avLst>
              <a:gd name="adj" fmla="val 1087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479792" y="2103120"/>
            <a:ext cx="2962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265176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manufacturers on price, not size, and let them make only what is already sold. </a:t>
            </a:r>
            <a:pPr algn="ctr" indent="0" marL="0">
              <a:buNone/>
            </a:pPr>
            <a:r>
              <a:rPr lang="en-US" sz="1300" b="1" i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factories by Year 4 put ₹1,995 cr of NMV 8%–12% below market, </a:t>
            </a:r>
            <a:pPr algn="ctr" indent="0" marL="0">
              <a:buNone/>
            </a:pPr>
            <a:r>
              <a:rPr lang="en-US" sz="1300" b="1" i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five-year NPV of ₹75 cr on ₹22.2 cr of capped Year-1 cash.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6400800" y="3657600"/>
            <a:ext cx="51206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903720" y="3822192"/>
            <a:ext cx="4114800" cy="384048"/>
          </a:xfrm>
          <a:prstGeom prst="roundRect">
            <a:avLst>
              <a:gd name="adj" fmla="val 11905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31152" y="3822192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23B0747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7360920" y="4315968"/>
            <a:ext cx="1005840" cy="1005840"/>
          </a:xfrm>
          <a:prstGeom prst="ellipse">
            <a:avLst/>
          </a:prstGeom>
          <a:solidFill>
            <a:srgbClr val="F7A21B"/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16" name="Text 11"/>
          <p:cNvSpPr txBox="1"/>
          <p:nvPr/>
        </p:nvSpPr>
        <p:spPr>
          <a:xfrm>
            <a:off x="7360920" y="43159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photo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6812280" y="5358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Prathmesh Walimbe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9555480" y="4315968"/>
            <a:ext cx="1005840" cy="1005840"/>
          </a:xfrm>
          <a:prstGeom prst="ellipse">
            <a:avLst/>
          </a:prstGeom>
          <a:solidFill>
            <a:srgbClr val="F7A21B"/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19" name="Text 14"/>
          <p:cNvSpPr txBox="1"/>
          <p:nvPr/>
        </p:nvSpPr>
        <p:spPr>
          <a:xfrm>
            <a:off x="9555480" y="43159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photo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006840" y="5358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Kanta Mondal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903720" y="5724144"/>
            <a:ext cx="4114800" cy="384048"/>
          </a:xfrm>
          <a:prstGeom prst="roundRect">
            <a:avLst>
              <a:gd name="adj" fmla="val 11905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931152" y="5724144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Institute of Technology Bombay</a:t>
            </a:r>
            <a:endParaRPr lang="en-US" sz="1300" dirty="0"/>
          </a:p>
        </p:txBody>
      </p:sp>
      <p:pic>
        <p:nvPicPr>
          <p:cNvPr id="23" name="Image 3" descr="/Users/prathmeshwalimbe/Downloads/Meesho/02_round2_detailed_submission/deck/source/assets/qr_li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0" y="5532120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035040" y="627278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meesho-dice-c2m-iitb.vercel.app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follow price and 35% of MSMEs want online sales, but returns, stock risk and know-how keep factories offline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RESEARCH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build Factory Direct around the operational barriers (returns, stock risk, unit shipping, cash), not discounts. Owner: Category + Product.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S2 Q4 FY26 call · S3 FY26 results · S4 ICRIER 2025 · S9 The Tribune · S10 team teardown, 2 Oct 2026 · S21 Apparel Resources · S22 Round 1 interviews   |   Assumptions: A6, A22–A24   |   Survey kit and method: Appendix B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451896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4390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 factory base that sells cheaper, and stays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4518965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12648" y="1344168"/>
            <a:ext cx="439094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cost-advantaged factories onto Meesho through </a:t>
            </a:r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</a:t>
            </a:r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keep them.</a:t>
            </a:r>
            <a:endParaRPr lang="en-US" sz="850" dirty="0"/>
          </a:p>
        </p:txBody>
      </p:sp>
      <p:sp>
        <p:nvSpPr>
          <p:cNvPr id="39" name="Text 34"/>
          <p:cNvSpPr txBox="1"/>
          <p:nvPr/>
        </p:nvSpPr>
        <p:spPr>
          <a:xfrm>
            <a:off x="612648" y="152704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1033272" y="1527048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60704" y="1527048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929841" y="1499616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2057857" y="1527048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085289" y="1527048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Wholesaler +15%</a:t>
            </a:r>
            <a:endParaRPr lang="en-US" sz="800" dirty="0"/>
          </a:p>
        </p:txBody>
      </p:sp>
      <p:sp>
        <p:nvSpPr>
          <p:cNvPr id="45" name="Text 40"/>
          <p:cNvSpPr txBox="1"/>
          <p:nvPr/>
        </p:nvSpPr>
        <p:spPr>
          <a:xfrm>
            <a:off x="2954426" y="1499616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6" name="Shape 41"/>
          <p:cNvSpPr/>
          <p:nvPr/>
        </p:nvSpPr>
        <p:spPr>
          <a:xfrm>
            <a:off x="3082442" y="1527048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3109874" y="1527048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Reseller</a:t>
            </a:r>
            <a:endParaRPr lang="en-US" sz="800" dirty="0"/>
          </a:p>
        </p:txBody>
      </p:sp>
      <p:sp>
        <p:nvSpPr>
          <p:cNvPr id="48" name="Text 43"/>
          <p:cNvSpPr txBox="1"/>
          <p:nvPr/>
        </p:nvSpPr>
        <p:spPr>
          <a:xfrm>
            <a:off x="3979012" y="1499616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9" name="Shape 44"/>
          <p:cNvSpPr/>
          <p:nvPr/>
        </p:nvSpPr>
        <p:spPr>
          <a:xfrm>
            <a:off x="4107028" y="1527048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4134460" y="1527048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1033272" y="1755648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060704" y="1755648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Mark-ups stack before the buyer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2371954" y="1755648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2399386" y="1755648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Reseller’s lowest viable price ₹220: 5.4% above market</a:t>
            </a:r>
            <a:endParaRPr lang="en-US" sz="700" dirty="0"/>
          </a:p>
        </p:txBody>
      </p:sp>
      <p:sp>
        <p:nvSpPr>
          <p:cNvPr id="55" name="Shape 50"/>
          <p:cNvSpPr/>
          <p:nvPr/>
        </p:nvSpPr>
        <p:spPr>
          <a:xfrm>
            <a:off x="3710635" y="1755648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738067" y="1755648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and returns sit with resellers</a:t>
            </a:r>
            <a:endParaRPr lang="en-US" sz="700" dirty="0"/>
          </a:p>
        </p:txBody>
      </p:sp>
      <p:sp>
        <p:nvSpPr>
          <p:cNvPr id="57" name="Text 52"/>
          <p:cNvSpPr txBox="1"/>
          <p:nvPr/>
        </p:nvSpPr>
        <p:spPr>
          <a:xfrm>
            <a:off x="612648" y="203911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</a:t>
            </a:r>
            <a:endParaRPr lang="en-US" sz="850" dirty="0"/>
          </a:p>
        </p:txBody>
      </p:sp>
      <p:sp>
        <p:nvSpPr>
          <p:cNvPr id="58" name="Shape 53"/>
          <p:cNvSpPr/>
          <p:nvPr/>
        </p:nvSpPr>
        <p:spPr>
          <a:xfrm>
            <a:off x="1033272" y="2039112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1060704" y="2039112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800" dirty="0"/>
          </a:p>
        </p:txBody>
      </p:sp>
      <p:sp>
        <p:nvSpPr>
          <p:cNvPr id="60" name="Text 55"/>
          <p:cNvSpPr txBox="1"/>
          <p:nvPr/>
        </p:nvSpPr>
        <p:spPr>
          <a:xfrm>
            <a:off x="1929841" y="2011680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61" name="Shape 56"/>
          <p:cNvSpPr/>
          <p:nvPr/>
        </p:nvSpPr>
        <p:spPr>
          <a:xfrm>
            <a:off x="2057857" y="2039112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2" name="Text 57"/>
          <p:cNvSpPr txBox="1"/>
          <p:nvPr/>
        </p:nvSpPr>
        <p:spPr>
          <a:xfrm>
            <a:off x="2085289" y="2039112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</a:t>
            </a:r>
            <a:endParaRPr lang="en-US" sz="800" dirty="0"/>
          </a:p>
        </p:txBody>
      </p:sp>
      <p:sp>
        <p:nvSpPr>
          <p:cNvPr id="63" name="Text 58"/>
          <p:cNvSpPr txBox="1"/>
          <p:nvPr/>
        </p:nvSpPr>
        <p:spPr>
          <a:xfrm>
            <a:off x="2954426" y="2011680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64" name="Shape 59"/>
          <p:cNvSpPr/>
          <p:nvPr/>
        </p:nvSpPr>
        <p:spPr>
          <a:xfrm>
            <a:off x="3082442" y="2039112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3109874" y="2039112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Node</a:t>
            </a:r>
            <a:endParaRPr lang="en-US" sz="800" dirty="0"/>
          </a:p>
        </p:txBody>
      </p:sp>
      <p:sp>
        <p:nvSpPr>
          <p:cNvPr id="66" name="Text 61"/>
          <p:cNvSpPr txBox="1"/>
          <p:nvPr/>
        </p:nvSpPr>
        <p:spPr>
          <a:xfrm>
            <a:off x="3979012" y="2011680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67" name="Shape 62"/>
          <p:cNvSpPr/>
          <p:nvPr/>
        </p:nvSpPr>
        <p:spPr>
          <a:xfrm>
            <a:off x="4107028" y="2039112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4134460" y="2039112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1033272" y="2267712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60704" y="2267712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intermediary mark-up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2371954" y="2267712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2399386" y="2267712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Factory’s lowest viable price ₹180: 13.8% below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3710635" y="2267712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4" name="Text 69"/>
          <p:cNvSpPr txBox="1"/>
          <p:nvPr/>
        </p:nvSpPr>
        <p:spPr>
          <a:xfrm>
            <a:off x="3738067" y="2267712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only to confirmed orders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612648" y="2542032"/>
            <a:ext cx="4390949" cy="346558"/>
          </a:xfrm>
          <a:prstGeom prst="roundRect">
            <a:avLst>
              <a:gd name="adj" fmla="val 1055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6" name="Text 71"/>
          <p:cNvSpPr txBox="1"/>
          <p:nvPr/>
        </p:nvSpPr>
        <p:spPr>
          <a:xfrm>
            <a:off x="658368" y="2542032"/>
            <a:ext cx="1325880" cy="346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₹1,049 cr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year</a:t>
            </a:r>
            <a:endParaRPr lang="en-US" sz="800" dirty="0"/>
          </a:p>
        </p:txBody>
      </p:sp>
      <p:sp>
        <p:nvSpPr>
          <p:cNvPr id="77" name="Text 72"/>
          <p:cNvSpPr txBox="1"/>
          <p:nvPr/>
        </p:nvSpPr>
        <p:spPr>
          <a:xfrm>
            <a:off x="1984248" y="2560320"/>
            <a:ext cx="2964485" cy="309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wholesaler mark-up sits inside Meesho’s nine C2M categories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₹41,560 cr FY26 NMV [S3] × 40% in C2M categories [A6] × 6.3% mark-up share of price [A24]</a:t>
            </a:r>
            <a:endParaRPr lang="en-US" sz="750" dirty="0"/>
          </a:p>
        </p:txBody>
      </p:sp>
      <p:sp>
        <p:nvSpPr>
          <p:cNvPr id="78" name="Shape 73"/>
          <p:cNvSpPr/>
          <p:nvPr/>
        </p:nvSpPr>
        <p:spPr>
          <a:xfrm>
            <a:off x="548640" y="3025750"/>
            <a:ext cx="451896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612648" y="3025750"/>
            <a:ext cx="4390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to solve (page where we solve each)</a:t>
            </a:r>
            <a:endParaRPr lang="en-US" sz="950" dirty="0"/>
          </a:p>
        </p:txBody>
      </p:sp>
      <p:sp>
        <p:nvSpPr>
          <p:cNvPr id="80" name="Shape 75"/>
          <p:cNvSpPr/>
          <p:nvPr/>
        </p:nvSpPr>
        <p:spPr>
          <a:xfrm>
            <a:off x="548640" y="3272638"/>
            <a:ext cx="4518965" cy="98115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81" name="Shape 76"/>
          <p:cNvSpPr/>
          <p:nvPr/>
        </p:nvSpPr>
        <p:spPr>
          <a:xfrm>
            <a:off x="612648" y="3318358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649224" y="3336646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discovery · p9</a:t>
            </a:r>
            <a:endParaRPr lang="en-US" sz="800" dirty="0"/>
          </a:p>
        </p:txBody>
      </p:sp>
      <p:sp>
        <p:nvSpPr>
          <p:cNvPr id="83" name="Text 78"/>
          <p:cNvSpPr txBox="1"/>
          <p:nvPr/>
        </p:nvSpPr>
        <p:spPr>
          <a:xfrm>
            <a:off x="649224" y="3482950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≠ price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prices overstate demand</a:t>
            </a:r>
            <a:endParaRPr lang="en-US" sz="750" dirty="0"/>
          </a:p>
        </p:txBody>
      </p:sp>
      <p:sp>
        <p:nvSpPr>
          <p:cNvPr id="84" name="Shape 79"/>
          <p:cNvSpPr/>
          <p:nvPr/>
        </p:nvSpPr>
        <p:spPr>
          <a:xfrm>
            <a:off x="2094586" y="3318358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5" name="Text 80"/>
          <p:cNvSpPr txBox="1"/>
          <p:nvPr/>
        </p:nvSpPr>
        <p:spPr>
          <a:xfrm>
            <a:off x="2131162" y="3336646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operations · p6</a:t>
            </a:r>
            <a:endParaRPr lang="en-US" sz="800" dirty="0"/>
          </a:p>
        </p:txBody>
      </p:sp>
      <p:sp>
        <p:nvSpPr>
          <p:cNvPr id="86" name="Text 81"/>
          <p:cNvSpPr txBox="1"/>
          <p:nvPr/>
        </p:nvSpPr>
        <p:spPr>
          <a:xfrm>
            <a:off x="2131162" y="3482950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Pick, pack, ship per order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handled by the factory</a:t>
            </a:r>
            <a:endParaRPr lang="en-US" sz="750" dirty="0"/>
          </a:p>
        </p:txBody>
      </p:sp>
      <p:sp>
        <p:nvSpPr>
          <p:cNvPr id="87" name="Shape 82"/>
          <p:cNvSpPr/>
          <p:nvPr/>
        </p:nvSpPr>
        <p:spPr>
          <a:xfrm>
            <a:off x="3576523" y="3318358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8" name="Text 83"/>
          <p:cNvSpPr txBox="1"/>
          <p:nvPr/>
        </p:nvSpPr>
        <p:spPr>
          <a:xfrm>
            <a:off x="3613099" y="3336646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cash · p10</a:t>
            </a:r>
            <a:endParaRPr lang="en-US" sz="800" dirty="0"/>
          </a:p>
        </p:txBody>
      </p:sp>
      <p:sp>
        <p:nvSpPr>
          <p:cNvPr id="89" name="Text 84"/>
          <p:cNvSpPr txBox="1"/>
          <p:nvPr/>
        </p:nvSpPr>
        <p:spPr>
          <a:xfrm>
            <a:off x="3613099" y="3482950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Build-to-stock risk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45–60 day distributor terms</a:t>
            </a:r>
            <a:endParaRPr lang="en-US" sz="750" dirty="0"/>
          </a:p>
        </p:txBody>
      </p:sp>
      <p:sp>
        <p:nvSpPr>
          <p:cNvPr id="90" name="Shape 85"/>
          <p:cNvSpPr/>
          <p:nvPr/>
        </p:nvSpPr>
        <p:spPr>
          <a:xfrm>
            <a:off x="612648" y="3790645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91" name="Text 86"/>
          <p:cNvSpPr txBox="1"/>
          <p:nvPr/>
        </p:nvSpPr>
        <p:spPr>
          <a:xfrm>
            <a:off x="649224" y="3808933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&amp; visibility · p8</a:t>
            </a:r>
            <a:endParaRPr lang="en-US" sz="800" dirty="0"/>
          </a:p>
        </p:txBody>
      </p:sp>
      <p:sp>
        <p:nvSpPr>
          <p:cNvPr id="92" name="Text 87"/>
          <p:cNvSpPr txBox="1"/>
          <p:nvPr/>
        </p:nvSpPr>
        <p:spPr>
          <a:xfrm>
            <a:off x="649224" y="3955237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reviews at the start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demand unknown</a:t>
            </a:r>
            <a:endParaRPr lang="en-US" sz="750" dirty="0"/>
          </a:p>
        </p:txBody>
      </p:sp>
      <p:sp>
        <p:nvSpPr>
          <p:cNvPr id="93" name="Shape 88"/>
          <p:cNvSpPr/>
          <p:nvPr/>
        </p:nvSpPr>
        <p:spPr>
          <a:xfrm>
            <a:off x="2094586" y="3790645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94" name="Text 89"/>
          <p:cNvSpPr txBox="1"/>
          <p:nvPr/>
        </p:nvSpPr>
        <p:spPr>
          <a:xfrm>
            <a:off x="2131162" y="3808933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· p8, p12</a:t>
            </a:r>
            <a:endParaRPr lang="en-US" sz="800" dirty="0"/>
          </a:p>
        </p:txBody>
      </p:sp>
      <p:sp>
        <p:nvSpPr>
          <p:cNvPr id="95" name="Text 90"/>
          <p:cNvSpPr txBox="1"/>
          <p:nvPr/>
        </p:nvSpPr>
        <p:spPr>
          <a:xfrm>
            <a:off x="2131162" y="3955237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decays after the badge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slips with price</a:t>
            </a:r>
            <a:endParaRPr lang="en-US" sz="750" dirty="0"/>
          </a:p>
        </p:txBody>
      </p:sp>
      <p:sp>
        <p:nvSpPr>
          <p:cNvPr id="96" name="Shape 91"/>
          <p:cNvSpPr/>
          <p:nvPr/>
        </p:nvSpPr>
        <p:spPr>
          <a:xfrm>
            <a:off x="3576523" y="3790645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3622243" y="3790645"/>
            <a:ext cx="1335634" cy="4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barriers → 6 levers, each owned by a Meesho team (pages 5–10)</a:t>
            </a:r>
            <a:endParaRPr lang="en-US" sz="800" dirty="0"/>
          </a:p>
        </p:txBody>
      </p:sp>
      <p:sp>
        <p:nvSpPr>
          <p:cNvPr id="98" name="Shape 93"/>
          <p:cNvSpPr/>
          <p:nvPr/>
        </p:nvSpPr>
        <p:spPr>
          <a:xfrm>
            <a:off x="5159045" y="1051560"/>
            <a:ext cx="680130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9" name="Text 94"/>
          <p:cNvSpPr txBox="1"/>
          <p:nvPr/>
        </p:nvSpPr>
        <p:spPr>
          <a:xfrm>
            <a:off x="5223053" y="1051560"/>
            <a:ext cx="6673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 sets: why factories quit, what buyers pay, what buyers would trade</a:t>
            </a:r>
            <a:endParaRPr lang="en-US" sz="950" dirty="0"/>
          </a:p>
        </p:txBody>
      </p:sp>
      <p:sp>
        <p:nvSpPr>
          <p:cNvPr id="100" name="Shape 95"/>
          <p:cNvSpPr/>
          <p:nvPr/>
        </p:nvSpPr>
        <p:spPr>
          <a:xfrm>
            <a:off x="5159045" y="1298448"/>
            <a:ext cx="6801307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01" name="Shape 96"/>
          <p:cNvSpPr/>
          <p:nvPr/>
        </p:nvSpPr>
        <p:spPr>
          <a:xfrm>
            <a:off x="7432243" y="1344168"/>
            <a:ext cx="0" cy="1544422"/>
          </a:xfrm>
          <a:prstGeom prst="line">
            <a:avLst/>
          </a:prstGeom>
          <a:noFill/>
          <a:ln w="9525">
            <a:solidFill>
              <a:srgbClr val="D8C2D0"/>
            </a:solidFill>
            <a:prstDash val="dash"/>
          </a:ln>
        </p:spPr>
      </p:sp>
      <p:sp>
        <p:nvSpPr>
          <p:cNvPr id="102" name="Shape 97"/>
          <p:cNvSpPr/>
          <p:nvPr/>
        </p:nvSpPr>
        <p:spPr>
          <a:xfrm>
            <a:off x="9687154" y="1344168"/>
            <a:ext cx="0" cy="1544422"/>
          </a:xfrm>
          <a:prstGeom prst="line">
            <a:avLst/>
          </a:prstGeom>
          <a:noFill/>
          <a:ln w="9525">
            <a:solidFill>
              <a:srgbClr val="D8C2D0"/>
            </a:solidFill>
            <a:prstDash val="dash"/>
          </a:ln>
        </p:spPr>
      </p:sp>
      <p:sp>
        <p:nvSpPr>
          <p:cNvPr id="103" name="Shape 98"/>
          <p:cNvSpPr/>
          <p:nvPr/>
        </p:nvSpPr>
        <p:spPr>
          <a:xfrm>
            <a:off x="5223053" y="1344168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</p:sp>
      <p:sp>
        <p:nvSpPr>
          <p:cNvPr id="104" name="Text 99"/>
          <p:cNvSpPr txBox="1"/>
          <p:nvPr/>
        </p:nvSpPr>
        <p:spPr>
          <a:xfrm>
            <a:off x="5131613" y="13441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2,365</a:t>
            </a:r>
            <a:endParaRPr lang="en-US" sz="850" dirty="0"/>
          </a:p>
        </p:txBody>
      </p:sp>
      <p:sp>
        <p:nvSpPr>
          <p:cNvPr id="105" name="Text 100"/>
          <p:cNvSpPr txBox="1"/>
          <p:nvPr/>
        </p:nvSpPr>
        <p:spPr>
          <a:xfrm>
            <a:off x="5680253" y="1344168"/>
            <a:ext cx="17062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ICRIER MSME survey [S4]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firms that tried e-commerce quit (% of quitters)</a:t>
            </a:r>
            <a:endParaRPr lang="en-US" sz="750" dirty="0"/>
          </a:p>
        </p:txBody>
      </p:sp>
      <p:sp>
        <p:nvSpPr>
          <p:cNvPr id="106" name="Text 101"/>
          <p:cNvSpPr txBox="1"/>
          <p:nvPr/>
        </p:nvSpPr>
        <p:spPr>
          <a:xfrm>
            <a:off x="5223053" y="1773936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Lacked knowledge</a:t>
            </a:r>
            <a:endParaRPr lang="en-US" sz="700" dirty="0"/>
          </a:p>
        </p:txBody>
      </p:sp>
      <p:sp>
        <p:nvSpPr>
          <p:cNvPr id="107" name="Shape 102"/>
          <p:cNvSpPr/>
          <p:nvPr/>
        </p:nvSpPr>
        <p:spPr>
          <a:xfrm>
            <a:off x="6228893" y="1790035"/>
            <a:ext cx="826577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8" name="Text 103"/>
          <p:cNvSpPr txBox="1"/>
          <p:nvPr/>
        </p:nvSpPr>
        <p:spPr>
          <a:xfrm>
            <a:off x="7073758" y="1773936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700" dirty="0"/>
          </a:p>
        </p:txBody>
      </p:sp>
      <p:sp>
        <p:nvSpPr>
          <p:cNvPr id="109" name="Text 104"/>
          <p:cNvSpPr txBox="1"/>
          <p:nvPr/>
        </p:nvSpPr>
        <p:spPr>
          <a:xfrm>
            <a:off x="5223053" y="1881264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returns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6228893" y="1897363"/>
            <a:ext cx="826577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1" name="Text 106"/>
          <p:cNvSpPr txBox="1"/>
          <p:nvPr/>
        </p:nvSpPr>
        <p:spPr>
          <a:xfrm>
            <a:off x="7073758" y="1881264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700" dirty="0"/>
          </a:p>
        </p:txBody>
      </p:sp>
      <p:sp>
        <p:nvSpPr>
          <p:cNvPr id="112" name="Text 107"/>
          <p:cNvSpPr txBox="1"/>
          <p:nvPr/>
        </p:nvSpPr>
        <p:spPr>
          <a:xfrm>
            <a:off x="5223053" y="1988591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charges</a:t>
            </a:r>
            <a:endParaRPr lang="en-US" sz="700" dirty="0"/>
          </a:p>
        </p:txBody>
      </p:sp>
      <p:sp>
        <p:nvSpPr>
          <p:cNvPr id="113" name="Shape 108"/>
          <p:cNvSpPr/>
          <p:nvPr/>
        </p:nvSpPr>
        <p:spPr>
          <a:xfrm>
            <a:off x="6228893" y="2004691"/>
            <a:ext cx="807354" cy="75129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14" name="Text 109"/>
          <p:cNvSpPr txBox="1"/>
          <p:nvPr/>
        </p:nvSpPr>
        <p:spPr>
          <a:xfrm>
            <a:off x="7054535" y="1988591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700" dirty="0"/>
          </a:p>
        </p:txBody>
      </p:sp>
      <p:sp>
        <p:nvSpPr>
          <p:cNvPr id="115" name="Text 110"/>
          <p:cNvSpPr txBox="1"/>
          <p:nvPr/>
        </p:nvSpPr>
        <p:spPr>
          <a:xfrm>
            <a:off x="5223053" y="2095919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competition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6228893" y="2112018"/>
            <a:ext cx="768909" cy="75129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17" name="Text 112"/>
          <p:cNvSpPr txBox="1"/>
          <p:nvPr/>
        </p:nvSpPr>
        <p:spPr>
          <a:xfrm>
            <a:off x="7016090" y="2095919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700" dirty="0"/>
          </a:p>
        </p:txBody>
      </p:sp>
      <p:sp>
        <p:nvSpPr>
          <p:cNvPr id="118" name="Text 113"/>
          <p:cNvSpPr txBox="1"/>
          <p:nvPr/>
        </p:nvSpPr>
        <p:spPr>
          <a:xfrm>
            <a:off x="5223053" y="2203247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/ inventory skills</a:t>
            </a:r>
            <a:endParaRPr lang="en-US" sz="700" dirty="0"/>
          </a:p>
        </p:txBody>
      </p:sp>
      <p:sp>
        <p:nvSpPr>
          <p:cNvPr id="119" name="Shape 114"/>
          <p:cNvSpPr/>
          <p:nvPr/>
        </p:nvSpPr>
        <p:spPr>
          <a:xfrm>
            <a:off x="6228893" y="2219346"/>
            <a:ext cx="749686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20" name="Text 115"/>
          <p:cNvSpPr txBox="1"/>
          <p:nvPr/>
        </p:nvSpPr>
        <p:spPr>
          <a:xfrm>
            <a:off x="6996867" y="2203247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700" dirty="0"/>
          </a:p>
        </p:txBody>
      </p:sp>
      <p:sp>
        <p:nvSpPr>
          <p:cNvPr id="121" name="Text 116"/>
          <p:cNvSpPr txBox="1"/>
          <p:nvPr/>
        </p:nvSpPr>
        <p:spPr>
          <a:xfrm>
            <a:off x="5223053" y="2310575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profitable</a:t>
            </a:r>
            <a:endParaRPr lang="en-US" sz="700" dirty="0"/>
          </a:p>
        </p:txBody>
      </p:sp>
      <p:sp>
        <p:nvSpPr>
          <p:cNvPr id="122" name="Shape 117"/>
          <p:cNvSpPr/>
          <p:nvPr/>
        </p:nvSpPr>
        <p:spPr>
          <a:xfrm>
            <a:off x="6228893" y="2326674"/>
            <a:ext cx="672795" cy="75129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6919976" y="2310575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700" dirty="0"/>
          </a:p>
        </p:txBody>
      </p:sp>
      <p:sp>
        <p:nvSpPr>
          <p:cNvPr id="124" name="Text 119"/>
          <p:cNvSpPr txBox="1"/>
          <p:nvPr/>
        </p:nvSpPr>
        <p:spPr>
          <a:xfrm>
            <a:off x="5223053" y="2417902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staff</a:t>
            </a:r>
            <a:endParaRPr lang="en-US" sz="700" dirty="0"/>
          </a:p>
        </p:txBody>
      </p:sp>
      <p:sp>
        <p:nvSpPr>
          <p:cNvPr id="125" name="Shape 120"/>
          <p:cNvSpPr/>
          <p:nvPr/>
        </p:nvSpPr>
        <p:spPr>
          <a:xfrm>
            <a:off x="6228893" y="2434001"/>
            <a:ext cx="634350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6881531" y="2417902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700" dirty="0"/>
          </a:p>
        </p:txBody>
      </p:sp>
      <p:sp>
        <p:nvSpPr>
          <p:cNvPr id="127" name="Text 122"/>
          <p:cNvSpPr txBox="1"/>
          <p:nvPr/>
        </p:nvSpPr>
        <p:spPr>
          <a:xfrm>
            <a:off x="5223053" y="2525230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capacity</a:t>
            </a:r>
            <a:endParaRPr lang="en-US" sz="700" dirty="0"/>
          </a:p>
        </p:txBody>
      </p:sp>
      <p:sp>
        <p:nvSpPr>
          <p:cNvPr id="128" name="Shape 123"/>
          <p:cNvSpPr/>
          <p:nvPr/>
        </p:nvSpPr>
        <p:spPr>
          <a:xfrm>
            <a:off x="6228893" y="2541329"/>
            <a:ext cx="576682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6823862" y="2525230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700" dirty="0"/>
          </a:p>
        </p:txBody>
      </p:sp>
      <p:sp>
        <p:nvSpPr>
          <p:cNvPr id="130" name="Text 125"/>
          <p:cNvSpPr txBox="1"/>
          <p:nvPr/>
        </p:nvSpPr>
        <p:spPr>
          <a:xfrm>
            <a:off x="5223053" y="2641702"/>
            <a:ext cx="21634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= operational: </a:t>
            </a:r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and batches remove them. 1 in 5 that joined quit; 35% still want to join.</a:t>
            </a:r>
            <a:endParaRPr lang="en-US" sz="700" dirty="0"/>
          </a:p>
        </p:txBody>
      </p:sp>
      <p:sp>
        <p:nvSpPr>
          <p:cNvPr id="131" name="Shape 126"/>
          <p:cNvSpPr/>
          <p:nvPr/>
        </p:nvSpPr>
        <p:spPr>
          <a:xfrm>
            <a:off x="7477963" y="1344168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7386523" y="13441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</a:t>
            </a:r>
            <a:endParaRPr lang="en-US" sz="1100" dirty="0"/>
          </a:p>
        </p:txBody>
      </p:sp>
      <p:sp>
        <p:nvSpPr>
          <p:cNvPr id="133" name="Text 128"/>
          <p:cNvSpPr txBox="1"/>
          <p:nvPr/>
        </p:nvSpPr>
        <p:spPr>
          <a:xfrm>
            <a:off x="7935163" y="1344168"/>
            <a:ext cx="17062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teardown, meesho.com [S10]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listings, 5 product types, 2 Oct 2026</a:t>
            </a:r>
            <a:endParaRPr lang="en-US" sz="750" dirty="0"/>
          </a:p>
        </p:txBody>
      </p:sp>
      <p:sp>
        <p:nvSpPr>
          <p:cNvPr id="134" name="Text 129"/>
          <p:cNvSpPr txBox="1"/>
          <p:nvPr/>
        </p:nvSpPr>
        <p:spPr>
          <a:xfrm>
            <a:off x="7477963" y="1764792"/>
            <a:ext cx="21634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 </a:t>
            </a:r>
            <a:pPr indent="0" marL="0">
              <a:buNone/>
            </a:pPr>
            <a:r>
              <a:rPr lang="en-US" sz="700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(demand) · briefs, n = 56</a:t>
            </a:r>
            <a:endParaRPr lang="en-US" sz="700" dirty="0"/>
          </a:p>
        </p:txBody>
      </p:sp>
      <p:sp>
        <p:nvSpPr>
          <p:cNvPr id="135" name="Shape 130"/>
          <p:cNvSpPr/>
          <p:nvPr/>
        </p:nvSpPr>
        <p:spPr>
          <a:xfrm>
            <a:off x="7551115" y="2380153"/>
            <a:ext cx="136093" cy="87813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36" name="Shape 131"/>
          <p:cNvSpPr/>
          <p:nvPr/>
        </p:nvSpPr>
        <p:spPr>
          <a:xfrm>
            <a:off x="7696352" y="2111730"/>
            <a:ext cx="136093" cy="356235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37" name="Text 132"/>
          <p:cNvSpPr txBox="1"/>
          <p:nvPr/>
        </p:nvSpPr>
        <p:spPr>
          <a:xfrm>
            <a:off x="7604912" y="1974570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700" dirty="0"/>
          </a:p>
        </p:txBody>
      </p:sp>
      <p:sp>
        <p:nvSpPr>
          <p:cNvPr id="138" name="Text 133"/>
          <p:cNvSpPr txBox="1"/>
          <p:nvPr/>
        </p:nvSpPr>
        <p:spPr>
          <a:xfrm>
            <a:off x="7487107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</a:t>
            </a:r>
            <a:endParaRPr lang="en-US" sz="700" dirty="0"/>
          </a:p>
        </p:txBody>
      </p:sp>
      <p:sp>
        <p:nvSpPr>
          <p:cNvPr id="139" name="Shape 134"/>
          <p:cNvSpPr/>
          <p:nvPr/>
        </p:nvSpPr>
        <p:spPr>
          <a:xfrm>
            <a:off x="7896454" y="2277704"/>
            <a:ext cx="136093" cy="190261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40" name="Shape 135"/>
          <p:cNvSpPr/>
          <p:nvPr/>
        </p:nvSpPr>
        <p:spPr>
          <a:xfrm>
            <a:off x="8041691" y="2271648"/>
            <a:ext cx="136093" cy="196317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7950251" y="2134488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700" dirty="0"/>
          </a:p>
        </p:txBody>
      </p:sp>
      <p:sp>
        <p:nvSpPr>
          <p:cNvPr id="142" name="Text 137"/>
          <p:cNvSpPr txBox="1"/>
          <p:nvPr/>
        </p:nvSpPr>
        <p:spPr>
          <a:xfrm>
            <a:off x="7832446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200–249</a:t>
            </a:r>
            <a:endParaRPr lang="en-US" sz="700" dirty="0"/>
          </a:p>
        </p:txBody>
      </p:sp>
      <p:sp>
        <p:nvSpPr>
          <p:cNvPr id="143" name="Shape 138"/>
          <p:cNvSpPr/>
          <p:nvPr/>
        </p:nvSpPr>
        <p:spPr>
          <a:xfrm>
            <a:off x="8241792" y="2394788"/>
            <a:ext cx="136093" cy="73177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8387029" y="2460874"/>
            <a:ext cx="136093" cy="9144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8295589" y="2323714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700" dirty="0"/>
          </a:p>
        </p:txBody>
      </p:sp>
      <p:sp>
        <p:nvSpPr>
          <p:cNvPr id="146" name="Text 141"/>
          <p:cNvSpPr txBox="1"/>
          <p:nvPr/>
        </p:nvSpPr>
        <p:spPr>
          <a:xfrm>
            <a:off x="8177784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250–299</a:t>
            </a:r>
            <a:endParaRPr lang="en-US" sz="700" dirty="0"/>
          </a:p>
        </p:txBody>
      </p:sp>
      <p:sp>
        <p:nvSpPr>
          <p:cNvPr id="147" name="Shape 142"/>
          <p:cNvSpPr/>
          <p:nvPr/>
        </p:nvSpPr>
        <p:spPr>
          <a:xfrm>
            <a:off x="8587130" y="2248433"/>
            <a:ext cx="136093" cy="219532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48" name="Shape 143"/>
          <p:cNvSpPr/>
          <p:nvPr/>
        </p:nvSpPr>
        <p:spPr>
          <a:xfrm>
            <a:off x="8732368" y="2252358"/>
            <a:ext cx="136093" cy="215607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9" name="Text 144"/>
          <p:cNvSpPr txBox="1"/>
          <p:nvPr/>
        </p:nvSpPr>
        <p:spPr>
          <a:xfrm>
            <a:off x="8640928" y="2115198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700" dirty="0"/>
          </a:p>
        </p:txBody>
      </p:sp>
      <p:sp>
        <p:nvSpPr>
          <p:cNvPr id="150" name="Text 145"/>
          <p:cNvSpPr txBox="1"/>
          <p:nvPr/>
        </p:nvSpPr>
        <p:spPr>
          <a:xfrm>
            <a:off x="8523122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300–399</a:t>
            </a:r>
            <a:endParaRPr lang="en-US" sz="700" dirty="0"/>
          </a:p>
        </p:txBody>
      </p:sp>
      <p:sp>
        <p:nvSpPr>
          <p:cNvPr id="151" name="Shape 146"/>
          <p:cNvSpPr/>
          <p:nvPr/>
        </p:nvSpPr>
        <p:spPr>
          <a:xfrm>
            <a:off x="8932469" y="2321611"/>
            <a:ext cx="136093" cy="146355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52" name="Shape 147"/>
          <p:cNvSpPr/>
          <p:nvPr/>
        </p:nvSpPr>
        <p:spPr>
          <a:xfrm>
            <a:off x="9077706" y="2423630"/>
            <a:ext cx="136093" cy="44335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53" name="Text 148"/>
          <p:cNvSpPr txBox="1"/>
          <p:nvPr/>
        </p:nvSpPr>
        <p:spPr>
          <a:xfrm>
            <a:off x="8986266" y="2286470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700" dirty="0"/>
          </a:p>
        </p:txBody>
      </p:sp>
      <p:sp>
        <p:nvSpPr>
          <p:cNvPr id="154" name="Text 149"/>
          <p:cNvSpPr txBox="1"/>
          <p:nvPr/>
        </p:nvSpPr>
        <p:spPr>
          <a:xfrm>
            <a:off x="8868461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400–599</a:t>
            </a:r>
            <a:endParaRPr lang="en-US" sz="700" dirty="0"/>
          </a:p>
        </p:txBody>
      </p:sp>
      <p:sp>
        <p:nvSpPr>
          <p:cNvPr id="155" name="Shape 150"/>
          <p:cNvSpPr/>
          <p:nvPr/>
        </p:nvSpPr>
        <p:spPr>
          <a:xfrm>
            <a:off x="9277807" y="2365517"/>
            <a:ext cx="136093" cy="102448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56" name="Shape 151"/>
          <p:cNvSpPr/>
          <p:nvPr/>
        </p:nvSpPr>
        <p:spPr>
          <a:xfrm>
            <a:off x="9423044" y="2467966"/>
            <a:ext cx="136093" cy="9144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57" name="Text 152"/>
          <p:cNvSpPr txBox="1"/>
          <p:nvPr/>
        </p:nvSpPr>
        <p:spPr>
          <a:xfrm>
            <a:off x="9331604" y="2330806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00" dirty="0"/>
          </a:p>
        </p:txBody>
      </p:sp>
      <p:sp>
        <p:nvSpPr>
          <p:cNvPr id="158" name="Text 153"/>
          <p:cNvSpPr txBox="1"/>
          <p:nvPr/>
        </p:nvSpPr>
        <p:spPr>
          <a:xfrm>
            <a:off x="9213799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600+</a:t>
            </a:r>
            <a:endParaRPr lang="en-US" sz="700" dirty="0"/>
          </a:p>
        </p:txBody>
      </p:sp>
      <p:sp>
        <p:nvSpPr>
          <p:cNvPr id="159" name="Text 154"/>
          <p:cNvSpPr txBox="1"/>
          <p:nvPr/>
        </p:nvSpPr>
        <p:spPr>
          <a:xfrm>
            <a:off x="7477963" y="2641702"/>
            <a:ext cx="21634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₹200: 11% of listings, 43% of reviews. Buyers pay 3–37% below listing medians.</a:t>
            </a:r>
            <a:endParaRPr lang="en-US" sz="700" dirty="0"/>
          </a:p>
        </p:txBody>
      </p:sp>
      <p:sp>
        <p:nvSpPr>
          <p:cNvPr id="160" name="Shape 155"/>
          <p:cNvSpPr/>
          <p:nvPr/>
        </p:nvSpPr>
        <p:spPr>
          <a:xfrm>
            <a:off x="9732874" y="1344168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</p:sp>
      <p:sp>
        <p:nvSpPr>
          <p:cNvPr id="161" name="Text 156"/>
          <p:cNvSpPr txBox="1"/>
          <p:nvPr/>
        </p:nvSpPr>
        <p:spPr>
          <a:xfrm>
            <a:off x="9641434" y="13441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100" dirty="0"/>
          </a:p>
        </p:txBody>
      </p:sp>
      <p:sp>
        <p:nvSpPr>
          <p:cNvPr id="162" name="Text 157"/>
          <p:cNvSpPr txBox="1"/>
          <p:nvPr/>
        </p:nvSpPr>
        <p:spPr>
          <a:xfrm>
            <a:off x="10190074" y="1344168"/>
            <a:ext cx="17062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buyer survey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buyers, last 3 months (kit: research/13)</a:t>
            </a:r>
            <a:endParaRPr lang="en-US" sz="750" dirty="0"/>
          </a:p>
        </p:txBody>
      </p:sp>
      <p:sp>
        <p:nvSpPr>
          <p:cNvPr id="163" name="Shape 158"/>
          <p:cNvSpPr/>
          <p:nvPr/>
        </p:nvSpPr>
        <p:spPr>
          <a:xfrm>
            <a:off x="9732874" y="1801368"/>
            <a:ext cx="2163470" cy="812902"/>
          </a:xfrm>
          <a:prstGeom prst="rect">
            <a:avLst/>
          </a:prstGeom>
          <a:solidFill>
            <a:srgbClr val="FFFFFF"/>
          </a:solidFill>
          <a:ln w="9525">
            <a:solidFill>
              <a:srgbClr val="E8434F"/>
            </a:solidFill>
            <a:prstDash val="dash"/>
          </a:ln>
        </p:spPr>
      </p:sp>
      <p:sp>
        <p:nvSpPr>
          <p:cNvPr id="164" name="Text 159"/>
          <p:cNvSpPr txBox="1"/>
          <p:nvPr/>
        </p:nvSpPr>
        <p:spPr>
          <a:xfrm>
            <a:off x="9806026" y="1837944"/>
            <a:ext cx="2017166" cy="7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Q6–Q8 price ladder: % choosing 7–8 day delivery at ₹10 / ₹20 / ₹40 off · Q9 % paying in advance · Q10 trust in “Sold directly by the manufacturer” · base n on each chart]</a:t>
            </a:r>
            <a:endParaRPr lang="en-US" sz="750" dirty="0"/>
          </a:p>
        </p:txBody>
      </p:sp>
      <p:sp>
        <p:nvSpPr>
          <p:cNvPr id="165" name="Text 160"/>
          <p:cNvSpPr txBox="1"/>
          <p:nvPr/>
        </p:nvSpPr>
        <p:spPr>
          <a:xfrm>
            <a:off x="9732874" y="2641702"/>
            <a:ext cx="21634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takeaway: the majority answer and its implication]</a:t>
            </a:r>
            <a:endParaRPr lang="en-US" sz="700" dirty="0"/>
          </a:p>
        </p:txBody>
      </p:sp>
      <p:sp>
        <p:nvSpPr>
          <p:cNvPr id="166" name="Shape 161"/>
          <p:cNvSpPr/>
          <p:nvPr/>
        </p:nvSpPr>
        <p:spPr>
          <a:xfrm>
            <a:off x="5159045" y="3025750"/>
            <a:ext cx="6801307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67" name="Text 162"/>
          <p:cNvSpPr txBox="1"/>
          <p:nvPr/>
        </p:nvSpPr>
        <p:spPr>
          <a:xfrm>
            <a:off x="5223053" y="3025750"/>
            <a:ext cx="6673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 interviews: what blocks them, by cohort (Round 1, 8 per cohort)</a:t>
            </a:r>
            <a:endParaRPr lang="en-US" sz="950" dirty="0"/>
          </a:p>
        </p:txBody>
      </p:sp>
      <p:sp>
        <p:nvSpPr>
          <p:cNvPr id="168" name="Shape 163"/>
          <p:cNvSpPr/>
          <p:nvPr/>
        </p:nvSpPr>
        <p:spPr>
          <a:xfrm>
            <a:off x="5159045" y="3272638"/>
            <a:ext cx="6801307" cy="98115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69" name="Shape 164"/>
          <p:cNvSpPr/>
          <p:nvPr/>
        </p:nvSpPr>
        <p:spPr>
          <a:xfrm>
            <a:off x="5223053" y="3336646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</p:sp>
      <p:sp>
        <p:nvSpPr>
          <p:cNvPr id="170" name="Text 165"/>
          <p:cNvSpPr txBox="1"/>
          <p:nvPr/>
        </p:nvSpPr>
        <p:spPr>
          <a:xfrm>
            <a:off x="5131613" y="333664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700" dirty="0"/>
          </a:p>
        </p:txBody>
      </p:sp>
      <p:sp>
        <p:nvSpPr>
          <p:cNvPr id="171" name="Text 166"/>
          <p:cNvSpPr txBox="1"/>
          <p:nvPr/>
        </p:nvSpPr>
        <p:spPr>
          <a:xfrm>
            <a:off x="5177333" y="3921862"/>
            <a:ext cx="65836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interviews, cohorts A, B, C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08853" y="3318358"/>
          <a:ext cx="5987491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53135"/>
                <a:gridCol w="853135"/>
                <a:gridCol w="853135"/>
                <a:gridCol w="853135"/>
                <a:gridCol w="853135"/>
                <a:gridCol w="853135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Barrier (severity)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Fulfilment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risk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Returns, RTO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Unproven demand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cycle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conflict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72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 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</a:tr>
              <a:tr h="172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 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</a:tr>
              <a:tr h="172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 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</a:tr>
              <a:tr h="1721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can fix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3" name="Shape 167"/>
          <p:cNvSpPr/>
          <p:nvPr/>
        </p:nvSpPr>
        <p:spPr>
          <a:xfrm>
            <a:off x="548640" y="4345229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74" name="Text 168"/>
          <p:cNvSpPr txBox="1"/>
          <p:nvPr/>
        </p:nvSpPr>
        <p:spPr>
          <a:xfrm>
            <a:off x="612648" y="4345229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voice: published owner and leader interviews (verbatim, ≤ 25 words)</a:t>
            </a:r>
            <a:endParaRPr lang="en-US" sz="950" dirty="0"/>
          </a:p>
        </p:txBody>
      </p:sp>
      <p:sp>
        <p:nvSpPr>
          <p:cNvPr id="175" name="Shape 169"/>
          <p:cNvSpPr/>
          <p:nvPr/>
        </p:nvSpPr>
        <p:spPr>
          <a:xfrm>
            <a:off x="548640" y="4592117"/>
            <a:ext cx="11411712" cy="153436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76" name="Shape 170"/>
          <p:cNvSpPr/>
          <p:nvPr/>
        </p:nvSpPr>
        <p:spPr>
          <a:xfrm>
            <a:off x="658368" y="4857064"/>
            <a:ext cx="274320" cy="27432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7" name="Image 3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718" y="4917415"/>
            <a:ext cx="153619" cy="153619"/>
          </a:xfrm>
          <a:prstGeom prst="rect">
            <a:avLst/>
          </a:prstGeom>
        </p:spPr>
      </p:pic>
      <p:sp>
        <p:nvSpPr>
          <p:cNvPr id="178" name="Shape 171"/>
          <p:cNvSpPr/>
          <p:nvPr/>
        </p:nvSpPr>
        <p:spPr>
          <a:xfrm>
            <a:off x="658368" y="5167503"/>
            <a:ext cx="274320" cy="27432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9" name="Image 4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718" y="5227853"/>
            <a:ext cx="153619" cy="153619"/>
          </a:xfrm>
          <a:prstGeom prst="rect">
            <a:avLst/>
          </a:prstGeom>
        </p:spPr>
      </p:pic>
      <p:sp>
        <p:nvSpPr>
          <p:cNvPr id="180" name="Shape 172"/>
          <p:cNvSpPr/>
          <p:nvPr/>
        </p:nvSpPr>
        <p:spPr>
          <a:xfrm>
            <a:off x="658368" y="5477942"/>
            <a:ext cx="274320" cy="27432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1" name="Image 5" descr="/Users/prathmeshwalimbe/Downloads/Meesho/02_round2_detailed_submission/deck/source/assets/icons/FaUserTi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18" y="5538292"/>
            <a:ext cx="153619" cy="153619"/>
          </a:xfrm>
          <a:prstGeom prst="rect">
            <a:avLst/>
          </a:prstGeom>
        </p:spPr>
      </p:pic>
      <p:sp>
        <p:nvSpPr>
          <p:cNvPr id="182" name="Shape 173"/>
          <p:cNvSpPr/>
          <p:nvPr/>
        </p:nvSpPr>
        <p:spPr>
          <a:xfrm>
            <a:off x="658368" y="5788381"/>
            <a:ext cx="274320" cy="27432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3" name="Image 6" descr="/Users/prathmeshwalimbe/Downloads/Meesho/02_round2_detailed_submission/deck/source/assets/icons/FaUserTie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" y="5848731"/>
            <a:ext cx="153619" cy="153619"/>
          </a:xfrm>
          <a:prstGeom prst="rect">
            <a:avLst/>
          </a:prstGeom>
        </p:spPr>
      </p:pic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6696" y="4637837"/>
          <a:ext cx="10899648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60520"/>
                <a:gridCol w="1645920"/>
                <a:gridCol w="777240"/>
                <a:gridCol w="2212848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Opinion (verbatim)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area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 for Meesho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104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Navamani, MD, Cossmo Tex (Tiruppur) [S21]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“Currently, domestic business is about 20%, and we are planning to increase it to 35–40% … because export markets are mostly volatile.”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orders swing with tariffs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Pitch C2M as a permanent domestic hedge, not a rescue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4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Ashwin Kumar, Managing Partner, NASA Impex (Tiruppur) [S21]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“Orders of around 100 pieces tend to double costs … so 500 pieces is our preferred minimum.”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runs cost twice as much per piece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 pools district demand into batches of 500+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104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Vinod Dhamija, Chairman, HCCI Panipat chapter [S9]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“Panipat’s exports had shrunk by 50 per cent, while the domestic market had also been disturbed very badly.”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looms, weak domestic orders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Demand, cash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 is pilot cluster 2; 30% paid at handover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4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Vidit Aatrey, CEO, Meesho (Q4 FY26 call) [S2]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“If their quality is not that great, they do not get visibility for orders.”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sellers start with no orders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Impression grants for new factories, not order subsidies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11,645 manufacturers can carry a real price gap; offline B2B factories (8,400) in hosiery and home textiles go first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target Cohort A in hosiery and home textiles first, re-invite Cohort C in parallel, offer Cohort B value-tier only. Owner: Category · KPI: 60 factories catalogued by Day 60.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S5 MSME limits · S7 Udyam · S9 · S20 category mix · S22 Round 1 (12-category screen, 24 interviews, cohort split)   |   Rubrics: Appendix C   |   ✓ = 5, – = 3, ✕ = 1   |   Personas are composites, not real firms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evaluation: 12 category segments × 4 cost metrics (weighted)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4747199" cy="336133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344168"/>
          <a:ext cx="4619183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1051560"/>
                <a:gridCol w="457200"/>
                <a:gridCol w="438912"/>
                <a:gridCol w="502920"/>
                <a:gridCol w="502920"/>
                <a:gridCol w="367223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 (category)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Freight 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Saree &amp; dress material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Erode, Bhiwandi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C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textiles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Panipat, Solapur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C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Moulded plastics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Rajkot, Daman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Hosiery &amp; innerwear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Tiruppur, Ludhiana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Imitation jewellery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Rajkot, Coimbatore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footwear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Agra, Bahadurgarh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Steel kitchenware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Jagadhri, Wazirpur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Brass décor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Moradabad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Nangloi, Kolkata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Fitted western wear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Gandhi Nagar, Bengaluru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Electronics accessories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Import-assembly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Ethnic wear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</a:tbl>
          </a:graphicData>
        </a:graphic>
      </p:graphicFrame>
      <p:sp>
        <p:nvSpPr>
          <p:cNvPr id="39" name="Text 33"/>
          <p:cNvSpPr txBox="1"/>
          <p:nvPr/>
        </p:nvSpPr>
        <p:spPr>
          <a:xfrm>
            <a:off x="612648" y="4358030"/>
            <a:ext cx="4619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10–12 fail two tests: not now.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✓ = factory cost ≥ 12% under the demand-weighted median; Returns ✓ = low return band; Freight ✓ = light for its value.</a:t>
            </a:r>
            <a:endParaRPr lang="en-US" sz="750" dirty="0"/>
          </a:p>
        </p:txBody>
      </p:sp>
      <p:sp>
        <p:nvSpPr>
          <p:cNvPr id="40" name="Shape 34"/>
          <p:cNvSpPr/>
          <p:nvPr/>
        </p:nvSpPr>
        <p:spPr>
          <a:xfrm>
            <a:off x="548640" y="4751222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12648" y="4751222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sizing: TAM → SAM → SOM (firms)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548640" y="4998110"/>
            <a:ext cx="4747199" cy="112837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612648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12648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4.72 cr</a:t>
            </a:r>
            <a:endParaRPr lang="en-US" sz="850" dirty="0"/>
          </a:p>
        </p:txBody>
      </p:sp>
      <p:sp>
        <p:nvSpPr>
          <p:cNvPr id="45" name="Text 39"/>
          <p:cNvSpPr txBox="1"/>
          <p:nvPr/>
        </p:nvSpPr>
        <p:spPr>
          <a:xfrm>
            <a:off x="594360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Udyam-registered MSMEs</a:t>
            </a:r>
            <a:endParaRPr lang="en-US" sz="650" dirty="0"/>
          </a:p>
        </p:txBody>
      </p:sp>
      <p:sp>
        <p:nvSpPr>
          <p:cNvPr id="46" name="Shape 40"/>
          <p:cNvSpPr/>
          <p:nvPr/>
        </p:nvSpPr>
        <p:spPr>
          <a:xfrm>
            <a:off x="1280369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1280369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5.28 lakh</a:t>
            </a:r>
            <a:endParaRPr lang="en-US" sz="850" dirty="0"/>
          </a:p>
        </p:txBody>
      </p:sp>
      <p:sp>
        <p:nvSpPr>
          <p:cNvPr id="48" name="Text 42"/>
          <p:cNvSpPr txBox="1"/>
          <p:nvPr/>
        </p:nvSpPr>
        <p:spPr>
          <a:xfrm>
            <a:off x="1262081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micro (small + medium)</a:t>
            </a:r>
            <a:endParaRPr lang="en-US" sz="650" dirty="0"/>
          </a:p>
        </p:txBody>
      </p:sp>
      <p:sp>
        <p:nvSpPr>
          <p:cNvPr id="49" name="Shape 43"/>
          <p:cNvSpPr/>
          <p:nvPr/>
        </p:nvSpPr>
        <p:spPr>
          <a:xfrm>
            <a:off x="1124921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1152353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1.1%</a:t>
            </a:r>
            <a:endParaRPr lang="en-US" sz="650" dirty="0"/>
          </a:p>
        </p:txBody>
      </p:sp>
      <p:sp>
        <p:nvSpPr>
          <p:cNvPr id="51" name="Shape 45"/>
          <p:cNvSpPr/>
          <p:nvPr/>
        </p:nvSpPr>
        <p:spPr>
          <a:xfrm>
            <a:off x="1948090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948090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1.85 lakh</a:t>
            </a:r>
            <a:endParaRPr lang="en-US" sz="850" dirty="0"/>
          </a:p>
        </p:txBody>
      </p:sp>
      <p:sp>
        <p:nvSpPr>
          <p:cNvPr id="53" name="Text 47"/>
          <p:cNvSpPr txBox="1"/>
          <p:nvPr/>
        </p:nvSpPr>
        <p:spPr>
          <a:xfrm>
            <a:off x="1929802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manufacturing</a:t>
            </a:r>
            <a:endParaRPr lang="en-US" sz="650" dirty="0"/>
          </a:p>
        </p:txBody>
      </p:sp>
      <p:sp>
        <p:nvSpPr>
          <p:cNvPr id="54" name="Shape 48"/>
          <p:cNvSpPr/>
          <p:nvPr/>
        </p:nvSpPr>
        <p:spPr>
          <a:xfrm>
            <a:off x="1792642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1820074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650" dirty="0"/>
          </a:p>
        </p:txBody>
      </p:sp>
      <p:sp>
        <p:nvSpPr>
          <p:cNvPr id="56" name="Shape 50"/>
          <p:cNvSpPr/>
          <p:nvPr/>
        </p:nvSpPr>
        <p:spPr>
          <a:xfrm>
            <a:off x="2615811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2615811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55,451</a:t>
            </a:r>
            <a:endParaRPr lang="en-US" sz="1000" dirty="0"/>
          </a:p>
        </p:txBody>
      </p:sp>
      <p:sp>
        <p:nvSpPr>
          <p:cNvPr id="58" name="Text 52"/>
          <p:cNvSpPr txBox="1"/>
          <p:nvPr/>
        </p:nvSpPr>
        <p:spPr>
          <a:xfrm>
            <a:off x="2597523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Meesho’s categories</a:t>
            </a:r>
            <a:endParaRPr lang="en-US" sz="650" dirty="0"/>
          </a:p>
        </p:txBody>
      </p:sp>
      <p:sp>
        <p:nvSpPr>
          <p:cNvPr id="59" name="Shape 53"/>
          <p:cNvSpPr/>
          <p:nvPr/>
        </p:nvSpPr>
        <p:spPr>
          <a:xfrm>
            <a:off x="2460363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2487795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650" dirty="0"/>
          </a:p>
        </p:txBody>
      </p:sp>
      <p:sp>
        <p:nvSpPr>
          <p:cNvPr id="61" name="Shape 55"/>
          <p:cNvSpPr/>
          <p:nvPr/>
        </p:nvSpPr>
        <p:spPr>
          <a:xfrm>
            <a:off x="3283532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3283532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19,408</a:t>
            </a:r>
            <a:endParaRPr lang="en-US" sz="1000" dirty="0"/>
          </a:p>
        </p:txBody>
      </p:sp>
      <p:sp>
        <p:nvSpPr>
          <p:cNvPr id="63" name="Text 57"/>
          <p:cNvSpPr txBox="1"/>
          <p:nvPr/>
        </p:nvSpPr>
        <p:spPr>
          <a:xfrm>
            <a:off x="3265244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3+ of 4 cost levers</a:t>
            </a:r>
            <a:endParaRPr lang="en-US" sz="650" dirty="0"/>
          </a:p>
        </p:txBody>
      </p:sp>
      <p:sp>
        <p:nvSpPr>
          <p:cNvPr id="64" name="Shape 58"/>
          <p:cNvSpPr/>
          <p:nvPr/>
        </p:nvSpPr>
        <p:spPr>
          <a:xfrm>
            <a:off x="3128084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3155516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650" dirty="0"/>
          </a:p>
        </p:txBody>
      </p:sp>
      <p:sp>
        <p:nvSpPr>
          <p:cNvPr id="66" name="Shape 60"/>
          <p:cNvSpPr/>
          <p:nvPr/>
        </p:nvSpPr>
        <p:spPr>
          <a:xfrm>
            <a:off x="3951253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3951253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11,645</a:t>
            </a:r>
            <a:endParaRPr lang="en-US" sz="1000" dirty="0"/>
          </a:p>
        </p:txBody>
      </p:sp>
      <p:sp>
        <p:nvSpPr>
          <p:cNvPr id="68" name="Text 62"/>
          <p:cNvSpPr txBox="1"/>
          <p:nvPr/>
        </p:nvSpPr>
        <p:spPr>
          <a:xfrm>
            <a:off x="3932965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12 screened clusters</a:t>
            </a:r>
            <a:endParaRPr lang="en-US" sz="650" dirty="0"/>
          </a:p>
        </p:txBody>
      </p:sp>
      <p:sp>
        <p:nvSpPr>
          <p:cNvPr id="69" name="Shape 63"/>
          <p:cNvSpPr/>
          <p:nvPr/>
        </p:nvSpPr>
        <p:spPr>
          <a:xfrm>
            <a:off x="3795805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0" name="Text 64"/>
          <p:cNvSpPr txBox="1"/>
          <p:nvPr/>
        </p:nvSpPr>
        <p:spPr>
          <a:xfrm>
            <a:off x="3823237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650" dirty="0"/>
          </a:p>
        </p:txBody>
      </p:sp>
      <p:sp>
        <p:nvSpPr>
          <p:cNvPr id="71" name="Shape 65"/>
          <p:cNvSpPr/>
          <p:nvPr/>
        </p:nvSpPr>
        <p:spPr>
          <a:xfrm>
            <a:off x="4618974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2" name="Text 66"/>
          <p:cNvSpPr txBox="1"/>
          <p:nvPr/>
        </p:nvSpPr>
        <p:spPr>
          <a:xfrm>
            <a:off x="4618974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</a:t>
            </a:r>
            <a:endParaRPr lang="en-US" sz="1000" dirty="0"/>
          </a:p>
        </p:txBody>
      </p:sp>
      <p:sp>
        <p:nvSpPr>
          <p:cNvPr id="73" name="Text 67"/>
          <p:cNvSpPr txBox="1"/>
          <p:nvPr/>
        </p:nvSpPr>
        <p:spPr>
          <a:xfrm>
            <a:off x="4600686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C2M sellers by Year 4</a:t>
            </a:r>
            <a:endParaRPr lang="en-US" sz="650" dirty="0"/>
          </a:p>
        </p:txBody>
      </p:sp>
      <p:sp>
        <p:nvSpPr>
          <p:cNvPr id="74" name="Shape 68"/>
          <p:cNvSpPr/>
          <p:nvPr/>
        </p:nvSpPr>
        <p:spPr>
          <a:xfrm>
            <a:off x="4463526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5" name="Text 69"/>
          <p:cNvSpPr txBox="1"/>
          <p:nvPr/>
        </p:nvSpPr>
        <p:spPr>
          <a:xfrm>
            <a:off x="4490958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76" name="Text 70"/>
          <p:cNvSpPr txBox="1"/>
          <p:nvPr/>
        </p:nvSpPr>
        <p:spPr>
          <a:xfrm>
            <a:off x="612648" y="5811926"/>
            <a:ext cx="4619183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55,451 make Meesho’s categories · </a:t>
            </a:r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11,645 own ≥ 3 of 4 cost levers in the 12 clusters · </a:t>
            </a:r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active by Year 4 (12%) = ₹1,995 cr run-rate NMV</a:t>
            </a:r>
            <a:endParaRPr lang="en-US" sz="750" dirty="0"/>
          </a:p>
        </p:txBody>
      </p:sp>
      <p:sp>
        <p:nvSpPr>
          <p:cNvPr id="77" name="Shape 71"/>
          <p:cNvSpPr/>
          <p:nvPr/>
        </p:nvSpPr>
        <p:spPr>
          <a:xfrm>
            <a:off x="5387279" y="1051560"/>
            <a:ext cx="356030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8" name="Text 72"/>
          <p:cNvSpPr txBox="1"/>
          <p:nvPr/>
        </p:nvSpPr>
        <p:spPr>
          <a:xfrm>
            <a:off x="5451287" y="1051560"/>
            <a:ext cx="3432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manufacturer personas (cohort score out of 5)</a:t>
            </a:r>
            <a:endParaRPr lang="en-US" sz="950" dirty="0"/>
          </a:p>
        </p:txBody>
      </p:sp>
      <p:sp>
        <p:nvSpPr>
          <p:cNvPr id="79" name="Shape 73"/>
          <p:cNvSpPr/>
          <p:nvPr/>
        </p:nvSpPr>
        <p:spPr>
          <a:xfrm>
            <a:off x="5387279" y="1298448"/>
            <a:ext cx="3560308" cy="482803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5451287" y="1344168"/>
            <a:ext cx="3432292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8434F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5506151" y="1399032"/>
            <a:ext cx="420624" cy="42062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2" name="Image 3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688" y="1491569"/>
            <a:ext cx="235549" cy="235549"/>
          </a:xfrm>
          <a:prstGeom prst="rect">
            <a:avLst/>
          </a:prstGeom>
        </p:spPr>
      </p:pic>
      <p:sp>
        <p:nvSpPr>
          <p:cNvPr id="83" name="Text 76"/>
          <p:cNvSpPr txBox="1"/>
          <p:nvPr/>
        </p:nvSpPr>
        <p:spPr>
          <a:xfrm>
            <a:off x="5981639" y="1380744"/>
            <a:ext cx="23167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Export-hit knitwear owner</a:t>
            </a:r>
            <a:endParaRPr lang="en-US" sz="800" dirty="0"/>
          </a:p>
          <a:p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 · Tiruppur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₹10–50 cr turnover · Cohort A = 72% of SAM ≈ 8,400 firms</a:t>
            </a:r>
            <a:endParaRPr lang="en-US" sz="800" dirty="0"/>
          </a:p>
        </p:txBody>
      </p:sp>
      <p:sp>
        <p:nvSpPr>
          <p:cNvPr id="84" name="Shape 77"/>
          <p:cNvSpPr/>
          <p:nvPr/>
        </p:nvSpPr>
        <p:spPr>
          <a:xfrm>
            <a:off x="8334939" y="1417320"/>
            <a:ext cx="493776" cy="347472"/>
          </a:xfrm>
          <a:prstGeom prst="roundRect">
            <a:avLst>
              <a:gd name="adj" fmla="val 13158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5" name="Text 78"/>
          <p:cNvSpPr txBox="1"/>
          <p:nvPr/>
        </p:nvSpPr>
        <p:spPr>
          <a:xfrm>
            <a:off x="8362371" y="14173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4.35</a:t>
            </a:r>
            <a:endParaRPr lang="en-US" sz="1100" dirty="0"/>
          </a:p>
        </p:txBody>
      </p:sp>
      <p:sp>
        <p:nvSpPr>
          <p:cNvPr id="86" name="Text 79"/>
          <p:cNvSpPr txBox="1"/>
          <p:nvPr/>
        </p:nvSpPr>
        <p:spPr>
          <a:xfrm>
            <a:off x="5506151" y="1874520"/>
            <a:ext cx="33225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unit-level ops; making to stock is a balance-sheet change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lines after the US tariff; wants a domestic hedge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orders · no packing team · cash before 45–60 days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camps, 40–60 units each</a:t>
            </a:r>
            <a:endParaRPr lang="en-US" sz="750" dirty="0"/>
          </a:p>
        </p:txBody>
      </p:sp>
      <p:sp>
        <p:nvSpPr>
          <p:cNvPr id="87" name="Shape 80"/>
          <p:cNvSpPr/>
          <p:nvPr/>
        </p:nvSpPr>
        <p:spPr>
          <a:xfrm>
            <a:off x="5451287" y="2542032"/>
            <a:ext cx="3432292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8434F"/>
            </a:solidFill>
            <a:prstDash val="solid"/>
          </a:ln>
        </p:spPr>
      </p:sp>
      <p:sp>
        <p:nvSpPr>
          <p:cNvPr id="88" name="Shape 81"/>
          <p:cNvSpPr/>
          <p:nvPr/>
        </p:nvSpPr>
        <p:spPr>
          <a:xfrm>
            <a:off x="5506151" y="2596896"/>
            <a:ext cx="420624" cy="42062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9" name="Image 4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8688" y="2689433"/>
            <a:ext cx="235549" cy="235549"/>
          </a:xfrm>
          <a:prstGeom prst="rect">
            <a:avLst/>
          </a:prstGeom>
        </p:spPr>
      </p:pic>
      <p:sp>
        <p:nvSpPr>
          <p:cNvPr id="90" name="Text 82"/>
          <p:cNvSpPr txBox="1"/>
          <p:nvPr/>
        </p:nvSpPr>
        <p:spPr>
          <a:xfrm>
            <a:off x="5981639" y="2578608"/>
            <a:ext cx="23167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home-textile maker</a:t>
            </a:r>
            <a:endParaRPr lang="en-US" sz="800" dirty="0"/>
          </a:p>
          <a:p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 · Panipat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medium units, bulky low-return SKUs</a:t>
            </a:r>
            <a:endParaRPr lang="en-US" sz="800" dirty="0"/>
          </a:p>
        </p:txBody>
      </p:sp>
      <p:sp>
        <p:nvSpPr>
          <p:cNvPr id="91" name="Shape 83"/>
          <p:cNvSpPr/>
          <p:nvPr/>
        </p:nvSpPr>
        <p:spPr>
          <a:xfrm>
            <a:off x="8334939" y="2615184"/>
            <a:ext cx="493776" cy="347472"/>
          </a:xfrm>
          <a:prstGeom prst="roundRect">
            <a:avLst>
              <a:gd name="adj" fmla="val 13158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8362371" y="261518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4.35</a:t>
            </a:r>
            <a:endParaRPr lang="en-US" sz="1100" dirty="0"/>
          </a:p>
        </p:txBody>
      </p:sp>
      <p:sp>
        <p:nvSpPr>
          <p:cNvPr id="93" name="Text 85"/>
          <p:cNvSpPr txBox="1"/>
          <p:nvPr/>
        </p:nvSpPr>
        <p:spPr>
          <a:xfrm>
            <a:off x="5506151" y="3072384"/>
            <a:ext cx="33225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Bulky SKUs; no way to handle online returns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−50%, domestic −35% this year: idle looms [S9]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domestic orders · bulk freight · price check first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HCCI Panipat chapter; Udyam lists</a:t>
            </a:r>
            <a:endParaRPr lang="en-US" sz="750" dirty="0"/>
          </a:p>
        </p:txBody>
      </p:sp>
      <p:sp>
        <p:nvSpPr>
          <p:cNvPr id="94" name="Shape 86"/>
          <p:cNvSpPr/>
          <p:nvPr/>
        </p:nvSpPr>
        <p:spPr>
          <a:xfrm>
            <a:off x="5451287" y="3739896"/>
            <a:ext cx="3432292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7B2A66"/>
            </a:solidFill>
            <a:prstDash val="solid"/>
          </a:ln>
        </p:spPr>
      </p:sp>
      <p:sp>
        <p:nvSpPr>
          <p:cNvPr id="95" name="Shape 87"/>
          <p:cNvSpPr/>
          <p:nvPr/>
        </p:nvSpPr>
        <p:spPr>
          <a:xfrm>
            <a:off x="5506151" y="3794760"/>
            <a:ext cx="420624" cy="420624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6" name="Image 5" descr="/Users/prathmeshwalimbe/Downloads/Meesho/02_round2_detailed_submission/deck/source/assets/icons/FaRotateLef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8688" y="3887297"/>
            <a:ext cx="235549" cy="235549"/>
          </a:xfrm>
          <a:prstGeom prst="rect">
            <a:avLst/>
          </a:prstGeom>
        </p:spPr>
      </p:pic>
      <p:sp>
        <p:nvSpPr>
          <p:cNvPr id="97" name="Text 88"/>
          <p:cNvSpPr txBox="1"/>
          <p:nvPr/>
        </p:nvSpPr>
        <p:spPr>
          <a:xfrm>
            <a:off x="5981639" y="3776472"/>
            <a:ext cx="23167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 Meesho manufacturer</a:t>
            </a:r>
            <a:endParaRPr lang="en-US" sz="800" dirty="0"/>
          </a:p>
          <a:p>
            <a:pPr indent="0" marL="0"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 · Ludhiana, Surat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 = 9% of SAM ≈ 1,050 firms</a:t>
            </a:r>
            <a:endParaRPr lang="en-US" sz="800" dirty="0"/>
          </a:p>
        </p:txBody>
      </p:sp>
      <p:sp>
        <p:nvSpPr>
          <p:cNvPr id="98" name="Shape 89"/>
          <p:cNvSpPr/>
          <p:nvPr/>
        </p:nvSpPr>
        <p:spPr>
          <a:xfrm>
            <a:off x="8334939" y="3813048"/>
            <a:ext cx="493776" cy="347472"/>
          </a:xfrm>
          <a:prstGeom prst="roundRect">
            <a:avLst>
              <a:gd name="adj" fmla="val 13158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99" name="Text 90"/>
          <p:cNvSpPr txBox="1"/>
          <p:nvPr/>
        </p:nvSpPr>
        <p:spPr>
          <a:xfrm>
            <a:off x="8362371" y="3813048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3.55</a:t>
            </a:r>
            <a:endParaRPr lang="en-US" sz="1100" dirty="0"/>
          </a:p>
        </p:txBody>
      </p:sp>
      <p:sp>
        <p:nvSpPr>
          <p:cNvPr id="100" name="Text 91"/>
          <p:cNvSpPr txBox="1"/>
          <p:nvPr/>
        </p:nvSpPr>
        <p:spPr>
          <a:xfrm>
            <a:off x="5506151" y="4270248"/>
            <a:ext cx="33225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first 30 orders, then a returns or RTO shock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and KYC already done: sunk effort to reuse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capped at the node · early orders · penalty-free re-entry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Dormant-seller list; one WhatsApp re-invite</a:t>
            </a:r>
            <a:endParaRPr lang="en-US" sz="750" dirty="0"/>
          </a:p>
        </p:txBody>
      </p:sp>
      <p:sp>
        <p:nvSpPr>
          <p:cNvPr id="101" name="Shape 92"/>
          <p:cNvSpPr/>
          <p:nvPr/>
        </p:nvSpPr>
        <p:spPr>
          <a:xfrm>
            <a:off x="5451287" y="4937760"/>
            <a:ext cx="3432292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6B6B6B"/>
            </a:solidFill>
            <a:prstDash val="solid"/>
          </a:ln>
        </p:spPr>
      </p:sp>
      <p:sp>
        <p:nvSpPr>
          <p:cNvPr id="102" name="Shape 93"/>
          <p:cNvSpPr/>
          <p:nvPr/>
        </p:nvSpPr>
        <p:spPr>
          <a:xfrm>
            <a:off x="5506151" y="4992624"/>
            <a:ext cx="420624" cy="420624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3" name="Image 6" descr="/Users/prathmeshwalimbe/Downloads/Meesho/02_round2_detailed_submission/deck/source/assets/icons/FaStore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8688" y="5085161"/>
            <a:ext cx="235549" cy="235549"/>
          </a:xfrm>
          <a:prstGeom prst="rect">
            <a:avLst/>
          </a:prstGeom>
        </p:spPr>
      </p:pic>
      <p:sp>
        <p:nvSpPr>
          <p:cNvPr id="104" name="Text 94"/>
          <p:cNvSpPr txBox="1"/>
          <p:nvPr/>
        </p:nvSpPr>
        <p:spPr>
          <a:xfrm>
            <a:off x="5981639" y="4974336"/>
            <a:ext cx="23167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Online-elsewhere D2C maker</a:t>
            </a:r>
            <a:endParaRPr lang="en-US" sz="800" dirty="0"/>
          </a:p>
          <a:p>
            <a:pPr indent="0" marL="0"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B · metros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B = 19% of SAM ≈ 2,200 firms</a:t>
            </a:r>
            <a:endParaRPr lang="en-US" sz="800" dirty="0"/>
          </a:p>
        </p:txBody>
      </p:sp>
      <p:sp>
        <p:nvSpPr>
          <p:cNvPr id="105" name="Shape 95"/>
          <p:cNvSpPr/>
          <p:nvPr/>
        </p:nvSpPr>
        <p:spPr>
          <a:xfrm>
            <a:off x="8334939" y="5010912"/>
            <a:ext cx="493776" cy="347472"/>
          </a:xfrm>
          <a:prstGeom prst="roundRect">
            <a:avLst>
              <a:gd name="adj" fmla="val 13158"/>
            </a:avLst>
          </a:prstGeom>
          <a:solidFill>
            <a:srgbClr val="6B6B6B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8362371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3.05</a:t>
            </a:r>
            <a:endParaRPr lang="en-US" sz="1100" dirty="0"/>
          </a:p>
        </p:txBody>
      </p:sp>
      <p:sp>
        <p:nvSpPr>
          <p:cNvPr id="107" name="Text 97"/>
          <p:cNvSpPr txBox="1"/>
          <p:nvPr/>
        </p:nvSpPr>
        <p:spPr>
          <a:xfrm>
            <a:off x="5506151" y="5468112"/>
            <a:ext cx="33225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₹800+ basket catalogue loses money at a ₹265 order value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mn buyers and Tier-2+ reach it lacks elsewhere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Value-tier SKUs, not discounts · no brand dilution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agencies; price-check link</a:t>
            </a:r>
            <a:endParaRPr lang="en-US" sz="750" dirty="0"/>
          </a:p>
        </p:txBody>
      </p:sp>
      <p:sp>
        <p:nvSpPr>
          <p:cNvPr id="108" name="Shape 98"/>
          <p:cNvSpPr/>
          <p:nvPr/>
        </p:nvSpPr>
        <p:spPr>
          <a:xfrm>
            <a:off x="9039027" y="1051560"/>
            <a:ext cx="292132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9" name="Text 99"/>
          <p:cNvSpPr txBox="1"/>
          <p:nvPr/>
        </p:nvSpPr>
        <p:spPr>
          <a:xfrm>
            <a:off x="9103035" y="1051560"/>
            <a:ext cx="27933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likely to adopt</a:t>
            </a:r>
            <a:endParaRPr lang="en-US" sz="950" dirty="0"/>
          </a:p>
        </p:txBody>
      </p:sp>
      <p:sp>
        <p:nvSpPr>
          <p:cNvPr id="110" name="Shape 100"/>
          <p:cNvSpPr/>
          <p:nvPr/>
        </p:nvSpPr>
        <p:spPr>
          <a:xfrm>
            <a:off x="9039027" y="1298448"/>
            <a:ext cx="2921325" cy="275234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11" name="Shape 101"/>
          <p:cNvSpPr/>
          <p:nvPr/>
        </p:nvSpPr>
        <p:spPr>
          <a:xfrm>
            <a:off x="9103035" y="1344168"/>
            <a:ext cx="2793309" cy="182880"/>
          </a:xfrm>
          <a:prstGeom prst="roundRect">
            <a:avLst>
              <a:gd name="adj" fmla="val 25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2" name="Text 102"/>
          <p:cNvSpPr txBox="1"/>
          <p:nvPr/>
        </p:nvSpPr>
        <p:spPr>
          <a:xfrm>
            <a:off x="9130467" y="1344168"/>
            <a:ext cx="2738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ethnic-wear traders</a:t>
            </a:r>
            <a:endParaRPr lang="en-US" sz="800" dirty="0"/>
          </a:p>
        </p:txBody>
      </p:sp>
      <p:sp>
        <p:nvSpPr>
          <p:cNvPr id="113" name="Text 103"/>
          <p:cNvSpPr txBox="1"/>
          <p:nvPr/>
        </p:nvSpPr>
        <p:spPr>
          <a:xfrm>
            <a:off x="9130467" y="1545336"/>
            <a:ext cx="273844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out weaving and stitching: no cost ownership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return band; cluster AHP last (3.28)</a:t>
            </a:r>
            <a:endParaRPr lang="en-US" sz="750" dirty="0"/>
          </a:p>
        </p:txBody>
      </p:sp>
      <p:sp>
        <p:nvSpPr>
          <p:cNvPr id="114" name="Shape 104"/>
          <p:cNvSpPr/>
          <p:nvPr/>
        </p:nvSpPr>
        <p:spPr>
          <a:xfrm>
            <a:off x="9103035" y="2020824"/>
            <a:ext cx="2793309" cy="182880"/>
          </a:xfrm>
          <a:prstGeom prst="roundRect">
            <a:avLst>
              <a:gd name="adj" fmla="val 25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5" name="Text 105"/>
          <p:cNvSpPr txBox="1"/>
          <p:nvPr/>
        </p:nvSpPr>
        <p:spPr>
          <a:xfrm>
            <a:off x="9130467" y="2020824"/>
            <a:ext cx="2738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Import-assemblers</a:t>
            </a:r>
            <a:endParaRPr lang="en-US" sz="800" dirty="0"/>
          </a:p>
        </p:txBody>
      </p:sp>
      <p:sp>
        <p:nvSpPr>
          <p:cNvPr id="116" name="Text 106"/>
          <p:cNvSpPr txBox="1"/>
          <p:nvPr/>
        </p:nvSpPr>
        <p:spPr>
          <a:xfrm>
            <a:off x="9130467" y="2221992"/>
            <a:ext cx="273844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accessories: cost set by imports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price gap must be funded: a subsidy</a:t>
            </a:r>
            <a:endParaRPr lang="en-US" sz="750" dirty="0"/>
          </a:p>
        </p:txBody>
      </p:sp>
      <p:sp>
        <p:nvSpPr>
          <p:cNvPr id="117" name="Shape 107"/>
          <p:cNvSpPr/>
          <p:nvPr/>
        </p:nvSpPr>
        <p:spPr>
          <a:xfrm>
            <a:off x="9103035" y="2697480"/>
            <a:ext cx="2793309" cy="182880"/>
          </a:xfrm>
          <a:prstGeom prst="roundRect">
            <a:avLst>
              <a:gd name="adj" fmla="val 25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8" name="Text 108"/>
          <p:cNvSpPr txBox="1"/>
          <p:nvPr/>
        </p:nvSpPr>
        <p:spPr>
          <a:xfrm>
            <a:off x="9130467" y="2697480"/>
            <a:ext cx="2738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western-wear makers</a:t>
            </a:r>
            <a:endParaRPr lang="en-US" sz="800" dirty="0"/>
          </a:p>
        </p:txBody>
      </p:sp>
      <p:sp>
        <p:nvSpPr>
          <p:cNvPr id="119" name="Text 109"/>
          <p:cNvSpPr txBox="1"/>
          <p:nvPr/>
        </p:nvSpPr>
        <p:spPr>
          <a:xfrm>
            <a:off x="9130467" y="2898648"/>
            <a:ext cx="273844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returns swallow the cost edge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 fee on every return [S11]</a:t>
            </a:r>
            <a:endParaRPr lang="en-US" sz="750" dirty="0"/>
          </a:p>
        </p:txBody>
      </p:sp>
      <p:sp>
        <p:nvSpPr>
          <p:cNvPr id="120" name="Shape 110"/>
          <p:cNvSpPr/>
          <p:nvPr/>
        </p:nvSpPr>
        <p:spPr>
          <a:xfrm>
            <a:off x="9103035" y="3374136"/>
            <a:ext cx="2793309" cy="182880"/>
          </a:xfrm>
          <a:prstGeom prst="roundRect">
            <a:avLst>
              <a:gd name="adj" fmla="val 25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130467" y="3374136"/>
            <a:ext cx="2738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D2C lines (Cohort B)</a:t>
            </a:r>
            <a:endParaRPr lang="en-US" sz="800" dirty="0"/>
          </a:p>
        </p:txBody>
      </p:sp>
      <p:sp>
        <p:nvSpPr>
          <p:cNvPr id="122" name="Text 112"/>
          <p:cNvSpPr txBox="1"/>
          <p:nvPr/>
        </p:nvSpPr>
        <p:spPr>
          <a:xfrm>
            <a:off x="9130467" y="3575304"/>
            <a:ext cx="273844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dilution at a ₹265 order value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barrier Meesho cannot fix</a:t>
            </a:r>
            <a:endParaRPr lang="en-US" sz="750" dirty="0"/>
          </a:p>
        </p:txBody>
      </p:sp>
      <p:sp>
        <p:nvSpPr>
          <p:cNvPr id="123" name="Shape 113"/>
          <p:cNvSpPr/>
          <p:nvPr/>
        </p:nvSpPr>
        <p:spPr>
          <a:xfrm>
            <a:off x="9039027" y="4142232"/>
            <a:ext cx="292132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24" name="Text 114"/>
          <p:cNvSpPr txBox="1"/>
          <p:nvPr/>
        </p:nvSpPr>
        <p:spPr>
          <a:xfrm>
            <a:off x="9103035" y="4142232"/>
            <a:ext cx="27933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to Meesho</a:t>
            </a:r>
            <a:endParaRPr lang="en-US" sz="950" dirty="0"/>
          </a:p>
        </p:txBody>
      </p:sp>
      <p:sp>
        <p:nvSpPr>
          <p:cNvPr id="125" name="Shape 115"/>
          <p:cNvSpPr/>
          <p:nvPr/>
        </p:nvSpPr>
        <p:spPr>
          <a:xfrm>
            <a:off x="9039027" y="4389120"/>
            <a:ext cx="2921325" cy="173736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26" name="Text 116"/>
          <p:cNvSpPr txBox="1"/>
          <p:nvPr/>
        </p:nvSpPr>
        <p:spPr>
          <a:xfrm>
            <a:off x="9103035" y="4434840"/>
            <a:ext cx="279330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</a:t>
            </a:r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Cohort A in hosiery (Tiruppur) and home textiles (Panipat): top cost edge, low returns.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Re-invite </a:t>
            </a:r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 in parallel: KYC and catalogues already on file.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</a:t>
            </a:r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B a separate value-tier range, never a discount on brand lines.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</a:t>
            </a:r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seller on price, not turnover: 7 of the 10 largest prototype sellers fail.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users, one flow: buyers prepay, factories make, nodes ship, an NBFC funds and Meesho runs the rules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&amp; FLOW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sign the three partner roles before the first batch (two associations, one Tiruppur node, one NBFC); first prepaid batches in Week 10. Owner: Category + Valmo + Finance · KPI: all signed by Day 60.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(10.3 orders per buyer a year; 37% of shipped orders prepaid), S9, S12 (₹24 SMB fulfilment), S18 MSME-TEAM, S26 seller loans; prototype (~910 sellers per manager)   |   Flow numbers: one 1,000-pack batch (page 10)   |   Personas are composites, not real people or firms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for one 1,000-pack prepaid batch: who does what, and when (D = day of the pre-order window)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11411712" cy="234635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1819656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Recruit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D−10</a:t>
            </a:r>
            <a:endParaRPr lang="en-US" sz="750" dirty="0"/>
          </a:p>
        </p:txBody>
      </p:sp>
      <p:sp>
        <p:nvSpPr>
          <p:cNvPr id="39" name="Text 34"/>
          <p:cNvSpPr txBox="1"/>
          <p:nvPr/>
        </p:nvSpPr>
        <p:spPr>
          <a:xfrm>
            <a:off x="2827325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D−7</a:t>
            </a:r>
            <a:endParaRPr lang="en-US" sz="750" dirty="0"/>
          </a:p>
        </p:txBody>
      </p:sp>
      <p:sp>
        <p:nvSpPr>
          <p:cNvPr id="40" name="Text 35"/>
          <p:cNvSpPr txBox="1"/>
          <p:nvPr/>
        </p:nvSpPr>
        <p:spPr>
          <a:xfrm>
            <a:off x="3834994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Brief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D−5</a:t>
            </a:r>
            <a:endParaRPr lang="en-US" sz="750" dirty="0"/>
          </a:p>
        </p:txBody>
      </p:sp>
      <p:sp>
        <p:nvSpPr>
          <p:cNvPr id="41" name="Text 36"/>
          <p:cNvSpPr txBox="1"/>
          <p:nvPr/>
        </p:nvSpPr>
        <p:spPr>
          <a:xfrm>
            <a:off x="4842662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Commit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D−5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5850331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Pre-order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D0–3</a:t>
            </a:r>
            <a:endParaRPr lang="en-US" sz="750" dirty="0"/>
          </a:p>
        </p:txBody>
      </p:sp>
      <p:sp>
        <p:nvSpPr>
          <p:cNvPr id="43" name="Text 38"/>
          <p:cNvSpPr txBox="1"/>
          <p:nvPr/>
        </p:nvSpPr>
        <p:spPr>
          <a:xfrm>
            <a:off x="6858000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Make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D0–4</a:t>
            </a:r>
            <a:endParaRPr lang="en-US" sz="750" dirty="0"/>
          </a:p>
        </p:txBody>
      </p:sp>
      <p:sp>
        <p:nvSpPr>
          <p:cNvPr id="44" name="Text 39"/>
          <p:cNvSpPr txBox="1"/>
          <p:nvPr/>
        </p:nvSpPr>
        <p:spPr>
          <a:xfrm>
            <a:off x="7865669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Handover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750" dirty="0"/>
          </a:p>
        </p:txBody>
      </p:sp>
      <p:sp>
        <p:nvSpPr>
          <p:cNvPr id="45" name="Text 40"/>
          <p:cNvSpPr txBox="1"/>
          <p:nvPr/>
        </p:nvSpPr>
        <p:spPr>
          <a:xfrm>
            <a:off x="8873338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Ship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D6–12</a:t>
            </a:r>
            <a:endParaRPr lang="en-US" sz="750" dirty="0"/>
          </a:p>
        </p:txBody>
      </p:sp>
      <p:sp>
        <p:nvSpPr>
          <p:cNvPr id="46" name="Text 41"/>
          <p:cNvSpPr txBox="1"/>
          <p:nvPr/>
        </p:nvSpPr>
        <p:spPr>
          <a:xfrm>
            <a:off x="9881006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Settle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D13–19</a:t>
            </a:r>
            <a:endParaRPr lang="en-US" sz="750" dirty="0"/>
          </a:p>
        </p:txBody>
      </p:sp>
      <p:sp>
        <p:nvSpPr>
          <p:cNvPr id="47" name="Text 42"/>
          <p:cNvSpPr txBox="1"/>
          <p:nvPr/>
        </p:nvSpPr>
        <p:spPr>
          <a:xfrm>
            <a:off x="10888675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Score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612648" y="1632204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8EEF4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649224" y="1660093"/>
            <a:ext cx="246888" cy="246888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Image 3" descr="/Users/prathmeshwalimbe/Downloads/Meesho/02_round2_detailed_submission/deck/source/assets/icons/FaUserTi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39" y="1714409"/>
            <a:ext cx="138257" cy="138257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932688" y="1618488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</a:t>
            </a:r>
            <a:endParaRPr lang="en-US" sz="800" dirty="0"/>
          </a:p>
        </p:txBody>
      </p:sp>
      <p:sp>
        <p:nvSpPr>
          <p:cNvPr id="52" name="Shape 46"/>
          <p:cNvSpPr/>
          <p:nvPr/>
        </p:nvSpPr>
        <p:spPr>
          <a:xfrm>
            <a:off x="612648" y="1962302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649224" y="1990192"/>
            <a:ext cx="246888" cy="24688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Image 4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539" y="2044507"/>
            <a:ext cx="138257" cy="138257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32688" y="1948586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800" dirty="0"/>
          </a:p>
        </p:txBody>
      </p:sp>
      <p:sp>
        <p:nvSpPr>
          <p:cNvPr id="56" name="Shape 49"/>
          <p:cNvSpPr/>
          <p:nvPr/>
        </p:nvSpPr>
        <p:spPr>
          <a:xfrm>
            <a:off x="612648" y="2292401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8EEF4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649224" y="2320290"/>
            <a:ext cx="246888" cy="24688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Image 5" descr="/Users/prathmeshwalimbe/Downloads/Meesho/02_round2_detailed_submission/deck/source/assets/icons/FaGaugeHigh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39" y="2374605"/>
            <a:ext cx="138257" cy="138257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932688" y="2278685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rules + data</a:t>
            </a:r>
            <a:endParaRPr lang="en-US" sz="800" dirty="0"/>
          </a:p>
        </p:txBody>
      </p:sp>
      <p:sp>
        <p:nvSpPr>
          <p:cNvPr id="60" name="Shape 52"/>
          <p:cNvSpPr/>
          <p:nvPr/>
        </p:nvSpPr>
        <p:spPr>
          <a:xfrm>
            <a:off x="612648" y="2622499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1" name="Shape 53"/>
          <p:cNvSpPr/>
          <p:nvPr/>
        </p:nvSpPr>
        <p:spPr>
          <a:xfrm>
            <a:off x="649224" y="2650388"/>
            <a:ext cx="246888" cy="246888"/>
          </a:xfrm>
          <a:prstGeom prst="ellipse">
            <a:avLst/>
          </a:prstGeom>
          <a:solidFill>
            <a:srgbClr val="F7A21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Image 6" descr="/Users/prathmeshwalimbe/Downloads/Meesho/02_round2_detailed_submission/deck/source/assets/icons/FaStore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539" y="2704704"/>
            <a:ext cx="138257" cy="138257"/>
          </a:xfrm>
          <a:prstGeom prst="rect">
            <a:avLst/>
          </a:prstGeom>
        </p:spPr>
      </p:pic>
      <p:sp>
        <p:nvSpPr>
          <p:cNvPr id="63" name="Text 54"/>
          <p:cNvSpPr txBox="1"/>
          <p:nvPr/>
        </p:nvSpPr>
        <p:spPr>
          <a:xfrm>
            <a:off x="932688" y="2608783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64" name="Shape 55"/>
          <p:cNvSpPr/>
          <p:nvPr/>
        </p:nvSpPr>
        <p:spPr>
          <a:xfrm>
            <a:off x="612648" y="2952598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8EEF4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5" name="Shape 56"/>
          <p:cNvSpPr/>
          <p:nvPr/>
        </p:nvSpPr>
        <p:spPr>
          <a:xfrm>
            <a:off x="649224" y="2980487"/>
            <a:ext cx="246888" cy="246888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Image 7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539" y="3034802"/>
            <a:ext cx="138257" cy="138257"/>
          </a:xfrm>
          <a:prstGeom prst="rect">
            <a:avLst/>
          </a:prstGeom>
        </p:spPr>
      </p:pic>
      <p:sp>
        <p:nvSpPr>
          <p:cNvPr id="67" name="Text 57"/>
          <p:cNvSpPr txBox="1"/>
          <p:nvPr/>
        </p:nvSpPr>
        <p:spPr>
          <a:xfrm>
            <a:off x="932688" y="2938882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Valmo</a:t>
            </a:r>
            <a:endParaRPr lang="en-US" sz="800" dirty="0"/>
          </a:p>
        </p:txBody>
      </p:sp>
      <p:sp>
        <p:nvSpPr>
          <p:cNvPr id="68" name="Shape 58"/>
          <p:cNvSpPr/>
          <p:nvPr/>
        </p:nvSpPr>
        <p:spPr>
          <a:xfrm>
            <a:off x="612648" y="3282696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9" name="Shape 59"/>
          <p:cNvSpPr/>
          <p:nvPr/>
        </p:nvSpPr>
        <p:spPr>
          <a:xfrm>
            <a:off x="649224" y="3310585"/>
            <a:ext cx="246888" cy="24688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0" name="Image 8" descr="/Users/prathmeshwalimbe/Downloads/Meesho/02_round2_detailed_submission/deck/source/assets/icons/FaIndianRupeeSign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539" y="3364901"/>
            <a:ext cx="138257" cy="138257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932688" y="3268980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</a:t>
            </a:r>
            <a:endParaRPr lang="en-US" sz="800" dirty="0"/>
          </a:p>
        </p:txBody>
      </p:sp>
      <p:sp>
        <p:nvSpPr>
          <p:cNvPr id="72" name="Shape 61"/>
          <p:cNvSpPr/>
          <p:nvPr/>
        </p:nvSpPr>
        <p:spPr>
          <a:xfrm>
            <a:off x="2708453" y="1783537"/>
            <a:ext cx="237744" cy="660197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73" name="Shape 62"/>
          <p:cNvSpPr/>
          <p:nvPr/>
        </p:nvSpPr>
        <p:spPr>
          <a:xfrm>
            <a:off x="3716122" y="2443734"/>
            <a:ext cx="237744" cy="914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74" name="Shape 63"/>
          <p:cNvSpPr/>
          <p:nvPr/>
        </p:nvSpPr>
        <p:spPr>
          <a:xfrm flipV="1">
            <a:off x="4723790" y="2113636"/>
            <a:ext cx="237744" cy="330098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75" name="Shape 64"/>
          <p:cNvSpPr/>
          <p:nvPr/>
        </p:nvSpPr>
        <p:spPr>
          <a:xfrm>
            <a:off x="5731459" y="2113636"/>
            <a:ext cx="237744" cy="660197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76" name="Shape 65"/>
          <p:cNvSpPr/>
          <p:nvPr/>
        </p:nvSpPr>
        <p:spPr>
          <a:xfrm flipV="1">
            <a:off x="6739128" y="2113636"/>
            <a:ext cx="237744" cy="660197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77" name="Shape 66"/>
          <p:cNvSpPr/>
          <p:nvPr/>
        </p:nvSpPr>
        <p:spPr>
          <a:xfrm>
            <a:off x="7746797" y="2113636"/>
            <a:ext cx="237744" cy="990295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78" name="Shape 67"/>
          <p:cNvSpPr/>
          <p:nvPr/>
        </p:nvSpPr>
        <p:spPr>
          <a:xfrm>
            <a:off x="8754466" y="3103931"/>
            <a:ext cx="237744" cy="914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79" name="Shape 68"/>
          <p:cNvSpPr/>
          <p:nvPr/>
        </p:nvSpPr>
        <p:spPr>
          <a:xfrm flipV="1">
            <a:off x="9762134" y="2443734"/>
            <a:ext cx="237744" cy="660197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80" name="Shape 69"/>
          <p:cNvSpPr/>
          <p:nvPr/>
        </p:nvSpPr>
        <p:spPr>
          <a:xfrm>
            <a:off x="10769803" y="2443734"/>
            <a:ext cx="237744" cy="914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81" name="Shape 70"/>
          <p:cNvSpPr/>
          <p:nvPr/>
        </p:nvSpPr>
        <p:spPr>
          <a:xfrm>
            <a:off x="1938528" y="1659636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7B2A66"/>
            </a:solidFill>
            <a:prstDash val="solid"/>
          </a:ln>
        </p:spPr>
      </p:sp>
      <p:sp>
        <p:nvSpPr>
          <p:cNvPr id="82" name="Text 71"/>
          <p:cNvSpPr txBox="1"/>
          <p:nvPr/>
        </p:nvSpPr>
        <p:spPr>
          <a:xfrm>
            <a:off x="1965960" y="1659636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 for 40–60 units</a:t>
            </a:r>
            <a:endParaRPr lang="en-US" sz="700" dirty="0"/>
          </a:p>
        </p:txBody>
      </p:sp>
      <p:sp>
        <p:nvSpPr>
          <p:cNvPr id="83" name="Shape 72"/>
          <p:cNvSpPr/>
          <p:nvPr/>
        </p:nvSpPr>
        <p:spPr>
          <a:xfrm>
            <a:off x="2946197" y="2319833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</p:sp>
      <p:sp>
        <p:nvSpPr>
          <p:cNvPr id="84" name="Text 73"/>
          <p:cNvSpPr txBox="1"/>
          <p:nvPr/>
        </p:nvSpPr>
        <p:spPr>
          <a:xfrm>
            <a:off x="2973629" y="2319833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check: ₹180 vs ₹192 gate</a:t>
            </a:r>
            <a:endParaRPr lang="en-US" sz="700" dirty="0"/>
          </a:p>
        </p:txBody>
      </p:sp>
      <p:sp>
        <p:nvSpPr>
          <p:cNvPr id="85" name="Shape 74"/>
          <p:cNvSpPr/>
          <p:nvPr/>
        </p:nvSpPr>
        <p:spPr>
          <a:xfrm>
            <a:off x="3953866" y="2319833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</p:sp>
      <p:sp>
        <p:nvSpPr>
          <p:cNvPr id="86" name="Text 75"/>
          <p:cNvSpPr txBox="1"/>
          <p:nvPr/>
        </p:nvSpPr>
        <p:spPr>
          <a:xfrm>
            <a:off x="3981298" y="2319833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Brief: districts, sizes</a:t>
            </a:r>
            <a:endParaRPr lang="en-US" sz="700" dirty="0"/>
          </a:p>
        </p:txBody>
      </p:sp>
      <p:sp>
        <p:nvSpPr>
          <p:cNvPr id="87" name="Shape 76"/>
          <p:cNvSpPr/>
          <p:nvPr/>
        </p:nvSpPr>
        <p:spPr>
          <a:xfrm>
            <a:off x="4961534" y="1989734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E8434F"/>
            </a:solidFill>
            <a:prstDash val="solid"/>
          </a:ln>
        </p:spPr>
      </p:sp>
      <p:sp>
        <p:nvSpPr>
          <p:cNvPr id="88" name="Text 77"/>
          <p:cNvSpPr txBox="1"/>
          <p:nvPr/>
        </p:nvSpPr>
        <p:spPr>
          <a:xfrm>
            <a:off x="4988966" y="1989734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 1,000-pack batch</a:t>
            </a:r>
            <a:endParaRPr lang="en-US" sz="700" dirty="0"/>
          </a:p>
        </p:txBody>
      </p:sp>
      <p:sp>
        <p:nvSpPr>
          <p:cNvPr id="89" name="Shape 78"/>
          <p:cNvSpPr/>
          <p:nvPr/>
        </p:nvSpPr>
        <p:spPr>
          <a:xfrm>
            <a:off x="5969203" y="2649931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F7A21B"/>
            </a:solidFill>
            <a:prstDash val="solid"/>
          </a:ln>
        </p:spPr>
      </p:sp>
      <p:sp>
        <p:nvSpPr>
          <p:cNvPr id="90" name="Text 79"/>
          <p:cNvSpPr txBox="1"/>
          <p:nvPr/>
        </p:nvSpPr>
        <p:spPr>
          <a:xfrm>
            <a:off x="5996635" y="2649931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Prepays ₹182, waits 7–8 days</a:t>
            </a:r>
            <a:endParaRPr lang="en-US" sz="700" dirty="0"/>
          </a:p>
        </p:txBody>
      </p:sp>
      <p:sp>
        <p:nvSpPr>
          <p:cNvPr id="91" name="Shape 80"/>
          <p:cNvSpPr/>
          <p:nvPr/>
        </p:nvSpPr>
        <p:spPr>
          <a:xfrm>
            <a:off x="6976872" y="1989734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E8434F"/>
            </a:solidFill>
            <a:prstDash val="solid"/>
          </a:ln>
        </p:spPr>
      </p:sp>
      <p:sp>
        <p:nvSpPr>
          <p:cNvPr id="92" name="Text 81"/>
          <p:cNvSpPr txBox="1"/>
          <p:nvPr/>
        </p:nvSpPr>
        <p:spPr>
          <a:xfrm>
            <a:off x="7004304" y="1989734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1,150 (+15%)</a:t>
            </a:r>
            <a:endParaRPr lang="en-US" sz="700" dirty="0"/>
          </a:p>
        </p:txBody>
      </p:sp>
      <p:sp>
        <p:nvSpPr>
          <p:cNvPr id="93" name="Shape 82"/>
          <p:cNvSpPr/>
          <p:nvPr/>
        </p:nvSpPr>
        <p:spPr>
          <a:xfrm>
            <a:off x="7984541" y="2980030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7B2A66"/>
            </a:solidFill>
            <a:prstDash val="solid"/>
          </a:ln>
        </p:spPr>
      </p:sp>
      <p:sp>
        <p:nvSpPr>
          <p:cNvPr id="94" name="Text 83"/>
          <p:cNvSpPr txBox="1"/>
          <p:nvPr/>
        </p:nvSpPr>
        <p:spPr>
          <a:xfrm>
            <a:off x="8011973" y="2980030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truck in; QC sample</a:t>
            </a:r>
            <a:endParaRPr lang="en-US" sz="700" dirty="0"/>
          </a:p>
        </p:txBody>
      </p:sp>
      <p:sp>
        <p:nvSpPr>
          <p:cNvPr id="95" name="Shape 84"/>
          <p:cNvSpPr/>
          <p:nvPr/>
        </p:nvSpPr>
        <p:spPr>
          <a:xfrm>
            <a:off x="7984541" y="3310128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96" name="Text 85"/>
          <p:cNvSpPr txBox="1"/>
          <p:nvPr/>
        </p:nvSpPr>
        <p:spPr>
          <a:xfrm>
            <a:off x="8011973" y="3310128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₹54,684 (30%)</a:t>
            </a:r>
            <a:endParaRPr lang="en-US" sz="700" dirty="0"/>
          </a:p>
        </p:txBody>
      </p:sp>
      <p:sp>
        <p:nvSpPr>
          <p:cNvPr id="97" name="Shape 86"/>
          <p:cNvSpPr/>
          <p:nvPr/>
        </p:nvSpPr>
        <p:spPr>
          <a:xfrm>
            <a:off x="8992210" y="2980030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7B2A66"/>
            </a:solidFill>
            <a:prstDash val="solid"/>
          </a:ln>
        </p:spPr>
      </p:sp>
      <p:sp>
        <p:nvSpPr>
          <p:cNvPr id="98" name="Text 87"/>
          <p:cNvSpPr txBox="1"/>
          <p:nvPr/>
        </p:nvSpPr>
        <p:spPr>
          <a:xfrm>
            <a:off x="9019642" y="2980030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Packs, ships; grades returns</a:t>
            </a:r>
            <a:endParaRPr lang="en-US" sz="700" dirty="0"/>
          </a:p>
        </p:txBody>
      </p:sp>
      <p:sp>
        <p:nvSpPr>
          <p:cNvPr id="99" name="Shape 88"/>
          <p:cNvSpPr/>
          <p:nvPr/>
        </p:nvSpPr>
        <p:spPr>
          <a:xfrm>
            <a:off x="9999878" y="2319833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</p:sp>
      <p:sp>
        <p:nvSpPr>
          <p:cNvPr id="100" name="Text 89"/>
          <p:cNvSpPr txBox="1"/>
          <p:nvPr/>
        </p:nvSpPr>
        <p:spPr>
          <a:xfrm>
            <a:off x="10027310" y="2319833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₹88,524 net of fees</a:t>
            </a:r>
            <a:endParaRPr lang="en-US" sz="700" dirty="0"/>
          </a:p>
        </p:txBody>
      </p:sp>
      <p:sp>
        <p:nvSpPr>
          <p:cNvPr id="101" name="Shape 90"/>
          <p:cNvSpPr/>
          <p:nvPr/>
        </p:nvSpPr>
        <p:spPr>
          <a:xfrm>
            <a:off x="9999878" y="3310128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102" name="Text 91"/>
          <p:cNvSpPr txBox="1"/>
          <p:nvPr/>
        </p:nvSpPr>
        <p:spPr>
          <a:xfrm>
            <a:off x="10027310" y="3310128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Repaid from the payout</a:t>
            </a:r>
            <a:endParaRPr lang="en-US" sz="700" dirty="0"/>
          </a:p>
        </p:txBody>
      </p:sp>
      <p:sp>
        <p:nvSpPr>
          <p:cNvPr id="103" name="Shape 92"/>
          <p:cNvSpPr/>
          <p:nvPr/>
        </p:nvSpPr>
        <p:spPr>
          <a:xfrm>
            <a:off x="9999878" y="1989734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E8434F"/>
            </a:solidFill>
            <a:prstDash val="solid"/>
          </a:ln>
        </p:spPr>
      </p:sp>
      <p:sp>
        <p:nvSpPr>
          <p:cNvPr id="104" name="Text 93"/>
          <p:cNvSpPr txBox="1"/>
          <p:nvPr/>
        </p:nvSpPr>
        <p:spPr>
          <a:xfrm>
            <a:off x="10027310" y="1989734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+₹33,840</a:t>
            </a:r>
            <a:endParaRPr lang="en-US" sz="700" dirty="0"/>
          </a:p>
        </p:txBody>
      </p:sp>
      <p:sp>
        <p:nvSpPr>
          <p:cNvPr id="105" name="Shape 94"/>
          <p:cNvSpPr/>
          <p:nvPr/>
        </p:nvSpPr>
        <p:spPr>
          <a:xfrm>
            <a:off x="11007547" y="2319833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</p:sp>
      <p:sp>
        <p:nvSpPr>
          <p:cNvPr id="106" name="Text 95"/>
          <p:cNvSpPr txBox="1"/>
          <p:nvPr/>
        </p:nvSpPr>
        <p:spPr>
          <a:xfrm>
            <a:off x="11034979" y="2319833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Score; grants if slow</a:t>
            </a:r>
            <a:endParaRPr lang="en-US" sz="700" dirty="0"/>
          </a:p>
        </p:txBody>
      </p:sp>
      <p:sp>
        <p:nvSpPr>
          <p:cNvPr id="107" name="Shape 96"/>
          <p:cNvSpPr/>
          <p:nvPr/>
        </p:nvSpPr>
        <p:spPr>
          <a:xfrm>
            <a:off x="11007547" y="1659636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7B2A66"/>
            </a:solidFill>
            <a:prstDash val="solid"/>
          </a:ln>
        </p:spPr>
      </p:sp>
      <p:sp>
        <p:nvSpPr>
          <p:cNvPr id="108" name="Text 97"/>
          <p:cNvSpPr txBox="1"/>
          <p:nvPr/>
        </p:nvSpPr>
        <p:spPr>
          <a:xfrm>
            <a:off x="11034979" y="1659636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Peers referred to camps</a:t>
            </a:r>
            <a:endParaRPr lang="en-US" sz="700" dirty="0"/>
          </a:p>
        </p:txBody>
      </p:sp>
      <p:sp>
        <p:nvSpPr>
          <p:cNvPr id="109" name="Shape 98"/>
          <p:cNvSpPr/>
          <p:nvPr/>
        </p:nvSpPr>
        <p:spPr>
          <a:xfrm>
            <a:off x="548640" y="3736238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0" name="Text 99"/>
          <p:cNvSpPr txBox="1"/>
          <p:nvPr/>
        </p:nvSpPr>
        <p:spPr>
          <a:xfrm>
            <a:off x="612648" y="3736238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user personas (resellers are affected, not users: the badge is capped at 20% of category impressions)</a:t>
            </a:r>
            <a:endParaRPr lang="en-US" sz="950" dirty="0"/>
          </a:p>
        </p:txBody>
      </p:sp>
      <p:sp>
        <p:nvSpPr>
          <p:cNvPr id="111" name="Shape 100"/>
          <p:cNvSpPr/>
          <p:nvPr/>
        </p:nvSpPr>
        <p:spPr>
          <a:xfrm>
            <a:off x="548640" y="3983126"/>
            <a:ext cx="11411712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12" name="Shape 101"/>
          <p:cNvSpPr/>
          <p:nvPr/>
        </p:nvSpPr>
        <p:spPr>
          <a:xfrm>
            <a:off x="612648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F7A21B"/>
            </a:solidFill>
            <a:prstDash val="solid"/>
          </a:ln>
        </p:spPr>
      </p:sp>
      <p:sp>
        <p:nvSpPr>
          <p:cNvPr id="113" name="Shape 102"/>
          <p:cNvSpPr/>
          <p:nvPr/>
        </p:nvSpPr>
        <p:spPr>
          <a:xfrm>
            <a:off x="658368" y="4074566"/>
            <a:ext cx="347472" cy="347472"/>
          </a:xfrm>
          <a:prstGeom prst="ellipse">
            <a:avLst/>
          </a:prstGeom>
          <a:solidFill>
            <a:srgbClr val="F7A21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4" name="Image 9" descr="/Users/prathmeshwalimbe/Downloads/Meesho/02_round2_detailed_submission/deck/source/assets/icons/FaStore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4812" y="4151010"/>
            <a:ext cx="194584" cy="194584"/>
          </a:xfrm>
          <a:prstGeom prst="rect">
            <a:avLst/>
          </a:prstGeom>
        </p:spPr>
      </p:pic>
      <p:sp>
        <p:nvSpPr>
          <p:cNvPr id="115" name="Text 103"/>
          <p:cNvSpPr txBox="1"/>
          <p:nvPr/>
        </p:nvSpPr>
        <p:spPr>
          <a:xfrm>
            <a:off x="1042416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Value-seeking buyer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Tier-2+ shopper · ~10 orders a year [S1]</a:t>
            </a:r>
            <a:endParaRPr lang="en-US" sz="800" dirty="0"/>
          </a:p>
        </p:txBody>
      </p:sp>
      <p:sp>
        <p:nvSpPr>
          <p:cNvPr id="116" name="Text 104"/>
          <p:cNvSpPr txBox="1"/>
          <p:nvPr/>
        </p:nvSpPr>
        <p:spPr>
          <a:xfrm>
            <a:off x="667512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price, reliable delivery, easy returns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still pay cash on delivery [S1]; unsure about prepaying for a 7–8 day wait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prepays ₹182 for a 3-pack instead of ₹209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₹26.7 off a pack; a “Sold directly by the manufacturer” badge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app; UPI pre-order at checkout</a:t>
            </a:r>
            <a:endParaRPr lang="en-US" sz="750" dirty="0"/>
          </a:p>
        </p:txBody>
      </p:sp>
      <p:sp>
        <p:nvSpPr>
          <p:cNvPr id="117" name="Shape 105"/>
          <p:cNvSpPr/>
          <p:nvPr/>
        </p:nvSpPr>
        <p:spPr>
          <a:xfrm>
            <a:off x="658368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8" name="Text 106"/>
          <p:cNvSpPr txBox="1"/>
          <p:nvPr/>
        </p:nvSpPr>
        <p:spPr>
          <a:xfrm>
            <a:off x="685800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Prepaid share ≥ 68.5%</a:t>
            </a:r>
            <a:endParaRPr lang="en-US" sz="750" dirty="0"/>
          </a:p>
        </p:txBody>
      </p:sp>
      <p:sp>
        <p:nvSpPr>
          <p:cNvPr id="119" name="Shape 107"/>
          <p:cNvSpPr/>
          <p:nvPr/>
        </p:nvSpPr>
        <p:spPr>
          <a:xfrm>
            <a:off x="2505456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E8434F"/>
            </a:solidFill>
            <a:prstDash val="solid"/>
          </a:ln>
        </p:spPr>
      </p:sp>
      <p:sp>
        <p:nvSpPr>
          <p:cNvPr id="120" name="Shape 108"/>
          <p:cNvSpPr/>
          <p:nvPr/>
        </p:nvSpPr>
        <p:spPr>
          <a:xfrm>
            <a:off x="2551176" y="4074566"/>
            <a:ext cx="347472" cy="347472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1" name="Image 10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7620" y="4151010"/>
            <a:ext cx="194584" cy="194584"/>
          </a:xfrm>
          <a:prstGeom prst="rect">
            <a:avLst/>
          </a:prstGeom>
        </p:spPr>
      </p:pic>
      <p:sp>
        <p:nvSpPr>
          <p:cNvPr id="122" name="Text 109"/>
          <p:cNvSpPr txBox="1"/>
          <p:nvPr/>
        </p:nvSpPr>
        <p:spPr>
          <a:xfrm>
            <a:off x="2935224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owner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personas on page 3 (cohorts A, A, C, B)</a:t>
            </a:r>
            <a:endParaRPr lang="en-US" sz="800" dirty="0"/>
          </a:p>
        </p:txBody>
      </p:sp>
      <p:sp>
        <p:nvSpPr>
          <p:cNvPr id="123" name="Text 110"/>
          <p:cNvSpPr txBox="1"/>
          <p:nvPr/>
        </p:nvSpPr>
        <p:spPr>
          <a:xfrm>
            <a:off x="2560320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before cutting fabric; no packing team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build-to-stock risk; 45–60 day distributor terms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check, commits batches, drops stock in bulk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₹18.3 a pack vs ₹7.9 ex-factory; cash in ~11 days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app, WhatsApp, voice agent</a:t>
            </a:r>
            <a:endParaRPr lang="en-US" sz="750" dirty="0"/>
          </a:p>
        </p:txBody>
      </p:sp>
      <p:sp>
        <p:nvSpPr>
          <p:cNvPr id="124" name="Shape 111"/>
          <p:cNvSpPr/>
          <p:nvPr/>
        </p:nvSpPr>
        <p:spPr>
          <a:xfrm>
            <a:off x="2551176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25" name="Text 112"/>
          <p:cNvSpPr txBox="1"/>
          <p:nvPr/>
        </p:nvSpPr>
        <p:spPr>
          <a:xfrm>
            <a:off x="2578608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First batch ≤ 14 days</a:t>
            </a:r>
            <a:endParaRPr lang="en-US" sz="750" dirty="0"/>
          </a:p>
        </p:txBody>
      </p:sp>
      <p:sp>
        <p:nvSpPr>
          <p:cNvPr id="126" name="Shape 113"/>
          <p:cNvSpPr/>
          <p:nvPr/>
        </p:nvSpPr>
        <p:spPr>
          <a:xfrm>
            <a:off x="4398264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127" name="Shape 114"/>
          <p:cNvSpPr/>
          <p:nvPr/>
        </p:nvSpPr>
        <p:spPr>
          <a:xfrm>
            <a:off x="4443984" y="4074566"/>
            <a:ext cx="347472" cy="347472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8" name="Image 11" descr="/Users/prathmeshwalimbe/Downloads/Meesho/02_round2_detailed_submission/deck/source/assets/icons/FaGaugeHigh_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20428" y="4151010"/>
            <a:ext cx="194584" cy="194584"/>
          </a:xfrm>
          <a:prstGeom prst="rect">
            <a:avLst/>
          </a:prstGeom>
        </p:spPr>
      </p:pic>
      <p:sp>
        <p:nvSpPr>
          <p:cNvPr id="129" name="Text 115"/>
          <p:cNvSpPr txBox="1"/>
          <p:nvPr/>
        </p:nvSpPr>
        <p:spPr>
          <a:xfrm>
            <a:off x="4828032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manager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· ~910 C2M sellers each</a:t>
            </a:r>
            <a:endParaRPr lang="en-US" sz="800" dirty="0"/>
          </a:p>
        </p:txBody>
      </p:sp>
      <p:sp>
        <p:nvSpPr>
          <p:cNvPr id="130" name="Text 116"/>
          <p:cNvSpPr txBox="1"/>
          <p:nvPr/>
        </p:nvSpPr>
        <p:spPr>
          <a:xfrm>
            <a:off x="4453128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NMV protected; few manual cases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chase hundreds of sellers by phone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only when a score stays below 40 after an automatic fix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tower: price screen, Health Score queue, Day-30 readout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Control-tower dashboard (prototype)</a:t>
            </a:r>
            <a:endParaRPr lang="en-US" sz="750" dirty="0"/>
          </a:p>
        </p:txBody>
      </p:sp>
      <p:sp>
        <p:nvSpPr>
          <p:cNvPr id="131" name="Shape 117"/>
          <p:cNvSpPr/>
          <p:nvPr/>
        </p:nvSpPr>
        <p:spPr>
          <a:xfrm>
            <a:off x="4443984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2" name="Text 118"/>
          <p:cNvSpPr txBox="1"/>
          <p:nvPr/>
        </p:nvSpPr>
        <p:spPr>
          <a:xfrm>
            <a:off x="4471416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≤ 5 escalations per 100 a month</a:t>
            </a:r>
            <a:endParaRPr lang="en-US" sz="750" dirty="0"/>
          </a:p>
        </p:txBody>
      </p:sp>
      <p:sp>
        <p:nvSpPr>
          <p:cNvPr id="133" name="Shape 119"/>
          <p:cNvSpPr/>
          <p:nvPr/>
        </p:nvSpPr>
        <p:spPr>
          <a:xfrm>
            <a:off x="6291072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7B2A66"/>
            </a:solidFill>
            <a:prstDash val="solid"/>
          </a:ln>
        </p:spPr>
      </p:sp>
      <p:sp>
        <p:nvSpPr>
          <p:cNvPr id="134" name="Shape 120"/>
          <p:cNvSpPr/>
          <p:nvPr/>
        </p:nvSpPr>
        <p:spPr>
          <a:xfrm>
            <a:off x="6336792" y="4074566"/>
            <a:ext cx="347472" cy="347472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5" name="Image 12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13236" y="4151010"/>
            <a:ext cx="194584" cy="194584"/>
          </a:xfrm>
          <a:prstGeom prst="rect">
            <a:avLst/>
          </a:prstGeom>
        </p:spPr>
      </p:pic>
      <p:sp>
        <p:nvSpPr>
          <p:cNvPr id="136" name="Text 121"/>
          <p:cNvSpPr txBox="1"/>
          <p:nvPr/>
        </p:nvSpPr>
        <p:spPr>
          <a:xfrm>
            <a:off x="6720840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operator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3PL in the cluster; Valmo delivers onward</a:t>
            </a:r>
            <a:endParaRPr lang="en-US" sz="800" dirty="0"/>
          </a:p>
        </p:txBody>
      </p:sp>
      <p:sp>
        <p:nvSpPr>
          <p:cNvPr id="137" name="Text 122"/>
          <p:cNvSpPr txBox="1"/>
          <p:nvPr/>
        </p:nvSpPr>
        <p:spPr>
          <a:xfrm>
            <a:off x="6345936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daily volume; clean order data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space between seasons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bulk drops; picks, packs, ships; grades returns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a unit (pack ₹6, handle ₹9, freight ₹5); ₹1.3 cr set-up support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feed from Meesho; Valmo pickups</a:t>
            </a:r>
            <a:endParaRPr lang="en-US" sz="750" dirty="0"/>
          </a:p>
        </p:txBody>
      </p:sp>
      <p:sp>
        <p:nvSpPr>
          <p:cNvPr id="138" name="Shape 123"/>
          <p:cNvSpPr/>
          <p:nvPr/>
        </p:nvSpPr>
        <p:spPr>
          <a:xfrm>
            <a:off x="6336792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9" name="Text 124"/>
          <p:cNvSpPr txBox="1"/>
          <p:nvPr/>
        </p:nvSpPr>
        <p:spPr>
          <a:xfrm>
            <a:off x="6364224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95% shipped within 48 h</a:t>
            </a:r>
            <a:endParaRPr lang="en-US" sz="750" dirty="0"/>
          </a:p>
        </p:txBody>
      </p:sp>
      <p:sp>
        <p:nvSpPr>
          <p:cNvPr id="140" name="Shape 125"/>
          <p:cNvSpPr/>
          <p:nvPr/>
        </p:nvSpPr>
        <p:spPr>
          <a:xfrm>
            <a:off x="8183880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41" name="Shape 126"/>
          <p:cNvSpPr/>
          <p:nvPr/>
        </p:nvSpPr>
        <p:spPr>
          <a:xfrm>
            <a:off x="8229600" y="4074566"/>
            <a:ext cx="347472" cy="347472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2" name="Image 13" descr="/Users/prathmeshwalimbe/Downloads/Meesho/02_round2_detailed_submission/deck/source/assets/icons/FaIndianRupeeSign_w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6044" y="4151010"/>
            <a:ext cx="194584" cy="194584"/>
          </a:xfrm>
          <a:prstGeom prst="rect">
            <a:avLst/>
          </a:prstGeom>
        </p:spPr>
      </p:pic>
      <p:sp>
        <p:nvSpPr>
          <p:cNvPr id="143" name="Text 127"/>
          <p:cNvSpPr txBox="1"/>
          <p:nvPr/>
        </p:nvSpPr>
        <p:spPr>
          <a:xfrm>
            <a:off x="8613648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partner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to marketplace sellers [S26]</a:t>
            </a:r>
            <a:endParaRPr lang="en-US" sz="800" dirty="0"/>
          </a:p>
        </p:txBody>
      </p:sp>
      <p:sp>
        <p:nvSpPr>
          <p:cNvPr id="144" name="Text 128"/>
          <p:cNvSpPr txBox="1"/>
          <p:nvPr/>
        </p:nvSpPr>
        <p:spPr>
          <a:xfrm>
            <a:off x="8238744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low-risk loans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see small factories’ order flow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30% of confirmed pre-order value at handover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repaid from the payout ~7 days after delivery; buyers already prepaid; Meesho covers the first 1% of losses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Confirmed-order data shared by Meesho</a:t>
            </a:r>
            <a:endParaRPr lang="en-US" sz="750" dirty="0"/>
          </a:p>
        </p:txBody>
      </p:sp>
      <p:sp>
        <p:nvSpPr>
          <p:cNvPr id="145" name="Shape 129"/>
          <p:cNvSpPr/>
          <p:nvPr/>
        </p:nvSpPr>
        <p:spPr>
          <a:xfrm>
            <a:off x="8229600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46" name="Text 130"/>
          <p:cNvSpPr txBox="1"/>
          <p:nvPr/>
        </p:nvSpPr>
        <p:spPr>
          <a:xfrm>
            <a:off x="8257032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Advance within 24 h; losses ≤ 1%</a:t>
            </a:r>
            <a:endParaRPr lang="en-US" sz="750" dirty="0"/>
          </a:p>
        </p:txBody>
      </p:sp>
      <p:sp>
        <p:nvSpPr>
          <p:cNvPr id="147" name="Shape 131"/>
          <p:cNvSpPr/>
          <p:nvPr/>
        </p:nvSpPr>
        <p:spPr>
          <a:xfrm>
            <a:off x="10076688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7B2A66"/>
            </a:solidFill>
            <a:prstDash val="solid"/>
          </a:ln>
        </p:spPr>
      </p:sp>
      <p:sp>
        <p:nvSpPr>
          <p:cNvPr id="148" name="Shape 132"/>
          <p:cNvSpPr/>
          <p:nvPr/>
        </p:nvSpPr>
        <p:spPr>
          <a:xfrm>
            <a:off x="10122408" y="4074566"/>
            <a:ext cx="347472" cy="347472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9" name="Image 14" descr="/Users/prathmeshwalimbe/Downloads/Meesho/02_round2_detailed_submission/deck/source/assets/icons/FaUserTie_w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98852" y="4151010"/>
            <a:ext cx="194584" cy="194584"/>
          </a:xfrm>
          <a:prstGeom prst="rect">
            <a:avLst/>
          </a:prstGeom>
        </p:spPr>
      </p:pic>
      <p:sp>
        <p:nvSpPr>
          <p:cNvPr id="150" name="Text 133"/>
          <p:cNvSpPr txBox="1"/>
          <p:nvPr/>
        </p:nvSpPr>
        <p:spPr>
          <a:xfrm>
            <a:off x="10506456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association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Tiruppur and Panipat industry bodies</a:t>
            </a:r>
            <a:endParaRPr lang="en-US" sz="800" dirty="0"/>
          </a:p>
        </p:txBody>
      </p:sp>
      <p:sp>
        <p:nvSpPr>
          <p:cNvPr id="151" name="Text 134"/>
          <p:cNvSpPr txBox="1"/>
          <p:nvPr/>
        </p:nvSpPr>
        <p:spPr>
          <a:xfrm>
            <a:off x="10131552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for members hit by export swings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Panipat exports −50%, domestic −35% [S9]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camps of 40–60 units; vouches for members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demand for members; MSME-TEAM co-funding, ₹277 cr scheme [S18]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Camps, member WhatsApp groups</a:t>
            </a:r>
            <a:endParaRPr lang="en-US" sz="750" dirty="0"/>
          </a:p>
        </p:txBody>
      </p:sp>
      <p:sp>
        <p:nvSpPr>
          <p:cNvPr id="152" name="Shape 135"/>
          <p:cNvSpPr/>
          <p:nvPr/>
        </p:nvSpPr>
        <p:spPr>
          <a:xfrm>
            <a:off x="10122408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3" name="Text 136"/>
          <p:cNvSpPr txBox="1"/>
          <p:nvPr/>
        </p:nvSpPr>
        <p:spPr>
          <a:xfrm>
            <a:off x="10149840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≥ 50% of camp units listed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idea: Factory Direct lets a factory sell to 274 mn buyers without an e-commerce team, reached through cluster camps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&amp; STRATEGY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launch Factory Direct camps with the Tiruppur and Panipat associations. Owner: Category + Growth · KPI: 40–60 units a camp, ≥ 50% of qualified factories listed within 30 days.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(274 mn buyers; 1.04 mn sellers; Gen-AI voice agents), S8 Tiruppur, S9 Panipat, S18 MSME-TEAM, S21   |   Story is an illustrative composite (Murugan is not a real person); its numbers come from the model (Appendix B)   |   Assumptions: A10, A20, A22, A32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change, one factory owner (illustrative): from export shock to repeat batches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11411712" cy="158511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30936" y="1362456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/Users/prathmeshwalimbe/Downloads/Meesho/02_round2_detailed_submission/deck/source/assets/icons/FaTriangleExclamatio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543" y="1467063"/>
            <a:ext cx="266273" cy="266273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1161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1188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−30</a:t>
            </a:r>
            <a:endParaRPr lang="en-US" sz="800" dirty="0"/>
          </a:p>
        </p:txBody>
      </p:sp>
      <p:sp>
        <p:nvSpPr>
          <p:cNvPr id="42" name="Text 36"/>
          <p:cNvSpPr txBox="1"/>
          <p:nvPr/>
        </p:nvSpPr>
        <p:spPr>
          <a:xfrm>
            <a:off x="2097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Text 37"/>
          <p:cNvSpPr txBox="1"/>
          <p:nvPr/>
        </p:nvSpPr>
        <p:spPr>
          <a:xfrm>
            <a:off x="612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Murugan’s US order is cut under the 50% tariff; a third of his knitting lines sit idle [S8].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612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0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export shock</a:t>
            </a:r>
            <a:endParaRPr lang="en-US" sz="800" dirty="0"/>
          </a:p>
        </p:txBody>
      </p:sp>
      <p:sp>
        <p:nvSpPr>
          <p:cNvPr id="46" name="Text 40"/>
          <p:cNvSpPr txBox="1"/>
          <p:nvPr/>
        </p:nvSpPr>
        <p:spPr>
          <a:xfrm>
            <a:off x="2371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2535936" y="1362456"/>
            <a:ext cx="475488" cy="47548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8" name="Image 4" descr="/Users/prathmeshwalimbe/Downloads/Meesho/02_round2_detailed_submission/deck/source/assets/icons/FaUserTi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543" y="1467063"/>
            <a:ext cx="266273" cy="266273"/>
          </a:xfrm>
          <a:prstGeom prst="rect">
            <a:avLst/>
          </a:prstGeom>
        </p:spPr>
      </p:pic>
      <p:sp>
        <p:nvSpPr>
          <p:cNvPr id="49" name="Shape 42"/>
          <p:cNvSpPr/>
          <p:nvPr/>
        </p:nvSpPr>
        <p:spPr>
          <a:xfrm>
            <a:off x="3066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3093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−10</a:t>
            </a:r>
            <a:endParaRPr lang="en-US" sz="800" dirty="0"/>
          </a:p>
        </p:txBody>
      </p:sp>
      <p:sp>
        <p:nvSpPr>
          <p:cNvPr id="51" name="Text 44"/>
          <p:cNvSpPr txBox="1"/>
          <p:nvPr/>
        </p:nvSpPr>
        <p:spPr>
          <a:xfrm>
            <a:off x="4002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52" name="Text 45"/>
          <p:cNvSpPr txBox="1"/>
          <p:nvPr/>
        </p:nvSpPr>
        <p:spPr>
          <a:xfrm>
            <a:off x="2517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Tiruppur association meet, Meesho’s cluster team runs a Factory Direct camp for 50 units.</a:t>
            </a:r>
            <a:endParaRPr lang="en-US" sz="850" dirty="0"/>
          </a:p>
        </p:txBody>
      </p:sp>
      <p:sp>
        <p:nvSpPr>
          <p:cNvPr id="53" name="Shape 46"/>
          <p:cNvSpPr/>
          <p:nvPr/>
        </p:nvSpPr>
        <p:spPr>
          <a:xfrm>
            <a:off x="2517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2545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Lever: cluster camp</a:t>
            </a:r>
            <a:endParaRPr lang="en-US" sz="800" dirty="0"/>
          </a:p>
        </p:txBody>
      </p:sp>
      <p:sp>
        <p:nvSpPr>
          <p:cNvPr id="55" name="Text 48"/>
          <p:cNvSpPr txBox="1"/>
          <p:nvPr/>
        </p:nvSpPr>
        <p:spPr>
          <a:xfrm>
            <a:off x="4276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56" name="Shape 49"/>
          <p:cNvSpPr/>
          <p:nvPr/>
        </p:nvSpPr>
        <p:spPr>
          <a:xfrm>
            <a:off x="4440936" y="1362456"/>
            <a:ext cx="475488" cy="47548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7" name="Image 5" descr="/Users/prathmeshwalimbe/Downloads/Meesho/02_round2_detailed_submission/deck/source/assets/icons/FaWhatsapp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5543" y="1467063"/>
            <a:ext cx="266273" cy="266273"/>
          </a:xfrm>
          <a:prstGeom prst="rect">
            <a:avLst/>
          </a:prstGeom>
        </p:spPr>
      </p:pic>
      <p:sp>
        <p:nvSpPr>
          <p:cNvPr id="58" name="Shape 50"/>
          <p:cNvSpPr/>
          <p:nvPr/>
        </p:nvSpPr>
        <p:spPr>
          <a:xfrm>
            <a:off x="4971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4998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−7</a:t>
            </a:r>
            <a:endParaRPr lang="en-US" sz="800" dirty="0"/>
          </a:p>
        </p:txBody>
      </p:sp>
      <p:sp>
        <p:nvSpPr>
          <p:cNvPr id="60" name="Text 52"/>
          <p:cNvSpPr txBox="1"/>
          <p:nvPr/>
        </p:nvSpPr>
        <p:spPr>
          <a:xfrm>
            <a:off x="5907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1" name="Text 53"/>
          <p:cNvSpPr txBox="1"/>
          <p:nvPr/>
        </p:nvSpPr>
        <p:spPr>
          <a:xfrm>
            <a:off x="4422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sends his making cost on WhatsApp: lowest viable price ₹180 vs the ₹192 gate. He qualifies.</a:t>
            </a:r>
            <a:endParaRPr lang="en-US" sz="850" dirty="0"/>
          </a:p>
        </p:txBody>
      </p:sp>
      <p:sp>
        <p:nvSpPr>
          <p:cNvPr id="62" name="Shape 54"/>
          <p:cNvSpPr/>
          <p:nvPr/>
        </p:nvSpPr>
        <p:spPr>
          <a:xfrm>
            <a:off x="4422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4450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Lever: price check</a:t>
            </a:r>
            <a:endParaRPr lang="en-US" sz="800" dirty="0"/>
          </a:p>
        </p:txBody>
      </p:sp>
      <p:sp>
        <p:nvSpPr>
          <p:cNvPr id="64" name="Text 56"/>
          <p:cNvSpPr txBox="1"/>
          <p:nvPr/>
        </p:nvSpPr>
        <p:spPr>
          <a:xfrm>
            <a:off x="6181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65" name="Shape 57"/>
          <p:cNvSpPr/>
          <p:nvPr/>
        </p:nvSpPr>
        <p:spPr>
          <a:xfrm>
            <a:off x="6345936" y="1362456"/>
            <a:ext cx="475488" cy="47548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Image 6" descr="/Users/prathmeshwalimbe/Downloads/Meesho/02_round2_detailed_submission/deck/source/assets/icons/FaMapLocationDot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543" y="1467063"/>
            <a:ext cx="266273" cy="266273"/>
          </a:xfrm>
          <a:prstGeom prst="rect">
            <a:avLst/>
          </a:prstGeom>
        </p:spPr>
      </p:pic>
      <p:sp>
        <p:nvSpPr>
          <p:cNvPr id="67" name="Shape 58"/>
          <p:cNvSpPr/>
          <p:nvPr/>
        </p:nvSpPr>
        <p:spPr>
          <a:xfrm>
            <a:off x="6876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8" name="Text 59"/>
          <p:cNvSpPr txBox="1"/>
          <p:nvPr/>
        </p:nvSpPr>
        <p:spPr>
          <a:xfrm>
            <a:off x="6903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−5</a:t>
            </a:r>
            <a:endParaRPr lang="en-US" sz="800" dirty="0"/>
          </a:p>
        </p:txBody>
      </p:sp>
      <p:sp>
        <p:nvSpPr>
          <p:cNvPr id="69" name="Text 60"/>
          <p:cNvSpPr txBox="1"/>
          <p:nvPr/>
        </p:nvSpPr>
        <p:spPr>
          <a:xfrm>
            <a:off x="7812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70" name="Text 61"/>
          <p:cNvSpPr txBox="1"/>
          <p:nvPr/>
        </p:nvSpPr>
        <p:spPr>
          <a:xfrm>
            <a:off x="6327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Demand Brief shows which districts buy men’s briefs; he commits a 1,000-pack prepaid batch.</a:t>
            </a:r>
            <a:endParaRPr lang="en-US" sz="850" dirty="0"/>
          </a:p>
        </p:txBody>
      </p:sp>
      <p:sp>
        <p:nvSpPr>
          <p:cNvPr id="71" name="Shape 62"/>
          <p:cNvSpPr/>
          <p:nvPr/>
        </p:nvSpPr>
        <p:spPr>
          <a:xfrm>
            <a:off x="6327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6355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Lever: Demand Brief + pre-order</a:t>
            </a:r>
            <a:endParaRPr lang="en-US" sz="800" dirty="0"/>
          </a:p>
        </p:txBody>
      </p:sp>
      <p:sp>
        <p:nvSpPr>
          <p:cNvPr id="73" name="Text 64"/>
          <p:cNvSpPr txBox="1"/>
          <p:nvPr/>
        </p:nvSpPr>
        <p:spPr>
          <a:xfrm>
            <a:off x="8086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74" name="Shape 65"/>
          <p:cNvSpPr/>
          <p:nvPr/>
        </p:nvSpPr>
        <p:spPr>
          <a:xfrm>
            <a:off x="8250936" y="1362456"/>
            <a:ext cx="475488" cy="47548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Image 7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5543" y="1467063"/>
            <a:ext cx="266273" cy="266273"/>
          </a:xfrm>
          <a:prstGeom prst="rect">
            <a:avLst/>
          </a:prstGeom>
        </p:spPr>
      </p:pic>
      <p:sp>
        <p:nvSpPr>
          <p:cNvPr id="76" name="Shape 66"/>
          <p:cNvSpPr/>
          <p:nvPr/>
        </p:nvSpPr>
        <p:spPr>
          <a:xfrm>
            <a:off x="8781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8808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</a:t>
            </a:r>
            <a:endParaRPr lang="en-US" sz="800" dirty="0"/>
          </a:p>
        </p:txBody>
      </p:sp>
      <p:sp>
        <p:nvSpPr>
          <p:cNvPr id="78" name="Text 68"/>
          <p:cNvSpPr txBox="1"/>
          <p:nvPr/>
        </p:nvSpPr>
        <p:spPr>
          <a:xfrm>
            <a:off x="9717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79" name="Text 69"/>
          <p:cNvSpPr txBox="1"/>
          <p:nvPr/>
        </p:nvSpPr>
        <p:spPr>
          <a:xfrm>
            <a:off x="8232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truck to the Tiruppur node: ₹54,684 lands at handover; the node ships every order.</a:t>
            </a:r>
            <a:endParaRPr lang="en-US" sz="850" dirty="0"/>
          </a:p>
        </p:txBody>
      </p:sp>
      <p:sp>
        <p:nvSpPr>
          <p:cNvPr id="80" name="Shape 70"/>
          <p:cNvSpPr/>
          <p:nvPr/>
        </p:nvSpPr>
        <p:spPr>
          <a:xfrm>
            <a:off x="8232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81" name="Text 71"/>
          <p:cNvSpPr txBox="1"/>
          <p:nvPr/>
        </p:nvSpPr>
        <p:spPr>
          <a:xfrm>
            <a:off x="8260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Lever: node + 30% advance</a:t>
            </a:r>
            <a:endParaRPr lang="en-US" sz="800" dirty="0"/>
          </a:p>
        </p:txBody>
      </p:sp>
      <p:sp>
        <p:nvSpPr>
          <p:cNvPr id="82" name="Text 72"/>
          <p:cNvSpPr txBox="1"/>
          <p:nvPr/>
        </p:nvSpPr>
        <p:spPr>
          <a:xfrm>
            <a:off x="9991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83" name="Shape 73"/>
          <p:cNvSpPr/>
          <p:nvPr/>
        </p:nvSpPr>
        <p:spPr>
          <a:xfrm>
            <a:off x="10155936" y="1362456"/>
            <a:ext cx="475488" cy="47548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4" name="Image 8" descr="/Users/prathmeshwalimbe/Downloads/Meesho/02_round2_detailed_submission/deck/source/assets/icons/FaRocket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60543" y="1467063"/>
            <a:ext cx="266273" cy="266273"/>
          </a:xfrm>
          <a:prstGeom prst="rect">
            <a:avLst/>
          </a:prstGeom>
        </p:spPr>
      </p:pic>
      <p:sp>
        <p:nvSpPr>
          <p:cNvPr id="85" name="Shape 74"/>
          <p:cNvSpPr/>
          <p:nvPr/>
        </p:nvSpPr>
        <p:spPr>
          <a:xfrm>
            <a:off x="10686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86" name="Text 75"/>
          <p:cNvSpPr txBox="1"/>
          <p:nvPr/>
        </p:nvSpPr>
        <p:spPr>
          <a:xfrm>
            <a:off x="10713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13–19</a:t>
            </a:r>
            <a:endParaRPr lang="en-US" sz="800" dirty="0"/>
          </a:p>
        </p:txBody>
      </p:sp>
      <p:sp>
        <p:nvSpPr>
          <p:cNvPr id="87" name="Text 76"/>
          <p:cNvSpPr txBox="1"/>
          <p:nvPr/>
        </p:nvSpPr>
        <p:spPr>
          <a:xfrm>
            <a:off x="11622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88" name="Text 77"/>
          <p:cNvSpPr txBox="1"/>
          <p:nvPr/>
        </p:nvSpPr>
        <p:spPr>
          <a:xfrm>
            <a:off x="10137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₹33,840 more for kept orders, net of fees; he refers two neighbouring units.</a:t>
            </a:r>
            <a:endParaRPr lang="en-US" sz="850" dirty="0"/>
          </a:p>
        </p:txBody>
      </p:sp>
      <p:sp>
        <p:nvSpPr>
          <p:cNvPr id="89" name="Shape 78"/>
          <p:cNvSpPr/>
          <p:nvPr/>
        </p:nvSpPr>
        <p:spPr>
          <a:xfrm>
            <a:off x="10137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0" name="Text 79"/>
          <p:cNvSpPr txBox="1"/>
          <p:nvPr/>
        </p:nvSpPr>
        <p:spPr>
          <a:xfrm>
            <a:off x="10165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repeat + referral</a:t>
            </a:r>
            <a:endParaRPr lang="en-US" sz="800" dirty="0"/>
          </a:p>
        </p:txBody>
      </p:sp>
      <p:sp>
        <p:nvSpPr>
          <p:cNvPr id="91" name="Shape 80"/>
          <p:cNvSpPr/>
          <p:nvPr/>
        </p:nvSpPr>
        <p:spPr>
          <a:xfrm>
            <a:off x="548640" y="2975000"/>
            <a:ext cx="212250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92" name="Text 81"/>
          <p:cNvSpPr txBox="1"/>
          <p:nvPr/>
        </p:nvSpPr>
        <p:spPr>
          <a:xfrm>
            <a:off x="612648" y="2975000"/>
            <a:ext cx="1994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why factories switch</a:t>
            </a:r>
            <a:endParaRPr lang="en-US" sz="950" dirty="0"/>
          </a:p>
        </p:txBody>
      </p:sp>
      <p:sp>
        <p:nvSpPr>
          <p:cNvPr id="93" name="Shape 82"/>
          <p:cNvSpPr/>
          <p:nvPr/>
        </p:nvSpPr>
        <p:spPr>
          <a:xfrm>
            <a:off x="548640" y="3221888"/>
            <a:ext cx="2122505" cy="143789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94" name="Text 83"/>
          <p:cNvSpPr txBox="1"/>
          <p:nvPr/>
        </p:nvSpPr>
        <p:spPr>
          <a:xfrm>
            <a:off x="612648" y="3267608"/>
            <a:ext cx="1994489" cy="1346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pick-pack-ship team needed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only confirmed orders (+15%)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cash at handover, rest in ~11 days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₹18.3 a pack vs ₹7.9 ex-factory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hedge against export swings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commission; ₹0 RTO fee</a:t>
            </a:r>
            <a:endParaRPr lang="en-US" sz="850" dirty="0"/>
          </a:p>
        </p:txBody>
      </p:sp>
      <p:sp>
        <p:nvSpPr>
          <p:cNvPr id="95" name="Shape 84"/>
          <p:cNvSpPr/>
          <p:nvPr/>
        </p:nvSpPr>
        <p:spPr>
          <a:xfrm>
            <a:off x="2762585" y="2975000"/>
            <a:ext cx="618500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6" name="Text 85"/>
          <p:cNvSpPr txBox="1"/>
          <p:nvPr/>
        </p:nvSpPr>
        <p:spPr>
          <a:xfrm>
            <a:off x="2826593" y="2975000"/>
            <a:ext cx="6056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to reach factories: ATL · TTL · BTL (segment each one targets)</a:t>
            </a:r>
            <a:endParaRPr lang="en-US" sz="950" dirty="0"/>
          </a:p>
        </p:txBody>
      </p:sp>
      <p:sp>
        <p:nvSpPr>
          <p:cNvPr id="97" name="Shape 86"/>
          <p:cNvSpPr/>
          <p:nvPr/>
        </p:nvSpPr>
        <p:spPr>
          <a:xfrm>
            <a:off x="2762585" y="3221888"/>
            <a:ext cx="6185002" cy="143789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98" name="Shape 87"/>
          <p:cNvSpPr/>
          <p:nvPr/>
        </p:nvSpPr>
        <p:spPr>
          <a:xfrm>
            <a:off x="2826593" y="3267608"/>
            <a:ext cx="1970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9" name="Text 88"/>
          <p:cNvSpPr txBox="1"/>
          <p:nvPr/>
        </p:nvSpPr>
        <p:spPr>
          <a:xfrm>
            <a:off x="2854025" y="3267608"/>
            <a:ext cx="1915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 reach</a:t>
            </a:r>
            <a:endParaRPr lang="en-US" sz="900" dirty="0"/>
          </a:p>
        </p:txBody>
      </p:sp>
      <p:sp>
        <p:nvSpPr>
          <p:cNvPr id="100" name="Text 89"/>
          <p:cNvSpPr txBox="1"/>
          <p:nvPr/>
        </p:nvSpPr>
        <p:spPr>
          <a:xfrm>
            <a:off x="2826593" y="3541928"/>
            <a:ext cx="1970227" cy="1072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business news + YouTube explainers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Tamil and Hindi (A)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Supplier-app banner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1.04 mn existing sellers (C) [S1]</a:t>
            </a:r>
            <a:endParaRPr lang="en-US" sz="850" dirty="0"/>
          </a:p>
        </p:txBody>
      </p:sp>
      <p:sp>
        <p:nvSpPr>
          <p:cNvPr id="101" name="Shape 90"/>
          <p:cNvSpPr/>
          <p:nvPr/>
        </p:nvSpPr>
        <p:spPr>
          <a:xfrm>
            <a:off x="4869972" y="3267608"/>
            <a:ext cx="1970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02" name="Text 91"/>
          <p:cNvSpPr txBox="1"/>
          <p:nvPr/>
        </p:nvSpPr>
        <p:spPr>
          <a:xfrm>
            <a:off x="4897404" y="3267608"/>
            <a:ext cx="1915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reach</a:t>
            </a:r>
            <a:endParaRPr lang="en-US" sz="900" dirty="0"/>
          </a:p>
        </p:txBody>
      </p:sp>
      <p:sp>
        <p:nvSpPr>
          <p:cNvPr id="103" name="Text 92"/>
          <p:cNvSpPr txBox="1"/>
          <p:nvPr/>
        </p:nvSpPr>
        <p:spPr>
          <a:xfrm>
            <a:off x="4869972" y="3541928"/>
            <a:ext cx="1970227" cy="1072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Gen-AI voice agents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local languages, already live at Meesho (A, C) [S1]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Price-check link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seller agencies (B)</a:t>
            </a:r>
            <a:endParaRPr lang="en-US" sz="850" dirty="0"/>
          </a:p>
        </p:txBody>
      </p:sp>
      <p:sp>
        <p:nvSpPr>
          <p:cNvPr id="104" name="Shape 93"/>
          <p:cNvSpPr/>
          <p:nvPr/>
        </p:nvSpPr>
        <p:spPr>
          <a:xfrm>
            <a:off x="6913352" y="3267608"/>
            <a:ext cx="1970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05" name="Text 94"/>
          <p:cNvSpPr txBox="1"/>
          <p:nvPr/>
        </p:nvSpPr>
        <p:spPr>
          <a:xfrm>
            <a:off x="6940784" y="3267608"/>
            <a:ext cx="1915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BTL reach</a:t>
            </a:r>
            <a:endParaRPr lang="en-US" sz="900" dirty="0"/>
          </a:p>
        </p:txBody>
      </p:sp>
      <p:sp>
        <p:nvSpPr>
          <p:cNvPr id="106" name="Text 95"/>
          <p:cNvSpPr txBox="1"/>
          <p:nvPr/>
        </p:nvSpPr>
        <p:spPr>
          <a:xfrm>
            <a:off x="6913352" y="3541928"/>
            <a:ext cx="1970227" cy="1072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camps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Tiruppur and Panipat bodies, 40–60 units each (A)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MSME-TEAM / ONDC workshops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₹277 cr scheme to co-fund camps [S18]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Dormant-seller re-invite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WhatsApp, KYC on file (C)</a:t>
            </a:r>
            <a:endParaRPr lang="en-US" sz="850" dirty="0"/>
          </a:p>
        </p:txBody>
      </p:sp>
      <p:sp>
        <p:nvSpPr>
          <p:cNvPr id="107" name="Shape 96"/>
          <p:cNvSpPr/>
          <p:nvPr/>
        </p:nvSpPr>
        <p:spPr>
          <a:xfrm>
            <a:off x="9039027" y="2975000"/>
            <a:ext cx="292132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8" name="Text 97"/>
          <p:cNvSpPr txBox="1"/>
          <p:nvPr/>
        </p:nvSpPr>
        <p:spPr>
          <a:xfrm>
            <a:off x="9103035" y="2975000"/>
            <a:ext cx="27933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camps: why · what · how</a:t>
            </a:r>
            <a:endParaRPr lang="en-US" sz="950" dirty="0"/>
          </a:p>
        </p:txBody>
      </p:sp>
      <p:sp>
        <p:nvSpPr>
          <p:cNvPr id="109" name="Shape 98"/>
          <p:cNvSpPr/>
          <p:nvPr/>
        </p:nvSpPr>
        <p:spPr>
          <a:xfrm>
            <a:off x="9039027" y="3221888"/>
            <a:ext cx="2921325" cy="143789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10" name="Text 99"/>
          <p:cNvSpPr txBox="1"/>
          <p:nvPr/>
        </p:nvSpPr>
        <p:spPr>
          <a:xfrm>
            <a:off x="9103035" y="3267608"/>
            <a:ext cx="2793309" cy="1346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sit together: ~3,200 knitwear units in Tiruppur [S8]; ~₹60,000 cr turnover in Panipat [S9].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price check, Demand Brief demo, node visit, GST and KYC desk.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How?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association hosts; 40–60 units a camp; a factory can list the same day.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attended → price checks → listed → first batch, per camp.</a:t>
            </a:r>
            <a:endParaRPr lang="en-US" sz="850" dirty="0"/>
          </a:p>
        </p:txBody>
      </p:sp>
      <p:sp>
        <p:nvSpPr>
          <p:cNvPr id="111" name="Shape 100"/>
          <p:cNvSpPr/>
          <p:nvPr/>
        </p:nvSpPr>
        <p:spPr>
          <a:xfrm>
            <a:off x="548640" y="4751222"/>
            <a:ext cx="839894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12" name="Text 101"/>
          <p:cNvSpPr txBox="1"/>
          <p:nvPr/>
        </p:nvSpPr>
        <p:spPr>
          <a:xfrm>
            <a:off x="612648" y="4751222"/>
            <a:ext cx="82709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offer: product · promotion · place · price</a:t>
            </a:r>
            <a:endParaRPr lang="en-US" sz="950" dirty="0"/>
          </a:p>
        </p:txBody>
      </p:sp>
      <p:sp>
        <p:nvSpPr>
          <p:cNvPr id="113" name="Shape 102"/>
          <p:cNvSpPr/>
          <p:nvPr/>
        </p:nvSpPr>
        <p:spPr>
          <a:xfrm>
            <a:off x="548640" y="4998110"/>
            <a:ext cx="8398947" cy="112837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14" name="Shape 103"/>
          <p:cNvSpPr/>
          <p:nvPr/>
        </p:nvSpPr>
        <p:spPr>
          <a:xfrm>
            <a:off x="612648" y="5043830"/>
            <a:ext cx="2012869" cy="219456"/>
          </a:xfrm>
          <a:prstGeom prst="roundRect">
            <a:avLst>
              <a:gd name="adj" fmla="val 208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15" name="Text 104"/>
          <p:cNvSpPr txBox="1"/>
          <p:nvPr/>
        </p:nvSpPr>
        <p:spPr>
          <a:xfrm>
            <a:off x="640080" y="5043830"/>
            <a:ext cx="1958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900" dirty="0"/>
          </a:p>
        </p:txBody>
      </p:sp>
      <p:sp>
        <p:nvSpPr>
          <p:cNvPr id="116" name="Text 105"/>
          <p:cNvSpPr txBox="1"/>
          <p:nvPr/>
        </p:nvSpPr>
        <p:spPr>
          <a:xfrm>
            <a:off x="640080" y="5299862"/>
            <a:ext cx="1958005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 stack: price check, Demand Brief, pre-order window, Factory Node, 30% advance, returns firewall. One supplier app, six levers.</a:t>
            </a:r>
            <a:endParaRPr lang="en-US" sz="850" dirty="0"/>
          </a:p>
        </p:txBody>
      </p:sp>
      <p:sp>
        <p:nvSpPr>
          <p:cNvPr id="117" name="Shape 106"/>
          <p:cNvSpPr/>
          <p:nvPr/>
        </p:nvSpPr>
        <p:spPr>
          <a:xfrm>
            <a:off x="2698669" y="5043830"/>
            <a:ext cx="2012869" cy="219456"/>
          </a:xfrm>
          <a:prstGeom prst="roundRect">
            <a:avLst>
              <a:gd name="adj" fmla="val 208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18" name="Text 107"/>
          <p:cNvSpPr txBox="1"/>
          <p:nvPr/>
        </p:nvSpPr>
        <p:spPr>
          <a:xfrm>
            <a:off x="2726101" y="5043830"/>
            <a:ext cx="1958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900" dirty="0"/>
          </a:p>
        </p:txBody>
      </p:sp>
      <p:sp>
        <p:nvSpPr>
          <p:cNvPr id="119" name="Text 108"/>
          <p:cNvSpPr txBox="1"/>
          <p:nvPr/>
        </p:nvSpPr>
        <p:spPr>
          <a:xfrm>
            <a:off x="2726101" y="5299862"/>
            <a:ext cx="1958005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 + WhatsApp campaign “Your factory, India’s buyers”; buyers see “Sold directly by the manufacturer” and the price gap.</a:t>
            </a:r>
            <a:endParaRPr lang="en-US" sz="850" dirty="0"/>
          </a:p>
        </p:txBody>
      </p:sp>
      <p:sp>
        <p:nvSpPr>
          <p:cNvPr id="120" name="Shape 109"/>
          <p:cNvSpPr/>
          <p:nvPr/>
        </p:nvSpPr>
        <p:spPr>
          <a:xfrm>
            <a:off x="4784689" y="5043830"/>
            <a:ext cx="2012869" cy="219456"/>
          </a:xfrm>
          <a:prstGeom prst="roundRect">
            <a:avLst>
              <a:gd name="adj" fmla="val 208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21" name="Text 110"/>
          <p:cNvSpPr txBox="1"/>
          <p:nvPr/>
        </p:nvSpPr>
        <p:spPr>
          <a:xfrm>
            <a:off x="4812121" y="5043830"/>
            <a:ext cx="1958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endParaRPr lang="en-US" sz="900" dirty="0"/>
          </a:p>
        </p:txBody>
      </p:sp>
      <p:sp>
        <p:nvSpPr>
          <p:cNvPr id="122" name="Text 111"/>
          <p:cNvSpPr txBox="1"/>
          <p:nvPr/>
        </p:nvSpPr>
        <p:spPr>
          <a:xfrm>
            <a:off x="4812121" y="5299862"/>
            <a:ext cx="1958005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Tiruppur and Panipat first, 12 clusters by Year 4, one partner node each; supplier app, WhatsApp and voice agent.</a:t>
            </a:r>
            <a:endParaRPr lang="en-US" sz="850" dirty="0"/>
          </a:p>
        </p:txBody>
      </p:sp>
      <p:sp>
        <p:nvSpPr>
          <p:cNvPr id="123" name="Shape 112"/>
          <p:cNvSpPr/>
          <p:nvPr/>
        </p:nvSpPr>
        <p:spPr>
          <a:xfrm>
            <a:off x="6870710" y="5043830"/>
            <a:ext cx="2012869" cy="219456"/>
          </a:xfrm>
          <a:prstGeom prst="roundRect">
            <a:avLst>
              <a:gd name="adj" fmla="val 208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24" name="Text 113"/>
          <p:cNvSpPr txBox="1"/>
          <p:nvPr/>
        </p:nvSpPr>
        <p:spPr>
          <a:xfrm>
            <a:off x="6898142" y="5043830"/>
            <a:ext cx="1958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900" dirty="0"/>
          </a:p>
        </p:txBody>
      </p:sp>
      <p:sp>
        <p:nvSpPr>
          <p:cNvPr id="125" name="Text 114"/>
          <p:cNvSpPr txBox="1"/>
          <p:nvPr/>
        </p:nvSpPr>
        <p:spPr>
          <a:xfrm>
            <a:off x="6898142" y="5299862"/>
            <a:ext cx="1958005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commission · node fee ₹20/unit · ₹0 RTO fee · ₹10 pre-order discount, funded by the ₹11 batch saving</a:t>
            </a:r>
            <a:endParaRPr lang="en-US" sz="850" dirty="0"/>
          </a:p>
        </p:txBody>
      </p:sp>
      <p:sp>
        <p:nvSpPr>
          <p:cNvPr id="126" name="Shape 115"/>
          <p:cNvSpPr/>
          <p:nvPr/>
        </p:nvSpPr>
        <p:spPr>
          <a:xfrm>
            <a:off x="9039027" y="4751222"/>
            <a:ext cx="292132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27" name="Text 116"/>
          <p:cNvSpPr txBox="1"/>
          <p:nvPr/>
        </p:nvSpPr>
        <p:spPr>
          <a:xfrm>
            <a:off x="9103035" y="4751222"/>
            <a:ext cx="27933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Bottlenecks and solutions</a:t>
            </a:r>
            <a:endParaRPr lang="en-US" sz="950" dirty="0"/>
          </a:p>
        </p:txBody>
      </p:sp>
      <p:sp>
        <p:nvSpPr>
          <p:cNvPr id="128" name="Shape 117"/>
          <p:cNvSpPr/>
          <p:nvPr/>
        </p:nvSpPr>
        <p:spPr>
          <a:xfrm>
            <a:off x="9039027" y="4998110"/>
            <a:ext cx="2921325" cy="112837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29" name="Text 118"/>
          <p:cNvSpPr txBox="1"/>
          <p:nvPr/>
        </p:nvSpPr>
        <p:spPr>
          <a:xfrm>
            <a:off x="9103035" y="5043830"/>
            <a:ext cx="2793309" cy="1036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Distrust after returns shocks →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end at the node; a pool caps losses.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orders return (tariff now 18%) →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fill idle lines between export runs.</a:t>
            </a:r>
            <a:endParaRPr lang="en-US" sz="8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of a price squeeze → </a:t>
            </a:r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rewards a gap that exists; Meesho never asks for cuts.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three ways to bring factories online, only Factory Direct removes unit operations, stock risk and returns within FDI rules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build Factory Direct (seller-owned stock at partner nodes plus prepaid batches); Meesho never takes title to stock. Owner: Valmo + Legal · KPI: zero inventory-control findings.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S1, S2 (Valmo 50–55% of deliveries), S16 Temu semi-managed, S17 Shein Brazil, S19 Press Note 2 (marketplace may not own or control seller inventory), S23–S25   |   Costs per pack from the unit-economics table (page 10, Appendix C)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375818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3630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Open marketplace (factory self-ships)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3758184" cy="173736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12648" y="1344168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lists, then packs, ships and takes back every return itself.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704088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0" name="Image 3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" y="1717243"/>
            <a:ext cx="204826" cy="204826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391668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750" dirty="0"/>
          </a:p>
        </p:txBody>
      </p:sp>
      <p:sp>
        <p:nvSpPr>
          <p:cNvPr id="42" name="Shape 36"/>
          <p:cNvSpPr/>
          <p:nvPr/>
        </p:nvSpPr>
        <p:spPr>
          <a:xfrm>
            <a:off x="1097280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43" name="Shape 37"/>
          <p:cNvSpPr/>
          <p:nvPr/>
        </p:nvSpPr>
        <p:spPr>
          <a:xfrm>
            <a:off x="1731264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4" name="Image 4" descr="/Users/prathmeshwalimbe/Downloads/Meesho/02_round2_detailed_submission/deck/source/assets/icons/FaClipboard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1731" y="1717243"/>
            <a:ext cx="204826" cy="204826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1418844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each order</a:t>
            </a:r>
            <a:endParaRPr lang="en-US" sz="750" dirty="0"/>
          </a:p>
        </p:txBody>
      </p:sp>
      <p:sp>
        <p:nvSpPr>
          <p:cNvPr id="46" name="Shape 39"/>
          <p:cNvSpPr/>
          <p:nvPr/>
        </p:nvSpPr>
        <p:spPr>
          <a:xfrm>
            <a:off x="2124456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47" name="Shape 40"/>
          <p:cNvSpPr/>
          <p:nvPr/>
        </p:nvSpPr>
        <p:spPr>
          <a:xfrm>
            <a:off x="2758440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8" name="Image 5" descr="/Users/prathmeshwalimbe/Downloads/Meesho/02_round2_detailed_submission/deck/source/assets/icons/FaTruckFas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907" y="1717243"/>
            <a:ext cx="204826" cy="204826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2446020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Courier</a:t>
            </a:r>
            <a:endParaRPr lang="en-US" sz="750" dirty="0"/>
          </a:p>
        </p:txBody>
      </p:sp>
      <p:sp>
        <p:nvSpPr>
          <p:cNvPr id="50" name="Shape 42"/>
          <p:cNvSpPr/>
          <p:nvPr/>
        </p:nvSpPr>
        <p:spPr>
          <a:xfrm>
            <a:off x="3151632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785616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2" name="Image 6" descr="/Users/prathmeshwalimbe/Downloads/Meesho/02_round2_detailed_submission/deck/source/assets/icons/FaStore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6083" y="1717243"/>
            <a:ext cx="204826" cy="204826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3473196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750" dirty="0"/>
          </a:p>
        </p:txBody>
      </p:sp>
      <p:sp>
        <p:nvSpPr>
          <p:cNvPr id="54" name="Text 45"/>
          <p:cNvSpPr txBox="1"/>
          <p:nvPr/>
        </p:nvSpPr>
        <p:spPr>
          <a:xfrm>
            <a:off x="612648" y="2258568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does: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pack, ship, take back returns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does: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storefront, payments, courier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viable price ₹194, 7.2% below: fails the 8% gate</a:t>
            </a:r>
            <a:endParaRPr lang="en-US" sz="750" dirty="0"/>
          </a:p>
        </p:txBody>
      </p:sp>
      <p:sp>
        <p:nvSpPr>
          <p:cNvPr id="55" name="Shape 46"/>
          <p:cNvSpPr/>
          <p:nvPr/>
        </p:nvSpPr>
        <p:spPr>
          <a:xfrm>
            <a:off x="612648" y="2697480"/>
            <a:ext cx="3630168" cy="292608"/>
          </a:xfrm>
          <a:prstGeom prst="roundRect">
            <a:avLst>
              <a:gd name="adj" fmla="val 12500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658368" y="2697480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it: </a:t>
            </a:r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today · Amazon · Flipkart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4398264" y="1051560"/>
            <a:ext cx="371246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4462272" y="1051560"/>
            <a:ext cx="3584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Fully managed (platform buys and holds stock)</a:t>
            </a:r>
            <a:endParaRPr lang="en-US" sz="950" dirty="0"/>
          </a:p>
        </p:txBody>
      </p:sp>
      <p:sp>
        <p:nvSpPr>
          <p:cNvPr id="59" name="Shape 50"/>
          <p:cNvSpPr/>
          <p:nvPr/>
        </p:nvSpPr>
        <p:spPr>
          <a:xfrm>
            <a:off x="4398264" y="1298448"/>
            <a:ext cx="3712464" cy="173736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4462272" y="134416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sells stock to the platform, which prices, stores and ships it.</a:t>
            </a:r>
            <a:endParaRPr lang="en-US" sz="800" dirty="0"/>
          </a:p>
        </p:txBody>
      </p:sp>
      <p:sp>
        <p:nvSpPr>
          <p:cNvPr id="61" name="Shape 52"/>
          <p:cNvSpPr/>
          <p:nvPr/>
        </p:nvSpPr>
        <p:spPr>
          <a:xfrm>
            <a:off x="4553712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Image 7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4179" y="1717243"/>
            <a:ext cx="204826" cy="204826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248912" y="2020824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750" dirty="0"/>
          </a:p>
        </p:txBody>
      </p:sp>
      <p:sp>
        <p:nvSpPr>
          <p:cNvPr id="64" name="Shape 54"/>
          <p:cNvSpPr/>
          <p:nvPr/>
        </p:nvSpPr>
        <p:spPr>
          <a:xfrm>
            <a:off x="4946904" y="1819656"/>
            <a:ext cx="59131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65" name="Shape 55"/>
          <p:cNvSpPr/>
          <p:nvPr/>
        </p:nvSpPr>
        <p:spPr>
          <a:xfrm>
            <a:off x="5565648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Image 8" descr="/Users/prathmeshwalimbe/Downloads/Meesho/02_round2_detailed_submission/deck/source/assets/icons/FaIndianRupeeSign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46115" y="1717243"/>
            <a:ext cx="204826" cy="204826"/>
          </a:xfrm>
          <a:prstGeom prst="rect">
            <a:avLst/>
          </a:prstGeom>
        </p:spPr>
      </p:pic>
      <p:sp>
        <p:nvSpPr>
          <p:cNvPr id="67" name="Text 56"/>
          <p:cNvSpPr txBox="1"/>
          <p:nvPr/>
        </p:nvSpPr>
        <p:spPr>
          <a:xfrm>
            <a:off x="5260848" y="2020824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buys</a:t>
            </a:r>
            <a:endParaRPr lang="en-US" sz="750" dirty="0"/>
          </a:p>
        </p:txBody>
      </p:sp>
      <p:sp>
        <p:nvSpPr>
          <p:cNvPr id="68" name="Shape 57"/>
          <p:cNvSpPr/>
          <p:nvPr/>
        </p:nvSpPr>
        <p:spPr>
          <a:xfrm>
            <a:off x="5958840" y="1819656"/>
            <a:ext cx="59131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69" name="Shape 58"/>
          <p:cNvSpPr/>
          <p:nvPr/>
        </p:nvSpPr>
        <p:spPr>
          <a:xfrm>
            <a:off x="6577584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0" name="Image 9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051" y="1717243"/>
            <a:ext cx="204826" cy="204826"/>
          </a:xfrm>
          <a:prstGeom prst="rect">
            <a:avLst/>
          </a:prstGeom>
        </p:spPr>
      </p:pic>
      <p:sp>
        <p:nvSpPr>
          <p:cNvPr id="71" name="Text 59"/>
          <p:cNvSpPr txBox="1"/>
          <p:nvPr/>
        </p:nvSpPr>
        <p:spPr>
          <a:xfrm>
            <a:off x="6272784" y="2020824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warehouse</a:t>
            </a:r>
            <a:endParaRPr lang="en-US" sz="750" dirty="0"/>
          </a:p>
        </p:txBody>
      </p:sp>
      <p:sp>
        <p:nvSpPr>
          <p:cNvPr id="72" name="Shape 60"/>
          <p:cNvSpPr/>
          <p:nvPr/>
        </p:nvSpPr>
        <p:spPr>
          <a:xfrm>
            <a:off x="6970776" y="1819656"/>
            <a:ext cx="59131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73" name="Shape 61"/>
          <p:cNvSpPr/>
          <p:nvPr/>
        </p:nvSpPr>
        <p:spPr>
          <a:xfrm>
            <a:off x="7589520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4" name="Image 10" descr="/Users/prathmeshwalimbe/Downloads/Meesho/02_round2_detailed_submission/deck/source/assets/icons/FaStore_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69987" y="1717243"/>
            <a:ext cx="204826" cy="204826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7284720" y="2020824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750" dirty="0"/>
          </a:p>
        </p:txBody>
      </p:sp>
      <p:sp>
        <p:nvSpPr>
          <p:cNvPr id="76" name="Text 63"/>
          <p:cNvSpPr txBox="1"/>
          <p:nvPr/>
        </p:nvSpPr>
        <p:spPr>
          <a:xfrm>
            <a:off x="4462272" y="2258568"/>
            <a:ext cx="3584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does: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to the platform’s purchase order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does: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buy, price, store, ship, handle returns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allowed: an FDI marketplace may not own seller stock [S19]</a:t>
            </a:r>
            <a:endParaRPr lang="en-US" sz="750" dirty="0"/>
          </a:p>
        </p:txBody>
      </p:sp>
      <p:sp>
        <p:nvSpPr>
          <p:cNvPr id="77" name="Shape 64"/>
          <p:cNvSpPr/>
          <p:nvPr/>
        </p:nvSpPr>
        <p:spPr>
          <a:xfrm>
            <a:off x="4462272" y="2697480"/>
            <a:ext cx="3584448" cy="292608"/>
          </a:xfrm>
          <a:prstGeom prst="roundRect">
            <a:avLst>
              <a:gd name="adj" fmla="val 12500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4507992" y="2697480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it: </a:t>
            </a:r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 (fully managed) · Shein</a:t>
            </a:r>
            <a:endParaRPr lang="en-US" sz="850" dirty="0"/>
          </a:p>
        </p:txBody>
      </p:sp>
      <p:sp>
        <p:nvSpPr>
          <p:cNvPr id="79" name="Shape 66"/>
          <p:cNvSpPr/>
          <p:nvPr/>
        </p:nvSpPr>
        <p:spPr>
          <a:xfrm>
            <a:off x="8202168" y="1051560"/>
            <a:ext cx="3758184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8266176" y="1051560"/>
            <a:ext cx="3630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Factory Direct (seller-owned stock at a node)</a:t>
            </a:r>
            <a:endParaRPr lang="en-US" sz="950" dirty="0"/>
          </a:p>
        </p:txBody>
      </p:sp>
      <p:sp>
        <p:nvSpPr>
          <p:cNvPr id="81" name="Shape 68"/>
          <p:cNvSpPr/>
          <p:nvPr/>
        </p:nvSpPr>
        <p:spPr>
          <a:xfrm>
            <a:off x="8202168" y="1298448"/>
            <a:ext cx="3758184" cy="1737360"/>
          </a:xfrm>
          <a:prstGeom prst="rect">
            <a:avLst/>
          </a:prstGeom>
          <a:solidFill>
            <a:srgbClr val="FFF0F1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82" name="Text 69"/>
          <p:cNvSpPr txBox="1"/>
          <p:nvPr/>
        </p:nvSpPr>
        <p:spPr>
          <a:xfrm>
            <a:off x="8266176" y="1344168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makes confirmed pre-orders and drops them in bulk; a partner node ships and takes returns.</a:t>
            </a:r>
            <a:endParaRPr lang="en-US" sz="800" dirty="0"/>
          </a:p>
        </p:txBody>
      </p:sp>
      <p:sp>
        <p:nvSpPr>
          <p:cNvPr id="83" name="Shape 70"/>
          <p:cNvSpPr/>
          <p:nvPr/>
        </p:nvSpPr>
        <p:spPr>
          <a:xfrm>
            <a:off x="8357616" y="1636776"/>
            <a:ext cx="365760" cy="3657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4" name="Image 11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38083" y="1717243"/>
            <a:ext cx="204826" cy="204826"/>
          </a:xfrm>
          <a:prstGeom prst="rect">
            <a:avLst/>
          </a:prstGeom>
        </p:spPr>
      </p:pic>
      <p:sp>
        <p:nvSpPr>
          <p:cNvPr id="85" name="Text 71"/>
          <p:cNvSpPr txBox="1"/>
          <p:nvPr/>
        </p:nvSpPr>
        <p:spPr>
          <a:xfrm>
            <a:off x="8045196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750" dirty="0"/>
          </a:p>
        </p:txBody>
      </p:sp>
      <p:sp>
        <p:nvSpPr>
          <p:cNvPr id="86" name="Shape 72"/>
          <p:cNvSpPr/>
          <p:nvPr/>
        </p:nvSpPr>
        <p:spPr>
          <a:xfrm>
            <a:off x="8750808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87" name="Shape 73"/>
          <p:cNvSpPr/>
          <p:nvPr/>
        </p:nvSpPr>
        <p:spPr>
          <a:xfrm>
            <a:off x="9384792" y="1636776"/>
            <a:ext cx="365760" cy="3657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Image 12" descr="/Users/prathmeshwalimbe/Downloads/Meesho/02_round2_detailed_submission/deck/source/assets/icons/FaUserClock_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65259" y="1717243"/>
            <a:ext cx="204826" cy="204826"/>
          </a:xfrm>
          <a:prstGeom prst="rect">
            <a:avLst/>
          </a:prstGeom>
        </p:spPr>
      </p:pic>
      <p:sp>
        <p:nvSpPr>
          <p:cNvPr id="89" name="Text 74"/>
          <p:cNvSpPr txBox="1"/>
          <p:nvPr/>
        </p:nvSpPr>
        <p:spPr>
          <a:xfrm>
            <a:off x="9072372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batch</a:t>
            </a:r>
            <a:endParaRPr lang="en-US" sz="750" dirty="0"/>
          </a:p>
        </p:txBody>
      </p:sp>
      <p:sp>
        <p:nvSpPr>
          <p:cNvPr id="90" name="Shape 75"/>
          <p:cNvSpPr/>
          <p:nvPr/>
        </p:nvSpPr>
        <p:spPr>
          <a:xfrm>
            <a:off x="9777984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91" name="Shape 76"/>
          <p:cNvSpPr/>
          <p:nvPr/>
        </p:nvSpPr>
        <p:spPr>
          <a:xfrm>
            <a:off x="10411968" y="1636776"/>
            <a:ext cx="365760" cy="3657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2" name="Image 13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92435" y="1717243"/>
            <a:ext cx="204826" cy="204826"/>
          </a:xfrm>
          <a:prstGeom prst="rect">
            <a:avLst/>
          </a:prstGeom>
        </p:spPr>
      </p:pic>
      <p:sp>
        <p:nvSpPr>
          <p:cNvPr id="93" name="Text 77"/>
          <p:cNvSpPr txBox="1"/>
          <p:nvPr/>
        </p:nvSpPr>
        <p:spPr>
          <a:xfrm>
            <a:off x="10099548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Node</a:t>
            </a:r>
            <a:endParaRPr lang="en-US" sz="750" dirty="0"/>
          </a:p>
        </p:txBody>
      </p:sp>
      <p:sp>
        <p:nvSpPr>
          <p:cNvPr id="94" name="Shape 78"/>
          <p:cNvSpPr/>
          <p:nvPr/>
        </p:nvSpPr>
        <p:spPr>
          <a:xfrm>
            <a:off x="10805160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</p:sp>
      <p:sp>
        <p:nvSpPr>
          <p:cNvPr id="95" name="Shape 79"/>
          <p:cNvSpPr/>
          <p:nvPr/>
        </p:nvSpPr>
        <p:spPr>
          <a:xfrm>
            <a:off x="11439144" y="1636776"/>
            <a:ext cx="365760" cy="3657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6" name="Image 14" descr="/Users/prathmeshwalimbe/Downloads/Meesho/02_round2_detailed_submission/deck/source/assets/icons/FaStore_w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19611" y="1717243"/>
            <a:ext cx="204826" cy="204826"/>
          </a:xfrm>
          <a:prstGeom prst="rect">
            <a:avLst/>
          </a:prstGeom>
        </p:spPr>
      </p:pic>
      <p:sp>
        <p:nvSpPr>
          <p:cNvPr id="97" name="Text 80"/>
          <p:cNvSpPr txBox="1"/>
          <p:nvPr/>
        </p:nvSpPr>
        <p:spPr>
          <a:xfrm>
            <a:off x="11126724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750" dirty="0"/>
          </a:p>
        </p:txBody>
      </p:sp>
      <p:sp>
        <p:nvSpPr>
          <p:cNvPr id="98" name="Text 81"/>
          <p:cNvSpPr txBox="1"/>
          <p:nvPr/>
        </p:nvSpPr>
        <p:spPr>
          <a:xfrm>
            <a:off x="8266176" y="2258568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does: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confirmed batches, keep title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and Meesho do: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pick, pack, ship, returns; demand data, gate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viable price ₹180, 13.8% below: clears the gate</a:t>
            </a:r>
            <a:endParaRPr lang="en-US" sz="750" dirty="0"/>
          </a:p>
        </p:txBody>
      </p:sp>
      <p:sp>
        <p:nvSpPr>
          <p:cNvPr id="99" name="Shape 82"/>
          <p:cNvSpPr/>
          <p:nvPr/>
        </p:nvSpPr>
        <p:spPr>
          <a:xfrm>
            <a:off x="8266176" y="2697480"/>
            <a:ext cx="3630168" cy="292608"/>
          </a:xfrm>
          <a:prstGeom prst="roundRect">
            <a:avLst>
              <a:gd name="adj" fmla="val 12500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00" name="Text 83"/>
          <p:cNvSpPr txBox="1"/>
          <p:nvPr/>
        </p:nvSpPr>
        <p:spPr>
          <a:xfrm>
            <a:off x="8311896" y="2697480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it: </a:t>
            </a:r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 semi-managed · Pinduoduo · Taobao C2M</a:t>
            </a:r>
            <a:endParaRPr lang="en-US" sz="850" dirty="0"/>
          </a:p>
        </p:txBody>
      </p:sp>
      <p:sp>
        <p:nvSpPr>
          <p:cNvPr id="101" name="Shape 84"/>
          <p:cNvSpPr/>
          <p:nvPr/>
        </p:nvSpPr>
        <p:spPr>
          <a:xfrm>
            <a:off x="548640" y="3127248"/>
            <a:ext cx="771424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2" name="Text 85"/>
          <p:cNvSpPr txBox="1"/>
          <p:nvPr/>
        </p:nvSpPr>
        <p:spPr>
          <a:xfrm>
            <a:off x="612648" y="3127248"/>
            <a:ext cx="7586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of C2M operating models (✓ removes the barrier · – partly · ✕ no)</a:t>
            </a:r>
            <a:endParaRPr lang="en-US" sz="950" dirty="0"/>
          </a:p>
        </p:txBody>
      </p:sp>
      <p:sp>
        <p:nvSpPr>
          <p:cNvPr id="103" name="Shape 86"/>
          <p:cNvSpPr/>
          <p:nvPr/>
        </p:nvSpPr>
        <p:spPr>
          <a:xfrm>
            <a:off x="548640" y="3374136"/>
            <a:ext cx="7714244" cy="275234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3419856"/>
          <a:ext cx="7586228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783080"/>
                <a:gridCol w="2103120"/>
                <a:gridCol w="502920"/>
                <a:gridCol w="502920"/>
                <a:gridCol w="502920"/>
                <a:gridCol w="502920"/>
                <a:gridCol w="54534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 considered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Disadvantages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ops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risk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FDI-legal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capex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Open marketplace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capex; the factory keeps control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packing and returns team; builds stock blind; ₹72 logistics per pack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Fully managed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factory only makes; the platform runs everything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owns inventory: barred for FDI marketplaces (Press Note 2); price-squeeze risk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Factory Direct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runs unit ops; batches only for confirmed orders; seller keeps title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node partners (₹1.3 cr each) and a 7–8 day pre-order wait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</a:tr>
            </a:tbl>
          </a:graphicData>
        </a:graphic>
      </p:graphicFrame>
      <p:sp>
        <p:nvSpPr>
          <p:cNvPr id="105" name="Text 87"/>
          <p:cNvSpPr txBox="1"/>
          <p:nvPr/>
        </p:nvSpPr>
        <p:spPr>
          <a:xfrm>
            <a:off x="612648" y="5230368"/>
            <a:ext cx="7586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tick means: </a:t>
            </a:r>
            <a:pPr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takes that barrier off the factory entirely (unit ops, stock risk, returns), is allowed for an FDI-funded marketplace, or needs under ₹2 cr of Meesho capex per cluster.</a:t>
            </a:r>
            <a:endParaRPr lang="en-US" sz="750" dirty="0"/>
          </a:p>
        </p:txBody>
      </p:sp>
      <p:sp>
        <p:nvSpPr>
          <p:cNvPr id="106" name="Shape 88"/>
          <p:cNvSpPr/>
          <p:nvPr/>
        </p:nvSpPr>
        <p:spPr>
          <a:xfrm>
            <a:off x="612648" y="5559552"/>
            <a:ext cx="2479975" cy="5212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07" name="Text 89"/>
          <p:cNvSpPr txBox="1"/>
          <p:nvPr/>
        </p:nvSpPr>
        <p:spPr>
          <a:xfrm>
            <a:off x="658368" y="5559552"/>
            <a:ext cx="2388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Temu: </a:t>
            </a:r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US sellers to semi-managed: 20% of US GMV by Q3 2024 [S16]</a:t>
            </a:r>
            <a:endParaRPr lang="en-US" sz="800" dirty="0"/>
          </a:p>
        </p:txBody>
      </p:sp>
      <p:sp>
        <p:nvSpPr>
          <p:cNvPr id="108" name="Shape 90"/>
          <p:cNvSpPr/>
          <p:nvPr/>
        </p:nvSpPr>
        <p:spPr>
          <a:xfrm>
            <a:off x="3165775" y="5559552"/>
            <a:ext cx="2479975" cy="5212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09" name="Text 91"/>
          <p:cNvSpPr txBox="1"/>
          <p:nvPr/>
        </p:nvSpPr>
        <p:spPr>
          <a:xfrm>
            <a:off x="3211495" y="5559552"/>
            <a:ext cx="2388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Shein Brazil: </a:t>
            </a:r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336 of 2,000 factories signed; 1 still producing after price-cut asks [S17]</a:t>
            </a:r>
            <a:endParaRPr lang="en-US" sz="800" dirty="0"/>
          </a:p>
        </p:txBody>
      </p:sp>
      <p:sp>
        <p:nvSpPr>
          <p:cNvPr id="110" name="Shape 92"/>
          <p:cNvSpPr/>
          <p:nvPr/>
        </p:nvSpPr>
        <p:spPr>
          <a:xfrm>
            <a:off x="5718901" y="5559552"/>
            <a:ext cx="2479975" cy="5212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1" name="Text 93"/>
          <p:cNvSpPr txBox="1"/>
          <p:nvPr/>
        </p:nvSpPr>
        <p:spPr>
          <a:xfrm>
            <a:off x="5764621" y="5559552"/>
            <a:ext cx="2388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Valmo: </a:t>
            </a:r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as a capped H2 bet; now 50–55% of deliveries [S1, S2]</a:t>
            </a:r>
            <a:endParaRPr lang="en-US" sz="800" dirty="0"/>
          </a:p>
        </p:txBody>
      </p:sp>
      <p:sp>
        <p:nvSpPr>
          <p:cNvPr id="112" name="Shape 94"/>
          <p:cNvSpPr/>
          <p:nvPr/>
        </p:nvSpPr>
        <p:spPr>
          <a:xfrm>
            <a:off x="8354324" y="3127248"/>
            <a:ext cx="3606028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3" name="Text 95"/>
          <p:cNvSpPr txBox="1"/>
          <p:nvPr/>
        </p:nvSpPr>
        <p:spPr>
          <a:xfrm>
            <a:off x="8418332" y="3127248"/>
            <a:ext cx="3478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considered per model (₹ per 3-pack kept)</a:t>
            </a:r>
            <a:endParaRPr lang="en-US" sz="950" dirty="0"/>
          </a:p>
        </p:txBody>
      </p:sp>
      <p:sp>
        <p:nvSpPr>
          <p:cNvPr id="114" name="Shape 96"/>
          <p:cNvSpPr/>
          <p:nvPr/>
        </p:nvSpPr>
        <p:spPr>
          <a:xfrm>
            <a:off x="8354324" y="3374136"/>
            <a:ext cx="3606028" cy="275234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8332" y="3419856"/>
          <a:ext cx="347801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868680"/>
                <a:gridCol w="917692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line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Self-ship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Direct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 (forward + pack / node)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stock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(₹150 each)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viable price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Text 97"/>
          <p:cNvSpPr txBox="1"/>
          <p:nvPr/>
        </p:nvSpPr>
        <p:spPr>
          <a:xfrm>
            <a:off x="8418332" y="4809744"/>
            <a:ext cx="347801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managed: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costed; an FDI marketplace may not own seller stock [S19].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Meesho’s cost: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 cr set-up per partner node; 12 nodes by Year 4 (page 11).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fee: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a unit (pack ₹6, handle ₹9, bulk freight ₹5) vs ₹24 for SMB fulfilment [S12].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Pinduoduo, Taobao, Temu and Shein built C2M on demand data and small batches; RICE puts the ₹0 price gate first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build in RICE order (price gate → Health Score → co-ops → Demand Brief → batches → node → prepayment → firewall); never ask a factory for a price cut. Owner: Strategy.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S15 KrASIA, S16 Tech Buzz China, S17 Reuters, S23 Xinhua, S24 Alibaba results, S25 AFP · benefits from the master model (pages 10–11)   |   RICE: reach = sellers touched in Year 2; effort = person-months; full benchmark table: Appendix C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6573073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64450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practices: five platforms × five dimensions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6573073" cy="315833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344168"/>
          <a:ext cx="6445057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24419"/>
                <a:gridCol w="1124419"/>
                <a:gridCol w="1124419"/>
                <a:gridCol w="1124419"/>
                <a:gridCol w="1124419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Pinduoduo NBI · China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Taobao C2M · China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Temu semi-managed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on-demand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Brazil (avoid)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 used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Anonymised demand data to factories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Factory-direct value app (Taobao Deals)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stock in local warehouses; platform storefront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product in a small first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factories asked for ~30% price cuts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(dated)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900+ factories, 2,200+ custom SKUs, 115 mn+ orders, end-2019 [S15]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10 bn new orders in 3 yrs, 2020 [S23]; 280 mn buyers, 2021 [S24]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of US GMV, Q3 2024; +80,000 merchants planned [S16]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item first runs (2024) [S25]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 of 2,000 signed; 1 producing, Feb 2026 [S17]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and tech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and order data, anonymised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 insight for product R&amp;D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pricing and traffic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sell-through decides restocks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Demands without demand data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Risk-sharing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keeps its brand; co-developed SKUs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Alibaba finance arms lend to factories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holds stock and returns risk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absorbs the test-batch risk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bears all cost of the cuts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copies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batch prepayment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Seller-owned node stock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Confirmed-order batches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ask for price cuts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</a:tr>
            </a:tbl>
          </a:graphicData>
        </a:graphic>
      </p:graphicFrame>
      <p:sp>
        <p:nvSpPr>
          <p:cNvPr id="39" name="Text 33"/>
          <p:cNvSpPr txBox="1"/>
          <p:nvPr/>
        </p:nvSpPr>
        <p:spPr>
          <a:xfrm>
            <a:off x="612648" y="4014216"/>
            <a:ext cx="6445057" cy="396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</a:t>
            </a:r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winner gave factories demand data or finance before asking for anything; the one failure asked for price cuts and gave nothing.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7213153" y="1051560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277161" y="1051560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Inspiration: what we copy, in order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7213153" y="1298448"/>
            <a:ext cx="4747199" cy="92537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277161" y="1344168"/>
            <a:ext cx="1177656" cy="632765"/>
          </a:xfrm>
          <a:prstGeom prst="chevron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7414321" y="1344168"/>
            <a:ext cx="985632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800" dirty="0"/>
          </a:p>
        </p:txBody>
      </p:sp>
      <p:sp>
        <p:nvSpPr>
          <p:cNvPr id="45" name="Shape 39"/>
          <p:cNvSpPr/>
          <p:nvPr/>
        </p:nvSpPr>
        <p:spPr>
          <a:xfrm>
            <a:off x="8418241" y="1344168"/>
            <a:ext cx="1177656" cy="632765"/>
          </a:xfrm>
          <a:prstGeom prst="chevron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8555401" y="1344168"/>
            <a:ext cx="985632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9559320" y="1344168"/>
            <a:ext cx="1177656" cy="632765"/>
          </a:xfrm>
          <a:prstGeom prst="chevron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9696480" y="1344168"/>
            <a:ext cx="985632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orders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10700400" y="1344168"/>
            <a:ext cx="1177656" cy="632765"/>
          </a:xfrm>
          <a:prstGeom prst="chevron">
            <a:avLst/>
          </a:prstGeom>
          <a:solidFill>
            <a:srgbClr val="F7A2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10837560" y="1344168"/>
            <a:ext cx="985632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buyers</a:t>
            </a:r>
            <a:endParaRPr lang="en-US" sz="800" dirty="0"/>
          </a:p>
        </p:txBody>
      </p:sp>
      <p:sp>
        <p:nvSpPr>
          <p:cNvPr id="51" name="Text 45"/>
          <p:cNvSpPr txBox="1"/>
          <p:nvPr/>
        </p:nvSpPr>
        <p:spPr>
          <a:xfrm>
            <a:off x="7277161" y="1995221"/>
            <a:ext cx="46191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Pinduoduo/Taobao → Pinduoduo → Shein → Temu</a:t>
            </a:r>
            <a:endParaRPr lang="en-US" sz="750" dirty="0"/>
          </a:p>
        </p:txBody>
      </p:sp>
      <p:sp>
        <p:nvSpPr>
          <p:cNvPr id="52" name="Shape 46"/>
          <p:cNvSpPr/>
          <p:nvPr/>
        </p:nvSpPr>
        <p:spPr>
          <a:xfrm>
            <a:off x="7213153" y="2315261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7277161" y="2315261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pitfalls and our guardrail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7213153" y="2562149"/>
            <a:ext cx="4747199" cy="98115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7277161" y="2607869"/>
            <a:ext cx="4619183" cy="889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squeeze (Shein Brazil):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measures a gap that exists; no price asks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stock (Temu full-managed):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keeps title; the node is an arm’s-length 3PL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subsidies: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impressions, never rupees per order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before demand: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node before the Day-30 gate</a:t>
            </a:r>
            <a:endParaRPr lang="en-US" sz="800" dirty="0"/>
          </a:p>
        </p:txBody>
      </p:sp>
      <p:sp>
        <p:nvSpPr>
          <p:cNvPr id="56" name="Shape 50"/>
          <p:cNvSpPr/>
          <p:nvPr/>
        </p:nvSpPr>
        <p:spPr>
          <a:xfrm>
            <a:off x="7213153" y="3634740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7277161" y="3634740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R.I.C.E. prioritisation: score = reach × impact × confidence ÷ effort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7213153" y="3881628"/>
            <a:ext cx="4747199" cy="224485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77161" y="3927348"/>
          <a:ext cx="4619183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411480"/>
                <a:gridCol w="457200"/>
                <a:gridCol w="411480"/>
                <a:gridCol w="457200"/>
                <a:gridCol w="411480"/>
                <a:gridCol w="714695"/>
              </a:tblGrid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Yr-1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Price gate + C2M badge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Health Score + rulebook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Cluster co-op onboarding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District Demand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Prepaid pre-order batches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Factory Node (partner 3PL)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Batch prepayment (NBFC)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₹0.2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· Returns firewall pool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60" name="Text 53"/>
          <p:cNvSpPr txBox="1"/>
          <p:nvPr/>
        </p:nvSpPr>
        <p:spPr>
          <a:xfrm>
            <a:off x="7277161" y="5628132"/>
            <a:ext cx="4619183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and free first, capital last. RICE order already respects dependencies: batches need the brief, prepayment needs batches, the firewall needs the node.</a:t>
            </a:r>
            <a:endParaRPr lang="en-US" sz="750" dirty="0"/>
          </a:p>
        </p:txBody>
      </p:sp>
      <p:sp>
        <p:nvSpPr>
          <p:cNvPr id="61" name="Shape 54"/>
          <p:cNvSpPr/>
          <p:nvPr/>
        </p:nvSpPr>
        <p:spPr>
          <a:xfrm>
            <a:off x="548640" y="4548226"/>
            <a:ext cx="6573073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612648" y="4548226"/>
            <a:ext cx="64450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analysis of Factory Direct (master model)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548640" y="4795114"/>
            <a:ext cx="6573073" cy="133136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612648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612648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−13.8%</a:t>
            </a:r>
            <a:endParaRPr lang="en-US" sz="1400" dirty="0"/>
          </a:p>
        </p:txBody>
      </p:sp>
      <p:sp>
        <p:nvSpPr>
          <p:cNvPr id="66" name="Text 59"/>
          <p:cNvSpPr txBox="1"/>
          <p:nvPr/>
        </p:nvSpPr>
        <p:spPr>
          <a:xfrm>
            <a:off x="649224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price vs the ₹209 market (briefs)</a:t>
            </a:r>
            <a:endParaRPr lang="en-US" sz="800" dirty="0"/>
          </a:p>
        </p:txBody>
      </p:sp>
      <p:sp>
        <p:nvSpPr>
          <p:cNvPr id="67" name="Shape 60"/>
          <p:cNvSpPr/>
          <p:nvPr/>
        </p:nvSpPr>
        <p:spPr>
          <a:xfrm>
            <a:off x="1694444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8" name="Text 61"/>
          <p:cNvSpPr txBox="1"/>
          <p:nvPr/>
        </p:nvSpPr>
        <p:spPr>
          <a:xfrm>
            <a:off x="1694444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2.3×</a:t>
            </a:r>
            <a:endParaRPr lang="en-US" sz="1400" dirty="0"/>
          </a:p>
        </p:txBody>
      </p:sp>
      <p:sp>
        <p:nvSpPr>
          <p:cNvPr id="69" name="Text 62"/>
          <p:cNvSpPr txBox="1"/>
          <p:nvPr/>
        </p:nvSpPr>
        <p:spPr>
          <a:xfrm>
            <a:off x="1731020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margin a pack: ₹18.3 vs ₹7.9 ex-factory</a:t>
            </a:r>
            <a:endParaRPr lang="en-US" sz="800" dirty="0"/>
          </a:p>
        </p:txBody>
      </p:sp>
      <p:sp>
        <p:nvSpPr>
          <p:cNvPr id="70" name="Shape 63"/>
          <p:cNvSpPr/>
          <p:nvPr/>
        </p:nvSpPr>
        <p:spPr>
          <a:xfrm>
            <a:off x="2776240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2776240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 days</a:t>
            </a:r>
            <a:endParaRPr lang="en-US" sz="1400" dirty="0"/>
          </a:p>
        </p:txBody>
      </p:sp>
      <p:sp>
        <p:nvSpPr>
          <p:cNvPr id="72" name="Text 65"/>
          <p:cNvSpPr txBox="1"/>
          <p:nvPr/>
        </p:nvSpPr>
        <p:spPr>
          <a:xfrm>
            <a:off x="2812816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cycle vs 45–60 days on distributor terms</a:t>
            </a:r>
            <a:endParaRPr lang="en-US" sz="800" dirty="0"/>
          </a:p>
        </p:txBody>
      </p:sp>
      <p:sp>
        <p:nvSpPr>
          <p:cNvPr id="73" name="Shape 66"/>
          <p:cNvSpPr/>
          <p:nvPr/>
        </p:nvSpPr>
        <p:spPr>
          <a:xfrm>
            <a:off x="3858036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4" name="Text 67"/>
          <p:cNvSpPr txBox="1"/>
          <p:nvPr/>
        </p:nvSpPr>
        <p:spPr>
          <a:xfrm>
            <a:off x="3858036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−4.7 pts</a:t>
            </a:r>
            <a:endParaRPr lang="en-US" sz="1400" dirty="0"/>
          </a:p>
        </p:txBody>
      </p:sp>
      <p:sp>
        <p:nvSpPr>
          <p:cNvPr id="75" name="Text 68"/>
          <p:cNvSpPr txBox="1"/>
          <p:nvPr/>
        </p:nvSpPr>
        <p:spPr>
          <a:xfrm>
            <a:off x="3894612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deliveries per C2M order (prepaid pre-orders)</a:t>
            </a:r>
            <a:endParaRPr lang="en-US" sz="800" dirty="0"/>
          </a:p>
        </p:txBody>
      </p:sp>
      <p:sp>
        <p:nvSpPr>
          <p:cNvPr id="76" name="Shape 69"/>
          <p:cNvSpPr/>
          <p:nvPr/>
        </p:nvSpPr>
        <p:spPr>
          <a:xfrm>
            <a:off x="4939833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7" name="Text 70"/>
          <p:cNvSpPr txBox="1"/>
          <p:nvPr/>
        </p:nvSpPr>
        <p:spPr>
          <a:xfrm>
            <a:off x="4939833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₹5.8</a:t>
            </a:r>
            <a:endParaRPr lang="en-US" sz="1400" dirty="0"/>
          </a:p>
        </p:txBody>
      </p:sp>
      <p:sp>
        <p:nvSpPr>
          <p:cNvPr id="78" name="Text 71"/>
          <p:cNvSpPr txBox="1"/>
          <p:nvPr/>
        </p:nvSpPr>
        <p:spPr>
          <a:xfrm>
            <a:off x="4976409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value per C2M order (page 11)</a:t>
            </a:r>
            <a:endParaRPr lang="en-US" sz="800" dirty="0"/>
          </a:p>
        </p:txBody>
      </p:sp>
      <p:sp>
        <p:nvSpPr>
          <p:cNvPr id="79" name="Shape 72"/>
          <p:cNvSpPr/>
          <p:nvPr/>
        </p:nvSpPr>
        <p:spPr>
          <a:xfrm>
            <a:off x="6021629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6021629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400" dirty="0"/>
          </a:p>
        </p:txBody>
      </p:sp>
      <p:sp>
        <p:nvSpPr>
          <p:cNvPr id="81" name="Text 74"/>
          <p:cNvSpPr txBox="1"/>
          <p:nvPr/>
        </p:nvSpPr>
        <p:spPr>
          <a:xfrm>
            <a:off x="6058205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unsold stock vs 10% building to stock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stages, each with a trigger, a non-cash nudge and a KPI, turn first batches into repeat factories without subsidy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&amp; SCALE-UP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switch on grants, the Health Score and the rulebook with the first 60 sellers; cap grants at 20% of category impressions. Owner: Growth + Data Science · KPI: active at D90 ≥ 75%.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(seller tools: demand intelligence, faster visibility for new sellers, Gen-AI voice agents), S2   |   Assumptions: A19 (₹75 per 1,000 impressions); a category manager reviews 40 escalations a month   |   Prototype: synthetic 60-seller pilot, fixed seed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7828361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77003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 journey: actions, touchpoints, emotions, pain points, interventions, KPIs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7828361" cy="285384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344168"/>
          <a:ext cx="7700345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411480"/>
                <a:gridCol w="1188720"/>
                <a:gridCol w="868680"/>
                <a:gridCol w="566928"/>
                <a:gridCol w="1143000"/>
                <a:gridCol w="1600200"/>
                <a:gridCol w="126296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Manufacturer action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Touchpoint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point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intervention (automatic)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target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D−30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Hears of it at an association camp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Camp, WhatsApp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Sceptical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“Platforms mean returns”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price check at the camp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 → price check ≥ 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D−7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Enters making cost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 app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Hopeful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Unsure of the real market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 the demand-weighted median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→ listed ≥ 50% in 30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D0–5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Commits a prepaid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Brief,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Anxious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Fear of unsold stock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orders + 15%; 30% advance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batch ≤ 14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D0–14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Watches first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card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Worried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reviews, slow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 impressions; +25K grant if &lt; 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60% of cohort orders at D7, D14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the weekly 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Unclear what to fix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rule-based fix at a time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recover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D30+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batches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Prepayment at score ≥ 80 for 30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40% graduated by D60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D60+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Repeats; refers peers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brief, Mall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Loyal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orders return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brief; Meesho Mall path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at D90 ≥ 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33"/>
          <p:cNvSpPr/>
          <p:nvPr/>
        </p:nvSpPr>
        <p:spPr>
          <a:xfrm>
            <a:off x="8468441" y="1051560"/>
            <a:ext cx="3491911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8532449" y="1051560"/>
            <a:ext cx="3363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 (non-cash) and nudges, stage by stage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8468441" y="1298448"/>
            <a:ext cx="3491911" cy="285384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32449" y="1344168"/>
          <a:ext cx="3363895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417320"/>
                <a:gridCol w="1288207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Incentive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price check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stories at the camp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badge + re-rank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gap vs the market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cash at handover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 from the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+25K impressions × 7 days (max 2)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WhatsApp: grant applied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suggestions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fix, not ten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batches unlocked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Graduation progress bar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606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Mall path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Top-factory list at camps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36"/>
          <p:cNvSpPr/>
          <p:nvPr/>
        </p:nvSpPr>
        <p:spPr>
          <a:xfrm>
            <a:off x="548640" y="4243730"/>
            <a:ext cx="280720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12648" y="4243730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Health Score: 0–100, daily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548640" y="4490618"/>
            <a:ext cx="2807208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612648" y="4554626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640080" y="4554626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1051560" y="4536338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gap held</a:t>
            </a:r>
            <a:endParaRPr lang="en-US" sz="800" dirty="0"/>
          </a:p>
        </p:txBody>
      </p:sp>
      <p:sp>
        <p:nvSpPr>
          <p:cNvPr id="49" name="Shape 42"/>
          <p:cNvSpPr/>
          <p:nvPr/>
        </p:nvSpPr>
        <p:spPr>
          <a:xfrm>
            <a:off x="612648" y="4801332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640080" y="4801332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800" dirty="0"/>
          </a:p>
        </p:txBody>
      </p:sp>
      <p:sp>
        <p:nvSpPr>
          <p:cNvPr id="51" name="Text 44"/>
          <p:cNvSpPr txBox="1"/>
          <p:nvPr/>
        </p:nvSpPr>
        <p:spPr>
          <a:xfrm>
            <a:off x="1051560" y="4783044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pace vs cohort</a:t>
            </a:r>
            <a:endParaRPr lang="en-US" sz="800" dirty="0"/>
          </a:p>
        </p:txBody>
      </p:sp>
      <p:sp>
        <p:nvSpPr>
          <p:cNvPr id="52" name="Shape 45"/>
          <p:cNvSpPr/>
          <p:nvPr/>
        </p:nvSpPr>
        <p:spPr>
          <a:xfrm>
            <a:off x="612648" y="5048037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640080" y="5048037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00" dirty="0"/>
          </a:p>
        </p:txBody>
      </p:sp>
      <p:sp>
        <p:nvSpPr>
          <p:cNvPr id="54" name="Text 47"/>
          <p:cNvSpPr txBox="1"/>
          <p:nvPr/>
        </p:nvSpPr>
        <p:spPr>
          <a:xfrm>
            <a:off x="1051560" y="5029749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returns</a:t>
            </a:r>
            <a:endParaRPr lang="en-US" sz="800" dirty="0"/>
          </a:p>
        </p:txBody>
      </p:sp>
      <p:sp>
        <p:nvSpPr>
          <p:cNvPr id="55" name="Shape 48"/>
          <p:cNvSpPr/>
          <p:nvPr/>
        </p:nvSpPr>
        <p:spPr>
          <a:xfrm>
            <a:off x="612648" y="5294742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640080" y="5294742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800" dirty="0"/>
          </a:p>
        </p:txBody>
      </p:sp>
      <p:sp>
        <p:nvSpPr>
          <p:cNvPr id="57" name="Text 50"/>
          <p:cNvSpPr txBox="1"/>
          <p:nvPr/>
        </p:nvSpPr>
        <p:spPr>
          <a:xfrm>
            <a:off x="1051560" y="5276454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dispatch</a:t>
            </a:r>
            <a:endParaRPr lang="en-US" sz="800" dirty="0"/>
          </a:p>
        </p:txBody>
      </p:sp>
      <p:sp>
        <p:nvSpPr>
          <p:cNvPr id="58" name="Shape 51"/>
          <p:cNvSpPr/>
          <p:nvPr/>
        </p:nvSpPr>
        <p:spPr>
          <a:xfrm>
            <a:off x="612648" y="5541447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640080" y="5541447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800" dirty="0"/>
          </a:p>
        </p:txBody>
      </p:sp>
      <p:sp>
        <p:nvSpPr>
          <p:cNvPr id="60" name="Text 53"/>
          <p:cNvSpPr txBox="1"/>
          <p:nvPr/>
        </p:nvSpPr>
        <p:spPr>
          <a:xfrm>
            <a:off x="1051560" y="5523159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In-stock</a:t>
            </a:r>
            <a:endParaRPr lang="en-US" sz="800" dirty="0"/>
          </a:p>
        </p:txBody>
      </p:sp>
      <p:sp>
        <p:nvSpPr>
          <p:cNvPr id="61" name="Text 54"/>
          <p:cNvSpPr txBox="1"/>
          <p:nvPr/>
        </p:nvSpPr>
        <p:spPr>
          <a:xfrm>
            <a:off x="612648" y="5788152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for 30 days → graduate · </a:t>
            </a:r>
            <a:pPr indent="0" marL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40 after a fix → a person</a:t>
            </a:r>
            <a:endParaRPr lang="en-US" sz="750" dirty="0"/>
          </a:p>
        </p:txBody>
      </p:sp>
      <p:sp>
        <p:nvSpPr>
          <p:cNvPr id="62" name="Shape 55"/>
          <p:cNvSpPr/>
          <p:nvPr/>
        </p:nvSpPr>
        <p:spPr>
          <a:xfrm>
            <a:off x="3447288" y="4243730"/>
            <a:ext cx="2647371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3511296" y="4243730"/>
            <a:ext cx="2519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Rulebook: 9 automatic actions, 1 human</a:t>
            </a:r>
            <a:endParaRPr lang="en-US" sz="950" dirty="0"/>
          </a:p>
        </p:txBody>
      </p:sp>
      <p:sp>
        <p:nvSpPr>
          <p:cNvPr id="64" name="Shape 57"/>
          <p:cNvSpPr/>
          <p:nvPr/>
        </p:nvSpPr>
        <p:spPr>
          <a:xfrm>
            <a:off x="3447288" y="4490618"/>
            <a:ext cx="2647371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11296" y="4536338"/>
          <a:ext cx="2519355" cy="914400"/>
        </p:xfrm>
        <a:graphic>
          <a:graphicData uri="http://schemas.openxmlformats.org/drawingml/2006/table">
            <a:tbl>
              <a:tblPr/>
              <a:tblGrid>
                <a:gridCol w="1562000"/>
                <a:gridCol w="957355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6790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&lt; 60% at D7/D14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790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&lt; 8% for 7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nudge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6790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&lt; 4% for 3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off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790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&gt; 1.5× norm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hold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6790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On-time &lt; 90% (7 days)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offer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790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In-stock &lt;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 nudge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6790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≥ 80 × 30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790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&lt; 40 after a fix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person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66" name="Shape 58"/>
          <p:cNvSpPr/>
          <p:nvPr/>
        </p:nvSpPr>
        <p:spPr>
          <a:xfrm>
            <a:off x="6186099" y="4243730"/>
            <a:ext cx="219090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6250107" y="4243730"/>
            <a:ext cx="20628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scale; people don’t</a:t>
            </a:r>
            <a:endParaRPr lang="en-US" sz="950" dirty="0"/>
          </a:p>
        </p:txBody>
      </p:sp>
      <p:sp>
        <p:nvSpPr>
          <p:cNvPr id="68" name="Shape 60"/>
          <p:cNvSpPr/>
          <p:nvPr/>
        </p:nvSpPr>
        <p:spPr>
          <a:xfrm>
            <a:off x="6186099" y="4490618"/>
            <a:ext cx="2190902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9" name="Shape 61"/>
          <p:cNvSpPr/>
          <p:nvPr/>
        </p:nvSpPr>
        <p:spPr>
          <a:xfrm>
            <a:off x="6250107" y="4536338"/>
            <a:ext cx="512064" cy="51206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</p:sp>
      <p:sp>
        <p:nvSpPr>
          <p:cNvPr id="70" name="Text 62"/>
          <p:cNvSpPr txBox="1"/>
          <p:nvPr/>
        </p:nvSpPr>
        <p:spPr>
          <a:xfrm>
            <a:off x="6158667" y="4536338"/>
            <a:ext cx="694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90:3</a:t>
            </a:r>
            <a:endParaRPr lang="en-US" sz="1050" dirty="0"/>
          </a:p>
        </p:txBody>
      </p:sp>
      <p:sp>
        <p:nvSpPr>
          <p:cNvPr id="71" name="Text 63"/>
          <p:cNvSpPr txBox="1"/>
          <p:nvPr/>
        </p:nvSpPr>
        <p:spPr>
          <a:xfrm>
            <a:off x="6798747" y="4536338"/>
            <a:ext cx="15142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vs human actions in the 60-seller simulated pilot</a:t>
            </a:r>
            <a:endParaRPr lang="en-US" sz="750" dirty="0"/>
          </a:p>
        </p:txBody>
      </p:sp>
      <p:sp>
        <p:nvSpPr>
          <p:cNvPr id="72" name="Text 64"/>
          <p:cNvSpPr txBox="1"/>
          <p:nvPr/>
        </p:nvSpPr>
        <p:spPr>
          <a:xfrm>
            <a:off x="6250107" y="5084978"/>
            <a:ext cx="2062886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~910 sellers per category manager;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sellers need ~2 reviewers, not ~70 account managers. Grant cost: ₹3,750 per seller at most, </a:t>
            </a:r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20× cheaper than ₹10 an order for 30 days.</a:t>
            </a:r>
            <a:endParaRPr lang="en-US" sz="750" dirty="0"/>
          </a:p>
        </p:txBody>
      </p:sp>
      <p:sp>
        <p:nvSpPr>
          <p:cNvPr id="73" name="Shape 65"/>
          <p:cNvSpPr/>
          <p:nvPr/>
        </p:nvSpPr>
        <p:spPr>
          <a:xfrm>
            <a:off x="8468441" y="4243730"/>
            <a:ext cx="3491911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8532449" y="4243730"/>
            <a:ext cx="3363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WhatsApp, voice agent, supplier app (prototype)</a:t>
            </a:r>
            <a:endParaRPr lang="en-US" sz="950" dirty="0"/>
          </a:p>
        </p:txBody>
      </p:sp>
      <p:sp>
        <p:nvSpPr>
          <p:cNvPr id="75" name="Shape 67"/>
          <p:cNvSpPr/>
          <p:nvPr/>
        </p:nvSpPr>
        <p:spPr>
          <a:xfrm>
            <a:off x="8468441" y="4490618"/>
            <a:ext cx="3491911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76" name="Image 3" descr="/Users/prathmeshwalimbe/Downloads/Meesho/02_round2_detailed_submission/deck/source/assets/shot_phone_pr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2449" y="4536338"/>
            <a:ext cx="685520" cy="1379830"/>
          </a:xfrm>
          <a:prstGeom prst="rect">
            <a:avLst/>
          </a:prstGeom>
        </p:spPr>
      </p:pic>
      <p:sp>
        <p:nvSpPr>
          <p:cNvPr id="77" name="Text 68"/>
          <p:cNvSpPr txBox="1"/>
          <p:nvPr/>
        </p:nvSpPr>
        <p:spPr>
          <a:xfrm>
            <a:off x="8441009" y="5916168"/>
            <a:ext cx="86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check</a:t>
            </a:r>
            <a:endParaRPr lang="en-US" sz="700" dirty="0"/>
          </a:p>
        </p:txBody>
      </p:sp>
      <p:pic>
        <p:nvPicPr>
          <p:cNvPr id="78" name="Image 4" descr="/Users/prathmeshwalimbe/Downloads/Meesho/02_round2_detailed_submission/deck/source/assets/shot_phone_brie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1636" y="4536338"/>
            <a:ext cx="685520" cy="1379830"/>
          </a:xfrm>
          <a:prstGeom prst="rect">
            <a:avLst/>
          </a:prstGeom>
        </p:spPr>
      </p:pic>
      <p:sp>
        <p:nvSpPr>
          <p:cNvPr id="79" name="Text 69"/>
          <p:cNvSpPr txBox="1"/>
          <p:nvPr/>
        </p:nvSpPr>
        <p:spPr>
          <a:xfrm>
            <a:off x="9780196" y="5916168"/>
            <a:ext cx="86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Brief</a:t>
            </a:r>
            <a:endParaRPr lang="en-US" sz="700" dirty="0"/>
          </a:p>
        </p:txBody>
      </p:sp>
      <p:pic>
        <p:nvPicPr>
          <p:cNvPr id="80" name="Image 5" descr="/Users/prathmeshwalimbe/Downloads/Meesho/02_round2_detailed_submission/deck/source/assets/shot_phone_whatsap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10824" y="4536338"/>
            <a:ext cx="685520" cy="1379830"/>
          </a:xfrm>
          <a:prstGeom prst="rect">
            <a:avLst/>
          </a:prstGeom>
        </p:spPr>
      </p:pic>
      <p:sp>
        <p:nvSpPr>
          <p:cNvPr id="81" name="Text 70"/>
          <p:cNvSpPr txBox="1"/>
          <p:nvPr/>
        </p:nvSpPr>
        <p:spPr>
          <a:xfrm>
            <a:off x="11119384" y="5916168"/>
            <a:ext cx="86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nudge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Tiruppur and Panipat top the cluster AHP (CR 0.016); factories qualify only with 60% of SKUs 8% below market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CRITERIA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pilot in Tiruppur and Panipat; run the price gate on demand-weighted medians in weeks 1–3 at ₹0 capex. Owner: Category + Pricing · KPI: badge lift ≥ 12% vs holdout by Day 30.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S2, S8, S9, S10 team teardown (meesho.com, 2 Oct 2026; 56 listings per query; reviews as demand weights), S11, S20, S22 (cluster scores)   |   AHP workings: Appendix C   |   Verdicts: prototype, synthetic sellers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4975433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48474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 and reasoning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4975433" cy="122986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344168"/>
          <a:ext cx="4847417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31720"/>
                <a:gridCol w="1418417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ownership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raw material, production, scale, automation → a real price edge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cost-lever index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category already sells at volume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Teardown [S10]; category mix [S20]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band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returns protect the cost edge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math; seller guides [S11]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feasibility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partner warehouse and a Valmo lane nearby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Valmo network [S2]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 partner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association that recruits 40–60 units a drive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Tiruppur, Panipat bodies [S8, S9]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33"/>
          <p:cNvSpPr/>
          <p:nvPr/>
        </p:nvSpPr>
        <p:spPr>
          <a:xfrm>
            <a:off x="548640" y="2619756"/>
            <a:ext cx="4975433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12648" y="2619756"/>
            <a:ext cx="48474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AHP pairwise matrix (CR 0.016 &lt; 0.10: consistent)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548640" y="2866644"/>
            <a:ext cx="4975433" cy="148864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2912364"/>
          <a:ext cx="4847417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92608"/>
                <a:gridCol w="329184"/>
                <a:gridCol w="329184"/>
                <a:gridCol w="329184"/>
                <a:gridCol w="329184"/>
                <a:gridCol w="329184"/>
                <a:gridCol w="566928"/>
                <a:gridCol w="502920"/>
                <a:gridCol w="604601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Geo. mean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355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ownership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5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355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band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55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feasibility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355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 partner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36"/>
          <p:cNvSpPr/>
          <p:nvPr/>
        </p:nvSpPr>
        <p:spPr>
          <a:xfrm>
            <a:off x="548640" y="4446727"/>
            <a:ext cx="4975433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12648" y="4446727"/>
            <a:ext cx="48474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scoring → choice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548640" y="4693615"/>
            <a:ext cx="4975433" cy="143286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4739335"/>
          <a:ext cx="4847417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02920"/>
                <a:gridCol w="631155"/>
                <a:gridCol w="631155"/>
                <a:gridCol w="631155"/>
                <a:gridCol w="631155"/>
                <a:gridCol w="631155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Ludhiana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595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ownership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95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595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band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95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feasibility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595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 partner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95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· rank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 · #1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 · #2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 · #3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 · #4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 · #5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47" name="Text 39"/>
          <p:cNvSpPr txBox="1"/>
          <p:nvPr/>
        </p:nvSpPr>
        <p:spPr>
          <a:xfrm>
            <a:off x="612648" y="5897880"/>
            <a:ext cx="48474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Robust: Surat overtakes Panipat only if the demand weight rises from 0.26 to 0.67; equal weights keep the order.</a:t>
            </a:r>
            <a:endParaRPr lang="en-US" sz="700" dirty="0"/>
          </a:p>
        </p:txBody>
      </p:sp>
      <p:sp>
        <p:nvSpPr>
          <p:cNvPr id="48" name="Shape 40"/>
          <p:cNvSpPr/>
          <p:nvPr/>
        </p:nvSpPr>
        <p:spPr>
          <a:xfrm>
            <a:off x="5615513" y="1051560"/>
            <a:ext cx="6344839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5679521" y="1051560"/>
            <a:ext cx="6216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teardown: what buyers really pay (279 listings, index 100 = demand-weighted median)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5615513" y="1298448"/>
            <a:ext cx="6344839" cy="234635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7615769" y="1508760"/>
            <a:ext cx="0" cy="1797710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</p:sp>
      <p:sp>
        <p:nvSpPr>
          <p:cNvPr id="52" name="Text 44"/>
          <p:cNvSpPr txBox="1"/>
          <p:nvPr/>
        </p:nvSpPr>
        <p:spPr>
          <a:xfrm>
            <a:off x="7432889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700" dirty="0"/>
          </a:p>
        </p:txBody>
      </p:sp>
      <p:sp>
        <p:nvSpPr>
          <p:cNvPr id="53" name="Shape 45"/>
          <p:cNvSpPr/>
          <p:nvPr/>
        </p:nvSpPr>
        <p:spPr>
          <a:xfrm>
            <a:off x="8070688" y="1508760"/>
            <a:ext cx="0" cy="1797710"/>
          </a:xfrm>
          <a:prstGeom prst="line">
            <a:avLst/>
          </a:prstGeom>
          <a:noFill/>
          <a:ln w="12700">
            <a:solidFill>
              <a:srgbClr val="5A0A46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7887808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700" dirty="0"/>
          </a:p>
        </p:txBody>
      </p:sp>
      <p:sp>
        <p:nvSpPr>
          <p:cNvPr id="55" name="Shape 47"/>
          <p:cNvSpPr/>
          <p:nvPr/>
        </p:nvSpPr>
        <p:spPr>
          <a:xfrm>
            <a:off x="8980527" y="1508760"/>
            <a:ext cx="0" cy="1797710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</p:sp>
      <p:sp>
        <p:nvSpPr>
          <p:cNvPr id="56" name="Text 48"/>
          <p:cNvSpPr txBox="1"/>
          <p:nvPr/>
        </p:nvSpPr>
        <p:spPr>
          <a:xfrm>
            <a:off x="8797647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700" dirty="0"/>
          </a:p>
        </p:txBody>
      </p:sp>
      <p:sp>
        <p:nvSpPr>
          <p:cNvPr id="57" name="Shape 49"/>
          <p:cNvSpPr/>
          <p:nvPr/>
        </p:nvSpPr>
        <p:spPr>
          <a:xfrm>
            <a:off x="9890366" y="1508760"/>
            <a:ext cx="0" cy="1797710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</p:sp>
      <p:sp>
        <p:nvSpPr>
          <p:cNvPr id="58" name="Text 50"/>
          <p:cNvSpPr txBox="1"/>
          <p:nvPr/>
        </p:nvSpPr>
        <p:spPr>
          <a:xfrm>
            <a:off x="9707486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700" dirty="0"/>
          </a:p>
        </p:txBody>
      </p:sp>
      <p:sp>
        <p:nvSpPr>
          <p:cNvPr id="59" name="Shape 51"/>
          <p:cNvSpPr/>
          <p:nvPr/>
        </p:nvSpPr>
        <p:spPr>
          <a:xfrm>
            <a:off x="10800204" y="1508760"/>
            <a:ext cx="0" cy="1797710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</p:sp>
      <p:sp>
        <p:nvSpPr>
          <p:cNvPr id="60" name="Text 52"/>
          <p:cNvSpPr txBox="1"/>
          <p:nvPr/>
        </p:nvSpPr>
        <p:spPr>
          <a:xfrm>
            <a:off x="10617324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700" dirty="0"/>
          </a:p>
        </p:txBody>
      </p:sp>
      <p:sp>
        <p:nvSpPr>
          <p:cNvPr id="61" name="Text 53"/>
          <p:cNvSpPr txBox="1"/>
          <p:nvPr/>
        </p:nvSpPr>
        <p:spPr>
          <a:xfrm>
            <a:off x="11055096" y="132588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median above what buyers pay</a:t>
            </a:r>
            <a:endParaRPr lang="en-US" sz="650" dirty="0"/>
          </a:p>
        </p:txBody>
      </p:sp>
      <p:sp>
        <p:nvSpPr>
          <p:cNvPr id="62" name="Text 54"/>
          <p:cNvSpPr txBox="1"/>
          <p:nvPr/>
        </p:nvSpPr>
        <p:spPr>
          <a:xfrm>
            <a:off x="5679521" y="1508760"/>
            <a:ext cx="146304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 glasses, set of 6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55 · buyers pay ₹262</a:t>
            </a:r>
            <a:endParaRPr lang="en-US" sz="800" dirty="0"/>
          </a:p>
        </p:txBody>
      </p:sp>
      <p:sp>
        <p:nvSpPr>
          <p:cNvPr id="63" name="Shape 55"/>
          <p:cNvSpPr/>
          <p:nvPr/>
        </p:nvSpPr>
        <p:spPr>
          <a:xfrm>
            <a:off x="8088051" y="1624523"/>
            <a:ext cx="2613182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64" name="Shape 56"/>
          <p:cNvSpPr/>
          <p:nvPr/>
        </p:nvSpPr>
        <p:spPr>
          <a:xfrm>
            <a:off x="7888720" y="1569659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65" name="Shape 57"/>
          <p:cNvSpPr/>
          <p:nvPr/>
        </p:nvSpPr>
        <p:spPr>
          <a:xfrm>
            <a:off x="8015824" y="1633667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hape 58"/>
          <p:cNvSpPr/>
          <p:nvPr/>
        </p:nvSpPr>
        <p:spPr>
          <a:xfrm>
            <a:off x="9334975" y="1624523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9472135" y="1505651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₹415</a:t>
            </a:r>
            <a:endParaRPr lang="en-US" sz="700" dirty="0"/>
          </a:p>
        </p:txBody>
      </p:sp>
      <p:sp>
        <p:nvSpPr>
          <p:cNvPr id="68" name="Text 60"/>
          <p:cNvSpPr txBox="1"/>
          <p:nvPr/>
        </p:nvSpPr>
        <p:spPr>
          <a:xfrm>
            <a:off x="11073384" y="1508760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</a:t>
            </a:r>
            <a:endParaRPr lang="en-US" sz="1200" dirty="0"/>
          </a:p>
        </p:txBody>
      </p:sp>
      <p:sp>
        <p:nvSpPr>
          <p:cNvPr id="69" name="Text 61"/>
          <p:cNvSpPr txBox="1"/>
          <p:nvPr/>
        </p:nvSpPr>
        <p:spPr>
          <a:xfrm>
            <a:off x="5679521" y="1868302"/>
            <a:ext cx="146304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Men’s briefs, 3-pack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buyers pay ₹209</a:t>
            </a:r>
            <a:endParaRPr lang="en-US" sz="800" dirty="0"/>
          </a:p>
        </p:txBody>
      </p:sp>
      <p:sp>
        <p:nvSpPr>
          <p:cNvPr id="70" name="Shape 62"/>
          <p:cNvSpPr/>
          <p:nvPr/>
        </p:nvSpPr>
        <p:spPr>
          <a:xfrm>
            <a:off x="8299236" y="1984065"/>
            <a:ext cx="2318130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71" name="Shape 63"/>
          <p:cNvSpPr/>
          <p:nvPr/>
        </p:nvSpPr>
        <p:spPr>
          <a:xfrm>
            <a:off x="7888720" y="1929201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72" name="Shape 64"/>
          <p:cNvSpPr/>
          <p:nvPr/>
        </p:nvSpPr>
        <p:spPr>
          <a:xfrm>
            <a:off x="8015824" y="1993209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hape 65"/>
          <p:cNvSpPr/>
          <p:nvPr/>
        </p:nvSpPr>
        <p:spPr>
          <a:xfrm>
            <a:off x="9241928" y="1984065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74" name="Text 66"/>
          <p:cNvSpPr txBox="1"/>
          <p:nvPr/>
        </p:nvSpPr>
        <p:spPr>
          <a:xfrm>
            <a:off x="9379088" y="1865193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₹323</a:t>
            </a:r>
            <a:endParaRPr lang="en-US" sz="700" dirty="0"/>
          </a:p>
        </p:txBody>
      </p:sp>
      <p:sp>
        <p:nvSpPr>
          <p:cNvPr id="75" name="Text 67"/>
          <p:cNvSpPr txBox="1"/>
          <p:nvPr/>
        </p:nvSpPr>
        <p:spPr>
          <a:xfrm>
            <a:off x="11073384" y="1868302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+54%</a:t>
            </a:r>
            <a:endParaRPr lang="en-US" sz="1200" dirty="0"/>
          </a:p>
        </p:txBody>
      </p:sp>
      <p:sp>
        <p:nvSpPr>
          <p:cNvPr id="76" name="Text 68"/>
          <p:cNvSpPr txBox="1"/>
          <p:nvPr/>
        </p:nvSpPr>
        <p:spPr>
          <a:xfrm>
            <a:off x="5679521" y="2227844"/>
            <a:ext cx="146304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Bedsheet + 2 covers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buyers pay ₹325</a:t>
            </a:r>
            <a:endParaRPr lang="en-US" sz="800" dirty="0"/>
          </a:p>
        </p:txBody>
      </p:sp>
      <p:sp>
        <p:nvSpPr>
          <p:cNvPr id="77" name="Shape 69"/>
          <p:cNvSpPr/>
          <p:nvPr/>
        </p:nvSpPr>
        <p:spPr>
          <a:xfrm>
            <a:off x="8140676" y="2343607"/>
            <a:ext cx="2246602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78" name="Shape 70"/>
          <p:cNvSpPr/>
          <p:nvPr/>
        </p:nvSpPr>
        <p:spPr>
          <a:xfrm>
            <a:off x="7888720" y="2288743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79" name="Shape 71"/>
          <p:cNvSpPr/>
          <p:nvPr/>
        </p:nvSpPr>
        <p:spPr>
          <a:xfrm>
            <a:off x="8015824" y="2352751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2"/>
          <p:cNvSpPr/>
          <p:nvPr/>
        </p:nvSpPr>
        <p:spPr>
          <a:xfrm>
            <a:off x="8559582" y="2343607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81" name="Text 73"/>
          <p:cNvSpPr txBox="1"/>
          <p:nvPr/>
        </p:nvSpPr>
        <p:spPr>
          <a:xfrm>
            <a:off x="8696742" y="2224735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₹404</a:t>
            </a:r>
            <a:endParaRPr lang="en-US" sz="700" dirty="0"/>
          </a:p>
        </p:txBody>
      </p:sp>
      <p:sp>
        <p:nvSpPr>
          <p:cNvPr id="82" name="Text 74"/>
          <p:cNvSpPr txBox="1"/>
          <p:nvPr/>
        </p:nvSpPr>
        <p:spPr>
          <a:xfrm>
            <a:off x="11073384" y="2227844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+24%</a:t>
            </a:r>
            <a:endParaRPr lang="en-US" sz="1200" dirty="0"/>
          </a:p>
        </p:txBody>
      </p:sp>
      <p:sp>
        <p:nvSpPr>
          <p:cNvPr id="83" name="Text 75"/>
          <p:cNvSpPr txBox="1"/>
          <p:nvPr/>
        </p:nvSpPr>
        <p:spPr>
          <a:xfrm>
            <a:off x="5679521" y="2587386"/>
            <a:ext cx="146304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socks, 5-pack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buyers pay ₹128</a:t>
            </a:r>
            <a:endParaRPr lang="en-US" sz="800" dirty="0"/>
          </a:p>
        </p:txBody>
      </p:sp>
      <p:sp>
        <p:nvSpPr>
          <p:cNvPr id="84" name="Shape 76"/>
          <p:cNvSpPr/>
          <p:nvPr/>
        </p:nvSpPr>
        <p:spPr>
          <a:xfrm>
            <a:off x="7786363" y="2703149"/>
            <a:ext cx="924055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85" name="Shape 77"/>
          <p:cNvSpPr/>
          <p:nvPr/>
        </p:nvSpPr>
        <p:spPr>
          <a:xfrm>
            <a:off x="7888720" y="2648285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86" name="Shape 78"/>
          <p:cNvSpPr/>
          <p:nvPr/>
        </p:nvSpPr>
        <p:spPr>
          <a:xfrm>
            <a:off x="8015824" y="2712293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hape 79"/>
          <p:cNvSpPr/>
          <p:nvPr/>
        </p:nvSpPr>
        <p:spPr>
          <a:xfrm>
            <a:off x="8095531" y="2703149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88" name="Text 80"/>
          <p:cNvSpPr txBox="1"/>
          <p:nvPr/>
        </p:nvSpPr>
        <p:spPr>
          <a:xfrm>
            <a:off x="8232691" y="2584277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₹133</a:t>
            </a:r>
            <a:endParaRPr lang="en-US" sz="700" dirty="0"/>
          </a:p>
        </p:txBody>
      </p:sp>
      <p:sp>
        <p:nvSpPr>
          <p:cNvPr id="89" name="Text 81"/>
          <p:cNvSpPr txBox="1"/>
          <p:nvPr/>
        </p:nvSpPr>
        <p:spPr>
          <a:xfrm>
            <a:off x="11073384" y="2587386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+4%</a:t>
            </a:r>
            <a:endParaRPr lang="en-US" sz="1200" dirty="0"/>
          </a:p>
        </p:txBody>
      </p:sp>
      <p:sp>
        <p:nvSpPr>
          <p:cNvPr id="90" name="Text 82"/>
          <p:cNvSpPr txBox="1"/>
          <p:nvPr/>
        </p:nvSpPr>
        <p:spPr>
          <a:xfrm>
            <a:off x="5679521" y="2946928"/>
            <a:ext cx="146304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 towel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buyers pay ₹227</a:t>
            </a:r>
            <a:endParaRPr lang="en-US" sz="800" dirty="0"/>
          </a:p>
        </p:txBody>
      </p:sp>
      <p:sp>
        <p:nvSpPr>
          <p:cNvPr id="91" name="Shape 83"/>
          <p:cNvSpPr/>
          <p:nvPr/>
        </p:nvSpPr>
        <p:spPr>
          <a:xfrm>
            <a:off x="7689919" y="3062691"/>
            <a:ext cx="1122268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92" name="Shape 84"/>
          <p:cNvSpPr/>
          <p:nvPr/>
        </p:nvSpPr>
        <p:spPr>
          <a:xfrm>
            <a:off x="7888720" y="3007827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93" name="Shape 85"/>
          <p:cNvSpPr/>
          <p:nvPr/>
        </p:nvSpPr>
        <p:spPr>
          <a:xfrm>
            <a:off x="8015824" y="3071835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hape 86"/>
          <p:cNvSpPr/>
          <p:nvPr/>
        </p:nvSpPr>
        <p:spPr>
          <a:xfrm>
            <a:off x="8076822" y="3062691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8213982" y="2943819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₹234</a:t>
            </a:r>
            <a:endParaRPr lang="en-US" sz="700" dirty="0"/>
          </a:p>
        </p:txBody>
      </p:sp>
      <p:sp>
        <p:nvSpPr>
          <p:cNvPr id="96" name="Text 88"/>
          <p:cNvSpPr txBox="1"/>
          <p:nvPr/>
        </p:nvSpPr>
        <p:spPr>
          <a:xfrm>
            <a:off x="11073384" y="2946928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endParaRPr lang="en-US" sz="1200" dirty="0"/>
          </a:p>
        </p:txBody>
      </p:sp>
      <p:sp>
        <p:nvSpPr>
          <p:cNvPr id="97" name="Text 89"/>
          <p:cNvSpPr txBox="1"/>
          <p:nvPr/>
        </p:nvSpPr>
        <p:spPr>
          <a:xfrm>
            <a:off x="5679521" y="3452774"/>
            <a:ext cx="621682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demand-weighted median   </a:t>
            </a:r>
            <a:pPr indent="0" marL="0">
              <a:buNone/>
            </a:pPr>
            <a:r>
              <a:rPr lang="en-US" sz="700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</a:t>
            </a:r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median   </a:t>
            </a:r>
            <a:pPr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gate   </a:t>
            </a:r>
            <a:pPr indent="0" marL="0">
              <a:buNone/>
            </a:pPr>
            <a:r>
              <a:rPr lang="en-US" sz="700" dirty="0">
                <a:solidFill>
                  <a:srgbClr val="C9B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 </a:t>
            </a:r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50% of listings</a:t>
            </a:r>
            <a:endParaRPr lang="en-US" sz="700" dirty="0"/>
          </a:p>
        </p:txBody>
      </p:sp>
      <p:sp>
        <p:nvSpPr>
          <p:cNvPr id="98" name="Shape 90"/>
          <p:cNvSpPr/>
          <p:nvPr/>
        </p:nvSpPr>
        <p:spPr>
          <a:xfrm>
            <a:off x="5615513" y="3736238"/>
            <a:ext cx="634483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99" name="Text 91"/>
          <p:cNvSpPr txBox="1"/>
          <p:nvPr/>
        </p:nvSpPr>
        <p:spPr>
          <a:xfrm>
            <a:off x="5679521" y="3736238"/>
            <a:ext cx="6216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gate: assumptions → calculation → result (men’s briefs, 3-pack)</a:t>
            </a:r>
            <a:endParaRPr lang="en-US" sz="950" dirty="0"/>
          </a:p>
        </p:txBody>
      </p:sp>
      <p:sp>
        <p:nvSpPr>
          <p:cNvPr id="100" name="Shape 92"/>
          <p:cNvSpPr/>
          <p:nvPr/>
        </p:nvSpPr>
        <p:spPr>
          <a:xfrm>
            <a:off x="5615513" y="3983126"/>
            <a:ext cx="6344839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01" name="Shape 93"/>
          <p:cNvSpPr/>
          <p:nvPr/>
        </p:nvSpPr>
        <p:spPr>
          <a:xfrm>
            <a:off x="5679521" y="4028846"/>
            <a:ext cx="1865047" cy="205191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02" name="Text 94"/>
          <p:cNvSpPr txBox="1"/>
          <p:nvPr/>
        </p:nvSpPr>
        <p:spPr>
          <a:xfrm>
            <a:off x="5734385" y="4065422"/>
            <a:ext cx="1755319" cy="1978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median ₹322.5 [S10]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Demand-weighted median ₹209 [S10]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SKU ≥ 8% below median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Badge: ≥ 60% of live SKUs clear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above ₹5 cr GMV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with &gt; 30% of a set’s orders scored without its own orders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needs ≥ 10 delivered orders to count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 weekly; badge off below a 4% gap</a:t>
            </a:r>
            <a:endParaRPr lang="en-US" sz="750" dirty="0"/>
          </a:p>
        </p:txBody>
      </p:sp>
      <p:sp>
        <p:nvSpPr>
          <p:cNvPr id="103" name="Shape 95"/>
          <p:cNvSpPr/>
          <p:nvPr/>
        </p:nvSpPr>
        <p:spPr>
          <a:xfrm>
            <a:off x="7617720" y="4028846"/>
            <a:ext cx="2102736" cy="902842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104" name="Text 96"/>
          <p:cNvSpPr txBox="1"/>
          <p:nvPr/>
        </p:nvSpPr>
        <p:spPr>
          <a:xfrm>
            <a:off x="7672584" y="4056278"/>
            <a:ext cx="1993008" cy="84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1: listing median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= ₹322.5 × 0.92 = ₹296.7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of 56 listings clear (43%)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loose: the badge would sit on 4 in 10 listings, including resellers.</a:t>
            </a:r>
            <a:endParaRPr lang="en-US" sz="750" dirty="0"/>
          </a:p>
        </p:txBody>
      </p:sp>
      <p:sp>
        <p:nvSpPr>
          <p:cNvPr id="105" name="Shape 97"/>
          <p:cNvSpPr/>
          <p:nvPr/>
        </p:nvSpPr>
        <p:spPr>
          <a:xfrm>
            <a:off x="9793608" y="4028846"/>
            <a:ext cx="2102736" cy="902842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06" name="Text 98"/>
          <p:cNvSpPr txBox="1"/>
          <p:nvPr/>
        </p:nvSpPr>
        <p:spPr>
          <a:xfrm>
            <a:off x="9848472" y="4056278"/>
            <a:ext cx="1993008" cy="84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2: demand-weighted median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= ₹209 × 0.92 = ₹192.3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56 listings clear (11%)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real cost edges clear: the badge means something.</a:t>
            </a:r>
            <a:endParaRPr lang="en-US" sz="750" dirty="0"/>
          </a:p>
        </p:txBody>
      </p:sp>
      <p:sp>
        <p:nvSpPr>
          <p:cNvPr id="107" name="Text 99"/>
          <p:cNvSpPr txBox="1"/>
          <p:nvPr/>
        </p:nvSpPr>
        <p:spPr>
          <a:xfrm>
            <a:off x="7617720" y="4986552"/>
            <a:ext cx="4278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floor ₹180 → 13.8% below ✓ · reseller ₹220 → −5.4% ✕</a:t>
            </a:r>
            <a:endParaRPr lang="en-US" sz="750" dirty="0"/>
          </a:p>
        </p:txBody>
      </p:sp>
      <p:graphicFrame>
        <p:nvGraphicFramePr>
          <p:cNvPr id="3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17720" y="5169432"/>
          <a:ext cx="427862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02920"/>
                <a:gridCol w="2175504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verdict (180 sellers &gt; ₹5 cr)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8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C2M-ready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+ re-rank + Demand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without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badge; value-tier SKUs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Loss-leader pattern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badge: catalogue gate holds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miss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offer; re-score in 28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prepaid 3-pack costs ₹164 vs a reseller’s ₹200.5; of the ₹45 freed, buyers get ₹26.7 and the factory ₹18.3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price pre-orders at the gate less ₹10 (₹182), funded by the factory’s ₹11 batch saving. Owner: Pricing + Category · KPI: factory margin ≥ ₹18 a pack.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S10 (₹209 demand-weighted median), S11 (₹150 return fee, ₹0 RTO fee), S12, S13   |   Assumptions: A10, A11, A20, A22–A32 (making cost ₹80 to confirm in interviews)   |   Workings: Appendix C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680130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6673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per 3-pack kept, one change per column (Tiruppur men’s briefs)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6801307" cy="336133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344168"/>
          <a:ext cx="6673291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108253"/>
                <a:gridCol w="1108253"/>
                <a:gridCol w="1108253"/>
                <a:gridCol w="1108253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Reseller today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Factory lists direct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Factory Node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Prepaid pre-order batch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Existing: buys via a wholesaler, ships, stocks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1: no wholesaler mark-up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2: bulk drop; node packs, ships, grades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i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Proposed: make confirmed orders + 15%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100 shipped: failed deliveries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 by buyers (8%)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(paid for)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Goods, net of resold returns (₹)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stock written down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Logistics: forward + pack / node fee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Customer-return fees (₹150 each)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(18% a year)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pack kept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viable price (9% margin)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 ₹209 demand-weighted median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Clears the 8% gate (≤ ₹192)?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</a:tr>
            </a:tbl>
          </a:graphicData>
        </a:graphic>
      </p:graphicFrame>
      <p:sp>
        <p:nvSpPr>
          <p:cNvPr id="39" name="Text 33"/>
          <p:cNvSpPr txBox="1"/>
          <p:nvPr/>
        </p:nvSpPr>
        <p:spPr>
          <a:xfrm>
            <a:off x="612648" y="4394606"/>
            <a:ext cx="667329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making cost that clears the gate: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₹78.7 → ₹80.9 → ₹90.7 (+15%): the levers widen the pool of factories that qualify.</a:t>
            </a:r>
            <a:endParaRPr lang="en-US" sz="750" dirty="0"/>
          </a:p>
        </p:txBody>
      </p:sp>
      <p:sp>
        <p:nvSpPr>
          <p:cNvPr id="40" name="Shape 34"/>
          <p:cNvSpPr/>
          <p:nvPr/>
        </p:nvSpPr>
        <p:spPr>
          <a:xfrm>
            <a:off x="7441387" y="1051560"/>
            <a:ext cx="451896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505395" y="1051560"/>
            <a:ext cx="4390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prepaid batch of 1,000 packs at ₹182, stage by stage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7441387" y="1298448"/>
            <a:ext cx="4518965" cy="183885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5395" y="1344168"/>
          <a:ext cx="4390949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2148840"/>
                <a:gridCol w="943661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208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Pre-order window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confirmed; make 1,150 (+15%)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₹1,82,280 order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08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Handover at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advanced by the NBFC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+₹54,684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08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Delivery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failed (4.6%) · 76 returned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kept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08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Revenue on kept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× ₹182.3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₹1,60,067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08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Fees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₹40,089 · node ₹20,000 · returns ₹11,454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−₹71,543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08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Payout, 7 days after delivery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fees; repays the advance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₹88,524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08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Balance to the factory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payout − advance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+₹33,840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37"/>
          <p:cNvSpPr/>
          <p:nvPr/>
        </p:nvSpPr>
        <p:spPr>
          <a:xfrm>
            <a:off x="7441387" y="3228746"/>
            <a:ext cx="451896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7505395" y="3228746"/>
            <a:ext cx="4390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₹45 per pack goes (pre-order vs a reseller at ₹209)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7441387" y="3475634"/>
            <a:ext cx="4518965" cy="118414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505395" y="3521354"/>
            <a:ext cx="43909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₹45 = ₹36.5 lower cost (no wholesaler, node, batches) + ₹8.5 reseller margin</a:t>
            </a:r>
            <a:endParaRPr lang="en-US" sz="750" dirty="0"/>
          </a:p>
        </p:txBody>
      </p:sp>
      <p:sp>
        <p:nvSpPr>
          <p:cNvPr id="48" name="Shape 41"/>
          <p:cNvSpPr/>
          <p:nvPr/>
        </p:nvSpPr>
        <p:spPr>
          <a:xfrm>
            <a:off x="7505395" y="3759098"/>
            <a:ext cx="2604938" cy="329184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10110334" y="3759098"/>
            <a:ext cx="1786010" cy="32918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7505395" y="3759098"/>
            <a:ext cx="2604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₹26.7 · 59%</a:t>
            </a:r>
            <a:endParaRPr lang="en-US" sz="900" dirty="0"/>
          </a:p>
        </p:txBody>
      </p:sp>
      <p:sp>
        <p:nvSpPr>
          <p:cNvPr id="51" name="Text 44"/>
          <p:cNvSpPr txBox="1"/>
          <p:nvPr/>
        </p:nvSpPr>
        <p:spPr>
          <a:xfrm>
            <a:off x="10110334" y="3759098"/>
            <a:ext cx="17860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₹18.3 · 41%</a:t>
            </a:r>
            <a:endParaRPr lang="en-US" sz="900" dirty="0"/>
          </a:p>
        </p:txBody>
      </p:sp>
      <p:sp>
        <p:nvSpPr>
          <p:cNvPr id="52" name="Text 45"/>
          <p:cNvSpPr txBox="1"/>
          <p:nvPr/>
        </p:nvSpPr>
        <p:spPr>
          <a:xfrm>
            <a:off x="7505395" y="4143146"/>
            <a:ext cx="4390949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₹182 instead of ₹209.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earns ₹18.3 a pack vs ₹7.9 selling ex-factory (2.3×).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Meesho: 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earns per order, not per rupee: ₹5.8 per C2M order (page 11).</a:t>
            </a:r>
            <a:endParaRPr lang="en-US" sz="750" dirty="0"/>
          </a:p>
        </p:txBody>
      </p:sp>
      <p:sp>
        <p:nvSpPr>
          <p:cNvPr id="53" name="Shape 46"/>
          <p:cNvSpPr/>
          <p:nvPr/>
        </p:nvSpPr>
        <p:spPr>
          <a:xfrm>
            <a:off x="548640" y="4751222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612648" y="4751222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(every input carries an [A#] in Appendix B)</a:t>
            </a:r>
            <a:endParaRPr lang="en-US" sz="950" dirty="0"/>
          </a:p>
        </p:txBody>
      </p:sp>
      <p:sp>
        <p:nvSpPr>
          <p:cNvPr id="55" name="Shape 48"/>
          <p:cNvSpPr/>
          <p:nvPr/>
        </p:nvSpPr>
        <p:spPr>
          <a:xfrm>
            <a:off x="548640" y="4998110"/>
            <a:ext cx="11411712" cy="112837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56" name="Shape 49"/>
          <p:cNvSpPr/>
          <p:nvPr/>
        </p:nvSpPr>
        <p:spPr>
          <a:xfrm>
            <a:off x="612648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658368" y="5089550"/>
            <a:ext cx="310896" cy="310896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Image 3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765" y="5157948"/>
            <a:ext cx="174102" cy="174102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1014984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676656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cost ₹80 a pack [A22]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9% on price [A23]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18% a year [A30]</a:t>
            </a:r>
            <a:endParaRPr lang="en-US" sz="750" dirty="0"/>
          </a:p>
        </p:txBody>
      </p:sp>
      <p:sp>
        <p:nvSpPr>
          <p:cNvPr id="61" name="Shape 53"/>
          <p:cNvSpPr/>
          <p:nvPr/>
        </p:nvSpPr>
        <p:spPr>
          <a:xfrm>
            <a:off x="2880360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2" name="Shape 54"/>
          <p:cNvSpPr/>
          <p:nvPr/>
        </p:nvSpPr>
        <p:spPr>
          <a:xfrm>
            <a:off x="2926080" y="5089550"/>
            <a:ext cx="310896" cy="310896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3" name="Image 4" descr="/Users/prathmeshwalimbe/Downloads/Meesho/02_round2_detailed_submission/deck/source/assets/icons/FaMagnifyingGlassChar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4477" y="5157948"/>
            <a:ext cx="174102" cy="174102"/>
          </a:xfrm>
          <a:prstGeom prst="rect">
            <a:avLst/>
          </a:prstGeom>
        </p:spPr>
      </p:pic>
      <p:sp>
        <p:nvSpPr>
          <p:cNvPr id="64" name="Text 55"/>
          <p:cNvSpPr txBox="1"/>
          <p:nvPr/>
        </p:nvSpPr>
        <p:spPr>
          <a:xfrm>
            <a:off x="3282696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900" dirty="0"/>
          </a:p>
        </p:txBody>
      </p:sp>
      <p:sp>
        <p:nvSpPr>
          <p:cNvPr id="65" name="Text 56"/>
          <p:cNvSpPr txBox="1"/>
          <p:nvPr/>
        </p:nvSpPr>
        <p:spPr>
          <a:xfrm>
            <a:off x="2944368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Demand-weighted median ₹209 [S10]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−8% = ₹192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₹10 off [A32]</a:t>
            </a:r>
            <a:endParaRPr lang="en-US" sz="750" dirty="0"/>
          </a:p>
        </p:txBody>
      </p:sp>
      <p:sp>
        <p:nvSpPr>
          <p:cNvPr id="66" name="Shape 57"/>
          <p:cNvSpPr/>
          <p:nvPr/>
        </p:nvSpPr>
        <p:spPr>
          <a:xfrm>
            <a:off x="5148072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5193792" y="5089550"/>
            <a:ext cx="310896" cy="310896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8" name="Image 5" descr="/Users/prathmeshwalimbe/Downloads/Meesho/02_round2_detailed_submission/deck/source/assets/icons/FaTruckFas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2189" y="5157948"/>
            <a:ext cx="174102" cy="17410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550408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00" dirty="0"/>
          </a:p>
        </p:txBody>
      </p:sp>
      <p:sp>
        <p:nvSpPr>
          <p:cNvPr id="70" name="Text 60"/>
          <p:cNvSpPr txBox="1"/>
          <p:nvPr/>
        </p:nvSpPr>
        <p:spPr>
          <a:xfrm>
            <a:off x="5212080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₹55 self / ₹42 node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₹10 · node fee ₹20 [A28]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Wholesaler +15% [A24]</a:t>
            </a:r>
            <a:endParaRPr lang="en-US" sz="750" dirty="0"/>
          </a:p>
        </p:txBody>
      </p:sp>
      <p:sp>
        <p:nvSpPr>
          <p:cNvPr id="71" name="Shape 61"/>
          <p:cNvSpPr/>
          <p:nvPr/>
        </p:nvSpPr>
        <p:spPr>
          <a:xfrm>
            <a:off x="7415784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72" name="Shape 62"/>
          <p:cNvSpPr/>
          <p:nvPr/>
        </p:nvSpPr>
        <p:spPr>
          <a:xfrm>
            <a:off x="7461504" y="5089550"/>
            <a:ext cx="310896" cy="310896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Image 6" descr="/Users/prathmeshwalimbe/Downloads/Meesho/02_round2_detailed_submission/deck/source/assets/icons/FaRotateLeft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9901" y="5157948"/>
            <a:ext cx="174102" cy="174102"/>
          </a:xfrm>
          <a:prstGeom prst="rect">
            <a:avLst/>
          </a:prstGeom>
        </p:spPr>
      </p:pic>
      <p:sp>
        <p:nvSpPr>
          <p:cNvPr id="74" name="Text 63"/>
          <p:cNvSpPr txBox="1"/>
          <p:nvPr/>
        </p:nvSpPr>
        <p:spPr>
          <a:xfrm>
            <a:off x="7818120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sz="900" dirty="0"/>
          </a:p>
        </p:txBody>
      </p:sp>
      <p:sp>
        <p:nvSpPr>
          <p:cNvPr id="75" name="Text 64"/>
          <p:cNvSpPr txBox="1"/>
          <p:nvPr/>
        </p:nvSpPr>
        <p:spPr>
          <a:xfrm>
            <a:off x="7479792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14% (4.6% prepaid)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8% of delivered [A25]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 return fee · ₹0 RTO fee</a:t>
            </a:r>
            <a:endParaRPr lang="en-US" sz="750" dirty="0"/>
          </a:p>
        </p:txBody>
      </p:sp>
      <p:sp>
        <p:nvSpPr>
          <p:cNvPr id="76" name="Shape 65"/>
          <p:cNvSpPr/>
          <p:nvPr/>
        </p:nvSpPr>
        <p:spPr>
          <a:xfrm>
            <a:off x="9683496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77" name="Shape 66"/>
          <p:cNvSpPr/>
          <p:nvPr/>
        </p:nvSpPr>
        <p:spPr>
          <a:xfrm>
            <a:off x="9729216" y="5089550"/>
            <a:ext cx="310896" cy="310896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8" name="Image 7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97613" y="5157948"/>
            <a:ext cx="174102" cy="174102"/>
          </a:xfrm>
          <a:prstGeom prst="rect">
            <a:avLst/>
          </a:prstGeom>
        </p:spPr>
      </p:pic>
      <p:sp>
        <p:nvSpPr>
          <p:cNvPr id="79" name="Text 67"/>
          <p:cNvSpPr txBox="1"/>
          <p:nvPr/>
        </p:nvSpPr>
        <p:spPr>
          <a:xfrm>
            <a:off x="10085832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900" dirty="0"/>
          </a:p>
        </p:txBody>
      </p:sp>
      <p:sp>
        <p:nvSpPr>
          <p:cNvPr id="80" name="Text 68"/>
          <p:cNvSpPr txBox="1"/>
          <p:nvPr/>
        </p:nvSpPr>
        <p:spPr>
          <a:xfrm>
            <a:off x="9747504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Unsold 10% vs 2% [A31]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50% · recovery 85%/90%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vs 10 inventory days [A30]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₹75 cr NPV at 12% and payback in Year 3; NPV stays positive down to 45% of planned seller yield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ANALYSIS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approve ₹22.2 cr of Year-1 cash as a capped H2 bet, released at the Day-30 and Day-90 gates. Owner: Finance · KPI: Year-1 C2M NMV ≥ ₹140 cr.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(₹531 cr contribution on 725 mn placed orders; prepaid 37%; NMV ₹11,614 cr on GMV ₹19,054 cr), S3, S11, S13   |   NPV: t = 1..5, year-end, no terminal value; year NMV uses average active sellers, the ladder shows exit run-rates   |   Register: Appendix B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600248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587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case (₹ cr, nominal; NPV = sum of the PV row)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6002487" cy="3056839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344168"/>
          <a:ext cx="4405854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15411"/>
                <a:gridCol w="515411"/>
                <a:gridCol w="515411"/>
                <a:gridCol w="515411"/>
                <a:gridCol w="515411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active sellers [A3]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NMV, year average [A4]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Placed orders (mn)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orders × ₹7.3 [A8]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failed deliveries × ₹60 [A11]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Benefit to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[A13, A14]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onboarding [A15]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 [A16]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Nodes [A17]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pool, grants, first-loss [A18–A20]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 cost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flow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factor at 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at 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33"/>
          <p:cNvSpPr/>
          <p:nvPr/>
        </p:nvSpPr>
        <p:spPr>
          <a:xfrm>
            <a:off x="5091654" y="1344168"/>
            <a:ext cx="1395466" cy="2965399"/>
          </a:xfrm>
          <a:prstGeom prst="roundRect">
            <a:avLst>
              <a:gd name="adj" fmla="val 3276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155662" y="1389888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12%</a:t>
            </a:r>
            <a:endParaRPr lang="en-US" sz="750" dirty="0"/>
          </a:p>
        </p:txBody>
      </p:sp>
      <p:sp>
        <p:nvSpPr>
          <p:cNvPr id="41" name="Text 35"/>
          <p:cNvSpPr txBox="1"/>
          <p:nvPr/>
        </p:nvSpPr>
        <p:spPr>
          <a:xfrm>
            <a:off x="5155662" y="1527048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A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₹74.9 cr</a:t>
            </a:r>
            <a:endParaRPr lang="en-US" sz="1700" dirty="0"/>
          </a:p>
        </p:txBody>
      </p:sp>
      <p:sp>
        <p:nvSpPr>
          <p:cNvPr id="42" name="Text 36"/>
          <p:cNvSpPr txBox="1"/>
          <p:nvPr/>
        </p:nvSpPr>
        <p:spPr>
          <a:xfrm>
            <a:off x="5155662" y="1868881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15%</a:t>
            </a:r>
            <a:endParaRPr lang="en-US" sz="750" dirty="0"/>
          </a:p>
        </p:txBody>
      </p:sp>
      <p:sp>
        <p:nvSpPr>
          <p:cNvPr id="43" name="Text 37"/>
          <p:cNvSpPr txBox="1"/>
          <p:nvPr/>
        </p:nvSpPr>
        <p:spPr>
          <a:xfrm>
            <a:off x="5155662" y="2006041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₹66.1 cr</a:t>
            </a:r>
            <a:endParaRPr lang="en-US" sz="1200" dirty="0"/>
          </a:p>
        </p:txBody>
      </p:sp>
      <p:sp>
        <p:nvSpPr>
          <p:cNvPr id="44" name="Text 38"/>
          <p:cNvSpPr txBox="1"/>
          <p:nvPr/>
        </p:nvSpPr>
        <p:spPr>
          <a:xfrm>
            <a:off x="5155662" y="2347874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750" dirty="0"/>
          </a:p>
        </p:txBody>
      </p:sp>
      <p:sp>
        <p:nvSpPr>
          <p:cNvPr id="45" name="Text 39"/>
          <p:cNvSpPr txBox="1"/>
          <p:nvPr/>
        </p:nvSpPr>
        <p:spPr>
          <a:xfrm>
            <a:off x="5155662" y="2485034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105%</a:t>
            </a:r>
            <a:endParaRPr lang="en-US" sz="1200" dirty="0"/>
          </a:p>
        </p:txBody>
      </p:sp>
      <p:sp>
        <p:nvSpPr>
          <p:cNvPr id="46" name="Text 40"/>
          <p:cNvSpPr txBox="1"/>
          <p:nvPr/>
        </p:nvSpPr>
        <p:spPr>
          <a:xfrm>
            <a:off x="5155662" y="2826868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750" dirty="0"/>
          </a:p>
        </p:txBody>
      </p:sp>
      <p:sp>
        <p:nvSpPr>
          <p:cNvPr id="47" name="Text 41"/>
          <p:cNvSpPr txBox="1"/>
          <p:nvPr/>
        </p:nvSpPr>
        <p:spPr>
          <a:xfrm>
            <a:off x="5155662" y="2964028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5155662" y="3305861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payback</a:t>
            </a:r>
            <a:endParaRPr lang="en-US" sz="750" dirty="0"/>
          </a:p>
        </p:txBody>
      </p:sp>
      <p:sp>
        <p:nvSpPr>
          <p:cNvPr id="49" name="Text 43"/>
          <p:cNvSpPr txBox="1"/>
          <p:nvPr/>
        </p:nvSpPr>
        <p:spPr>
          <a:xfrm>
            <a:off x="5155662" y="3443021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1100" dirty="0"/>
          </a:p>
        </p:txBody>
      </p:sp>
      <p:sp>
        <p:nvSpPr>
          <p:cNvPr id="50" name="Text 44"/>
          <p:cNvSpPr txBox="1"/>
          <p:nvPr/>
        </p:nvSpPr>
        <p:spPr>
          <a:xfrm>
            <a:off x="5155662" y="3784854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cash (+ people)</a:t>
            </a:r>
            <a:endParaRPr lang="en-US" sz="750" dirty="0"/>
          </a:p>
        </p:txBody>
      </p:sp>
      <p:sp>
        <p:nvSpPr>
          <p:cNvPr id="51" name="Text 45"/>
          <p:cNvSpPr txBox="1"/>
          <p:nvPr/>
        </p:nvSpPr>
        <p:spPr>
          <a:xfrm>
            <a:off x="5155662" y="3922014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₹22.2 cr (+₹3.6 cr)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6642567" y="1051560"/>
            <a:ext cx="531778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706575" y="1051560"/>
            <a:ext cx="5189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Opportunity: what each phase is worth (exit run-rates)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6642567" y="1298448"/>
            <a:ext cx="5317785" cy="133136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06575" y="1344168"/>
          <a:ext cx="5189769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074603"/>
                <a:gridCol w="1074603"/>
                <a:gridCol w="1074603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· Day 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exit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 exit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731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· nodes · active 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1 · 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6 · 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· 12 · 1,400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1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Run-rate NMV (× ₹1.425 cr per seller)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₹85.5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₹641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₹1,995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31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FY26 NMV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1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orders a day (share of Meesho’s)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 (0.2%)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1,13,000 (1.4%)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3,52,000 (4.4%)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31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 savings a year (8–12% gap)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₹7.4 cr–₹11.7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₹55.8 cr–₹87.4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₹173 cr–₹272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1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value a year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₹3.2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₹23.8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₹74.0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56" name="Shape 49"/>
          <p:cNvSpPr/>
          <p:nvPr/>
        </p:nvSpPr>
        <p:spPr>
          <a:xfrm>
            <a:off x="6642567" y="2721254"/>
            <a:ext cx="259031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706575" y="2721254"/>
            <a:ext cx="2462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programme cost (₹ cr, nominal)</a:t>
            </a:r>
            <a:endParaRPr lang="en-US" sz="950" dirty="0"/>
          </a:p>
        </p:txBody>
      </p:sp>
      <p:sp>
        <p:nvSpPr>
          <p:cNvPr id="58" name="Shape 51"/>
          <p:cNvSpPr/>
          <p:nvPr/>
        </p:nvSpPr>
        <p:spPr>
          <a:xfrm>
            <a:off x="6642567" y="2968142"/>
            <a:ext cx="2590312" cy="138714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59" name="Chart 0" descr=""/>
          <p:cNvGraphicFramePr/>
          <p:nvPr/>
        </p:nvGraphicFramePr>
        <p:xfrm>
          <a:off x="6669999" y="2977286"/>
          <a:ext cx="2535448" cy="135056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0" name="Shape 52"/>
          <p:cNvSpPr/>
          <p:nvPr/>
        </p:nvSpPr>
        <p:spPr>
          <a:xfrm>
            <a:off x="9324320" y="2721254"/>
            <a:ext cx="2636032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9388328" y="2721254"/>
            <a:ext cx="250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NPV at −20% / +20%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9324320" y="2968142"/>
            <a:ext cx="2636032" cy="138714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3" name="Shape 55"/>
          <p:cNvSpPr/>
          <p:nvPr/>
        </p:nvSpPr>
        <p:spPr>
          <a:xfrm>
            <a:off x="11099536" y="3013862"/>
            <a:ext cx="0" cy="1094537"/>
          </a:xfrm>
          <a:prstGeom prst="line">
            <a:avLst/>
          </a:prstGeom>
          <a:noFill/>
          <a:ln w="12700">
            <a:solidFill>
              <a:srgbClr val="5A0A46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9388328" y="3013862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yield</a:t>
            </a:r>
            <a:endParaRPr lang="en-US" sz="700" dirty="0"/>
          </a:p>
        </p:txBody>
      </p:sp>
      <p:sp>
        <p:nvSpPr>
          <p:cNvPr id="65" name="Shape 57"/>
          <p:cNvSpPr/>
          <p:nvPr/>
        </p:nvSpPr>
        <p:spPr>
          <a:xfrm>
            <a:off x="10549616" y="3062022"/>
            <a:ext cx="549920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66" name="Shape 58"/>
          <p:cNvSpPr/>
          <p:nvPr/>
        </p:nvSpPr>
        <p:spPr>
          <a:xfrm>
            <a:off x="11099536" y="3062022"/>
            <a:ext cx="549920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10330160" y="3013862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650" dirty="0"/>
          </a:p>
        </p:txBody>
      </p:sp>
      <p:sp>
        <p:nvSpPr>
          <p:cNvPr id="68" name="Text 60"/>
          <p:cNvSpPr txBox="1"/>
          <p:nvPr/>
        </p:nvSpPr>
        <p:spPr>
          <a:xfrm>
            <a:off x="11667744" y="3013862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650" dirty="0"/>
          </a:p>
        </p:txBody>
      </p:sp>
      <p:sp>
        <p:nvSpPr>
          <p:cNvPr id="69" name="Text 61"/>
          <p:cNvSpPr txBox="1"/>
          <p:nvPr/>
        </p:nvSpPr>
        <p:spPr>
          <a:xfrm>
            <a:off x="9388328" y="3232770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orders</a:t>
            </a:r>
            <a:endParaRPr lang="en-US" sz="700" dirty="0"/>
          </a:p>
        </p:txBody>
      </p:sp>
      <p:sp>
        <p:nvSpPr>
          <p:cNvPr id="70" name="Shape 62"/>
          <p:cNvSpPr/>
          <p:nvPr/>
        </p:nvSpPr>
        <p:spPr>
          <a:xfrm>
            <a:off x="10800147" y="3280929"/>
            <a:ext cx="299389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71" name="Shape 63"/>
          <p:cNvSpPr/>
          <p:nvPr/>
        </p:nvSpPr>
        <p:spPr>
          <a:xfrm>
            <a:off x="11099536" y="3280929"/>
            <a:ext cx="299389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10580691" y="3232770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650" dirty="0"/>
          </a:p>
        </p:txBody>
      </p:sp>
      <p:sp>
        <p:nvSpPr>
          <p:cNvPr id="73" name="Text 65"/>
          <p:cNvSpPr txBox="1"/>
          <p:nvPr/>
        </p:nvSpPr>
        <p:spPr>
          <a:xfrm>
            <a:off x="11417212" y="3232770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650" dirty="0"/>
          </a:p>
        </p:txBody>
      </p:sp>
      <p:sp>
        <p:nvSpPr>
          <p:cNvPr id="74" name="Text 66"/>
          <p:cNvSpPr txBox="1"/>
          <p:nvPr/>
        </p:nvSpPr>
        <p:spPr>
          <a:xfrm>
            <a:off x="9388328" y="3451677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Failed-delivery saving</a:t>
            </a:r>
            <a:endParaRPr lang="en-US" sz="700" dirty="0"/>
          </a:p>
        </p:txBody>
      </p:sp>
      <p:sp>
        <p:nvSpPr>
          <p:cNvPr id="75" name="Shape 67"/>
          <p:cNvSpPr/>
          <p:nvPr/>
        </p:nvSpPr>
        <p:spPr>
          <a:xfrm>
            <a:off x="10809820" y="3499837"/>
            <a:ext cx="289716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76" name="Shape 68"/>
          <p:cNvSpPr/>
          <p:nvPr/>
        </p:nvSpPr>
        <p:spPr>
          <a:xfrm>
            <a:off x="11099536" y="3499837"/>
            <a:ext cx="289716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77" name="Text 69"/>
          <p:cNvSpPr txBox="1"/>
          <p:nvPr/>
        </p:nvSpPr>
        <p:spPr>
          <a:xfrm>
            <a:off x="10590364" y="3451677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650" dirty="0"/>
          </a:p>
        </p:txBody>
      </p:sp>
      <p:sp>
        <p:nvSpPr>
          <p:cNvPr id="78" name="Text 70"/>
          <p:cNvSpPr txBox="1"/>
          <p:nvPr/>
        </p:nvSpPr>
        <p:spPr>
          <a:xfrm>
            <a:off x="11407539" y="3451677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650" dirty="0"/>
          </a:p>
        </p:txBody>
      </p:sp>
      <p:sp>
        <p:nvSpPr>
          <p:cNvPr id="79" name="Text 71"/>
          <p:cNvSpPr txBox="1"/>
          <p:nvPr/>
        </p:nvSpPr>
        <p:spPr>
          <a:xfrm>
            <a:off x="9388328" y="3670584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cost</a:t>
            </a:r>
            <a:endParaRPr lang="en-US" sz="700" dirty="0"/>
          </a:p>
        </p:txBody>
      </p:sp>
      <p:sp>
        <p:nvSpPr>
          <p:cNvPr id="80" name="Shape 72"/>
          <p:cNvSpPr/>
          <p:nvPr/>
        </p:nvSpPr>
        <p:spPr>
          <a:xfrm>
            <a:off x="10813105" y="3718744"/>
            <a:ext cx="286430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81" name="Shape 73"/>
          <p:cNvSpPr/>
          <p:nvPr/>
        </p:nvSpPr>
        <p:spPr>
          <a:xfrm>
            <a:off x="11099536" y="3718744"/>
            <a:ext cx="286430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82" name="Text 74"/>
          <p:cNvSpPr txBox="1"/>
          <p:nvPr/>
        </p:nvSpPr>
        <p:spPr>
          <a:xfrm>
            <a:off x="10593649" y="3670584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650" dirty="0"/>
          </a:p>
        </p:txBody>
      </p:sp>
      <p:sp>
        <p:nvSpPr>
          <p:cNvPr id="83" name="Text 75"/>
          <p:cNvSpPr txBox="1"/>
          <p:nvPr/>
        </p:nvSpPr>
        <p:spPr>
          <a:xfrm>
            <a:off x="11404254" y="3670584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650" dirty="0"/>
          </a:p>
        </p:txBody>
      </p:sp>
      <p:sp>
        <p:nvSpPr>
          <p:cNvPr id="84" name="Text 76"/>
          <p:cNvSpPr txBox="1"/>
          <p:nvPr/>
        </p:nvSpPr>
        <p:spPr>
          <a:xfrm>
            <a:off x="9388328" y="3889492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pre-order share</a:t>
            </a:r>
            <a:endParaRPr lang="en-US" sz="700" dirty="0"/>
          </a:p>
        </p:txBody>
      </p:sp>
      <p:sp>
        <p:nvSpPr>
          <p:cNvPr id="85" name="Shape 77"/>
          <p:cNvSpPr/>
          <p:nvPr/>
        </p:nvSpPr>
        <p:spPr>
          <a:xfrm>
            <a:off x="10872404" y="3937651"/>
            <a:ext cx="227132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86" name="Shape 78"/>
          <p:cNvSpPr/>
          <p:nvPr/>
        </p:nvSpPr>
        <p:spPr>
          <a:xfrm>
            <a:off x="11099536" y="3937651"/>
            <a:ext cx="220013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87" name="Text 79"/>
          <p:cNvSpPr txBox="1"/>
          <p:nvPr/>
        </p:nvSpPr>
        <p:spPr>
          <a:xfrm>
            <a:off x="10652948" y="3889492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650" dirty="0"/>
          </a:p>
        </p:txBody>
      </p:sp>
      <p:sp>
        <p:nvSpPr>
          <p:cNvPr id="88" name="Text 80"/>
          <p:cNvSpPr txBox="1"/>
          <p:nvPr/>
        </p:nvSpPr>
        <p:spPr>
          <a:xfrm>
            <a:off x="11337837" y="3889492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650" dirty="0"/>
          </a:p>
        </p:txBody>
      </p:sp>
      <p:sp>
        <p:nvSpPr>
          <p:cNvPr id="89" name="Text 81"/>
          <p:cNvSpPr txBox="1"/>
          <p:nvPr/>
        </p:nvSpPr>
        <p:spPr>
          <a:xfrm>
            <a:off x="9388328" y="4126687"/>
            <a:ext cx="2508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₹75 cr; left = worse</a:t>
            </a:r>
            <a:endParaRPr lang="en-US" sz="700" dirty="0"/>
          </a:p>
        </p:txBody>
      </p:sp>
      <p:sp>
        <p:nvSpPr>
          <p:cNvPr id="90" name="Shape 82"/>
          <p:cNvSpPr/>
          <p:nvPr/>
        </p:nvSpPr>
        <p:spPr>
          <a:xfrm>
            <a:off x="548640" y="4446727"/>
            <a:ext cx="6002487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91" name="Text 83"/>
          <p:cNvSpPr txBox="1"/>
          <p:nvPr/>
        </p:nvSpPr>
        <p:spPr>
          <a:xfrm>
            <a:off x="612648" y="4446727"/>
            <a:ext cx="587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and scenarios</a:t>
            </a:r>
            <a:endParaRPr lang="en-US" sz="950" dirty="0"/>
          </a:p>
        </p:txBody>
      </p:sp>
      <p:sp>
        <p:nvSpPr>
          <p:cNvPr id="92" name="Shape 84"/>
          <p:cNvSpPr/>
          <p:nvPr/>
        </p:nvSpPr>
        <p:spPr>
          <a:xfrm>
            <a:off x="548640" y="4693615"/>
            <a:ext cx="6002487" cy="143286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93" name="Text 85"/>
          <p:cNvSpPr txBox="1"/>
          <p:nvPr/>
        </p:nvSpPr>
        <p:spPr>
          <a:xfrm>
            <a:off x="612648" y="4739335"/>
            <a:ext cx="5874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= 0 at 45% of planned seller yield (49% of planned benefit). </a:t>
            </a:r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even with zero incremental orders (₹1 cr) or no failed-delivery saving (₹9 cr): each lever alone almost repays the programme.</a:t>
            </a:r>
            <a:endParaRPr lang="en-US" sz="800" dirty="0"/>
          </a:p>
        </p:txBody>
      </p:sp>
      <p:sp>
        <p:nvSpPr>
          <p:cNvPr id="94" name="Shape 86"/>
          <p:cNvSpPr/>
          <p:nvPr/>
        </p:nvSpPr>
        <p:spPr>
          <a:xfrm>
            <a:off x="612648" y="5159959"/>
            <a:ext cx="1909389" cy="920801"/>
          </a:xfrm>
          <a:prstGeom prst="roundRect">
            <a:avLst>
              <a:gd name="adj" fmla="val 3972"/>
            </a:avLst>
          </a:prstGeom>
          <a:solidFill>
            <a:srgbClr val="FFFFFF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658368" y="5178247"/>
            <a:ext cx="1817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 </a:t>
            </a:r>
            <a:pPr algn="ctr"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−₹10 cr</a:t>
            </a:r>
            <a:endParaRPr lang="en-US" sz="900" dirty="0"/>
          </a:p>
        </p:txBody>
      </p:sp>
      <p:sp>
        <p:nvSpPr>
          <p:cNvPr id="96" name="Text 88"/>
          <p:cNvSpPr txBox="1"/>
          <p:nvPr/>
        </p:nvSpPr>
        <p:spPr>
          <a:xfrm>
            <a:off x="658368" y="5452567"/>
            <a:ext cx="181794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incremental · 8-pt gap · 75% yield</a:t>
            </a:r>
            <a:endParaRPr lang="en-US" sz="750" dirty="0"/>
          </a:p>
        </p:txBody>
      </p:sp>
      <p:sp>
        <p:nvSpPr>
          <p:cNvPr id="97" name="Shape 89"/>
          <p:cNvSpPr/>
          <p:nvPr/>
        </p:nvSpPr>
        <p:spPr>
          <a:xfrm>
            <a:off x="2595189" y="5159959"/>
            <a:ext cx="1909389" cy="920801"/>
          </a:xfrm>
          <a:prstGeom prst="roundRect">
            <a:avLst>
              <a:gd name="adj" fmla="val 3972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8" name="Text 90"/>
          <p:cNvSpPr txBox="1"/>
          <p:nvPr/>
        </p:nvSpPr>
        <p:spPr>
          <a:xfrm>
            <a:off x="2640909" y="5178247"/>
            <a:ext cx="1817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</a:t>
            </a:r>
            <a:pPr algn="ctr"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 cr</a:t>
            </a:r>
            <a:endParaRPr lang="en-US" sz="900" dirty="0"/>
          </a:p>
        </p:txBody>
      </p:sp>
      <p:sp>
        <p:nvSpPr>
          <p:cNvPr id="99" name="Text 91"/>
          <p:cNvSpPr txBox="1"/>
          <p:nvPr/>
        </p:nvSpPr>
        <p:spPr>
          <a:xfrm>
            <a:off x="2640909" y="5452567"/>
            <a:ext cx="181794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incremental · 15-pt gap · plan yield</a:t>
            </a:r>
            <a:endParaRPr lang="en-US" sz="750" dirty="0"/>
          </a:p>
        </p:txBody>
      </p:sp>
      <p:sp>
        <p:nvSpPr>
          <p:cNvPr id="100" name="Shape 92"/>
          <p:cNvSpPr/>
          <p:nvPr/>
        </p:nvSpPr>
        <p:spPr>
          <a:xfrm>
            <a:off x="4577730" y="5159959"/>
            <a:ext cx="1909389" cy="920801"/>
          </a:xfrm>
          <a:prstGeom prst="roundRect">
            <a:avLst>
              <a:gd name="adj" fmla="val 3972"/>
            </a:avLst>
          </a:prstGeom>
          <a:solidFill>
            <a:srgbClr val="FFFFFF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01" name="Text 93"/>
          <p:cNvSpPr txBox="1"/>
          <p:nvPr/>
        </p:nvSpPr>
        <p:spPr>
          <a:xfrm>
            <a:off x="4623450" y="5178247"/>
            <a:ext cx="1817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 </a:t>
            </a:r>
            <a:pPr algn="ctr" indent="0" marL="0">
              <a:buNone/>
            </a:pPr>
            <a:r>
              <a:rPr lang="en-US" sz="13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₹140 cr</a:t>
            </a:r>
            <a:endParaRPr lang="en-US" sz="900" dirty="0"/>
          </a:p>
        </p:txBody>
      </p:sp>
      <p:sp>
        <p:nvSpPr>
          <p:cNvPr id="102" name="Text 94"/>
          <p:cNvSpPr txBox="1"/>
          <p:nvPr/>
        </p:nvSpPr>
        <p:spPr>
          <a:xfrm>
            <a:off x="4623450" y="5452567"/>
            <a:ext cx="181794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incremental · 20-pt gap · 110% yield</a:t>
            </a:r>
            <a:endParaRPr lang="en-US" sz="750" dirty="0"/>
          </a:p>
        </p:txBody>
      </p:sp>
      <p:sp>
        <p:nvSpPr>
          <p:cNvPr id="103" name="Shape 95"/>
          <p:cNvSpPr/>
          <p:nvPr/>
        </p:nvSpPr>
        <p:spPr>
          <a:xfrm>
            <a:off x="6642567" y="4446727"/>
            <a:ext cx="531778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4" name="Text 96"/>
          <p:cNvSpPr txBox="1"/>
          <p:nvPr/>
        </p:nvSpPr>
        <p:spPr>
          <a:xfrm>
            <a:off x="6706575" y="4446727"/>
            <a:ext cx="5189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Round 1, and how money is released</a:t>
            </a:r>
            <a:endParaRPr lang="en-US" sz="950" dirty="0"/>
          </a:p>
        </p:txBody>
      </p:sp>
      <p:sp>
        <p:nvSpPr>
          <p:cNvPr id="105" name="Shape 97"/>
          <p:cNvSpPr/>
          <p:nvPr/>
        </p:nvSpPr>
        <p:spPr>
          <a:xfrm>
            <a:off x="6642567" y="4693615"/>
            <a:ext cx="5317785" cy="143286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06" name="Text 98"/>
          <p:cNvSpPr txBox="1"/>
          <p:nvPr/>
        </p:nvSpPr>
        <p:spPr>
          <a:xfrm>
            <a:off x="6706575" y="4739335"/>
            <a:ext cx="518976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₹156 cr NPV counted contribution on every C2M order.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counts only the 40% that are incremental, plus fewer failed deliveries (₹75 cr); if every order were incremental: ₹186 cr. Value per C2M order = 40% × ₹7.3 + ₹2.8 = ₹5.8.</a:t>
            </a:r>
            <a:endParaRPr lang="en-US" sz="750" dirty="0"/>
          </a:p>
        </p:txBody>
      </p:sp>
      <p:sp>
        <p:nvSpPr>
          <p:cNvPr id="107" name="Shape 99"/>
          <p:cNvSpPr/>
          <p:nvPr/>
        </p:nvSpPr>
        <p:spPr>
          <a:xfrm>
            <a:off x="6706575" y="5306263"/>
            <a:ext cx="731520" cy="218542"/>
          </a:xfrm>
          <a:prstGeom prst="roundRect">
            <a:avLst>
              <a:gd name="adj" fmla="val 2092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08" name="Text 100"/>
          <p:cNvSpPr txBox="1"/>
          <p:nvPr/>
        </p:nvSpPr>
        <p:spPr>
          <a:xfrm>
            <a:off x="6734007" y="5306263"/>
            <a:ext cx="676656" cy="218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0–30</a:t>
            </a:r>
            <a:endParaRPr lang="en-US" sz="750" dirty="0"/>
          </a:p>
        </p:txBody>
      </p:sp>
      <p:sp>
        <p:nvSpPr>
          <p:cNvPr id="109" name="Text 101"/>
          <p:cNvSpPr txBox="1"/>
          <p:nvPr/>
        </p:nvSpPr>
        <p:spPr>
          <a:xfrm>
            <a:off x="7502103" y="5287975"/>
            <a:ext cx="4394241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₹0: badge test on existing order data</a:t>
            </a:r>
            <a:endParaRPr lang="en-US" sz="750" dirty="0"/>
          </a:p>
        </p:txBody>
      </p:sp>
      <p:sp>
        <p:nvSpPr>
          <p:cNvPr id="110" name="Shape 102"/>
          <p:cNvSpPr/>
          <p:nvPr/>
        </p:nvSpPr>
        <p:spPr>
          <a:xfrm>
            <a:off x="6706575" y="5570525"/>
            <a:ext cx="731520" cy="218542"/>
          </a:xfrm>
          <a:prstGeom prst="roundRect">
            <a:avLst>
              <a:gd name="adj" fmla="val 20920"/>
            </a:avLst>
          </a:prstGeom>
          <a:solidFill>
            <a:srgbClr val="E39B2B"/>
          </a:solidFill>
          <a:ln w="9525">
            <a:solidFill>
              <a:srgbClr val="E39B2B"/>
            </a:solidFill>
            <a:prstDash val="solid"/>
          </a:ln>
        </p:spPr>
      </p:sp>
      <p:sp>
        <p:nvSpPr>
          <p:cNvPr id="111" name="Text 103"/>
          <p:cNvSpPr txBox="1"/>
          <p:nvPr/>
        </p:nvSpPr>
        <p:spPr>
          <a:xfrm>
            <a:off x="6734007" y="5570525"/>
            <a:ext cx="676656" cy="218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31–90</a:t>
            </a:r>
            <a:endParaRPr lang="en-US" sz="750" dirty="0"/>
          </a:p>
        </p:txBody>
      </p:sp>
      <p:sp>
        <p:nvSpPr>
          <p:cNvPr id="112" name="Text 104"/>
          <p:cNvSpPr txBox="1"/>
          <p:nvPr/>
        </p:nvSpPr>
        <p:spPr>
          <a:xfrm>
            <a:off x="7502103" y="5552237"/>
            <a:ext cx="4394241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₹7.3 cr: 2 clusters, Brief build, 1 node, pool seed</a:t>
            </a:r>
            <a:endParaRPr lang="en-US" sz="750" dirty="0"/>
          </a:p>
        </p:txBody>
      </p:sp>
      <p:sp>
        <p:nvSpPr>
          <p:cNvPr id="113" name="Shape 105"/>
          <p:cNvSpPr/>
          <p:nvPr/>
        </p:nvSpPr>
        <p:spPr>
          <a:xfrm>
            <a:off x="6706575" y="5834786"/>
            <a:ext cx="731520" cy="218542"/>
          </a:xfrm>
          <a:prstGeom prst="roundRect">
            <a:avLst>
              <a:gd name="adj" fmla="val 2092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4" name="Text 106"/>
          <p:cNvSpPr txBox="1"/>
          <p:nvPr/>
        </p:nvSpPr>
        <p:spPr>
          <a:xfrm>
            <a:off x="6734007" y="5834786"/>
            <a:ext cx="676656" cy="218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Q2–Q4</a:t>
            </a:r>
            <a:endParaRPr lang="en-US" sz="750" dirty="0"/>
          </a:p>
        </p:txBody>
      </p:sp>
      <p:sp>
        <p:nvSpPr>
          <p:cNvPr id="115" name="Text 107"/>
          <p:cNvSpPr txBox="1"/>
          <p:nvPr/>
        </p:nvSpPr>
        <p:spPr>
          <a:xfrm>
            <a:off x="7502103" y="5816498"/>
            <a:ext cx="4394241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₹14.9 cr: 3 clusters, 5 nodes, Brief run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gap by Day 30, sign partners by Day 60, ship prepaid batches by Day 90, on ₹7.3 cr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approve the ₹0 Day-30 test now and ₹7.3 cr for Days 31–90, released only if the Day-30 gate passes; Year 1 is capped at ₹22.2 cr.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(H2 bets: hard budget cap, graduation on adoption and retention), S19 (Press Note 2; E-Commerce Amendment Rules 2026 in force 1 Jan 2027), S26   |   Day 1 = Mon 2 Nov 2026 · Day 30 = 1 Dec · Day 60 = 31 Dec · Day 90 = 30 Jan 2027   |   Compliance: Appendix C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760012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2648" y="1051560"/>
            <a:ext cx="7472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Week-by-week plan for the first 90 days (bars = active weeks · ◆ = milestone · coral lines = gates), then scale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7600127" cy="295534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12648" y="1344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 · activity</a:t>
            </a:r>
            <a:endParaRPr lang="en-US" sz="750" dirty="0"/>
          </a:p>
        </p:txBody>
      </p:sp>
      <p:sp>
        <p:nvSpPr>
          <p:cNvPr id="39" name="Shape 34"/>
          <p:cNvSpPr/>
          <p:nvPr/>
        </p:nvSpPr>
        <p:spPr>
          <a:xfrm>
            <a:off x="2633472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3DCE6"/>
          </a:solidFill>
          <a:ln w="9525">
            <a:solidFill>
              <a:srgbClr val="F3DCE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2624328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Nov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2940964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3DCE6"/>
          </a:solidFill>
          <a:ln w="9525">
            <a:solidFill>
              <a:srgbClr val="F3DCE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2931820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Nov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3248455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3DCE6"/>
          </a:solidFill>
          <a:ln w="9525">
            <a:solidFill>
              <a:srgbClr val="F3DCE6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3239311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Nov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3555947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3DCE6"/>
          </a:solidFill>
          <a:ln w="9525">
            <a:solidFill>
              <a:srgbClr val="F3DCE6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3546803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Nov</a:t>
            </a:r>
            <a:endParaRPr lang="en-US" sz="700" dirty="0"/>
          </a:p>
        </p:txBody>
      </p:sp>
      <p:sp>
        <p:nvSpPr>
          <p:cNvPr id="47" name="Shape 42"/>
          <p:cNvSpPr/>
          <p:nvPr/>
        </p:nvSpPr>
        <p:spPr>
          <a:xfrm>
            <a:off x="3863438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3854294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Nov</a:t>
            </a:r>
            <a:endParaRPr lang="en-US" sz="700" dirty="0"/>
          </a:p>
        </p:txBody>
      </p:sp>
      <p:sp>
        <p:nvSpPr>
          <p:cNvPr id="49" name="Shape 44"/>
          <p:cNvSpPr/>
          <p:nvPr/>
        </p:nvSpPr>
        <p:spPr>
          <a:xfrm>
            <a:off x="4170930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4161786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Dec</a:t>
            </a:r>
            <a:endParaRPr lang="en-US" sz="700" dirty="0"/>
          </a:p>
        </p:txBody>
      </p:sp>
      <p:sp>
        <p:nvSpPr>
          <p:cNvPr id="51" name="Shape 46"/>
          <p:cNvSpPr/>
          <p:nvPr/>
        </p:nvSpPr>
        <p:spPr>
          <a:xfrm>
            <a:off x="4478422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4469278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Dec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4785913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4776769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Dec</a:t>
            </a:r>
            <a:endParaRPr lang="en-US" sz="700" dirty="0"/>
          </a:p>
        </p:txBody>
      </p:sp>
      <p:sp>
        <p:nvSpPr>
          <p:cNvPr id="55" name="Shape 50"/>
          <p:cNvSpPr/>
          <p:nvPr/>
        </p:nvSpPr>
        <p:spPr>
          <a:xfrm>
            <a:off x="5093405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5084261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Dec</a:t>
            </a:r>
            <a:endParaRPr lang="en-US" sz="700" dirty="0"/>
          </a:p>
        </p:txBody>
      </p:sp>
      <p:sp>
        <p:nvSpPr>
          <p:cNvPr id="57" name="Shape 52"/>
          <p:cNvSpPr/>
          <p:nvPr/>
        </p:nvSpPr>
        <p:spPr>
          <a:xfrm>
            <a:off x="5400897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DDEFE4"/>
          </a:solidFill>
          <a:ln w="9525">
            <a:solidFill>
              <a:srgbClr val="DDEFE4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5391753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W10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Jan</a:t>
            </a:r>
            <a:endParaRPr lang="en-US" sz="700" dirty="0"/>
          </a:p>
        </p:txBody>
      </p:sp>
      <p:sp>
        <p:nvSpPr>
          <p:cNvPr id="59" name="Shape 54"/>
          <p:cNvSpPr/>
          <p:nvPr/>
        </p:nvSpPr>
        <p:spPr>
          <a:xfrm>
            <a:off x="5708388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DDEFE4"/>
          </a:solidFill>
          <a:ln w="9525">
            <a:solidFill>
              <a:srgbClr val="DDEFE4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5699244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W11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Jan</a:t>
            </a:r>
            <a:endParaRPr lang="en-US" sz="700" dirty="0"/>
          </a:p>
        </p:txBody>
      </p:sp>
      <p:sp>
        <p:nvSpPr>
          <p:cNvPr id="61" name="Shape 56"/>
          <p:cNvSpPr/>
          <p:nvPr/>
        </p:nvSpPr>
        <p:spPr>
          <a:xfrm>
            <a:off x="6015880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DDEFE4"/>
          </a:solidFill>
          <a:ln w="9525">
            <a:solidFill>
              <a:srgbClr val="DDEFE4"/>
            </a:solidFill>
            <a:prstDash val="solid"/>
          </a:ln>
        </p:spPr>
      </p:sp>
      <p:sp>
        <p:nvSpPr>
          <p:cNvPr id="62" name="Text 57"/>
          <p:cNvSpPr txBox="1"/>
          <p:nvPr/>
        </p:nvSpPr>
        <p:spPr>
          <a:xfrm>
            <a:off x="6006736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W12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Jan</a:t>
            </a:r>
            <a:endParaRPr lang="en-US" sz="700" dirty="0"/>
          </a:p>
        </p:txBody>
      </p:sp>
      <p:sp>
        <p:nvSpPr>
          <p:cNvPr id="63" name="Shape 58"/>
          <p:cNvSpPr/>
          <p:nvPr/>
        </p:nvSpPr>
        <p:spPr>
          <a:xfrm>
            <a:off x="6323371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DDEFE4"/>
          </a:solidFill>
          <a:ln w="9525">
            <a:solidFill>
              <a:srgbClr val="DDEFE4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6314227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W13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Jan</a:t>
            </a:r>
            <a:endParaRPr lang="en-US" sz="700" dirty="0"/>
          </a:p>
        </p:txBody>
      </p:sp>
      <p:sp>
        <p:nvSpPr>
          <p:cNvPr id="65" name="Shape 60"/>
          <p:cNvSpPr/>
          <p:nvPr/>
        </p:nvSpPr>
        <p:spPr>
          <a:xfrm>
            <a:off x="6640007" y="1344168"/>
            <a:ext cx="694944" cy="274320"/>
          </a:xfrm>
          <a:prstGeom prst="roundRect">
            <a:avLst>
              <a:gd name="adj" fmla="val 1666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6667439" y="13441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Q2–Q4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7371527" y="1344168"/>
            <a:ext cx="694944" cy="274320"/>
          </a:xfrm>
          <a:prstGeom prst="roundRect">
            <a:avLst>
              <a:gd name="adj" fmla="val 1666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7398959" y="13441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2–4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12648" y="1627632"/>
            <a:ext cx="603504" cy="372030"/>
          </a:xfrm>
          <a:prstGeom prst="roundRect">
            <a:avLst>
              <a:gd name="adj" fmla="val 7374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630936" y="1618488"/>
            <a:ext cx="566928" cy="390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screen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+ DS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1252728" y="1618488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1271016" y="1618488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Medians + scores; badge live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2642616" y="1644509"/>
            <a:ext cx="270916" cy="78064"/>
          </a:xfrm>
          <a:prstGeom prst="roundRect">
            <a:avLst>
              <a:gd name="adj" fmla="val 3514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2723210" y="1628677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6649151" y="1618488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categories</a:t>
            </a:r>
            <a:endParaRPr lang="en-US" sz="650" dirty="0"/>
          </a:p>
        </p:txBody>
      </p:sp>
      <p:sp>
        <p:nvSpPr>
          <p:cNvPr id="76" name="Text 71"/>
          <p:cNvSpPr txBox="1"/>
          <p:nvPr/>
        </p:nvSpPr>
        <p:spPr>
          <a:xfrm>
            <a:off x="7380671" y="1618488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check</a:t>
            </a:r>
            <a:endParaRPr lang="en-US" sz="650" dirty="0"/>
          </a:p>
        </p:txBody>
      </p:sp>
      <p:sp>
        <p:nvSpPr>
          <p:cNvPr id="77" name="Text 72"/>
          <p:cNvSpPr txBox="1"/>
          <p:nvPr/>
        </p:nvSpPr>
        <p:spPr>
          <a:xfrm>
            <a:off x="1271016" y="1748594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badge test vs holdout</a:t>
            </a:r>
            <a:endParaRPr lang="en-US" sz="700" dirty="0"/>
          </a:p>
        </p:txBody>
      </p:sp>
      <p:sp>
        <p:nvSpPr>
          <p:cNvPr id="78" name="Shape 73"/>
          <p:cNvSpPr/>
          <p:nvPr/>
        </p:nvSpPr>
        <p:spPr>
          <a:xfrm>
            <a:off x="2642616" y="1774615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1252728" y="1878700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</p:sp>
      <p:sp>
        <p:nvSpPr>
          <p:cNvPr id="80" name="Text 75"/>
          <p:cNvSpPr txBox="1"/>
          <p:nvPr/>
        </p:nvSpPr>
        <p:spPr>
          <a:xfrm>
            <a:off x="1271016" y="1878700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re-score; badge-off rule</a:t>
            </a:r>
            <a:endParaRPr lang="en-US" sz="700" dirty="0"/>
          </a:p>
        </p:txBody>
      </p:sp>
      <p:sp>
        <p:nvSpPr>
          <p:cNvPr id="81" name="Shape 76"/>
          <p:cNvSpPr/>
          <p:nvPr/>
        </p:nvSpPr>
        <p:spPr>
          <a:xfrm>
            <a:off x="3872582" y="1904721"/>
            <a:ext cx="2730849" cy="78064"/>
          </a:xfrm>
          <a:prstGeom prst="roundRect">
            <a:avLst>
              <a:gd name="adj" fmla="val 3514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2" name="Shape 77"/>
          <p:cNvSpPr/>
          <p:nvPr/>
        </p:nvSpPr>
        <p:spPr>
          <a:xfrm>
            <a:off x="612648" y="2017950"/>
            <a:ext cx="603504" cy="241924"/>
          </a:xfrm>
          <a:prstGeom prst="roundRect">
            <a:avLst>
              <a:gd name="adj" fmla="val 1133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630936" y="2008806"/>
            <a:ext cx="566928" cy="260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700" dirty="0"/>
          </a:p>
        </p:txBody>
      </p:sp>
      <p:sp>
        <p:nvSpPr>
          <p:cNvPr id="84" name="Text 79"/>
          <p:cNvSpPr txBox="1"/>
          <p:nvPr/>
        </p:nvSpPr>
        <p:spPr>
          <a:xfrm>
            <a:off x="1271016" y="2008806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Tiruppur + Panipat bodies</a:t>
            </a:r>
            <a:endParaRPr lang="en-US" sz="700" dirty="0"/>
          </a:p>
        </p:txBody>
      </p:sp>
      <p:sp>
        <p:nvSpPr>
          <p:cNvPr id="85" name="Shape 80"/>
          <p:cNvSpPr/>
          <p:nvPr/>
        </p:nvSpPr>
        <p:spPr>
          <a:xfrm>
            <a:off x="3257599" y="2034827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4260668" y="2018995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6649151" y="2008806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clusters</a:t>
            </a:r>
            <a:endParaRPr lang="en-US" sz="650" dirty="0"/>
          </a:p>
        </p:txBody>
      </p:sp>
      <p:sp>
        <p:nvSpPr>
          <p:cNvPr id="88" name="Text 83"/>
          <p:cNvSpPr txBox="1"/>
          <p:nvPr/>
        </p:nvSpPr>
        <p:spPr>
          <a:xfrm>
            <a:off x="7380671" y="2008806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clusters</a:t>
            </a:r>
            <a:endParaRPr lang="en-US" sz="650" dirty="0"/>
          </a:p>
        </p:txBody>
      </p:sp>
      <p:sp>
        <p:nvSpPr>
          <p:cNvPr id="89" name="Shape 84"/>
          <p:cNvSpPr/>
          <p:nvPr/>
        </p:nvSpPr>
        <p:spPr>
          <a:xfrm>
            <a:off x="1252728" y="2138912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</p:sp>
      <p:sp>
        <p:nvSpPr>
          <p:cNvPr id="90" name="Text 85"/>
          <p:cNvSpPr txBox="1"/>
          <p:nvPr/>
        </p:nvSpPr>
        <p:spPr>
          <a:xfrm>
            <a:off x="1271016" y="2138912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Camps; catalogue 60 factories</a:t>
            </a:r>
            <a:endParaRPr lang="en-US" sz="700" dirty="0"/>
          </a:p>
        </p:txBody>
      </p:sp>
      <p:sp>
        <p:nvSpPr>
          <p:cNvPr id="91" name="Shape 86"/>
          <p:cNvSpPr/>
          <p:nvPr/>
        </p:nvSpPr>
        <p:spPr>
          <a:xfrm>
            <a:off x="3872582" y="2164933"/>
            <a:ext cx="1500882" cy="78064"/>
          </a:xfrm>
          <a:prstGeom prst="roundRect">
            <a:avLst>
              <a:gd name="adj" fmla="val 3514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5183143" y="2149101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93" name="Text 88"/>
          <p:cNvSpPr txBox="1"/>
          <p:nvPr/>
        </p:nvSpPr>
        <p:spPr>
          <a:xfrm>
            <a:off x="6649151" y="2138912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factories</a:t>
            </a:r>
            <a:endParaRPr lang="en-US" sz="650" dirty="0"/>
          </a:p>
        </p:txBody>
      </p:sp>
      <p:sp>
        <p:nvSpPr>
          <p:cNvPr id="94" name="Text 89"/>
          <p:cNvSpPr txBox="1"/>
          <p:nvPr/>
        </p:nvSpPr>
        <p:spPr>
          <a:xfrm>
            <a:off x="7380671" y="2138912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factories</a:t>
            </a:r>
            <a:endParaRPr lang="en-US" sz="650" dirty="0"/>
          </a:p>
        </p:txBody>
      </p:sp>
      <p:sp>
        <p:nvSpPr>
          <p:cNvPr id="95" name="Shape 90"/>
          <p:cNvSpPr/>
          <p:nvPr/>
        </p:nvSpPr>
        <p:spPr>
          <a:xfrm>
            <a:off x="612648" y="2278162"/>
            <a:ext cx="603504" cy="372030"/>
          </a:xfrm>
          <a:prstGeom prst="roundRect">
            <a:avLst>
              <a:gd name="adj" fmla="val 7374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96" name="Text 91"/>
          <p:cNvSpPr txBox="1"/>
          <p:nvPr/>
        </p:nvSpPr>
        <p:spPr>
          <a:xfrm>
            <a:off x="630936" y="2269018"/>
            <a:ext cx="566928" cy="390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+ Product</a:t>
            </a:r>
            <a:endParaRPr lang="en-US" sz="700" dirty="0"/>
          </a:p>
        </p:txBody>
      </p:sp>
      <p:sp>
        <p:nvSpPr>
          <p:cNvPr id="97" name="Text 92"/>
          <p:cNvSpPr txBox="1"/>
          <p:nvPr/>
        </p:nvSpPr>
        <p:spPr>
          <a:xfrm>
            <a:off x="1271016" y="2269018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Brief build, 5 categories</a:t>
            </a:r>
            <a:endParaRPr lang="en-US" sz="700" dirty="0"/>
          </a:p>
        </p:txBody>
      </p:sp>
      <p:sp>
        <p:nvSpPr>
          <p:cNvPr id="98" name="Shape 93"/>
          <p:cNvSpPr/>
          <p:nvPr/>
        </p:nvSpPr>
        <p:spPr>
          <a:xfrm>
            <a:off x="3257599" y="2295039"/>
            <a:ext cx="1808374" cy="78064"/>
          </a:xfrm>
          <a:prstGeom prst="roundRect">
            <a:avLst>
              <a:gd name="adj" fmla="val 35140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99" name="Shape 94"/>
          <p:cNvSpPr/>
          <p:nvPr/>
        </p:nvSpPr>
        <p:spPr>
          <a:xfrm>
            <a:off x="4875651" y="2279207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6649151" y="2269018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categories</a:t>
            </a:r>
            <a:endParaRPr lang="en-US" sz="650" dirty="0"/>
          </a:p>
        </p:txBody>
      </p:sp>
      <p:sp>
        <p:nvSpPr>
          <p:cNvPr id="101" name="Text 96"/>
          <p:cNvSpPr txBox="1"/>
          <p:nvPr/>
        </p:nvSpPr>
        <p:spPr>
          <a:xfrm>
            <a:off x="7380671" y="2269018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refresh</a:t>
            </a:r>
            <a:endParaRPr lang="en-US" sz="650" dirty="0"/>
          </a:p>
        </p:txBody>
      </p:sp>
      <p:sp>
        <p:nvSpPr>
          <p:cNvPr id="102" name="Shape 97"/>
          <p:cNvSpPr/>
          <p:nvPr/>
        </p:nvSpPr>
        <p:spPr>
          <a:xfrm>
            <a:off x="1252728" y="2399124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</p:sp>
      <p:sp>
        <p:nvSpPr>
          <p:cNvPr id="103" name="Text 98"/>
          <p:cNvSpPr txBox="1"/>
          <p:nvPr/>
        </p:nvSpPr>
        <p:spPr>
          <a:xfrm>
            <a:off x="1271016" y="2399124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window in buyer app</a:t>
            </a:r>
            <a:endParaRPr lang="en-US" sz="700" dirty="0"/>
          </a:p>
        </p:txBody>
      </p:sp>
      <p:sp>
        <p:nvSpPr>
          <p:cNvPr id="104" name="Shape 99"/>
          <p:cNvSpPr/>
          <p:nvPr/>
        </p:nvSpPr>
        <p:spPr>
          <a:xfrm>
            <a:off x="4487566" y="2425146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5490634" y="2409313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106" name="Text 101"/>
          <p:cNvSpPr txBox="1"/>
          <p:nvPr/>
        </p:nvSpPr>
        <p:spPr>
          <a:xfrm>
            <a:off x="1271016" y="2529230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prepaid batches</a:t>
            </a:r>
            <a:endParaRPr lang="en-US" sz="700" dirty="0"/>
          </a:p>
        </p:txBody>
      </p:sp>
      <p:sp>
        <p:nvSpPr>
          <p:cNvPr id="107" name="Shape 102"/>
          <p:cNvSpPr/>
          <p:nvPr/>
        </p:nvSpPr>
        <p:spPr>
          <a:xfrm>
            <a:off x="5410041" y="2555252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5798126" y="2539419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109" name="Text 104"/>
          <p:cNvSpPr txBox="1"/>
          <p:nvPr/>
        </p:nvSpPr>
        <p:spPr>
          <a:xfrm>
            <a:off x="6649151" y="2529230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brief</a:t>
            </a:r>
            <a:endParaRPr lang="en-US" sz="650" dirty="0"/>
          </a:p>
        </p:txBody>
      </p:sp>
      <p:sp>
        <p:nvSpPr>
          <p:cNvPr id="110" name="Shape 105"/>
          <p:cNvSpPr/>
          <p:nvPr/>
        </p:nvSpPr>
        <p:spPr>
          <a:xfrm>
            <a:off x="612648" y="2668480"/>
            <a:ext cx="603504" cy="372030"/>
          </a:xfrm>
          <a:prstGeom prst="roundRect">
            <a:avLst>
              <a:gd name="adj" fmla="val 7374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1" name="Text 106"/>
          <p:cNvSpPr txBox="1"/>
          <p:nvPr/>
        </p:nvSpPr>
        <p:spPr>
          <a:xfrm>
            <a:off x="630936" y="2659336"/>
            <a:ext cx="566928" cy="390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Valmo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1252728" y="2659336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</p:sp>
      <p:sp>
        <p:nvSpPr>
          <p:cNvPr id="113" name="Text 108"/>
          <p:cNvSpPr txBox="1"/>
          <p:nvPr/>
        </p:nvSpPr>
        <p:spPr>
          <a:xfrm>
            <a:off x="1271016" y="2659336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quotes, Tiruppur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2950108" y="2685358"/>
            <a:ext cx="885899" cy="78064"/>
          </a:xfrm>
          <a:prstGeom prst="roundRect">
            <a:avLst>
              <a:gd name="adj" fmla="val 35140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5" name="Text 110"/>
          <p:cNvSpPr txBox="1"/>
          <p:nvPr/>
        </p:nvSpPr>
        <p:spPr>
          <a:xfrm>
            <a:off x="1271016" y="2789443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set-up after Day-30 gate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3872582" y="2815464"/>
            <a:ext cx="1500882" cy="78064"/>
          </a:xfrm>
          <a:prstGeom prst="roundRect">
            <a:avLst>
              <a:gd name="adj" fmla="val 35140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7" name="Text 112"/>
          <p:cNvSpPr txBox="1"/>
          <p:nvPr/>
        </p:nvSpPr>
        <p:spPr>
          <a:xfrm>
            <a:off x="6649151" y="2789443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nodes</a:t>
            </a:r>
            <a:endParaRPr lang="en-US" sz="650" dirty="0"/>
          </a:p>
        </p:txBody>
      </p:sp>
      <p:sp>
        <p:nvSpPr>
          <p:cNvPr id="118" name="Text 113"/>
          <p:cNvSpPr txBox="1"/>
          <p:nvPr/>
        </p:nvSpPr>
        <p:spPr>
          <a:xfrm>
            <a:off x="7380671" y="2789443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nodes</a:t>
            </a:r>
            <a:endParaRPr lang="en-US" sz="650" dirty="0"/>
          </a:p>
        </p:txBody>
      </p:sp>
      <p:sp>
        <p:nvSpPr>
          <p:cNvPr id="119" name="Shape 114"/>
          <p:cNvSpPr/>
          <p:nvPr/>
        </p:nvSpPr>
        <p:spPr>
          <a:xfrm>
            <a:off x="1252728" y="2919549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</p:sp>
      <p:sp>
        <p:nvSpPr>
          <p:cNvPr id="120" name="Text 115"/>
          <p:cNvSpPr txBox="1"/>
          <p:nvPr/>
        </p:nvSpPr>
        <p:spPr>
          <a:xfrm>
            <a:off x="1271016" y="2919549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live; returns end at node</a:t>
            </a:r>
            <a:endParaRPr lang="en-US" sz="700" dirty="0"/>
          </a:p>
        </p:txBody>
      </p:sp>
      <p:sp>
        <p:nvSpPr>
          <p:cNvPr id="121" name="Shape 116"/>
          <p:cNvSpPr/>
          <p:nvPr/>
        </p:nvSpPr>
        <p:spPr>
          <a:xfrm>
            <a:off x="5410041" y="2945570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5490634" y="2929738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612648" y="3058799"/>
            <a:ext cx="603504" cy="372030"/>
          </a:xfrm>
          <a:prstGeom prst="roundRect">
            <a:avLst>
              <a:gd name="adj" fmla="val 7374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24" name="Text 119"/>
          <p:cNvSpPr txBox="1"/>
          <p:nvPr/>
        </p:nvSpPr>
        <p:spPr>
          <a:xfrm>
            <a:off x="630936" y="3049655"/>
            <a:ext cx="566928" cy="390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</a:t>
            </a:r>
            <a:endParaRPr lang="en-US" sz="7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Growth · Legal</a:t>
            </a:r>
            <a:endParaRPr lang="en-US" sz="700" dirty="0"/>
          </a:p>
        </p:txBody>
      </p:sp>
      <p:sp>
        <p:nvSpPr>
          <p:cNvPr id="125" name="Text 120"/>
          <p:cNvSpPr txBox="1"/>
          <p:nvPr/>
        </p:nvSpPr>
        <p:spPr>
          <a:xfrm>
            <a:off x="1271016" y="3049655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Finance: NBFC → 30% advances</a:t>
            </a:r>
            <a:endParaRPr lang="en-US" sz="700" dirty="0"/>
          </a:p>
        </p:txBody>
      </p:sp>
      <p:sp>
        <p:nvSpPr>
          <p:cNvPr id="126" name="Shape 121"/>
          <p:cNvSpPr/>
          <p:nvPr/>
        </p:nvSpPr>
        <p:spPr>
          <a:xfrm>
            <a:off x="3565091" y="3075676"/>
            <a:ext cx="1808374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27" name="Shape 122"/>
          <p:cNvSpPr/>
          <p:nvPr/>
        </p:nvSpPr>
        <p:spPr>
          <a:xfrm>
            <a:off x="5410041" y="3075676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28" name="Shape 123"/>
          <p:cNvSpPr/>
          <p:nvPr/>
        </p:nvSpPr>
        <p:spPr>
          <a:xfrm>
            <a:off x="5183143" y="3059844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6649151" y="3049655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pool</a:t>
            </a:r>
            <a:endParaRPr lang="en-US" sz="650" dirty="0"/>
          </a:p>
        </p:txBody>
      </p:sp>
      <p:sp>
        <p:nvSpPr>
          <p:cNvPr id="130" name="Text 125"/>
          <p:cNvSpPr txBox="1"/>
          <p:nvPr/>
        </p:nvSpPr>
        <p:spPr>
          <a:xfrm>
            <a:off x="7380671" y="3049655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budget</a:t>
            </a:r>
            <a:endParaRPr lang="en-US" sz="650" dirty="0"/>
          </a:p>
        </p:txBody>
      </p:sp>
      <p:sp>
        <p:nvSpPr>
          <p:cNvPr id="131" name="Shape 126"/>
          <p:cNvSpPr/>
          <p:nvPr/>
        </p:nvSpPr>
        <p:spPr>
          <a:xfrm>
            <a:off x="1252728" y="3179761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1271016" y="3179761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Growth: Health Score → grants</a:t>
            </a:r>
            <a:endParaRPr lang="en-US" sz="700" dirty="0"/>
          </a:p>
        </p:txBody>
      </p:sp>
      <p:sp>
        <p:nvSpPr>
          <p:cNvPr id="133" name="Shape 128"/>
          <p:cNvSpPr/>
          <p:nvPr/>
        </p:nvSpPr>
        <p:spPr>
          <a:xfrm>
            <a:off x="2950108" y="3205782"/>
            <a:ext cx="885899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34" name="Shape 129"/>
          <p:cNvSpPr/>
          <p:nvPr/>
        </p:nvSpPr>
        <p:spPr>
          <a:xfrm>
            <a:off x="4180074" y="3205782"/>
            <a:ext cx="2423357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35" name="Shape 130"/>
          <p:cNvSpPr/>
          <p:nvPr/>
        </p:nvSpPr>
        <p:spPr>
          <a:xfrm>
            <a:off x="4260668" y="3189950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136" name="Text 131"/>
          <p:cNvSpPr txBox="1"/>
          <p:nvPr/>
        </p:nvSpPr>
        <p:spPr>
          <a:xfrm>
            <a:off x="7380671" y="3179761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reviewers</a:t>
            </a:r>
            <a:endParaRPr lang="en-US" sz="650" dirty="0"/>
          </a:p>
        </p:txBody>
      </p:sp>
      <p:sp>
        <p:nvSpPr>
          <p:cNvPr id="137" name="Text 132"/>
          <p:cNvSpPr txBox="1"/>
          <p:nvPr/>
        </p:nvSpPr>
        <p:spPr>
          <a:xfrm>
            <a:off x="1271016" y="3309867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Legal: PN2, GST → badge declared</a:t>
            </a:r>
            <a:endParaRPr lang="en-US" sz="700" dirty="0"/>
          </a:p>
        </p:txBody>
      </p:sp>
      <p:sp>
        <p:nvSpPr>
          <p:cNvPr id="138" name="Shape 133"/>
          <p:cNvSpPr/>
          <p:nvPr/>
        </p:nvSpPr>
        <p:spPr>
          <a:xfrm>
            <a:off x="2950108" y="3335888"/>
            <a:ext cx="2115865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39" name="Shape 134"/>
          <p:cNvSpPr/>
          <p:nvPr/>
        </p:nvSpPr>
        <p:spPr>
          <a:xfrm>
            <a:off x="4875651" y="3320056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140" name="Shape 135"/>
          <p:cNvSpPr/>
          <p:nvPr/>
        </p:nvSpPr>
        <p:spPr>
          <a:xfrm>
            <a:off x="3898222" y="1618488"/>
            <a:ext cx="0" cy="1848917"/>
          </a:xfrm>
          <a:prstGeom prst="line">
            <a:avLst/>
          </a:prstGeom>
          <a:noFill/>
          <a:ln w="22225">
            <a:solidFill>
              <a:srgbClr val="E8434F"/>
            </a:solidFill>
            <a:prstDash val="solid"/>
          </a:ln>
        </p:spPr>
      </p:sp>
      <p:sp>
        <p:nvSpPr>
          <p:cNvPr id="141" name="Shape 136"/>
          <p:cNvSpPr/>
          <p:nvPr/>
        </p:nvSpPr>
        <p:spPr>
          <a:xfrm>
            <a:off x="3651334" y="3467405"/>
            <a:ext cx="493776" cy="137160"/>
          </a:xfrm>
          <a:prstGeom prst="roundRect">
            <a:avLst>
              <a:gd name="adj" fmla="val 33333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2" name="Text 137"/>
          <p:cNvSpPr txBox="1"/>
          <p:nvPr/>
        </p:nvSpPr>
        <p:spPr>
          <a:xfrm>
            <a:off x="3678766" y="3467405"/>
            <a:ext cx="438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700" dirty="0"/>
          </a:p>
        </p:txBody>
      </p:sp>
      <p:sp>
        <p:nvSpPr>
          <p:cNvPr id="143" name="Shape 138"/>
          <p:cNvSpPr/>
          <p:nvPr/>
        </p:nvSpPr>
        <p:spPr>
          <a:xfrm>
            <a:off x="5216043" y="1618488"/>
            <a:ext cx="0" cy="1848917"/>
          </a:xfrm>
          <a:prstGeom prst="line">
            <a:avLst/>
          </a:prstGeom>
          <a:noFill/>
          <a:ln w="22225">
            <a:solidFill>
              <a:srgbClr val="E8434F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4969155" y="3467405"/>
            <a:ext cx="493776" cy="137160"/>
          </a:xfrm>
          <a:prstGeom prst="roundRect">
            <a:avLst>
              <a:gd name="adj" fmla="val 33333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4996587" y="3467405"/>
            <a:ext cx="438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700" dirty="0"/>
          </a:p>
        </p:txBody>
      </p:sp>
      <p:sp>
        <p:nvSpPr>
          <p:cNvPr id="146" name="Shape 141"/>
          <p:cNvSpPr/>
          <p:nvPr/>
        </p:nvSpPr>
        <p:spPr>
          <a:xfrm>
            <a:off x="6533864" y="1618488"/>
            <a:ext cx="0" cy="1848917"/>
          </a:xfrm>
          <a:prstGeom prst="line">
            <a:avLst/>
          </a:prstGeom>
          <a:noFill/>
          <a:ln w="22225">
            <a:solidFill>
              <a:srgbClr val="E8434F"/>
            </a:solidFill>
            <a:prstDash val="solid"/>
          </a:ln>
        </p:spPr>
      </p:sp>
      <p:sp>
        <p:nvSpPr>
          <p:cNvPr id="147" name="Shape 142"/>
          <p:cNvSpPr/>
          <p:nvPr/>
        </p:nvSpPr>
        <p:spPr>
          <a:xfrm>
            <a:off x="6286976" y="3467405"/>
            <a:ext cx="493776" cy="137160"/>
          </a:xfrm>
          <a:prstGeom prst="roundRect">
            <a:avLst>
              <a:gd name="adj" fmla="val 33333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8" name="Text 143"/>
          <p:cNvSpPr txBox="1"/>
          <p:nvPr/>
        </p:nvSpPr>
        <p:spPr>
          <a:xfrm>
            <a:off x="6314408" y="3467405"/>
            <a:ext cx="438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</a:t>
            </a:r>
            <a:endParaRPr lang="en-US" sz="700" dirty="0"/>
          </a:p>
        </p:txBody>
      </p:sp>
      <p:sp>
        <p:nvSpPr>
          <p:cNvPr id="149" name="Shape 144"/>
          <p:cNvSpPr/>
          <p:nvPr/>
        </p:nvSpPr>
        <p:spPr>
          <a:xfrm>
            <a:off x="612648" y="3659429"/>
            <a:ext cx="182688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8434F"/>
            </a:solidFill>
            <a:prstDash val="solid"/>
          </a:ln>
        </p:spPr>
      </p:sp>
      <p:sp>
        <p:nvSpPr>
          <p:cNvPr id="150" name="Text 145"/>
          <p:cNvSpPr txBox="1"/>
          <p:nvPr/>
        </p:nvSpPr>
        <p:spPr>
          <a:xfrm>
            <a:off x="658368" y="3677717"/>
            <a:ext cx="17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 gate  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if badge lift ≥ 12% (interval &gt; 0) and ≥ 70% still clear at D14; else tighten to a 10% gap, or stop</a:t>
            </a:r>
            <a:endParaRPr lang="en-US" sz="700" dirty="0"/>
          </a:p>
        </p:txBody>
      </p:sp>
      <p:sp>
        <p:nvSpPr>
          <p:cNvPr id="151" name="Shape 146"/>
          <p:cNvSpPr/>
          <p:nvPr/>
        </p:nvSpPr>
        <p:spPr>
          <a:xfrm>
            <a:off x="2494392" y="3659429"/>
            <a:ext cx="182688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39B2B"/>
            </a:solidFill>
            <a:prstDash val="solid"/>
          </a:ln>
        </p:spPr>
      </p:sp>
      <p:sp>
        <p:nvSpPr>
          <p:cNvPr id="152" name="Text 147"/>
          <p:cNvSpPr txBox="1"/>
          <p:nvPr/>
        </p:nvSpPr>
        <p:spPr>
          <a:xfrm>
            <a:off x="2540112" y="3677717"/>
            <a:ext cx="17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 gate  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associations signed · 60 factories catalogued · briefs live in 5 categories · NBFC signed</a:t>
            </a:r>
            <a:endParaRPr lang="en-US" sz="700" dirty="0"/>
          </a:p>
        </p:txBody>
      </p:sp>
      <p:sp>
        <p:nvSpPr>
          <p:cNvPr id="153" name="Shape 148"/>
          <p:cNvSpPr/>
          <p:nvPr/>
        </p:nvSpPr>
        <p:spPr>
          <a:xfrm>
            <a:off x="4376136" y="3659429"/>
            <a:ext cx="182688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154" name="Text 149"/>
          <p:cNvSpPr txBox="1"/>
          <p:nvPr/>
        </p:nvSpPr>
        <p:spPr>
          <a:xfrm>
            <a:off x="4421856" y="3677717"/>
            <a:ext cx="17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 gate  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4: batches shipped in SLA · returns end at the node · retention ≥ 70% · category NMV ≥ base</a:t>
            </a:r>
            <a:endParaRPr lang="en-US" sz="700" dirty="0"/>
          </a:p>
        </p:txBody>
      </p:sp>
      <p:sp>
        <p:nvSpPr>
          <p:cNvPr id="155" name="Shape 150"/>
          <p:cNvSpPr/>
          <p:nvPr/>
        </p:nvSpPr>
        <p:spPr>
          <a:xfrm>
            <a:off x="6257879" y="3659429"/>
            <a:ext cx="182688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</p:sp>
      <p:sp>
        <p:nvSpPr>
          <p:cNvPr id="156" name="Text 151"/>
          <p:cNvSpPr txBox="1"/>
          <p:nvPr/>
        </p:nvSpPr>
        <p:spPr>
          <a:xfrm>
            <a:off x="6303599" y="3677717"/>
            <a:ext cx="17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released  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 to Day 30 → ₹7.3 cr for Days 31–90 → ₹14.9 cr in Q2–Q4 (Year 1 cap ₹22.2 cr)</a:t>
            </a:r>
            <a:endParaRPr lang="en-US" sz="700" dirty="0"/>
          </a:p>
        </p:txBody>
      </p:sp>
      <p:sp>
        <p:nvSpPr>
          <p:cNvPr id="157" name="Shape 152"/>
          <p:cNvSpPr/>
          <p:nvPr/>
        </p:nvSpPr>
        <p:spPr>
          <a:xfrm>
            <a:off x="548640" y="4345229"/>
            <a:ext cx="7600127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58" name="Text 153"/>
          <p:cNvSpPr txBox="1"/>
          <p:nvPr/>
        </p:nvSpPr>
        <p:spPr>
          <a:xfrm>
            <a:off x="612648" y="4345229"/>
            <a:ext cx="7472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KPIs: onboarding → activation → retention, with guardrails (north star: C2M NMV still clearing the gate)</a:t>
            </a:r>
            <a:endParaRPr lang="en-US" sz="950" dirty="0"/>
          </a:p>
        </p:txBody>
      </p:sp>
      <p:sp>
        <p:nvSpPr>
          <p:cNvPr id="159" name="Shape 154"/>
          <p:cNvSpPr/>
          <p:nvPr/>
        </p:nvSpPr>
        <p:spPr>
          <a:xfrm>
            <a:off x="548640" y="4592117"/>
            <a:ext cx="7600127" cy="153436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4637837"/>
          <a:ext cx="7472111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2331720"/>
                <a:gridCol w="777240"/>
                <a:gridCol w="868680"/>
                <a:gridCol w="777240"/>
                <a:gridCol w="777240"/>
                <a:gridCol w="1226759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exit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· cadence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C2M 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Shortlist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catalogued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live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→ listed within 30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first prepaid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at D7 / D14 vs cohort median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· daily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share of C2M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68.5%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Sellers still clearing the 8% gate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Factories active at Day 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· monthly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share of category impressions; category NMV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20%; ≥ 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20%; ≥ 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20%; ≥ 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20%; ≥ 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400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 star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Run-rate C2M NMV clearing the gate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₹85.5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₹641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· monthly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1" name="Shape 155"/>
          <p:cNvSpPr/>
          <p:nvPr/>
        </p:nvSpPr>
        <p:spPr>
          <a:xfrm>
            <a:off x="8240207" y="1051560"/>
            <a:ext cx="372014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62" name="Text 156"/>
          <p:cNvSpPr txBox="1"/>
          <p:nvPr/>
        </p:nvSpPr>
        <p:spPr>
          <a:xfrm>
            <a:off x="8304215" y="1051560"/>
            <a:ext cx="3592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risks, sorted by likelihood × impact</a:t>
            </a:r>
            <a:endParaRPr lang="en-US" sz="950" dirty="0"/>
          </a:p>
        </p:txBody>
      </p:sp>
      <p:sp>
        <p:nvSpPr>
          <p:cNvPr id="163" name="Shape 157"/>
          <p:cNvSpPr/>
          <p:nvPr/>
        </p:nvSpPr>
        <p:spPr>
          <a:xfrm>
            <a:off x="8240207" y="1298448"/>
            <a:ext cx="3720145" cy="265084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04215" y="1344168"/>
          <a:ext cx="3592129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19456"/>
                <a:gridCol w="219456"/>
                <a:gridCol w="1461577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9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was a promotion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Day-30 stop rule; badge off below 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recovery pulls factories back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Batches fill idle capacity between export runs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9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falls with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Suspend at &gt; 1.5× return norm; QC hold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Sellers game the badge with a few cheap SKUs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60% of live SKUs must clear; dominant-seller rule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9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or advances read as inventory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keeps title; NBFC lends; 3PL fees at arm’s length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Re-rank starves resellers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 of category impressions; category NMV guardrail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165" name="Shape 158"/>
          <p:cNvSpPr/>
          <p:nvPr/>
        </p:nvSpPr>
        <p:spPr>
          <a:xfrm>
            <a:off x="8240207" y="4040734"/>
            <a:ext cx="372014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66" name="Text 159"/>
          <p:cNvSpPr txBox="1"/>
          <p:nvPr/>
        </p:nvSpPr>
        <p:spPr>
          <a:xfrm>
            <a:off x="8304215" y="4040734"/>
            <a:ext cx="3592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950" dirty="0"/>
          </a:p>
        </p:txBody>
      </p:sp>
      <p:sp>
        <p:nvSpPr>
          <p:cNvPr id="167" name="Shape 160"/>
          <p:cNvSpPr/>
          <p:nvPr/>
        </p:nvSpPr>
        <p:spPr>
          <a:xfrm>
            <a:off x="8240207" y="4287622"/>
            <a:ext cx="3720145" cy="183885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68" name="Text 161"/>
          <p:cNvSpPr txBox="1"/>
          <p:nvPr/>
        </p:nvSpPr>
        <p:spPr>
          <a:xfrm>
            <a:off x="8304215" y="4333342"/>
            <a:ext cx="3592129" cy="1747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 </a:t>
            </a:r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 to Day 30; ₹7.3 cr for Days 31–90; ₹22.2 cr cash in Year 1 (+₹3.6 cr people), capped as an H2 bet</a:t>
            </a:r>
            <a:endParaRPr lang="en-US" sz="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 </a:t>
            </a:r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run the badge test with a holdout from Week 1; (2) name owners in Pricing, Category, Valmo, Finance, Legal; (3) sign the associations, a Tiruppur node and an NBFC by Day 60; (4) declare the price-gap badge as a ranking parameter before 1 Jan 2027</a:t>
            </a:r>
            <a:endParaRPr lang="en-US" sz="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 </a:t>
            </a:r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badged NMV per live SKU ≥ 12% above holdout, ≥ 70% still clearing at D14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050792" y="73152"/>
            <a:ext cx="4059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· Product walkthrough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working prototype runs every rule in this deck end to end, on synthetic data that mirrors Meesho’s order tables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React + Recharts static site; 261 synthetic sellers, 4,415 SKUs, 9 categories; fixed seed; fictional names; four model tests run before every deploy   |   Supports pages 4, 5, 8, 9, 12</a:t>
            </a:r>
            <a:endParaRPr lang="en-US" sz="75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3377794" cy="2194560"/>
          </a:xfrm>
          <a:prstGeom prst="roundRect">
            <a:avLst>
              <a:gd name="adj" fmla="val 1667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4" name="Image 3" descr="/Users/prathmeshwalimbe/Downloads/Meesho/02_round2_detailed_submission/deck/source/assets/shot_pti_scat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71" y="1106424"/>
            <a:ext cx="2334132" cy="16276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1792" y="2752344"/>
            <a:ext cx="3231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Price Truth Index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supports p9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vs price gap for every seller above ₹5 cr: r = −0.18; 7 of the 10 largest fail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4017874" y="1051560"/>
            <a:ext cx="3377794" cy="2194560"/>
          </a:xfrm>
          <a:prstGeom prst="roundRect">
            <a:avLst>
              <a:gd name="adj" fmla="val 1667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7" name="Image 4" descr="/Users/prathmeshwalimbe/Downloads/Meesho/02_round2_detailed_submission/deck/source/assets/shot_day3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2872" y="1106424"/>
            <a:ext cx="2847796" cy="16276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091026" y="2752344"/>
            <a:ext cx="3231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Day-30 readout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supports p12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Badged vs holdout: +18.2% (interval +15.1% to +21.5%) → fund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548640" y="3355848"/>
            <a:ext cx="3377794" cy="2194560"/>
          </a:xfrm>
          <a:prstGeom prst="roundRect">
            <a:avLst>
              <a:gd name="adj" fmla="val 1667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20" name="Image 5" descr="/Users/prathmeshwalimbe/Downloads/Meesho/02_round2_detailed_submission/deck/source/assets/shot_pti_ga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3518719"/>
            <a:ext cx="3268066" cy="570370"/>
          </a:xfrm>
          <a:prstGeom prst="rect">
            <a:avLst/>
          </a:prstGeom>
        </p:spPr>
      </p:pic>
      <p:pic>
        <p:nvPicPr>
          <p:cNvPr id="21" name="Image 6" descr="/Users/prathmeshwalimbe/Downloads/Meesho/02_round2_detailed_submission/deck/source/assets/shot_health_stag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4325282"/>
            <a:ext cx="3268066" cy="639739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21792" y="5056632"/>
            <a:ext cx="3231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Gate controls + Seller Health stages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supports p8, p9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sliders re-score every seller; 60 pilot sellers by stage</a:t>
            </a:r>
            <a:endParaRPr lang="en-US" sz="900" dirty="0"/>
          </a:p>
        </p:txBody>
      </p:sp>
      <p:sp>
        <p:nvSpPr>
          <p:cNvPr id="23" name="Shape 14"/>
          <p:cNvSpPr/>
          <p:nvPr/>
        </p:nvSpPr>
        <p:spPr>
          <a:xfrm>
            <a:off x="4017874" y="3355848"/>
            <a:ext cx="3377794" cy="2194560"/>
          </a:xfrm>
          <a:prstGeom prst="roundRect">
            <a:avLst>
              <a:gd name="adj" fmla="val 1667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24" name="Image 7" descr="/Users/prathmeshwalimbe/Downloads/Meesho/02_round2_detailed_submission/deck/source/assets/shot_health_detai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4588" y="3410712"/>
            <a:ext cx="2084365" cy="162763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4091026" y="5056632"/>
            <a:ext cx="3231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One seller’s Health Score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supports p8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signals, the rule that fired, the next action</a:t>
            </a:r>
            <a:endParaRPr lang="en-US" sz="900" dirty="0"/>
          </a:p>
        </p:txBody>
      </p:sp>
      <p:sp>
        <p:nvSpPr>
          <p:cNvPr id="26" name="Shape 16"/>
          <p:cNvSpPr/>
          <p:nvPr/>
        </p:nvSpPr>
        <p:spPr>
          <a:xfrm>
            <a:off x="7532827" y="1051560"/>
            <a:ext cx="1414882" cy="3716583"/>
          </a:xfrm>
          <a:prstGeom prst="roundRect">
            <a:avLst>
              <a:gd name="adj" fmla="val 2585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27" name="Image 8" descr="/Users/prathmeshwalimbe/Downloads/Meesho/02_round2_detailed_submission/deck/source/assets/shot_phone_pri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78547" y="1097280"/>
            <a:ext cx="1323442" cy="266385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587691" y="3945183"/>
            <a:ext cx="1305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Manufacturer app: price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viable price vs market median, before listing</a:t>
            </a:r>
            <a:endParaRPr lang="en-US" sz="850" dirty="0"/>
          </a:p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p5, p10</a:t>
            </a:r>
            <a:endParaRPr lang="en-US" sz="850" dirty="0"/>
          </a:p>
        </p:txBody>
      </p:sp>
      <p:sp>
        <p:nvSpPr>
          <p:cNvPr id="29" name="Shape 18"/>
          <p:cNvSpPr/>
          <p:nvPr/>
        </p:nvSpPr>
        <p:spPr>
          <a:xfrm>
            <a:off x="9039149" y="1051560"/>
            <a:ext cx="1414882" cy="3716583"/>
          </a:xfrm>
          <a:prstGeom prst="roundRect">
            <a:avLst>
              <a:gd name="adj" fmla="val 2585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30" name="Image 9" descr="/Users/prathmeshwalimbe/Downloads/Meesho/02_round2_detailed_submission/deck/source/assets/shot_phone_brie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4869" y="1097280"/>
            <a:ext cx="1323442" cy="266385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094013" y="3945183"/>
            <a:ext cx="1305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Demand Brief + batch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demand → batch size → one-tap commit</a:t>
            </a:r>
            <a:endParaRPr lang="en-US" sz="850" dirty="0"/>
          </a:p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p4, p8</a:t>
            </a:r>
            <a:endParaRPr lang="en-US" sz="850" dirty="0"/>
          </a:p>
        </p:txBody>
      </p:sp>
      <p:sp>
        <p:nvSpPr>
          <p:cNvPr id="32" name="Shape 20"/>
          <p:cNvSpPr/>
          <p:nvPr/>
        </p:nvSpPr>
        <p:spPr>
          <a:xfrm>
            <a:off x="10545470" y="1051560"/>
            <a:ext cx="1414882" cy="3716583"/>
          </a:xfrm>
          <a:prstGeom prst="roundRect">
            <a:avLst>
              <a:gd name="adj" fmla="val 2585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33" name="Image 10" descr="/Users/prathmeshwalimbe/Downloads/Meesho/02_round2_detailed_submission/deck/source/assets/shot_phone_whatsap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1190" y="1097280"/>
            <a:ext cx="1323442" cy="266385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10600334" y="3945183"/>
            <a:ext cx="1305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WhatsApp nudges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applied, batch confirmed, payout dates</a:t>
            </a:r>
            <a:endParaRPr lang="en-US" sz="850" dirty="0"/>
          </a:p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p8</a:t>
            </a:r>
            <a:endParaRPr lang="en-US" sz="850" dirty="0"/>
          </a:p>
        </p:txBody>
      </p:sp>
      <p:sp>
        <p:nvSpPr>
          <p:cNvPr id="35" name="Shape 22"/>
          <p:cNvSpPr/>
          <p:nvPr/>
        </p:nvSpPr>
        <p:spPr>
          <a:xfrm>
            <a:off x="548640" y="5577840"/>
            <a:ext cx="6847027" cy="548640"/>
          </a:xfrm>
          <a:prstGeom prst="roundRect">
            <a:avLst>
              <a:gd name="adj" fmla="val 83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6" name="Image 11" descr="/Users/prathmeshwalimbe/Downloads/Meesho/02_round2_detailed_submission/deck/source/assets/qr_liv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504" y="5623560"/>
            <a:ext cx="457200" cy="45720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1143000" y="5577840"/>
            <a:ext cx="62069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live: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meesho-dice-c2m-iitb.vercel.app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Mirror: prathmesh-28.github.io/c2m-control-tower · Offline: one HTML file in prototype/dist-single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050792" y="73152"/>
            <a:ext cx="4059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· Sources, method, assumptions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in the deck traces to a numbered source [S#] or a registered assumption [A#] in one master model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model: deck/source/model.mjs → outputs.json (every slide number is read from it) · prototype results: proto.mjs · teardown data: deck/source/data · survey kit: research/13   |   Supports pages 2–12</a:t>
            </a:r>
            <a:endParaRPr lang="en-US" sz="75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337779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12648" y="1051560"/>
            <a:ext cx="32497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[S#] (publisher · title · date)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48640" y="1298448"/>
            <a:ext cx="3377794" cy="482803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12648" y="1344168"/>
            <a:ext cx="3249778" cy="473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 Meesho: Q1 FY27 Shareholders’ Letter (quarter to 30 Jun 2026) (Aug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 Meesho: Q4 FY26 earnings call transcript (6 May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 Deccan Herald; Apparel Resources; Inc42: Meesho FY26 results coverage (May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 ICRIER: Annual Survey of MSMEs in India 2025 (n = 2,365, Fig. 16) (Mar 2025)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 Ministry of MSME: S.O. 1364(E): revised MSME limits (21 Mar 2025)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 RBI: OBICUS, Q2 FY26: capacity utilisation 74.3% (Oct 2025)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  Udyam portal (team pull); PIB: Udyam registrations (Jun 2026; 28 Feb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  The Federal; Deccan Herald: Tiruppur output, exports, tariff impact (2025–26)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  The Tribune: Panipat textile industry hit by weak demand, high costs (17 Aug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  Team teardown: meesho.com search: 279 live listings, 5 product types (2 Oct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 Shiprocket; Robnu: Meesho seller fee guides (return fee, RTO policy) (2026)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  Shiprocket: Fulfilment pricing: ₹24 per order, 500–3,000 orders a month (2026)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  GoKwik via Base; TrackVid: COD vs prepaid RTO benchmarks (industry estimates) (2026)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  Flipkart newsroom; Business Standard: 0% commission moves (Amazon, Flipkart) (Nov 2025 – 8 Jul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  KrASIA: Pinduoduo New Brand Initiative (end-2019 figures) (2020)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 Tech Buzz China: Temu Watch #6: semi-managed share of GMV (27 Dec 2024)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  Reuters via FashionNetwork: Shein tried to turn Brazil into a production hub (Feb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S18  Inc42: MSME-TEAM: ₹277 cr to onboard 5 lakh MSMEs onto ONDC (2024)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S19  Khaitan &amp; Co; LexOrbis: Press Note 2 (2018); E-Commerce Amendment Rules 2026 (2018; Sep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 Finnovate; Zappchai (DRHP-based): Meesho category mix estimates (2025)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 Apparel Resources: Tirupur rewires its growth playbook (owner interviews) (25 Jun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 Team 23B0747: Round 1 research: 24 interviews, cluster AHP, sizing funnel, category screen (Sep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 Xinhua: Taobao C2M: 10 bn new orders for factories in 3 years (27 Mar 2020)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 Alibaba Group: December Quarter 2021 Results (Taobao Deals) (23 Feb 2022)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  AFP via Malay Mail: Shein statement on 100–200 item first batches (24 Mar 2024)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 Bank of Baroda: E-commerce business loans for marketplace sellers (2026)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4017874" y="1051560"/>
            <a:ext cx="794247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081882" y="1051560"/>
            <a:ext cx="7814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register [A#] (value · source · confidence H/M/L)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017874" y="1298448"/>
            <a:ext cx="7942478" cy="315833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81882" y="1344168"/>
          <a:ext cx="3870655" cy="914400"/>
        </p:xfrm>
        <a:graphic>
          <a:graphicData uri="http://schemas.openxmlformats.org/drawingml/2006/table">
            <a:tbl>
              <a:tblPr/>
              <a:tblGrid>
                <a:gridCol w="292608"/>
                <a:gridCol w="1755648"/>
                <a:gridCol w="1143000"/>
                <a:gridCol w="566928"/>
                <a:gridCol w="112471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Mature NMV per C2M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₹1.425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Year-4 capture of SAM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active sellers, Y1–Y5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→ 1,450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NMV per seller, Y1–Y5 (₹ cr)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 → 1.425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target factory turnover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NMV in C2M categories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gap passed to buyers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8%–12%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share of C2M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GMV per order vs average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pre-order share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Failed-delivery gap, COD vs prepaid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cost per failed delivery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S11, S13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 cost per FTE-year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 FTE, Y1–Y5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→ 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(year-end); onboarding cost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→ 12; ₹1 cr each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 cost, Y1–Y5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 cr, then ₹3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25689" y="1344168"/>
          <a:ext cx="3870655" cy="914400"/>
        </p:xfrm>
        <a:graphic>
          <a:graphicData uri="http://schemas.openxmlformats.org/drawingml/2006/table">
            <a:tbl>
              <a:tblPr/>
              <a:tblGrid>
                <a:gridCol w="292608"/>
                <a:gridCol w="1755648"/>
                <a:gridCol w="1143000"/>
                <a:gridCol w="566928"/>
                <a:gridCol w="112471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 (year-end); set-up; life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→ 12; ₹1.3 cr; 5 yrs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firewall pool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 cr; then 0.1% of NMV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valuation; impressions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₹75 CPM; 50,000 impr.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advance; Meesho first-loss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30%; 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rate; stress rate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12%; 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Making cost, briefs 3-pack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margin on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Wholesaler mark-up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Hosiery: failed deliveries; returns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14%; returns 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fee to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Failed-delivery fee to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 fees, self /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₹55/42 fwd; ₹10/20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S11, S12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recovered, self /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 / 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cost; inventory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18%; 45 vs 10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share; salvage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vs 2%; salvage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91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Pre-order discount (7–8 days)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22" name="Shape 15"/>
          <p:cNvSpPr/>
          <p:nvPr/>
        </p:nvSpPr>
        <p:spPr>
          <a:xfrm>
            <a:off x="4017874" y="4548226"/>
            <a:ext cx="390265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081882" y="4548226"/>
            <a:ext cx="37746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and sample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017874" y="4795114"/>
            <a:ext cx="3902659" cy="133136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081882" y="4840834"/>
            <a:ext cx="3774643" cy="1239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Teardown [S10]: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meesho.com search, 2 Oct 2026; first 56 listings per query; 279 listings, 5 product types; demand weight = review count; plastics query returned none and was dropped.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[S22]: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owners (8 per cohort, Round 1) + 3 published owner interviews [S21].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survey: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n, dates, quotas achieved vs target (≥ 150; ≥ 30 per tier); stated intent counted at 50%]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sellers × 28 days, SE ≈ 1.6 pts, MDE ≈ 4.5% at 80% power.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8011973" y="4548226"/>
            <a:ext cx="3948379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75981" y="4548226"/>
            <a:ext cx="3820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Workings index (formula → page)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8011973" y="4795114"/>
            <a:ext cx="3948379" cy="133136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075981" y="4840834"/>
            <a:ext cx="3820363" cy="1239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NMV = sellers × ₹1.425 cr; savings = NMV × g ÷ (1 − g) → p3, p11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cost: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(make + unsold − resold + logistics + returns + capital) ÷ kept → p10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× (incremental × ₹7.3 + Δfailed × ₹60) → p11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Δfailed: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share × (1 − 37%) × 15 pts = 4.7 pts → p11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AHP: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means, CR = (λ − 5) ÷ 4 ÷ 1.12 → p9, Appendix C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× impact × confidence ÷ effort → p7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050792" y="73152"/>
            <a:ext cx="4059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· Benchmarks, compliance, model detail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benchmarking, compliance by design and the model workings behind pages 3, 9 and 10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S15–S19, S22–S25   |   Compliance rows are design responses, not legal advice: Meesho legal confirms each before the pilot   |   Supports pages 3, 6, 7, 9, 10, 12</a:t>
            </a:r>
            <a:endParaRPr lang="en-US" sz="75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6573073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12648" y="1051560"/>
            <a:ext cx="64450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benchmarking: KPI × company (dated, sourced) and how Meesho uses it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48640" y="1298448"/>
            <a:ext cx="6573073" cy="234635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344168"/>
          <a:ext cx="6445057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23835"/>
                <a:gridCol w="1023835"/>
                <a:gridCol w="1023835"/>
                <a:gridCol w="1023835"/>
                <a:gridCol w="1023835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Pinduoduo NBI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Taobao C2M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Temu semi-managed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Brazil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of 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2020; Dec 2021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 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2023 – Feb 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Factories / merchants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900+ in C2M production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“super factories” targeted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+80,000 planned for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(not disclosed)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 signed of 2,000; 1 producing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data to factories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anonymised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consumer insight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platform prices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real-time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holds stock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Merchant, local warehouse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item first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runs, fast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lever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scale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+ insight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Platform-set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batches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~30% price-cut asks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Meesho uses 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prepayment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Seller-owned node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Pre-order batches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ask for cuts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1"/>
          <p:cNvSpPr/>
          <p:nvPr/>
        </p:nvSpPr>
        <p:spPr>
          <a:xfrm>
            <a:off x="7213153" y="1051560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277161" y="1051560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by design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7213153" y="1298448"/>
            <a:ext cx="4747199" cy="234635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77161" y="1344168"/>
          <a:ext cx="4619183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417320"/>
                <a:gridCol w="1967423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design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422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Note 2 (2018)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 may not own or control seller inventory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keeps title at the node; Valmo sells warehousing at arm’s length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2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Note 2 (2018)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Fair, non-discriminatory services; no exclusivity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and grants are published rules any seller can meet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422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 Rules, 2026 amendment (from 1 Jan 2027)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parameters by importance; sponsored labelled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 the price-gap badge as a ranking parameter; grants are organic, never sold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2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Dark-pattern guidelines (2023)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false urgency or hidden terms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“Ships in 7–8 days, ₹10 off” shown before 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422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 Act (2023)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 personal data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Briefs use district aggregates only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2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at a third-party site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registered as the seller’s additional place of business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21" name="Shape 14"/>
          <p:cNvSpPr/>
          <p:nvPr/>
        </p:nvSpPr>
        <p:spPr>
          <a:xfrm>
            <a:off x="548640" y="3736238"/>
            <a:ext cx="383426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12648" y="3736238"/>
            <a:ext cx="37062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scoring behind the personas (page 3)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548640" y="3983126"/>
            <a:ext cx="3834262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4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4028846"/>
          <a:ext cx="3706246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57200"/>
                <a:gridCol w="411480"/>
                <a:gridCol w="457200"/>
                <a:gridCol w="411480"/>
                <a:gridCol w="411480"/>
                <a:gridCol w="414406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edge 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 size 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Fixable 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supply 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Offline B2B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Churned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Online elsewhere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17"/>
          <p:cNvSpPr txBox="1"/>
          <p:nvPr/>
        </p:nvSpPr>
        <p:spPr>
          <a:xfrm>
            <a:off x="612648" y="5089550"/>
            <a:ext cx="3706246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(5 =): </a:t>
            </a:r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edge: sells ex-factory B2B · pool: &gt; 50% of SAM · fixable: all HIGH barriers fixable · speed: KYC + catalogue on Meesho · new supply: new to Meesho. </a:t>
            </a:r>
            <a:pPr indent="0" marL="0">
              <a:buNone/>
            </a:pPr>
            <a:r>
              <a:rPr lang="en-US" sz="7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weights give the same order (4.2 / 3.4 / 3.2).</a:t>
            </a:r>
            <a:endParaRPr lang="en-US" sz="750" dirty="0"/>
          </a:p>
        </p:txBody>
      </p:sp>
      <p:sp>
        <p:nvSpPr>
          <p:cNvPr id="26" name="Shape 18"/>
          <p:cNvSpPr/>
          <p:nvPr/>
        </p:nvSpPr>
        <p:spPr>
          <a:xfrm>
            <a:off x="4474342" y="3736238"/>
            <a:ext cx="367442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538350" y="3736238"/>
            <a:ext cx="354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AHP workings (CR 0.016)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474342" y="3983126"/>
            <a:ext cx="3674425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4538350" y="4028846"/>
            <a:ext cx="3546409" cy="205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1–9 matrix → geometric mean of each row → weight = mean ÷ sum of means. 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λmax = 5.072; CI = (λmax − 5) ÷ 4 = 0.018; CR = CI ÷ 1.12 = 0.016 &lt; 0.10.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0.338 / 0.256 / 0.179 / 0.144 / 0.083 reproduce Round 1’s cluster scores (Tiruppur 4.68, Panipat 4.52).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Robustness: </a:t>
            </a:r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overtakes Panipat only above a 0.67 demand weight.</a:t>
            </a:r>
            <a:endParaRPr lang="en-US" sz="750" dirty="0"/>
          </a:p>
        </p:txBody>
      </p:sp>
      <p:sp>
        <p:nvSpPr>
          <p:cNvPr id="30" name="Shape 22"/>
          <p:cNvSpPr/>
          <p:nvPr/>
        </p:nvSpPr>
        <p:spPr>
          <a:xfrm>
            <a:off x="8240207" y="3736238"/>
            <a:ext cx="372014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304215" y="3736238"/>
            <a:ext cx="3592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Unit-economics workings (per 100 shipped)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8240207" y="3983126"/>
            <a:ext cx="3720145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8304215" y="4028846"/>
            <a:ext cx="3592129" cy="205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units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100 × (1 − RTO) × (1 − returns) = 79.1 (prepaid: 87.8)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Unsold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extra units made × cost × (1 − 50% salvage); 10% build-to-stock vs 2% batch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delivered × forward fee + shipped × packing (₹10) or node fee (₹20)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make cost × 18% × days ÷ 365 (45 vs 10 days)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cost per kept ÷ (1 − 9%) → proposed ₹164.0 ÷ 0.91 = ₹180.2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checks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₹74.9 cr = Σ PV row (page 11) ✓ · Year-4 NMV ₹1,853 cr (average 1,300 sellers) vs ₹1,995 cr exit run-rate (1,400) ✓ · batch payout ₹88,524 = revenue − fees ✓ · RICE order = dependency order ✓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 Direct: building Meesho’s C2M base</dc:title>
  <dc:subject>PptxGenJS Presentation</dc:subject>
  <dc:creator>Team 23B0747, IIT Bombay</dc:creator>
  <cp:lastModifiedBy>Team 23B0747, IIT Bombay</cp:lastModifiedBy>
  <cp:revision>1</cp:revision>
  <dcterms:created xsi:type="dcterms:W3CDTF">2026-10-02T18:49:41Z</dcterms:created>
  <dcterms:modified xsi:type="dcterms:W3CDTF">2026-10-02T18:49:41Z</dcterms:modified>
</cp:coreProperties>
</file>