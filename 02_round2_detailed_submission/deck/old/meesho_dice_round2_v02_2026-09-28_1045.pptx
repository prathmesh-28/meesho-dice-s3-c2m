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c:v>
                </c:pt>
              </c:strCache>
            </c:strRef>
          </c:tx>
          <c:spPr>
            <a:solidFill>
              <a:srgbClr val="8A245E"/>
            </a:solidFill>
            <a:effectLst/>
          </c:spPr>
          <c:invertIfNegative val="0"/>
          <c:dLbls>
            <c:numFmt formatCode="#,##0" sourceLinked="0"/>
            <c:txPr>
              <a:bodyPr/>
              <a:lstStyle/>
              <a:p>
                <a:pPr>
                  <a:defRPr b="1" i="0" strike="noStrike" sz="1200" u="none">
                    <a:solidFill>
                      <a:srgbClr val="2B1226"/>
                    </a:solidFill>
                    <a:latin typeface="Arial"/>
                  </a:defRPr>
                </a:pPr>
              </a:p>
            </c:txPr>
            <c:showLegendKey val="0"/>
            <c:showVal val="1"/>
            <c:showCatName val="0"/>
            <c:showSerName val="0"/>
            <c:showPercent val="0"/>
            <c:showBubbleSize val="0"/>
            <c:showLeaderLines val="0"/>
          </c:dLbls>
          <c:cat>
            <c:multiLvlStrRef>
              <c:f>Sheet1!$A$2:$A$5</c:f>
              <c:multiLvlStrCache>
                <c:ptCount val="4"/>
                <c:lvl>
                  <c:pt idx="0">
                    <c:v>D0–30</c:v>
                  </c:pt>
                  <c:pt idx="1">
                    <c:v>D31–60</c:v>
                  </c:pt>
                  <c:pt idx="2">
                    <c:v>D61–90</c:v>
                  </c:pt>
                  <c:pt idx="3">
                    <c:v>Q2+</c:v>
                  </c:pt>
                </c:lvl>
              </c:multiLvlStrCache>
            </c:multiLvlStrRef>
          </c:cat>
          <c:val>
            <c:numRef>
              <c:f>Sheet1!$B$2:$B$5</c:f>
              <c:numCache>
                <c:formatCode>General</c:formatCode>
                <c:ptCount val="4"/>
                <c:pt idx="0">
                  <c:v>0</c:v>
                </c:pt>
                <c:pt idx="1">
                  <c:v>4</c:v>
                </c:pt>
                <c:pt idx="2">
                  <c:v>8</c:v>
                </c:pt>
                <c:pt idx="3">
                  <c:v>10</c:v>
                </c:pt>
              </c:numCache>
            </c:numRef>
          </c:val>
        </c:ser>
        <c:dLbls>
          <c:numFmt formatCode="#,##0" sourceLinked="0"/>
          <c:txPr>
            <a:bodyPr/>
            <a:lstStyle/>
            <a:p>
              <a:pPr>
                <a:defRPr b="1" i="0" strike="noStrike" sz="1200" u="none">
                  <a:solidFill>
                    <a:srgbClr val="2B122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A6470"/>
                </a:solidFill>
                <a:latin typeface="Arial"/>
              </a:defRPr>
            </a:pPr>
            <a:endParaRPr lang="en-US"/>
          </a:p>
        </c:txPr>
        <c:crossAx val="2094734552"/>
        <c:crosses val="autoZero"/>
        <c:auto val="1"/>
        <c:lblAlgn val="ctr"/>
        <c:noMultiLvlLbl val="1"/>
      </c:catAx>
      <c:valAx>
        <c:axId val="2094734552"/>
        <c:scaling>
          <c:orientation val="minMax"/>
          <c:max val="1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Team 23B0747, IIT Bombay. The deck answers the four questions in the brief across nine sections; the live prototype runs every rule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Cohorts come from 24 manufacturer interviews (8 per cohort). Barrier severity is scored from the objection set. Contribution margin shown is the Q4 FY26 exit rate that management called the new baseline; Q3 was 2.3% because of a one-time logistics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and AHP are Round 1 research. Price impact uses a stated formula: savings = NMV × g / (1 − g), with g between the 8% gate floor and 12%, the low end of the 12–18% integration cost edge from the Round 1 teardown.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category screen uses four cost tests. The Price Truth Index then tests each seller on delivered-order prices. The return-cost range brackets the team estimate (₹90) and published seller-guide rates (about ₹150 for a parcel up to 500 g); confirm against a supplier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ribbon follows one Cohort A manufacturer through the prototype. Node rates, prepayment share and the pre-order discount are proposal assumptions. Shein Brazil is shown as an anti-precedent: it failed because it squeezed factory prices without changing their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Meesho already gates visibility on quality. That protects buyers, but a new manufacturer cannot prove quality without first orders. The fix is targeted impressions in the pin-codes where the Demand Brief shows demand, capped at 20% of category impressions, never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KPI tree ladders every seller-level metric up to one north star: NMV from sellers whose catalogue still clears the price gate. Guardrails protect the category and existing resellers.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are hard: node capex is released only when the Day-30 rule says fund and the Day-60 gate is met. The prototype demonstrates all three Day-30 branches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and impact are team judgement. Risk 8 is the Shein Brazil failure mode; the programme is designed so Meesho never asks a factory for a price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order for a live demo: Overview → Price Truth Index (drag the gate) → Day-30 readout (switch scenarios) → Seller Health (Kavin Knit Mills) → Manufacturer app (price check to WhatsApp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eesho-dice-c2m-iitb.vercel.app/"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5.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6.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8.png"/><Relationship Id="rId15" Type="http://schemas.openxmlformats.org/officeDocument/2006/relationships/image" Target="../media/image-5-11.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6.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8.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6" Type="http://schemas.openxmlformats.org/officeDocument/2006/relationships/hyperlink" Target="https://meesho-dice-c2m-iitb.vercel.app/"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7" Type="http://schemas.openxmlformats.org/officeDocument/2006/relationships/image" Target="../media/image-10-16.png"/><Relationship Id="rId18" Type="http://schemas.openxmlformats.org/officeDocument/2006/relationships/slideLayout" Target="../slideLayouts/slideLayout1.xml"/><Relationship Id="rId1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prathmeshwalimbe-Downloads-Meesho/dfec39d5-f971-4a3a-8cfb-761f4ef1fedb/scratchpad/deck/assets/cover_banner.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2103120" y="5532120"/>
            <a:ext cx="14081760" cy="4343400"/>
          </a:xfrm>
          <a:prstGeom prst="rect">
            <a:avLst/>
          </a:prstGeom>
          <a:solidFill>
            <a:srgbClr val="FFF8F2">
              <a:alpha val="92000"/>
            </a:srgbClr>
          </a:solidFill>
          <a:ln w="12700">
            <a:solidFill>
              <a:srgbClr val="FFFFFF"/>
            </a:solidFill>
            <a:prstDash val="solid"/>
          </a:ln>
        </p:spPr>
      </p:sp>
      <p:sp>
        <p:nvSpPr>
          <p:cNvPr id="4" name="Text 1"/>
          <p:cNvSpPr txBox="1"/>
          <p:nvPr/>
        </p:nvSpPr>
        <p:spPr>
          <a:xfrm>
            <a:off x="2103120" y="5760720"/>
            <a:ext cx="14081760" cy="365760"/>
          </a:xfrm>
          <a:prstGeom prst="rect">
            <a:avLst/>
          </a:prstGeom>
          <a:noFill/>
          <a:ln/>
        </p:spPr>
        <p:txBody>
          <a:bodyPr wrap="square" lIns="0" tIns="0" rIns="0" bIns="0" rtlCol="0" anchor="t"/>
          <a:lstStyle/>
          <a:p>
            <a:pPr algn="ctr" indent="0" marL="0">
              <a:lnSpc>
                <a:spcPct val="100000"/>
              </a:lnSpc>
              <a:buNone/>
            </a:pPr>
            <a:r>
              <a:rPr lang="en-US" sz="1300" b="1" spc="100" kern="0" dirty="0">
                <a:solidFill>
                  <a:srgbClr val="C2185B"/>
                </a:solidFill>
                <a:latin typeface="Arial" pitchFamily="34" charset="0"/>
                <a:ea typeface="Arial" pitchFamily="34" charset="-122"/>
                <a:cs typeface="Arial" pitchFamily="34" charset="-120"/>
              </a:rPr>
              <a:t>BUSINESS TRACK  ·  DETAILED SUBMISSION ROUND  ·  8–10 SLIDE DECK + WORKING PROTOTYPE</a:t>
            </a:r>
            <a:endParaRPr lang="en-US" sz="1300" dirty="0"/>
          </a:p>
        </p:txBody>
      </p:sp>
      <p:sp>
        <p:nvSpPr>
          <p:cNvPr id="5" name="Text 2"/>
          <p:cNvSpPr txBox="1"/>
          <p:nvPr/>
        </p:nvSpPr>
        <p:spPr>
          <a:xfrm>
            <a:off x="2103120" y="6217920"/>
            <a:ext cx="14081760" cy="731520"/>
          </a:xfrm>
          <a:prstGeom prst="rect">
            <a:avLst/>
          </a:prstGeom>
          <a:noFill/>
          <a:ln/>
        </p:spPr>
        <p:txBody>
          <a:bodyPr wrap="square" lIns="0" tIns="0" rIns="0" bIns="0" rtlCol="0" anchor="ctr"/>
          <a:lstStyle/>
          <a:p>
            <a:pPr algn="ctr" indent="0" marL="0">
              <a:lnSpc>
                <a:spcPct val="100000"/>
              </a:lnSpc>
              <a:buNone/>
            </a:pPr>
            <a:r>
              <a:rPr lang="en-US" sz="3400" b="1" dirty="0">
                <a:solidFill>
                  <a:srgbClr val="560547"/>
                </a:solidFill>
                <a:latin typeface="Arial" pitchFamily="34" charset="0"/>
                <a:ea typeface="Arial" pitchFamily="34" charset="-122"/>
                <a:cs typeface="Arial" pitchFamily="34" charset="-120"/>
              </a:rPr>
              <a:t>Building Meesho's Consumer-to-Manufacturer (C2M) Base</a:t>
            </a:r>
            <a:endParaRPr lang="en-US" sz="3400" dirty="0"/>
          </a:p>
        </p:txBody>
      </p:sp>
      <p:sp>
        <p:nvSpPr>
          <p:cNvPr id="6" name="Text 3"/>
          <p:cNvSpPr txBox="1"/>
          <p:nvPr/>
        </p:nvSpPr>
        <p:spPr>
          <a:xfrm>
            <a:off x="2103120" y="6995160"/>
            <a:ext cx="14081760" cy="457200"/>
          </a:xfrm>
          <a:prstGeom prst="rect">
            <a:avLst/>
          </a:prstGeom>
          <a:noFill/>
          <a:ln/>
        </p:spPr>
        <p:txBody>
          <a:bodyPr wrap="square" lIns="0" tIns="0" rIns="0" bIns="0" rtlCol="0" anchor="t"/>
          <a:lstStyle/>
          <a:p>
            <a:pPr algn="ctr" indent="0" marL="0">
              <a:lnSpc>
                <a:spcPct val="100000"/>
              </a:lnSpc>
              <a:buNone/>
            </a:pPr>
            <a:r>
              <a:rPr lang="en-US" sz="1700" i="1" dirty="0">
                <a:solidFill>
                  <a:srgbClr val="2B1226"/>
                </a:solidFill>
                <a:latin typeface="Calibri" pitchFamily="34" charset="0"/>
                <a:ea typeface="Calibri" pitchFamily="34" charset="-122"/>
                <a:cs typeface="Calibri" pitchFamily="34" charset="-120"/>
              </a:rPr>
              <a:t>Screen on price, not scale. Pay for early conviction in impressions, not rupees. Make nothing until it is sold.</a:t>
            </a:r>
            <a:endParaRPr lang="en-US" sz="1700" dirty="0"/>
          </a:p>
        </p:txBody>
      </p:sp>
      <p:sp>
        <p:nvSpPr>
          <p:cNvPr id="7" name="Shape 4"/>
          <p:cNvSpPr/>
          <p:nvPr/>
        </p:nvSpPr>
        <p:spPr>
          <a:xfrm>
            <a:off x="8458200" y="7635240"/>
            <a:ext cx="1371600" cy="64008"/>
          </a:xfrm>
          <a:prstGeom prst="rect">
            <a:avLst/>
          </a:prstGeom>
          <a:solidFill>
            <a:srgbClr val="FF9D00"/>
          </a:solidFill>
          <a:ln w="12700">
            <a:solidFill>
              <a:srgbClr val="FF9D00"/>
            </a:solidFill>
            <a:prstDash val="solid"/>
          </a:ln>
        </p:spPr>
      </p:sp>
      <p:sp>
        <p:nvSpPr>
          <p:cNvPr id="8" name="Text 5"/>
          <p:cNvSpPr txBox="1"/>
          <p:nvPr/>
        </p:nvSpPr>
        <p:spPr>
          <a:xfrm>
            <a:off x="2743200" y="7863840"/>
            <a:ext cx="10058400" cy="411480"/>
          </a:xfrm>
          <a:prstGeom prst="rect">
            <a:avLst/>
          </a:prstGeom>
          <a:noFill/>
          <a:ln/>
        </p:spPr>
        <p:txBody>
          <a:bodyPr wrap="square" lIns="0" tIns="0" rIns="0" bIns="0" rtlCol="0" anchor="t"/>
          <a:lstStyle/>
          <a:p>
            <a:pPr algn="ctr" indent="0" marL="0">
              <a:lnSpc>
                <a:spcPct val="100000"/>
              </a:lnSpc>
              <a:buNone/>
            </a:pPr>
            <a:r>
              <a:rPr lang="en-US" sz="1600" b="1" dirty="0">
                <a:solidFill>
                  <a:srgbClr val="2B1226"/>
                </a:solidFill>
                <a:latin typeface="Arial" pitchFamily="34" charset="0"/>
                <a:ea typeface="Arial" pitchFamily="34" charset="-122"/>
                <a:cs typeface="Arial" pitchFamily="34" charset="-120"/>
              </a:rPr>
              <a:t>Team 23B0747  ·  Indian Institute of Technology Bombay</a:t>
            </a:r>
            <a:endParaRPr lang="en-US" sz="1600" dirty="0"/>
          </a:p>
        </p:txBody>
      </p:sp>
      <p:sp>
        <p:nvSpPr>
          <p:cNvPr id="9" name="Text 6"/>
          <p:cNvSpPr txBox="1"/>
          <p:nvPr/>
        </p:nvSpPr>
        <p:spPr>
          <a:xfrm>
            <a:off x="2743200" y="8302752"/>
            <a:ext cx="10058400" cy="365760"/>
          </a:xfrm>
          <a:prstGeom prst="rect">
            <a:avLst/>
          </a:prstGeom>
          <a:noFill/>
          <a:ln/>
        </p:spPr>
        <p:txBody>
          <a:bodyPr wrap="square" lIns="0" tIns="0" rIns="0" bIns="0" rtlCol="0" anchor="t"/>
          <a:lstStyle/>
          <a:p>
            <a:pPr algn="ctr" indent="0" marL="0">
              <a:lnSpc>
                <a:spcPct val="100000"/>
              </a:lnSpc>
              <a:buNone/>
            </a:pPr>
            <a:r>
              <a:rPr lang="en-US" sz="1500" dirty="0">
                <a:solidFill>
                  <a:srgbClr val="7A6470"/>
                </a:solidFill>
                <a:latin typeface="Calibri" pitchFamily="34" charset="0"/>
                <a:ea typeface="Calibri" pitchFamily="34" charset="-122"/>
                <a:cs typeface="Calibri" pitchFamily="34" charset="-120"/>
              </a:rPr>
              <a:t>Prathmesh Walimbe  ·  Krishna Kanta Mondal</a:t>
            </a:r>
            <a:endParaRPr lang="en-US" sz="1500" dirty="0"/>
          </a:p>
        </p:txBody>
      </p:sp>
      <p:sp>
        <p:nvSpPr>
          <p:cNvPr id="10" name="Text 7"/>
          <p:cNvSpPr txBox="1"/>
          <p:nvPr/>
        </p:nvSpPr>
        <p:spPr>
          <a:xfrm>
            <a:off x="2743200" y="8778240"/>
            <a:ext cx="100584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560547"/>
                </a:solidFill>
                <a:latin typeface="Calibri" pitchFamily="34" charset="0"/>
                <a:ea typeface="Calibri" pitchFamily="34" charset="-122"/>
                <a:cs typeface="Calibri" pitchFamily="34" charset="-120"/>
              </a:rPr>
              <a:t>Live prototype  </a:t>
            </a:r>
            <a:pPr algn="ctr" indent="0" marL="0">
              <a:lnSpc>
                <a:spcPct val="100000"/>
              </a:lnSpc>
              <a:buNone/>
            </a:pPr>
            <a:r>
              <a:rPr lang="en-US" sz="1400" u="sng" dirty="0">
                <a:solidFill>
                  <a:srgbClr val="8A24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meesho-dice-c2m-iitb.vercel.app</a:t>
            </a:r>
            <a:endParaRPr lang="en-US" sz="1400" dirty="0"/>
          </a:p>
        </p:txBody>
      </p:sp>
      <p:pic>
        <p:nvPicPr>
          <p:cNvPr id="11" name="Image 1" descr="/private/tmp/claude-501/-Users-prathmeshwalimbe-Downloads-Meesho/dfec39d5-f971-4a3a-8cfb-761f4ef1fedb/scratchpad/deck/assets/qr_live.png">    </p:cNvPr>
          <p:cNvPicPr>
            <a:picLocks noChangeAspect="1"/>
          </p:cNvPicPr>
          <p:nvPr/>
        </p:nvPicPr>
        <p:blipFill>
          <a:blip r:embed="rId3"/>
          <a:stretch>
            <a:fillRect/>
          </a:stretch>
        </p:blipFill>
        <p:spPr>
          <a:xfrm>
            <a:off x="13761720" y="7772400"/>
            <a:ext cx="1600200" cy="1600200"/>
          </a:xfrm>
          <a:prstGeom prst="rect">
            <a:avLst/>
          </a:prstGeom>
        </p:spPr>
      </p:pic>
      <p:sp>
        <p:nvSpPr>
          <p:cNvPr id="12" name="Text 8"/>
          <p:cNvSpPr txBox="1"/>
          <p:nvPr/>
        </p:nvSpPr>
        <p:spPr>
          <a:xfrm>
            <a:off x="13761720" y="9390888"/>
            <a:ext cx="1600200" cy="274320"/>
          </a:xfrm>
          <a:prstGeom prst="rect">
            <a:avLst/>
          </a:prstGeom>
          <a:noFill/>
          <a:ln/>
        </p:spPr>
        <p:txBody>
          <a:bodyPr wrap="square" lIns="0" tIns="0" rIns="0" bIns="0" rtlCol="0" anchor="t"/>
          <a:lstStyle/>
          <a:p>
            <a:pPr algn="ctr" indent="0" marL="0">
              <a:lnSpc>
                <a:spcPct val="100000"/>
              </a:lnSpc>
              <a:buNone/>
            </a:pPr>
            <a:r>
              <a:rPr lang="en-US" sz="1050" dirty="0">
                <a:solidFill>
                  <a:srgbClr val="7A6470"/>
                </a:solidFill>
                <a:latin typeface="Calibri" pitchFamily="34" charset="0"/>
                <a:ea typeface="Calibri" pitchFamily="34" charset="-122"/>
                <a:cs typeface="Calibri" pitchFamily="34" charset="-120"/>
              </a:rPr>
              <a:t>Scan to open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560547"/>
          </a:solidFill>
          <a:ln w="9525">
            <a:solidFill>
              <a:srgbClr val="560547"/>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WHO, AND WHY NOT</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Q1 · Manufacturer segmentation · Which cohorts do we go after first, and what stops each of them?</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FY26 results and Q4 FY26 earnings call (6 May 2026); Flipkart newsroom (8 Jul 2026); Udyam Registration Portal; The Federal, Deccan Herald (Tiruppur, 2025–26); team interviews (n = 24). Cohort shares of the 11,645 addressable base.</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Start with Cohort A in Tiruppur and Panipat: its barriers are operational, and operational barriers are the only ones Meesho can remove with infrastructure instead of subsidy.</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2778252" cy="841248"/>
          </a:xfrm>
          <a:prstGeom prst="rect">
            <a:avLst/>
          </a:prstGeom>
          <a:solidFill>
            <a:srgbClr val="F2E4EE"/>
          </a:solidFill>
          <a:ln w="12700">
            <a:solidFill>
              <a:srgbClr val="F2E4EE"/>
            </a:solidFill>
            <a:prstDash val="solid"/>
          </a:ln>
        </p:spPr>
      </p:sp>
      <p:sp>
        <p:nvSpPr>
          <p:cNvPr id="33" name="Text 27"/>
          <p:cNvSpPr txBox="1"/>
          <p:nvPr/>
        </p:nvSpPr>
        <p:spPr>
          <a:xfrm>
            <a:off x="859536"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₹41,560 cr</a:t>
            </a:r>
            <a:endParaRPr lang="en-US" sz="2100" dirty="0"/>
          </a:p>
        </p:txBody>
      </p:sp>
      <p:sp>
        <p:nvSpPr>
          <p:cNvPr id="34" name="Text 28"/>
          <p:cNvSpPr txBox="1"/>
          <p:nvPr/>
        </p:nvSpPr>
        <p:spPr>
          <a:xfrm>
            <a:off x="859536"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FY26 NMV, +39% YoY</a:t>
            </a:r>
            <a:endParaRPr lang="en-US" sz="1050" dirty="0"/>
          </a:p>
        </p:txBody>
      </p:sp>
      <p:sp>
        <p:nvSpPr>
          <p:cNvPr id="35" name="Shape 29"/>
          <p:cNvSpPr/>
          <p:nvPr/>
        </p:nvSpPr>
        <p:spPr>
          <a:xfrm>
            <a:off x="3656076" y="1426464"/>
            <a:ext cx="2778252" cy="841248"/>
          </a:xfrm>
          <a:prstGeom prst="rect">
            <a:avLst/>
          </a:prstGeom>
          <a:solidFill>
            <a:srgbClr val="F2E4EE"/>
          </a:solidFill>
          <a:ln w="12700">
            <a:solidFill>
              <a:srgbClr val="F2E4EE"/>
            </a:solidFill>
            <a:prstDash val="solid"/>
          </a:ln>
        </p:spPr>
      </p:sp>
      <p:sp>
        <p:nvSpPr>
          <p:cNvPr id="36" name="Text 30"/>
          <p:cNvSpPr txBox="1"/>
          <p:nvPr/>
        </p:nvSpPr>
        <p:spPr>
          <a:xfrm>
            <a:off x="3765804"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₹265</a:t>
            </a:r>
            <a:endParaRPr lang="en-US" sz="2100" dirty="0"/>
          </a:p>
        </p:txBody>
      </p:sp>
      <p:sp>
        <p:nvSpPr>
          <p:cNvPr id="37" name="Text 31"/>
          <p:cNvSpPr txBox="1"/>
          <p:nvPr/>
        </p:nvSpPr>
        <p:spPr>
          <a:xfrm>
            <a:off x="3765804"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FY26 AOV, down 3% YoY</a:t>
            </a:r>
            <a:endParaRPr lang="en-US" sz="1050" dirty="0"/>
          </a:p>
        </p:txBody>
      </p:sp>
      <p:sp>
        <p:nvSpPr>
          <p:cNvPr id="38" name="Shape 32"/>
          <p:cNvSpPr/>
          <p:nvPr/>
        </p:nvSpPr>
        <p:spPr>
          <a:xfrm>
            <a:off x="6562344" y="1426464"/>
            <a:ext cx="2778252" cy="841248"/>
          </a:xfrm>
          <a:prstGeom prst="rect">
            <a:avLst/>
          </a:prstGeom>
          <a:solidFill>
            <a:srgbClr val="F2E4EE"/>
          </a:solidFill>
          <a:ln w="12700">
            <a:solidFill>
              <a:srgbClr val="F2E4EE"/>
            </a:solidFill>
            <a:prstDash val="solid"/>
          </a:ln>
        </p:spPr>
      </p:sp>
      <p:sp>
        <p:nvSpPr>
          <p:cNvPr id="39" name="Text 33"/>
          <p:cNvSpPr txBox="1"/>
          <p:nvPr/>
        </p:nvSpPr>
        <p:spPr>
          <a:xfrm>
            <a:off x="6672072"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4.0%</a:t>
            </a:r>
            <a:endParaRPr lang="en-US" sz="2100" dirty="0"/>
          </a:p>
        </p:txBody>
      </p:sp>
      <p:sp>
        <p:nvSpPr>
          <p:cNvPr id="40" name="Text 34"/>
          <p:cNvSpPr txBox="1"/>
          <p:nvPr/>
        </p:nvSpPr>
        <p:spPr>
          <a:xfrm>
            <a:off x="6672072"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Contribution margin, Q4 FY26 exit (2.3% in Q3)</a:t>
            </a:r>
            <a:endParaRPr lang="en-US" sz="1050" dirty="0"/>
          </a:p>
        </p:txBody>
      </p:sp>
      <p:sp>
        <p:nvSpPr>
          <p:cNvPr id="41" name="Shape 35"/>
          <p:cNvSpPr/>
          <p:nvPr/>
        </p:nvSpPr>
        <p:spPr>
          <a:xfrm>
            <a:off x="9468612" y="1426464"/>
            <a:ext cx="2778252" cy="841248"/>
          </a:xfrm>
          <a:prstGeom prst="rect">
            <a:avLst/>
          </a:prstGeom>
          <a:solidFill>
            <a:srgbClr val="F2E4EE"/>
          </a:solidFill>
          <a:ln w="12700">
            <a:solidFill>
              <a:srgbClr val="F2E4EE"/>
            </a:solidFill>
            <a:prstDash val="solid"/>
          </a:ln>
        </p:spPr>
      </p:sp>
      <p:sp>
        <p:nvSpPr>
          <p:cNvPr id="42" name="Text 36"/>
          <p:cNvSpPr txBox="1"/>
          <p:nvPr/>
        </p:nvSpPr>
        <p:spPr>
          <a:xfrm>
            <a:off x="9578340"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9.6 lakh</a:t>
            </a:r>
            <a:endParaRPr lang="en-US" sz="2100" dirty="0"/>
          </a:p>
        </p:txBody>
      </p:sp>
      <p:sp>
        <p:nvSpPr>
          <p:cNvPr id="43" name="Text 37"/>
          <p:cNvSpPr txBox="1"/>
          <p:nvPr/>
        </p:nvSpPr>
        <p:spPr>
          <a:xfrm>
            <a:off x="9578340"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Transacting sellers, +87% YoY</a:t>
            </a:r>
            <a:endParaRPr lang="en-US" sz="1050" dirty="0"/>
          </a:p>
        </p:txBody>
      </p:sp>
      <p:sp>
        <p:nvSpPr>
          <p:cNvPr id="44" name="Shape 38"/>
          <p:cNvSpPr/>
          <p:nvPr/>
        </p:nvSpPr>
        <p:spPr>
          <a:xfrm>
            <a:off x="12374880" y="1426464"/>
            <a:ext cx="2778252" cy="841248"/>
          </a:xfrm>
          <a:prstGeom prst="rect">
            <a:avLst/>
          </a:prstGeom>
          <a:solidFill>
            <a:srgbClr val="F2E4EE"/>
          </a:solidFill>
          <a:ln w="12700">
            <a:solidFill>
              <a:srgbClr val="F2E4EE"/>
            </a:solidFill>
            <a:prstDash val="solid"/>
          </a:ln>
        </p:spPr>
      </p:sp>
      <p:sp>
        <p:nvSpPr>
          <p:cNvPr id="45" name="Text 39"/>
          <p:cNvSpPr txBox="1"/>
          <p:nvPr/>
        </p:nvSpPr>
        <p:spPr>
          <a:xfrm>
            <a:off x="12484608"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0%</a:t>
            </a:r>
            <a:endParaRPr lang="en-US" sz="2100" dirty="0"/>
          </a:p>
        </p:txBody>
      </p:sp>
      <p:sp>
        <p:nvSpPr>
          <p:cNvPr id="46" name="Text 40"/>
          <p:cNvSpPr txBox="1"/>
          <p:nvPr/>
        </p:nvSpPr>
        <p:spPr>
          <a:xfrm>
            <a:off x="12484608"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Commission, now matched: Flipkart fashion at every price (8 Jul 2026)</a:t>
            </a:r>
            <a:endParaRPr lang="en-US" sz="1050" dirty="0"/>
          </a:p>
        </p:txBody>
      </p:sp>
      <p:sp>
        <p:nvSpPr>
          <p:cNvPr id="47" name="Shape 41"/>
          <p:cNvSpPr/>
          <p:nvPr/>
        </p:nvSpPr>
        <p:spPr>
          <a:xfrm>
            <a:off x="15281148" y="1426464"/>
            <a:ext cx="2778252" cy="841248"/>
          </a:xfrm>
          <a:prstGeom prst="rect">
            <a:avLst/>
          </a:prstGeom>
          <a:solidFill>
            <a:srgbClr val="F2E4EE"/>
          </a:solidFill>
          <a:ln w="12700">
            <a:solidFill>
              <a:srgbClr val="F2E4EE"/>
            </a:solidFill>
            <a:prstDash val="solid"/>
          </a:ln>
        </p:spPr>
      </p:sp>
      <p:sp>
        <p:nvSpPr>
          <p:cNvPr id="48" name="Text 42"/>
          <p:cNvSpPr txBox="1"/>
          <p:nvPr/>
        </p:nvSpPr>
        <p:spPr>
          <a:xfrm>
            <a:off x="15390876" y="1481328"/>
            <a:ext cx="2558796" cy="437449"/>
          </a:xfrm>
          <a:prstGeom prst="rect">
            <a:avLst/>
          </a:prstGeom>
          <a:noFill/>
          <a:ln/>
        </p:spPr>
        <p:txBody>
          <a:bodyPr wrap="square" lIns="0" tIns="0" rIns="0" bIns="0" rtlCol="0" anchor="ctr"/>
          <a:lstStyle/>
          <a:p>
            <a:pPr algn="l" indent="0" marL="0">
              <a:lnSpc>
                <a:spcPct val="100000"/>
              </a:lnSpc>
              <a:buNone/>
            </a:pPr>
            <a:r>
              <a:rPr lang="en-US" sz="2100" b="1" dirty="0">
                <a:solidFill>
                  <a:srgbClr val="560547"/>
                </a:solidFill>
                <a:latin typeface="Arial" pitchFamily="34" charset="0"/>
                <a:ea typeface="Arial" pitchFamily="34" charset="-122"/>
                <a:cs typeface="Arial" pitchFamily="34" charset="-120"/>
              </a:rPr>
              <a:t>264 mn</a:t>
            </a:r>
            <a:endParaRPr lang="en-US" sz="2100" dirty="0"/>
          </a:p>
        </p:txBody>
      </p:sp>
      <p:sp>
        <p:nvSpPr>
          <p:cNvPr id="49" name="Text 43"/>
          <p:cNvSpPr txBox="1"/>
          <p:nvPr/>
        </p:nvSpPr>
        <p:spPr>
          <a:xfrm>
            <a:off x="15390876" y="1889150"/>
            <a:ext cx="2558796" cy="353324"/>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Annual transacting users, +33%</a:t>
            </a:r>
            <a:endParaRPr lang="en-US" sz="1050" dirty="0"/>
          </a:p>
        </p:txBody>
      </p:sp>
      <p:sp>
        <p:nvSpPr>
          <p:cNvPr id="50" name="Shape 44"/>
          <p:cNvSpPr/>
          <p:nvPr/>
        </p:nvSpPr>
        <p:spPr>
          <a:xfrm>
            <a:off x="749808" y="2395728"/>
            <a:ext cx="3401568" cy="3566160"/>
          </a:xfrm>
          <a:prstGeom prst="rect">
            <a:avLst/>
          </a:prstGeom>
          <a:solidFill>
            <a:srgbClr val="FFFFFF"/>
          </a:solidFill>
          <a:ln w="9525">
            <a:solidFill>
              <a:srgbClr val="E0CEDA"/>
            </a:solidFill>
            <a:prstDash val="solid"/>
          </a:ln>
        </p:spPr>
      </p:sp>
      <p:sp>
        <p:nvSpPr>
          <p:cNvPr id="51" name="Shape 45"/>
          <p:cNvSpPr/>
          <p:nvPr/>
        </p:nvSpPr>
        <p:spPr>
          <a:xfrm>
            <a:off x="749808" y="2395728"/>
            <a:ext cx="3401568" cy="329184"/>
          </a:xfrm>
          <a:prstGeom prst="rect">
            <a:avLst/>
          </a:prstGeom>
          <a:solidFill>
            <a:srgbClr val="560547"/>
          </a:solidFill>
          <a:ln w="12700">
            <a:solidFill>
              <a:srgbClr val="560547"/>
            </a:solidFill>
            <a:prstDash val="solid"/>
          </a:ln>
        </p:spPr>
      </p:sp>
      <p:pic>
        <p:nvPicPr>
          <p:cNvPr id="52"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2459736"/>
            <a:ext cx="201168" cy="201168"/>
          </a:xfrm>
          <a:prstGeom prst="rect">
            <a:avLst/>
          </a:prstGeom>
        </p:spPr>
      </p:pic>
      <p:sp>
        <p:nvSpPr>
          <p:cNvPr id="53" name="Text 46"/>
          <p:cNvSpPr txBox="1"/>
          <p:nvPr/>
        </p:nvSpPr>
        <p:spPr>
          <a:xfrm>
            <a:off x="1133856" y="2395728"/>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A · Offline-only, B2B bulk</a:t>
            </a:r>
            <a:endParaRPr lang="en-US" sz="1150" dirty="0"/>
          </a:p>
        </p:txBody>
      </p:sp>
      <p:sp>
        <p:nvSpPr>
          <p:cNvPr id="54" name="Text 47"/>
          <p:cNvSpPr txBox="1"/>
          <p:nvPr/>
        </p:nvSpPr>
        <p:spPr>
          <a:xfrm>
            <a:off x="877824" y="2816352"/>
            <a:ext cx="1280160" cy="502920"/>
          </a:xfrm>
          <a:prstGeom prst="rect">
            <a:avLst/>
          </a:prstGeom>
          <a:noFill/>
          <a:ln/>
        </p:spPr>
        <p:txBody>
          <a:bodyPr wrap="square" lIns="0" tIns="0" rIns="0" bIns="0" rtlCol="0" anchor="t"/>
          <a:lstStyle/>
          <a:p>
            <a:pPr algn="l" indent="0" marL="0">
              <a:lnSpc>
                <a:spcPct val="100000"/>
              </a:lnSpc>
              <a:buNone/>
            </a:pPr>
            <a:r>
              <a:rPr lang="en-US" sz="2800" b="1" dirty="0">
                <a:solidFill>
                  <a:srgbClr val="560547"/>
                </a:solidFill>
                <a:latin typeface="Arial" pitchFamily="34" charset="0"/>
                <a:ea typeface="Arial" pitchFamily="34" charset="-122"/>
                <a:cs typeface="Arial" pitchFamily="34" charset="-120"/>
              </a:rPr>
              <a:t>72%</a:t>
            </a:r>
            <a:endParaRPr lang="en-US" sz="2800" dirty="0"/>
          </a:p>
        </p:txBody>
      </p:sp>
      <p:sp>
        <p:nvSpPr>
          <p:cNvPr id="55" name="Text 48"/>
          <p:cNvSpPr txBox="1"/>
          <p:nvPr/>
        </p:nvSpPr>
        <p:spPr>
          <a:xfrm>
            <a:off x="2203704" y="2852928"/>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8,400 firms</a:t>
            </a:r>
            <a:endParaRPr lang="en-US" sz="1200" dirty="0"/>
          </a:p>
        </p:txBody>
      </p:sp>
      <p:sp>
        <p:nvSpPr>
          <p:cNvPr id="56" name="Text 49"/>
          <p:cNvSpPr txBox="1"/>
          <p:nvPr/>
        </p:nvSpPr>
        <p:spPr>
          <a:xfrm>
            <a:off x="877824" y="343814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57" name="Text 50"/>
          <p:cNvSpPr txBox="1"/>
          <p:nvPr/>
        </p:nvSpPr>
        <p:spPr>
          <a:xfrm>
            <a:off x="877824" y="3621024"/>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Made to order, distributor-fed, zero returns, 45–60 day terms</a:t>
            </a:r>
            <a:endParaRPr lang="en-US" sz="1150" dirty="0"/>
          </a:p>
        </p:txBody>
      </p:sp>
      <p:sp>
        <p:nvSpPr>
          <p:cNvPr id="58" name="Text 51"/>
          <p:cNvSpPr txBox="1"/>
          <p:nvPr/>
        </p:nvSpPr>
        <p:spPr>
          <a:xfrm>
            <a:off x="877824" y="40965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59" name="Text 52"/>
          <p:cNvSpPr txBox="1"/>
          <p:nvPr/>
        </p:nvSpPr>
        <p:spPr>
          <a:xfrm>
            <a:off x="877824" y="4279392"/>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No unit-level ops; build-to-stock is a balance-sheet change</a:t>
            </a:r>
            <a:endParaRPr lang="en-US" sz="1150" dirty="0"/>
          </a:p>
        </p:txBody>
      </p:sp>
      <p:sp>
        <p:nvSpPr>
          <p:cNvPr id="60" name="Text 53"/>
          <p:cNvSpPr txBox="1"/>
          <p:nvPr/>
        </p:nvSpPr>
        <p:spPr>
          <a:xfrm>
            <a:off x="877824" y="47548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61" name="Text 54"/>
          <p:cNvSpPr txBox="1"/>
          <p:nvPr/>
        </p:nvSpPr>
        <p:spPr>
          <a:xfrm>
            <a:off x="877824" y="4937760"/>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Idle capacity; export shock (US tariff 50%, Aug–Dec 2025)</a:t>
            </a:r>
            <a:endParaRPr lang="en-US" sz="1150" dirty="0"/>
          </a:p>
        </p:txBody>
      </p:sp>
      <p:sp>
        <p:nvSpPr>
          <p:cNvPr id="62" name="Shape 55"/>
          <p:cNvSpPr/>
          <p:nvPr/>
        </p:nvSpPr>
        <p:spPr>
          <a:xfrm>
            <a:off x="841248" y="5376672"/>
            <a:ext cx="3218688" cy="603504"/>
          </a:xfrm>
          <a:prstGeom prst="rect">
            <a:avLst/>
          </a:prstGeom>
          <a:solidFill>
            <a:srgbClr val="FFF3D8"/>
          </a:solidFill>
          <a:ln w="12700">
            <a:solidFill>
              <a:srgbClr val="FFF3D8"/>
            </a:solidFill>
            <a:prstDash val="solid"/>
          </a:ln>
        </p:spPr>
      </p:sp>
      <p:sp>
        <p:nvSpPr>
          <p:cNvPr id="63" name="Text 56"/>
          <p:cNvSpPr txBox="1"/>
          <p:nvPr/>
        </p:nvSpPr>
        <p:spPr>
          <a:xfrm>
            <a:off x="877824"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64" name="Text 57"/>
          <p:cNvSpPr txBox="1"/>
          <p:nvPr/>
        </p:nvSpPr>
        <p:spPr>
          <a:xfrm>
            <a:off x="877824" y="5596128"/>
            <a:ext cx="3145536" cy="402336"/>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Factory Node + demand-confirmed batches</a:t>
            </a:r>
            <a:endParaRPr lang="en-US" sz="1150" dirty="0"/>
          </a:p>
        </p:txBody>
      </p:sp>
      <p:sp>
        <p:nvSpPr>
          <p:cNvPr id="65" name="Shape 58"/>
          <p:cNvSpPr/>
          <p:nvPr/>
        </p:nvSpPr>
        <p:spPr>
          <a:xfrm>
            <a:off x="4279392" y="2395728"/>
            <a:ext cx="3401568" cy="3566160"/>
          </a:xfrm>
          <a:prstGeom prst="rect">
            <a:avLst/>
          </a:prstGeom>
          <a:solidFill>
            <a:srgbClr val="FFFFFF"/>
          </a:solidFill>
          <a:ln w="9525">
            <a:solidFill>
              <a:srgbClr val="E0CEDA"/>
            </a:solidFill>
            <a:prstDash val="solid"/>
          </a:ln>
        </p:spPr>
      </p:sp>
      <p:sp>
        <p:nvSpPr>
          <p:cNvPr id="66" name="Shape 59"/>
          <p:cNvSpPr/>
          <p:nvPr/>
        </p:nvSpPr>
        <p:spPr>
          <a:xfrm>
            <a:off x="4279392" y="2395728"/>
            <a:ext cx="3401568" cy="329184"/>
          </a:xfrm>
          <a:prstGeom prst="rect">
            <a:avLst/>
          </a:prstGeom>
          <a:solidFill>
            <a:srgbClr val="560547"/>
          </a:solidFill>
          <a:ln w="12700">
            <a:solidFill>
              <a:srgbClr val="560547"/>
            </a:solidFill>
            <a:prstDash val="solid"/>
          </a:ln>
        </p:spPr>
      </p:sp>
      <p:pic>
        <p:nvPicPr>
          <p:cNvPr id="67" name="Image 4" descr="/private/tmp/claude-501/-Users-prathmeshwalimbe-Downloads-Meesho/dfec39d5-f971-4a3a-8cfb-761f4ef1fedb/scratchpad/deck/assets/icons/FaGlobe_w.png">    </p:cNvPr>
          <p:cNvPicPr>
            <a:picLocks noChangeAspect="1"/>
          </p:cNvPicPr>
          <p:nvPr/>
        </p:nvPicPr>
        <p:blipFill>
          <a:blip r:embed="rId5"/>
          <a:stretch>
            <a:fillRect/>
          </a:stretch>
        </p:blipFill>
        <p:spPr>
          <a:xfrm>
            <a:off x="4389120" y="2459736"/>
            <a:ext cx="201168" cy="201168"/>
          </a:xfrm>
          <a:prstGeom prst="rect">
            <a:avLst/>
          </a:prstGeom>
        </p:spPr>
      </p:pic>
      <p:sp>
        <p:nvSpPr>
          <p:cNvPr id="68" name="Text 60"/>
          <p:cNvSpPr txBox="1"/>
          <p:nvPr/>
        </p:nvSpPr>
        <p:spPr>
          <a:xfrm>
            <a:off x="4663440" y="2395728"/>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B · Online, active elsewhere</a:t>
            </a:r>
            <a:endParaRPr lang="en-US" sz="1150" dirty="0"/>
          </a:p>
        </p:txBody>
      </p:sp>
      <p:sp>
        <p:nvSpPr>
          <p:cNvPr id="69" name="Text 61"/>
          <p:cNvSpPr txBox="1"/>
          <p:nvPr/>
        </p:nvSpPr>
        <p:spPr>
          <a:xfrm>
            <a:off x="4407408" y="2816352"/>
            <a:ext cx="1280160" cy="502920"/>
          </a:xfrm>
          <a:prstGeom prst="rect">
            <a:avLst/>
          </a:prstGeom>
          <a:noFill/>
          <a:ln/>
        </p:spPr>
        <p:txBody>
          <a:bodyPr wrap="square" lIns="0" tIns="0" rIns="0" bIns="0" rtlCol="0" anchor="t"/>
          <a:lstStyle/>
          <a:p>
            <a:pPr algn="l" indent="0" marL="0">
              <a:lnSpc>
                <a:spcPct val="100000"/>
              </a:lnSpc>
              <a:buNone/>
            </a:pPr>
            <a:r>
              <a:rPr lang="en-US" sz="2800" b="1" dirty="0">
                <a:solidFill>
                  <a:srgbClr val="560547"/>
                </a:solidFill>
                <a:latin typeface="Arial" pitchFamily="34" charset="0"/>
                <a:ea typeface="Arial" pitchFamily="34" charset="-122"/>
                <a:cs typeface="Arial" pitchFamily="34" charset="-120"/>
              </a:rPr>
              <a:t>19%</a:t>
            </a:r>
            <a:endParaRPr lang="en-US" sz="2800" dirty="0"/>
          </a:p>
        </p:txBody>
      </p:sp>
      <p:sp>
        <p:nvSpPr>
          <p:cNvPr id="70" name="Text 62"/>
          <p:cNvSpPr txBox="1"/>
          <p:nvPr/>
        </p:nvSpPr>
        <p:spPr>
          <a:xfrm>
            <a:off x="5733288" y="2852928"/>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2,200 firms</a:t>
            </a:r>
            <a:endParaRPr lang="en-US" sz="1200" dirty="0"/>
          </a:p>
        </p:txBody>
      </p:sp>
      <p:sp>
        <p:nvSpPr>
          <p:cNvPr id="71" name="Text 63"/>
          <p:cNvSpPr txBox="1"/>
          <p:nvPr/>
        </p:nvSpPr>
        <p:spPr>
          <a:xfrm>
            <a:off x="4407408" y="343814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72" name="Text 64"/>
          <p:cNvSpPr txBox="1"/>
          <p:nvPr/>
        </p:nvSpPr>
        <p:spPr>
          <a:xfrm>
            <a:off x="4407408" y="3621024"/>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On Amazon, Flipkart or own D2C; GST and catalogue done</a:t>
            </a:r>
            <a:endParaRPr lang="en-US" sz="1150" dirty="0"/>
          </a:p>
        </p:txBody>
      </p:sp>
      <p:sp>
        <p:nvSpPr>
          <p:cNvPr id="73" name="Text 65"/>
          <p:cNvSpPr txBox="1"/>
          <p:nvPr/>
        </p:nvSpPr>
        <p:spPr>
          <a:xfrm>
            <a:off x="4407408" y="40965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74" name="Text 66"/>
          <p:cNvSpPr txBox="1"/>
          <p:nvPr/>
        </p:nvSpPr>
        <p:spPr>
          <a:xfrm>
            <a:off x="4407408" y="4279392"/>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₹800+ basket catalogue loses money at a ₹265 AOV</a:t>
            </a:r>
            <a:endParaRPr lang="en-US" sz="1150" dirty="0"/>
          </a:p>
        </p:txBody>
      </p:sp>
      <p:sp>
        <p:nvSpPr>
          <p:cNvPr id="75" name="Text 67"/>
          <p:cNvSpPr txBox="1"/>
          <p:nvPr/>
        </p:nvSpPr>
        <p:spPr>
          <a:xfrm>
            <a:off x="4407408" y="47548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76" name="Text 68"/>
          <p:cNvSpPr txBox="1"/>
          <p:nvPr/>
        </p:nvSpPr>
        <p:spPr>
          <a:xfrm>
            <a:off x="4407408" y="4937760"/>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264 mn buyers and a Tier-2+ base it cannot reach elsewhere</a:t>
            </a:r>
            <a:endParaRPr lang="en-US" sz="1150" dirty="0"/>
          </a:p>
        </p:txBody>
      </p:sp>
      <p:sp>
        <p:nvSpPr>
          <p:cNvPr id="77" name="Shape 69"/>
          <p:cNvSpPr/>
          <p:nvPr/>
        </p:nvSpPr>
        <p:spPr>
          <a:xfrm>
            <a:off x="4370832" y="5376672"/>
            <a:ext cx="3218688" cy="603504"/>
          </a:xfrm>
          <a:prstGeom prst="rect">
            <a:avLst/>
          </a:prstGeom>
          <a:solidFill>
            <a:srgbClr val="FFF3D8"/>
          </a:solidFill>
          <a:ln w="12700">
            <a:solidFill>
              <a:srgbClr val="FFF3D8"/>
            </a:solidFill>
            <a:prstDash val="solid"/>
          </a:ln>
        </p:spPr>
      </p:sp>
      <p:sp>
        <p:nvSpPr>
          <p:cNvPr id="78" name="Text 70"/>
          <p:cNvSpPr txBox="1"/>
          <p:nvPr/>
        </p:nvSpPr>
        <p:spPr>
          <a:xfrm>
            <a:off x="4407408"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79" name="Text 71"/>
          <p:cNvSpPr txBox="1"/>
          <p:nvPr/>
        </p:nvSpPr>
        <p:spPr>
          <a:xfrm>
            <a:off x="4407408" y="5596128"/>
            <a:ext cx="3145536" cy="402336"/>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Price check + value-tier catalogue, not a discount</a:t>
            </a:r>
            <a:endParaRPr lang="en-US" sz="1150" dirty="0"/>
          </a:p>
        </p:txBody>
      </p:sp>
      <p:sp>
        <p:nvSpPr>
          <p:cNvPr id="80" name="Shape 72"/>
          <p:cNvSpPr/>
          <p:nvPr/>
        </p:nvSpPr>
        <p:spPr>
          <a:xfrm>
            <a:off x="7808976" y="2395728"/>
            <a:ext cx="3401568" cy="3566160"/>
          </a:xfrm>
          <a:prstGeom prst="rect">
            <a:avLst/>
          </a:prstGeom>
          <a:solidFill>
            <a:srgbClr val="FFFFFF"/>
          </a:solidFill>
          <a:ln w="9525">
            <a:solidFill>
              <a:srgbClr val="E0CEDA"/>
            </a:solidFill>
            <a:prstDash val="solid"/>
          </a:ln>
        </p:spPr>
      </p:sp>
      <p:sp>
        <p:nvSpPr>
          <p:cNvPr id="81" name="Shape 73"/>
          <p:cNvSpPr/>
          <p:nvPr/>
        </p:nvSpPr>
        <p:spPr>
          <a:xfrm>
            <a:off x="7808976" y="2395728"/>
            <a:ext cx="3401568" cy="329184"/>
          </a:xfrm>
          <a:prstGeom prst="rect">
            <a:avLst/>
          </a:prstGeom>
          <a:solidFill>
            <a:srgbClr val="560547"/>
          </a:solidFill>
          <a:ln w="12700">
            <a:solidFill>
              <a:srgbClr val="560547"/>
            </a:solidFill>
            <a:prstDash val="solid"/>
          </a:ln>
        </p:spPr>
      </p:sp>
      <p:pic>
        <p:nvPicPr>
          <p:cNvPr id="82" name="Image 5" descr="/private/tmp/claude-501/-Users-prathmeshwalimbe-Downloads-Meesho/dfec39d5-f971-4a3a-8cfb-761f4ef1fedb/scratchpad/deck/assets/icons/FaUserClock_w.png">    </p:cNvPr>
          <p:cNvPicPr>
            <a:picLocks noChangeAspect="1"/>
          </p:cNvPicPr>
          <p:nvPr/>
        </p:nvPicPr>
        <p:blipFill>
          <a:blip r:embed="rId6"/>
          <a:stretch>
            <a:fillRect/>
          </a:stretch>
        </p:blipFill>
        <p:spPr>
          <a:xfrm>
            <a:off x="7918704" y="2459736"/>
            <a:ext cx="201168" cy="201168"/>
          </a:xfrm>
          <a:prstGeom prst="rect">
            <a:avLst/>
          </a:prstGeom>
        </p:spPr>
      </p:pic>
      <p:sp>
        <p:nvSpPr>
          <p:cNvPr id="83" name="Text 74"/>
          <p:cNvSpPr txBox="1"/>
          <p:nvPr/>
        </p:nvSpPr>
        <p:spPr>
          <a:xfrm>
            <a:off x="8193024" y="2395728"/>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C · Churned from Meesho</a:t>
            </a:r>
            <a:endParaRPr lang="en-US" sz="1150" dirty="0"/>
          </a:p>
        </p:txBody>
      </p:sp>
      <p:sp>
        <p:nvSpPr>
          <p:cNvPr id="84" name="Text 75"/>
          <p:cNvSpPr txBox="1"/>
          <p:nvPr/>
        </p:nvSpPr>
        <p:spPr>
          <a:xfrm>
            <a:off x="7936992" y="2816352"/>
            <a:ext cx="1280160" cy="502920"/>
          </a:xfrm>
          <a:prstGeom prst="rect">
            <a:avLst/>
          </a:prstGeom>
          <a:noFill/>
          <a:ln/>
        </p:spPr>
        <p:txBody>
          <a:bodyPr wrap="square" lIns="0" tIns="0" rIns="0" bIns="0" rtlCol="0" anchor="t"/>
          <a:lstStyle/>
          <a:p>
            <a:pPr algn="l" indent="0" marL="0">
              <a:lnSpc>
                <a:spcPct val="100000"/>
              </a:lnSpc>
              <a:buNone/>
            </a:pPr>
            <a:r>
              <a:rPr lang="en-US" sz="2800" b="1" dirty="0">
                <a:solidFill>
                  <a:srgbClr val="560547"/>
                </a:solidFill>
                <a:latin typeface="Arial" pitchFamily="34" charset="0"/>
                <a:ea typeface="Arial" pitchFamily="34" charset="-122"/>
                <a:cs typeface="Arial" pitchFamily="34" charset="-120"/>
              </a:rPr>
              <a:t>9%</a:t>
            </a:r>
            <a:endParaRPr lang="en-US" sz="2800" dirty="0"/>
          </a:p>
        </p:txBody>
      </p:sp>
      <p:sp>
        <p:nvSpPr>
          <p:cNvPr id="85" name="Text 76"/>
          <p:cNvSpPr txBox="1"/>
          <p:nvPr/>
        </p:nvSpPr>
        <p:spPr>
          <a:xfrm>
            <a:off x="9262872" y="2852928"/>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1,050 firms</a:t>
            </a:r>
            <a:endParaRPr lang="en-US" sz="1200" dirty="0"/>
          </a:p>
        </p:txBody>
      </p:sp>
      <p:sp>
        <p:nvSpPr>
          <p:cNvPr id="86" name="Text 77"/>
          <p:cNvSpPr txBox="1"/>
          <p:nvPr/>
        </p:nvSpPr>
        <p:spPr>
          <a:xfrm>
            <a:off x="7936992" y="343814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87" name="Text 78"/>
          <p:cNvSpPr txBox="1"/>
          <p:nvPr/>
        </p:nvSpPr>
        <p:spPr>
          <a:xfrm>
            <a:off x="7936992" y="3621024"/>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Listed, exited inside two quarters; catalogue dormant</a:t>
            </a:r>
            <a:endParaRPr lang="en-US" sz="1150" dirty="0"/>
          </a:p>
        </p:txBody>
      </p:sp>
      <p:sp>
        <p:nvSpPr>
          <p:cNvPr id="88" name="Text 79"/>
          <p:cNvSpPr txBox="1"/>
          <p:nvPr/>
        </p:nvSpPr>
        <p:spPr>
          <a:xfrm>
            <a:off x="7936992" y="40965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89" name="Text 80"/>
          <p:cNvSpPr txBox="1"/>
          <p:nvPr/>
        </p:nvSpPr>
        <p:spPr>
          <a:xfrm>
            <a:off x="7936992" y="4279392"/>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Weak first 30 orders, then an RTO or returns shock</a:t>
            </a:r>
            <a:endParaRPr lang="en-US" sz="1150" dirty="0"/>
          </a:p>
        </p:txBody>
      </p:sp>
      <p:sp>
        <p:nvSpPr>
          <p:cNvPr id="90" name="Text 81"/>
          <p:cNvSpPr txBox="1"/>
          <p:nvPr/>
        </p:nvSpPr>
        <p:spPr>
          <a:xfrm>
            <a:off x="7936992" y="47548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91" name="Text 82"/>
          <p:cNvSpPr txBox="1"/>
          <p:nvPr/>
        </p:nvSpPr>
        <p:spPr>
          <a:xfrm>
            <a:off x="7936992" y="4937760"/>
            <a:ext cx="3145536" cy="402336"/>
          </a:xfrm>
          <a:prstGeom prst="rect">
            <a:avLst/>
          </a:prstGeom>
          <a:noFill/>
          <a:ln/>
        </p:spPr>
        <p:txBody>
          <a:bodyPr wrap="square" lIns="0" tIns="0" rIns="0" bIns="0" rtlCol="0" anchor="t"/>
          <a:lstStyle/>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Sunk catalogue cost; KYC and price history already exist</a:t>
            </a:r>
            <a:endParaRPr lang="en-US" sz="1150" dirty="0"/>
          </a:p>
        </p:txBody>
      </p:sp>
      <p:sp>
        <p:nvSpPr>
          <p:cNvPr id="92" name="Shape 83"/>
          <p:cNvSpPr/>
          <p:nvPr/>
        </p:nvSpPr>
        <p:spPr>
          <a:xfrm>
            <a:off x="7900416" y="5376672"/>
            <a:ext cx="3218688" cy="603504"/>
          </a:xfrm>
          <a:prstGeom prst="rect">
            <a:avLst/>
          </a:prstGeom>
          <a:solidFill>
            <a:srgbClr val="FFF3D8"/>
          </a:solidFill>
          <a:ln w="12700">
            <a:solidFill>
              <a:srgbClr val="FFF3D8"/>
            </a:solidFill>
            <a:prstDash val="solid"/>
          </a:ln>
        </p:spPr>
      </p:sp>
      <p:sp>
        <p:nvSpPr>
          <p:cNvPr id="93" name="Text 84"/>
          <p:cNvSpPr txBox="1"/>
          <p:nvPr/>
        </p:nvSpPr>
        <p:spPr>
          <a:xfrm>
            <a:off x="7936992"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94" name="Text 85"/>
          <p:cNvSpPr txBox="1"/>
          <p:nvPr/>
        </p:nvSpPr>
        <p:spPr>
          <a:xfrm>
            <a:off x="7936992" y="5596128"/>
            <a:ext cx="3145536" cy="402336"/>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Returns firewall + health-score re-entry</a:t>
            </a:r>
            <a:endParaRPr lang="en-US" sz="1150" dirty="0"/>
          </a:p>
        </p:txBody>
      </p:sp>
      <p:sp>
        <p:nvSpPr>
          <p:cNvPr id="95" name="Shape 86"/>
          <p:cNvSpPr/>
          <p:nvPr/>
        </p:nvSpPr>
        <p:spPr>
          <a:xfrm>
            <a:off x="11338560" y="2395728"/>
            <a:ext cx="6720840" cy="3566160"/>
          </a:xfrm>
          <a:prstGeom prst="rect">
            <a:avLst/>
          </a:prstGeom>
          <a:solidFill>
            <a:srgbClr val="FFFFFF"/>
          </a:solidFill>
          <a:ln w="9525">
            <a:solidFill>
              <a:srgbClr val="E0CEDA"/>
            </a:solidFill>
            <a:prstDash val="solid"/>
          </a:ln>
        </p:spPr>
      </p:sp>
      <p:sp>
        <p:nvSpPr>
          <p:cNvPr id="96" name="Shape 87"/>
          <p:cNvSpPr/>
          <p:nvPr/>
        </p:nvSpPr>
        <p:spPr>
          <a:xfrm>
            <a:off x="11338560" y="2395728"/>
            <a:ext cx="6720840" cy="329184"/>
          </a:xfrm>
          <a:prstGeom prst="rect">
            <a:avLst/>
          </a:prstGeom>
          <a:solidFill>
            <a:srgbClr val="560547"/>
          </a:solidFill>
          <a:ln w="12700">
            <a:solidFill>
              <a:srgbClr val="560547"/>
            </a:solidFill>
            <a:prstDash val="solid"/>
          </a:ln>
        </p:spPr>
      </p:sp>
      <p:sp>
        <p:nvSpPr>
          <p:cNvPr id="97" name="Text 88"/>
          <p:cNvSpPr txBox="1"/>
          <p:nvPr/>
        </p:nvSpPr>
        <p:spPr>
          <a:xfrm>
            <a:off x="11466576" y="2395728"/>
            <a:ext cx="646480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BARRIER SEVERITY × COHORT</a:t>
            </a:r>
            <a:endParaRPr lang="en-US" sz="1250" dirty="0"/>
          </a:p>
        </p:txBody>
      </p:sp>
      <p:sp>
        <p:nvSpPr>
          <p:cNvPr id="98" name="Text 89"/>
          <p:cNvSpPr txBox="1"/>
          <p:nvPr/>
        </p:nvSpPr>
        <p:spPr>
          <a:xfrm>
            <a:off x="14218920" y="2395728"/>
            <a:ext cx="3712464" cy="329184"/>
          </a:xfrm>
          <a:prstGeom prst="rect">
            <a:avLst/>
          </a:prstGeom>
          <a:noFill/>
          <a:ln/>
        </p:spPr>
        <p:txBody>
          <a:bodyPr wrap="square" lIns="0" tIns="0" rIns="0" bIns="0" rtlCol="0" anchor="ctr"/>
          <a:lstStyle/>
          <a:p>
            <a:pPr algn="r" indent="0" marL="0">
              <a:lnSpc>
                <a:spcPct val="100000"/>
              </a:lnSpc>
              <a:buNone/>
            </a:pPr>
            <a:r>
              <a:rPr lang="en-US" sz="1050" i="1" dirty="0">
                <a:solidFill>
                  <a:srgbClr val="F3D6E6"/>
                </a:solidFill>
                <a:latin typeface="Calibri" pitchFamily="34" charset="0"/>
                <a:ea typeface="Calibri" pitchFamily="34" charset="-122"/>
                <a:cs typeface="Calibri" pitchFamily="34" charset="-120"/>
              </a:rPr>
              <a:t>from the 24-interview objection set</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66576" y="2816352"/>
          <a:ext cx="6464808" cy="914400"/>
        </p:xfrm>
        <a:graphic>
          <a:graphicData uri="http://schemas.openxmlformats.org/drawingml/2006/table">
            <a:tbl>
              <a:tblPr/>
              <a:tblGrid>
                <a:gridCol w="3218688"/>
                <a:gridCol w="685800"/>
                <a:gridCol w="685800"/>
                <a:gridCol w="685800"/>
                <a:gridCol w="1188720"/>
              </a:tblGrid>
              <a:tr h="329184">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Barrier</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A</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B</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C</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Meesho can fix</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Unit-level fulfilment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Inventory risk, build-to-stock</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Returns and RTO exposure</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Unproven demand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Cash cycle, settlement lag</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Channel conflict, brand dilution</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00" name="Text 90"/>
          <p:cNvSpPr txBox="1"/>
          <p:nvPr/>
        </p:nvSpPr>
        <p:spPr>
          <a:xfrm>
            <a:off x="11466576" y="5303520"/>
            <a:ext cx="6464808" cy="68580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Four of six barriers are HIGH for Cohort A and all four are fixable with infrastructure.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Brand dilution at a ₹265 AOV is not fixable, which is why Cohort B gets a separate value-tier catalogue rather than a discount.</a:t>
            </a:r>
            <a:endParaRPr lang="en-US" sz="1150" dirty="0"/>
          </a:p>
        </p:txBody>
      </p:sp>
      <p:sp>
        <p:nvSpPr>
          <p:cNvPr id="101" name="Shape 91"/>
          <p:cNvSpPr/>
          <p:nvPr/>
        </p:nvSpPr>
        <p:spPr>
          <a:xfrm>
            <a:off x="749808" y="6089904"/>
            <a:ext cx="6675120" cy="2926080"/>
          </a:xfrm>
          <a:prstGeom prst="rect">
            <a:avLst/>
          </a:prstGeom>
          <a:solidFill>
            <a:srgbClr val="FFFFFF"/>
          </a:solidFill>
          <a:ln w="9525">
            <a:solidFill>
              <a:srgbClr val="E0CEDA"/>
            </a:solidFill>
            <a:prstDash val="solid"/>
          </a:ln>
        </p:spPr>
      </p:sp>
      <p:sp>
        <p:nvSpPr>
          <p:cNvPr id="102" name="Shape 92"/>
          <p:cNvSpPr/>
          <p:nvPr/>
        </p:nvSpPr>
        <p:spPr>
          <a:xfrm>
            <a:off x="749808" y="6089904"/>
            <a:ext cx="6675120" cy="329184"/>
          </a:xfrm>
          <a:prstGeom prst="rect">
            <a:avLst/>
          </a:prstGeom>
          <a:solidFill>
            <a:srgbClr val="560547"/>
          </a:solidFill>
          <a:ln w="12700">
            <a:solidFill>
              <a:srgbClr val="560547"/>
            </a:solidFill>
            <a:prstDash val="solid"/>
          </a:ln>
        </p:spPr>
      </p:sp>
      <p:pic>
        <p:nvPicPr>
          <p:cNvPr id="103" name="Image 6" descr="/private/tmp/claude-501/-Users-prathmeshwalimbe-Downloads-Meesho/dfec39d5-f971-4a3a-8cfb-761f4ef1fedb/scratchpad/deck/assets/icons/FaMagnifyingGlassChart_w.png">    </p:cNvPr>
          <p:cNvPicPr>
            <a:picLocks noChangeAspect="1"/>
          </p:cNvPicPr>
          <p:nvPr/>
        </p:nvPicPr>
        <p:blipFill>
          <a:blip r:embed="rId7"/>
          <a:stretch>
            <a:fillRect/>
          </a:stretch>
        </p:blipFill>
        <p:spPr>
          <a:xfrm>
            <a:off x="859536" y="6153912"/>
            <a:ext cx="201168" cy="201168"/>
          </a:xfrm>
          <a:prstGeom prst="rect">
            <a:avLst/>
          </a:prstGeom>
        </p:spPr>
      </p:pic>
      <p:sp>
        <p:nvSpPr>
          <p:cNvPr id="104" name="Text 93"/>
          <p:cNvSpPr txBox="1"/>
          <p:nvPr/>
        </p:nvSpPr>
        <p:spPr>
          <a:xfrm>
            <a:off x="1133856" y="6089904"/>
            <a:ext cx="61630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FIELD EVIDENCE · TIRUPPUR, THE PILOT CLUSTER</a:t>
            </a:r>
            <a:endParaRPr lang="en-US" sz="1250" dirty="0"/>
          </a:p>
        </p:txBody>
      </p:sp>
      <p:sp>
        <p:nvSpPr>
          <p:cNvPr id="105" name="Text 94"/>
          <p:cNvSpPr txBox="1"/>
          <p:nvPr/>
        </p:nvSpPr>
        <p:spPr>
          <a:xfrm>
            <a:off x="877824" y="651052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3,200</a:t>
            </a:r>
            <a:endParaRPr lang="en-US" sz="2000" dirty="0"/>
          </a:p>
        </p:txBody>
      </p:sp>
      <p:sp>
        <p:nvSpPr>
          <p:cNvPr id="106" name="Text 95"/>
          <p:cNvSpPr txBox="1"/>
          <p:nvPr/>
        </p:nvSpPr>
        <p:spPr>
          <a:xfrm>
            <a:off x="877824" y="692200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knitwear manufacturers</a:t>
            </a:r>
            <a:endParaRPr lang="en-US" sz="1100" dirty="0"/>
          </a:p>
        </p:txBody>
      </p:sp>
      <p:sp>
        <p:nvSpPr>
          <p:cNvPr id="107" name="Text 96"/>
          <p:cNvSpPr txBox="1"/>
          <p:nvPr/>
        </p:nvSpPr>
        <p:spPr>
          <a:xfrm>
            <a:off x="4087368" y="651052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₹74,747 cr</a:t>
            </a:r>
            <a:endParaRPr lang="en-US" sz="2000" dirty="0"/>
          </a:p>
        </p:txBody>
      </p:sp>
      <p:sp>
        <p:nvSpPr>
          <p:cNvPr id="108" name="Text 97"/>
          <p:cNvSpPr txBox="1"/>
          <p:nvPr/>
        </p:nvSpPr>
        <p:spPr>
          <a:xfrm>
            <a:off x="4087368" y="692200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FY26 output; ₹44,747 cr exported, ≈₹30,000 cr domestic</a:t>
            </a:r>
            <a:endParaRPr lang="en-US" sz="1100" dirty="0"/>
          </a:p>
        </p:txBody>
      </p:sp>
      <p:sp>
        <p:nvSpPr>
          <p:cNvPr id="109" name="Text 98"/>
          <p:cNvSpPr txBox="1"/>
          <p:nvPr/>
        </p:nvSpPr>
        <p:spPr>
          <a:xfrm>
            <a:off x="877824" y="747064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−60 to −70%</a:t>
            </a:r>
            <a:endParaRPr lang="en-US" sz="2000" dirty="0"/>
          </a:p>
        </p:txBody>
      </p:sp>
      <p:sp>
        <p:nvSpPr>
          <p:cNvPr id="110" name="Text 99"/>
          <p:cNvSpPr txBox="1"/>
          <p:nvPr/>
        </p:nvSpPr>
        <p:spPr>
          <a:xfrm>
            <a:off x="877824" y="788212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US orders under the 50% tariff, Aug–Dec 2025</a:t>
            </a:r>
            <a:endParaRPr lang="en-US" sz="1100" dirty="0"/>
          </a:p>
        </p:txBody>
      </p:sp>
      <p:sp>
        <p:nvSpPr>
          <p:cNvPr id="111" name="Text 100"/>
          <p:cNvSpPr txBox="1"/>
          <p:nvPr/>
        </p:nvSpPr>
        <p:spPr>
          <a:xfrm>
            <a:off x="4087368" y="747064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750–1,000</a:t>
            </a:r>
            <a:endParaRPr lang="en-US" sz="2000" dirty="0"/>
          </a:p>
        </p:txBody>
      </p:sp>
      <p:sp>
        <p:nvSpPr>
          <p:cNvPr id="112" name="Text 101"/>
          <p:cNvSpPr txBox="1"/>
          <p:nvPr/>
        </p:nvSpPr>
        <p:spPr>
          <a:xfrm>
            <a:off x="4087368" y="788212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units shut; tariff now 18%, plus an India–EU trade deal</a:t>
            </a:r>
            <a:endParaRPr lang="en-US" sz="1100" dirty="0"/>
          </a:p>
        </p:txBody>
      </p:sp>
      <p:sp>
        <p:nvSpPr>
          <p:cNvPr id="113" name="Text 102"/>
          <p:cNvSpPr txBox="1"/>
          <p:nvPr/>
        </p:nvSpPr>
        <p:spPr>
          <a:xfrm>
            <a:off x="877824" y="8503920"/>
            <a:ext cx="6419088" cy="502920"/>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So what: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the export shock proved the motivation, and the rollback is closing the window. Pilot now, and sell C2M as a permanent hedge, not a rescue.</a:t>
            </a:r>
            <a:endParaRPr lang="en-US" sz="1150" dirty="0"/>
          </a:p>
        </p:txBody>
      </p:sp>
      <p:sp>
        <p:nvSpPr>
          <p:cNvPr id="114" name="Shape 103"/>
          <p:cNvSpPr/>
          <p:nvPr/>
        </p:nvSpPr>
        <p:spPr>
          <a:xfrm>
            <a:off x="7552944" y="6089904"/>
            <a:ext cx="5486400" cy="2926080"/>
          </a:xfrm>
          <a:prstGeom prst="rect">
            <a:avLst/>
          </a:prstGeom>
          <a:solidFill>
            <a:srgbClr val="FFFFFF"/>
          </a:solidFill>
          <a:ln w="9525">
            <a:solidFill>
              <a:srgbClr val="E0CEDA"/>
            </a:solidFill>
            <a:prstDash val="solid"/>
          </a:ln>
        </p:spPr>
      </p:sp>
      <p:sp>
        <p:nvSpPr>
          <p:cNvPr id="115" name="Shape 104"/>
          <p:cNvSpPr/>
          <p:nvPr/>
        </p:nvSpPr>
        <p:spPr>
          <a:xfrm>
            <a:off x="7552944" y="6089904"/>
            <a:ext cx="5486400" cy="329184"/>
          </a:xfrm>
          <a:prstGeom prst="rect">
            <a:avLst/>
          </a:prstGeom>
          <a:solidFill>
            <a:srgbClr val="560547"/>
          </a:solidFill>
          <a:ln w="12700">
            <a:solidFill>
              <a:srgbClr val="560547"/>
            </a:solidFill>
            <a:prstDash val="solid"/>
          </a:ln>
        </p:spPr>
      </p:sp>
      <p:pic>
        <p:nvPicPr>
          <p:cNvPr id="116" name="Image 7" descr="/private/tmp/claude-501/-Users-prathmeshwalimbe-Downloads-Meesho/dfec39d5-f971-4a3a-8cfb-761f4ef1fedb/scratchpad/deck/assets/icons/FaFlask_w.png">    </p:cNvPr>
          <p:cNvPicPr>
            <a:picLocks noChangeAspect="1"/>
          </p:cNvPicPr>
          <p:nvPr/>
        </p:nvPicPr>
        <p:blipFill>
          <a:blip r:embed="rId8"/>
          <a:stretch>
            <a:fillRect/>
          </a:stretch>
        </p:blipFill>
        <p:spPr>
          <a:xfrm>
            <a:off x="7662672" y="6153912"/>
            <a:ext cx="201168" cy="201168"/>
          </a:xfrm>
          <a:prstGeom prst="rect">
            <a:avLst/>
          </a:prstGeom>
        </p:spPr>
      </p:pic>
      <p:sp>
        <p:nvSpPr>
          <p:cNvPr id="117" name="Text 105"/>
          <p:cNvSpPr txBox="1"/>
          <p:nvPr/>
        </p:nvSpPr>
        <p:spPr>
          <a:xfrm>
            <a:off x="7936992" y="6089904"/>
            <a:ext cx="4974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RESEARCH DESIGN · METHODS, COVERAGE</a:t>
            </a:r>
            <a:endParaRPr lang="en-US" sz="12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7680960" y="6510528"/>
          <a:ext cx="5230368" cy="914400"/>
        </p:xfrm>
        <a:graphic>
          <a:graphicData uri="http://schemas.openxmlformats.org/drawingml/2006/table">
            <a:tbl>
              <a:tblPr/>
              <a:tblGrid>
                <a:gridCol w="2514600"/>
                <a:gridCol w="1051560"/>
                <a:gridCol w="1664208"/>
              </a:tblGrid>
              <a:tr h="2743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Method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Output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Manufacturer interviews, 3 cohorts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8 each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Objection set, barrier grid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Cluster walk-throughs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Cost Ownership Index</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Platform teardown: fees, feed, panel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4 cats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Landed-price medians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Filings, earnings calls, Udyam, cluster studies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FY26 baseline, addressable base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Global C2M teardowns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7 · 5 mkts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Copy / avoid library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Round 2 fact-check: results, earnings call, Reuters, trade press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Corrected margin, precedents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Prototype simulation (synthetic, seeded)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261 · 4,415 SKUs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Rules tested end to end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19" name="Shape 106"/>
          <p:cNvSpPr/>
          <p:nvPr/>
        </p:nvSpPr>
        <p:spPr>
          <a:xfrm>
            <a:off x="13167360" y="6089904"/>
            <a:ext cx="4892040" cy="2926080"/>
          </a:xfrm>
          <a:prstGeom prst="rect">
            <a:avLst/>
          </a:prstGeom>
          <a:solidFill>
            <a:srgbClr val="FFFFFF"/>
          </a:solidFill>
          <a:ln w="9525">
            <a:solidFill>
              <a:srgbClr val="E0CEDA"/>
            </a:solidFill>
            <a:prstDash val="solid"/>
          </a:ln>
        </p:spPr>
      </p:sp>
      <p:sp>
        <p:nvSpPr>
          <p:cNvPr id="120" name="Shape 107"/>
          <p:cNvSpPr/>
          <p:nvPr/>
        </p:nvSpPr>
        <p:spPr>
          <a:xfrm>
            <a:off x="13167360" y="6089904"/>
            <a:ext cx="4892040" cy="329184"/>
          </a:xfrm>
          <a:prstGeom prst="rect">
            <a:avLst/>
          </a:prstGeom>
          <a:solidFill>
            <a:srgbClr val="8A245E"/>
          </a:solidFill>
          <a:ln w="12700">
            <a:solidFill>
              <a:srgbClr val="8A245E"/>
            </a:solidFill>
            <a:prstDash val="solid"/>
          </a:ln>
        </p:spPr>
      </p:sp>
      <p:pic>
        <p:nvPicPr>
          <p:cNvPr id="121" name="Image 8" descr="/private/tmp/claude-501/-Users-prathmeshwalimbe-Downloads-Meesho/dfec39d5-f971-4a3a-8cfb-761f4ef1fedb/scratchpad/deck/assets/icons/FaScaleUnbalanced_w.png">    </p:cNvPr>
          <p:cNvPicPr>
            <a:picLocks noChangeAspect="1"/>
          </p:cNvPicPr>
          <p:nvPr/>
        </p:nvPicPr>
        <p:blipFill>
          <a:blip r:embed="rId9"/>
          <a:stretch>
            <a:fillRect/>
          </a:stretch>
        </p:blipFill>
        <p:spPr>
          <a:xfrm>
            <a:off x="13277088" y="6153912"/>
            <a:ext cx="201168" cy="201168"/>
          </a:xfrm>
          <a:prstGeom prst="rect">
            <a:avLst/>
          </a:prstGeom>
        </p:spPr>
      </p:pic>
      <p:sp>
        <p:nvSpPr>
          <p:cNvPr id="122" name="Text 108"/>
          <p:cNvSpPr txBox="1"/>
          <p:nvPr/>
        </p:nvSpPr>
        <p:spPr>
          <a:xfrm>
            <a:off x="13551408" y="6089904"/>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DELIBERATELY NOT NOW</a:t>
            </a:r>
            <a:endParaRPr lang="en-US" sz="1250" dirty="0"/>
          </a:p>
        </p:txBody>
      </p:sp>
      <p:sp>
        <p:nvSpPr>
          <p:cNvPr id="123" name="Text 109"/>
          <p:cNvSpPr txBox="1"/>
          <p:nvPr/>
        </p:nvSpPr>
        <p:spPr>
          <a:xfrm>
            <a:off x="13295376" y="6510528"/>
            <a:ext cx="4636008" cy="2432304"/>
          </a:xfrm>
          <a:prstGeom prst="rect">
            <a:avLst/>
          </a:prstGeom>
          <a:noFill/>
          <a:ln/>
        </p:spPr>
        <p:txBody>
          <a:bodyPr wrap="square" lIns="0" tIns="0" rIns="0" bIns="0" rtlCol="0" anchor="t"/>
          <a:lstStyle/>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Fashion-led ethnic wear, Surat</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India’s largest textile cluster (₹1 lakh cr+) ranks last on our cluster AHP (3.28): traders job out weaving, dyeing and stitching, and it sits in the worst return band.</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 </a:t>
            </a:r>
            <a:endParaRPr lang="en-US" sz="1150" dirty="0"/>
          </a:p>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Electronics accessories, import-assembly</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No cost ownership, so any price gap has to be funded, and a funded gap is a subsidy with a different name.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560547"/>
          </a:solidFill>
          <a:ln w="9525">
            <a:solidFill>
              <a:srgbClr val="560547"/>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HOW BIG, HOW CHEAP</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Q2 · Market sizing and opportunity · How big is the base, and what does closing the price gap do for buyers and NMV?</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Udyam Registration Portal (team pull; 7.83 cr incl. Udyam Assist, PIB Feb 2026); Meesho FY26 results; Flipkart, Amazon, Business Standard, Outlook Business (2025–26); Round 1 cluster AHP and teardown. Run-rate NMV assumes the Round 1 Year-4 yield of ₹1.43 cr per seller.</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11,645 manufacturers in 12 clusters can carry a real price gap. Capturing 12% by Year 4 adds ₹1,995 cr of NMV priced at least 8% below today’s market: ₹173 cr to ₹272 cr a year back to buyers.</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5577840" cy="7589520"/>
          </a:xfrm>
          <a:prstGeom prst="rect">
            <a:avLst/>
          </a:prstGeom>
          <a:solidFill>
            <a:srgbClr val="FFFFFF"/>
          </a:solidFill>
          <a:ln w="9525">
            <a:solidFill>
              <a:srgbClr val="E0CEDA"/>
            </a:solidFill>
            <a:prstDash val="solid"/>
          </a:ln>
        </p:spPr>
      </p:sp>
      <p:sp>
        <p:nvSpPr>
          <p:cNvPr id="33" name="Shape 27"/>
          <p:cNvSpPr/>
          <p:nvPr/>
        </p:nvSpPr>
        <p:spPr>
          <a:xfrm>
            <a:off x="749808" y="1426464"/>
            <a:ext cx="5577840"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ADDRESSABLE BASE · BOTTOM-UP</a:t>
            </a:r>
            <a:endParaRPr lang="en-US" sz="1250" dirty="0"/>
          </a:p>
        </p:txBody>
      </p:sp>
      <p:sp>
        <p:nvSpPr>
          <p:cNvPr id="36" name="Shape 29"/>
          <p:cNvSpPr/>
          <p:nvPr/>
        </p:nvSpPr>
        <p:spPr>
          <a:xfrm>
            <a:off x="877824" y="1847088"/>
            <a:ext cx="5321808" cy="786384"/>
          </a:xfrm>
          <a:prstGeom prst="roundRect">
            <a:avLst>
              <a:gd name="adj" fmla="val 5814"/>
            </a:avLst>
          </a:prstGeom>
          <a:solidFill>
            <a:srgbClr val="560547"/>
          </a:solidFill>
          <a:ln w="12700">
            <a:solidFill>
              <a:srgbClr val="560547"/>
            </a:solidFill>
            <a:prstDash val="solid"/>
          </a:ln>
        </p:spPr>
      </p:sp>
      <p:sp>
        <p:nvSpPr>
          <p:cNvPr id="37" name="Text 30"/>
          <p:cNvSpPr txBox="1"/>
          <p:nvPr/>
        </p:nvSpPr>
        <p:spPr>
          <a:xfrm>
            <a:off x="987552" y="1847088"/>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4.72 cr</a:t>
            </a:r>
            <a:endParaRPr lang="en-US" sz="1700" dirty="0"/>
          </a:p>
        </p:txBody>
      </p:sp>
      <p:sp>
        <p:nvSpPr>
          <p:cNvPr id="38" name="Text 31"/>
          <p:cNvSpPr txBox="1"/>
          <p:nvPr/>
        </p:nvSpPr>
        <p:spPr>
          <a:xfrm>
            <a:off x="2432304" y="1847088"/>
            <a:ext cx="3172968"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Udyam-registered MSMEs, 98.9% micro</a:t>
            </a:r>
            <a:endParaRPr lang="en-US" sz="1150" dirty="0"/>
          </a:p>
        </p:txBody>
      </p:sp>
      <p:sp>
        <p:nvSpPr>
          <p:cNvPr id="39" name="Shape 32"/>
          <p:cNvSpPr/>
          <p:nvPr/>
        </p:nvSpPr>
        <p:spPr>
          <a:xfrm>
            <a:off x="996696" y="2743200"/>
            <a:ext cx="5084064" cy="786384"/>
          </a:xfrm>
          <a:prstGeom prst="roundRect">
            <a:avLst>
              <a:gd name="adj" fmla="val 5814"/>
            </a:avLst>
          </a:prstGeom>
          <a:solidFill>
            <a:srgbClr val="63104F"/>
          </a:solidFill>
          <a:ln w="12700">
            <a:solidFill>
              <a:srgbClr val="63104F"/>
            </a:solidFill>
            <a:prstDash val="solid"/>
          </a:ln>
        </p:spPr>
      </p:sp>
      <p:sp>
        <p:nvSpPr>
          <p:cNvPr id="40" name="Text 33"/>
          <p:cNvSpPr txBox="1"/>
          <p:nvPr/>
        </p:nvSpPr>
        <p:spPr>
          <a:xfrm>
            <a:off x="1106424" y="2743200"/>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5.28 lakh</a:t>
            </a:r>
            <a:endParaRPr lang="en-US" sz="1700" dirty="0"/>
          </a:p>
        </p:txBody>
      </p:sp>
      <p:sp>
        <p:nvSpPr>
          <p:cNvPr id="41" name="Text 34"/>
          <p:cNvSpPr txBox="1"/>
          <p:nvPr/>
        </p:nvSpPr>
        <p:spPr>
          <a:xfrm>
            <a:off x="2551176" y="2743200"/>
            <a:ext cx="2935224"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above micro (small + medium)</a:t>
            </a:r>
            <a:endParaRPr lang="en-US" sz="1150" dirty="0"/>
          </a:p>
        </p:txBody>
      </p:sp>
      <p:sp>
        <p:nvSpPr>
          <p:cNvPr id="42" name="Text 35"/>
          <p:cNvSpPr txBox="1"/>
          <p:nvPr/>
        </p:nvSpPr>
        <p:spPr>
          <a:xfrm>
            <a:off x="5440680" y="2743200"/>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1.1%</a:t>
            </a:r>
            <a:endParaRPr lang="en-US" sz="1100" dirty="0"/>
          </a:p>
        </p:txBody>
      </p:sp>
      <p:sp>
        <p:nvSpPr>
          <p:cNvPr id="43" name="Shape 36"/>
          <p:cNvSpPr/>
          <p:nvPr/>
        </p:nvSpPr>
        <p:spPr>
          <a:xfrm>
            <a:off x="1115568" y="3639312"/>
            <a:ext cx="4846320" cy="786384"/>
          </a:xfrm>
          <a:prstGeom prst="roundRect">
            <a:avLst>
              <a:gd name="adj" fmla="val 5814"/>
            </a:avLst>
          </a:prstGeom>
          <a:solidFill>
            <a:srgbClr val="6E1251"/>
          </a:solidFill>
          <a:ln w="12700">
            <a:solidFill>
              <a:srgbClr val="6E1251"/>
            </a:solidFill>
            <a:prstDash val="solid"/>
          </a:ln>
        </p:spPr>
      </p:sp>
      <p:sp>
        <p:nvSpPr>
          <p:cNvPr id="44" name="Text 37"/>
          <p:cNvSpPr txBox="1"/>
          <p:nvPr/>
        </p:nvSpPr>
        <p:spPr>
          <a:xfrm>
            <a:off x="1225296" y="3639312"/>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1.85 lakh</a:t>
            </a:r>
            <a:endParaRPr lang="en-US" sz="1700" dirty="0"/>
          </a:p>
        </p:txBody>
      </p:sp>
      <p:sp>
        <p:nvSpPr>
          <p:cNvPr id="45" name="Text 38"/>
          <p:cNvSpPr txBox="1"/>
          <p:nvPr/>
        </p:nvSpPr>
        <p:spPr>
          <a:xfrm>
            <a:off x="2670048" y="3639312"/>
            <a:ext cx="2697480"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in manufacturing</a:t>
            </a:r>
            <a:endParaRPr lang="en-US" sz="1150" dirty="0"/>
          </a:p>
        </p:txBody>
      </p:sp>
      <p:sp>
        <p:nvSpPr>
          <p:cNvPr id="46" name="Text 39"/>
          <p:cNvSpPr txBox="1"/>
          <p:nvPr/>
        </p:nvSpPr>
        <p:spPr>
          <a:xfrm>
            <a:off x="5321808" y="3639312"/>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35%</a:t>
            </a:r>
            <a:endParaRPr lang="en-US" sz="1100" dirty="0"/>
          </a:p>
        </p:txBody>
      </p:sp>
      <p:sp>
        <p:nvSpPr>
          <p:cNvPr id="47" name="Shape 40"/>
          <p:cNvSpPr/>
          <p:nvPr/>
        </p:nvSpPr>
        <p:spPr>
          <a:xfrm>
            <a:off x="1234440" y="4535424"/>
            <a:ext cx="4608576" cy="786384"/>
          </a:xfrm>
          <a:prstGeom prst="roundRect">
            <a:avLst>
              <a:gd name="adj" fmla="val 5814"/>
            </a:avLst>
          </a:prstGeom>
          <a:solidFill>
            <a:srgbClr val="7A1A58"/>
          </a:solidFill>
          <a:ln w="12700">
            <a:solidFill>
              <a:srgbClr val="7A1A58"/>
            </a:solidFill>
            <a:prstDash val="solid"/>
          </a:ln>
        </p:spPr>
      </p:sp>
      <p:sp>
        <p:nvSpPr>
          <p:cNvPr id="48" name="Text 41"/>
          <p:cNvSpPr txBox="1"/>
          <p:nvPr/>
        </p:nvSpPr>
        <p:spPr>
          <a:xfrm>
            <a:off x="1344168" y="4535424"/>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55,451</a:t>
            </a:r>
            <a:endParaRPr lang="en-US" sz="1700" dirty="0"/>
          </a:p>
        </p:txBody>
      </p:sp>
      <p:sp>
        <p:nvSpPr>
          <p:cNvPr id="49" name="Text 42"/>
          <p:cNvSpPr txBox="1"/>
          <p:nvPr/>
        </p:nvSpPr>
        <p:spPr>
          <a:xfrm>
            <a:off x="2788920" y="4535424"/>
            <a:ext cx="2459736"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making Meesho’s categories</a:t>
            </a:r>
            <a:endParaRPr lang="en-US" sz="1150" dirty="0"/>
          </a:p>
        </p:txBody>
      </p:sp>
      <p:sp>
        <p:nvSpPr>
          <p:cNvPr id="50" name="Text 43"/>
          <p:cNvSpPr txBox="1"/>
          <p:nvPr/>
        </p:nvSpPr>
        <p:spPr>
          <a:xfrm>
            <a:off x="5202936" y="4535424"/>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30%</a:t>
            </a:r>
            <a:endParaRPr lang="en-US" sz="1100" dirty="0"/>
          </a:p>
        </p:txBody>
      </p:sp>
      <p:sp>
        <p:nvSpPr>
          <p:cNvPr id="51" name="Shape 44"/>
          <p:cNvSpPr/>
          <p:nvPr/>
        </p:nvSpPr>
        <p:spPr>
          <a:xfrm>
            <a:off x="1353312" y="5431536"/>
            <a:ext cx="4370832" cy="786384"/>
          </a:xfrm>
          <a:prstGeom prst="roundRect">
            <a:avLst>
              <a:gd name="adj" fmla="val 5814"/>
            </a:avLst>
          </a:prstGeom>
          <a:solidFill>
            <a:srgbClr val="8A245E"/>
          </a:solidFill>
          <a:ln w="12700">
            <a:solidFill>
              <a:srgbClr val="8A245E"/>
            </a:solidFill>
            <a:prstDash val="solid"/>
          </a:ln>
        </p:spPr>
      </p:sp>
      <p:sp>
        <p:nvSpPr>
          <p:cNvPr id="52" name="Text 45"/>
          <p:cNvSpPr txBox="1"/>
          <p:nvPr/>
        </p:nvSpPr>
        <p:spPr>
          <a:xfrm>
            <a:off x="1463040" y="5431536"/>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19,408</a:t>
            </a:r>
            <a:endParaRPr lang="en-US" sz="1700" dirty="0"/>
          </a:p>
        </p:txBody>
      </p:sp>
      <p:sp>
        <p:nvSpPr>
          <p:cNvPr id="53" name="Text 46"/>
          <p:cNvSpPr txBox="1"/>
          <p:nvPr/>
        </p:nvSpPr>
        <p:spPr>
          <a:xfrm>
            <a:off x="2907792" y="5431536"/>
            <a:ext cx="2221992"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own ≥ 3 of 4 cost levers (COI)</a:t>
            </a:r>
            <a:endParaRPr lang="en-US" sz="1150" dirty="0"/>
          </a:p>
        </p:txBody>
      </p:sp>
      <p:sp>
        <p:nvSpPr>
          <p:cNvPr id="54" name="Text 47"/>
          <p:cNvSpPr txBox="1"/>
          <p:nvPr/>
        </p:nvSpPr>
        <p:spPr>
          <a:xfrm>
            <a:off x="5084064" y="5431536"/>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35%</a:t>
            </a:r>
            <a:endParaRPr lang="en-US" sz="1100" dirty="0"/>
          </a:p>
        </p:txBody>
      </p:sp>
      <p:sp>
        <p:nvSpPr>
          <p:cNvPr id="55" name="Shape 48"/>
          <p:cNvSpPr/>
          <p:nvPr/>
        </p:nvSpPr>
        <p:spPr>
          <a:xfrm>
            <a:off x="1472184" y="6327648"/>
            <a:ext cx="4133088" cy="786384"/>
          </a:xfrm>
          <a:prstGeom prst="roundRect">
            <a:avLst>
              <a:gd name="adj" fmla="val 5814"/>
            </a:avLst>
          </a:prstGeom>
          <a:solidFill>
            <a:srgbClr val="9A3A70"/>
          </a:solidFill>
          <a:ln w="12700">
            <a:solidFill>
              <a:srgbClr val="9A3A70"/>
            </a:solidFill>
            <a:prstDash val="solid"/>
          </a:ln>
        </p:spPr>
      </p:sp>
      <p:sp>
        <p:nvSpPr>
          <p:cNvPr id="56" name="Text 49"/>
          <p:cNvSpPr txBox="1"/>
          <p:nvPr/>
        </p:nvSpPr>
        <p:spPr>
          <a:xfrm>
            <a:off x="1581912" y="6327648"/>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11,645</a:t>
            </a:r>
            <a:endParaRPr lang="en-US" sz="1700" dirty="0"/>
          </a:p>
        </p:txBody>
      </p:sp>
      <p:sp>
        <p:nvSpPr>
          <p:cNvPr id="57" name="Text 50"/>
          <p:cNvSpPr txBox="1"/>
          <p:nvPr/>
        </p:nvSpPr>
        <p:spPr>
          <a:xfrm>
            <a:off x="3026664" y="6327648"/>
            <a:ext cx="1984248"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inside the 12 screened clusters</a:t>
            </a:r>
            <a:endParaRPr lang="en-US" sz="1150" dirty="0"/>
          </a:p>
        </p:txBody>
      </p:sp>
      <p:sp>
        <p:nvSpPr>
          <p:cNvPr id="58" name="Text 51"/>
          <p:cNvSpPr txBox="1"/>
          <p:nvPr/>
        </p:nvSpPr>
        <p:spPr>
          <a:xfrm>
            <a:off x="4965192" y="6327648"/>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60%</a:t>
            </a:r>
            <a:endParaRPr lang="en-US" sz="1100" dirty="0"/>
          </a:p>
        </p:txBody>
      </p:sp>
      <p:sp>
        <p:nvSpPr>
          <p:cNvPr id="59" name="Shape 52"/>
          <p:cNvSpPr/>
          <p:nvPr/>
        </p:nvSpPr>
        <p:spPr>
          <a:xfrm>
            <a:off x="1591056" y="7223760"/>
            <a:ext cx="3895344" cy="786384"/>
          </a:xfrm>
          <a:prstGeom prst="roundRect">
            <a:avLst>
              <a:gd name="adj" fmla="val 5814"/>
            </a:avLst>
          </a:prstGeom>
          <a:solidFill>
            <a:srgbClr val="FF9D00"/>
          </a:solidFill>
          <a:ln w="12700">
            <a:solidFill>
              <a:srgbClr val="FF9D00"/>
            </a:solidFill>
            <a:prstDash val="solid"/>
          </a:ln>
        </p:spPr>
      </p:sp>
      <p:sp>
        <p:nvSpPr>
          <p:cNvPr id="60" name="Text 53"/>
          <p:cNvSpPr txBox="1"/>
          <p:nvPr/>
        </p:nvSpPr>
        <p:spPr>
          <a:xfrm>
            <a:off x="1700784" y="7223760"/>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1,400</a:t>
            </a:r>
            <a:endParaRPr lang="en-US" sz="1700" dirty="0"/>
          </a:p>
        </p:txBody>
      </p:sp>
      <p:sp>
        <p:nvSpPr>
          <p:cNvPr id="61" name="Text 54"/>
          <p:cNvSpPr txBox="1"/>
          <p:nvPr/>
        </p:nvSpPr>
        <p:spPr>
          <a:xfrm>
            <a:off x="3145536" y="7223760"/>
            <a:ext cx="1746504" cy="786384"/>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active C2M sellers by Year 4</a:t>
            </a:r>
            <a:endParaRPr lang="en-US" sz="1150" dirty="0"/>
          </a:p>
        </p:txBody>
      </p:sp>
      <p:sp>
        <p:nvSpPr>
          <p:cNvPr id="62" name="Text 55"/>
          <p:cNvSpPr txBox="1"/>
          <p:nvPr/>
        </p:nvSpPr>
        <p:spPr>
          <a:xfrm>
            <a:off x="4846320" y="7223760"/>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560547"/>
                </a:solidFill>
                <a:latin typeface="Arial" pitchFamily="34" charset="0"/>
                <a:ea typeface="Arial" pitchFamily="34" charset="-122"/>
                <a:cs typeface="Arial" pitchFamily="34" charset="-120"/>
              </a:rPr>
              <a:t>12%</a:t>
            </a:r>
            <a:endParaRPr lang="en-US" sz="1100" dirty="0"/>
          </a:p>
        </p:txBody>
      </p:sp>
      <p:sp>
        <p:nvSpPr>
          <p:cNvPr id="63" name="Text 56"/>
          <p:cNvSpPr txBox="1"/>
          <p:nvPr/>
        </p:nvSpPr>
        <p:spPr>
          <a:xfrm>
            <a:off x="877824" y="8138160"/>
            <a:ext cx="5321808" cy="41148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Right-hand figure = conversion from the row above. COI = Cost Ownership Index: raw material, production, scale, automation.</a:t>
            </a:r>
            <a:endParaRPr lang="en-US" sz="1050" dirty="0"/>
          </a:p>
        </p:txBody>
      </p:sp>
      <p:sp>
        <p:nvSpPr>
          <p:cNvPr id="64" name="Shape 57"/>
          <p:cNvSpPr/>
          <p:nvPr/>
        </p:nvSpPr>
        <p:spPr>
          <a:xfrm>
            <a:off x="6455664" y="1426464"/>
            <a:ext cx="6309360" cy="4160520"/>
          </a:xfrm>
          <a:prstGeom prst="rect">
            <a:avLst/>
          </a:prstGeom>
          <a:solidFill>
            <a:srgbClr val="FFFFFF"/>
          </a:solidFill>
          <a:ln w="9525">
            <a:solidFill>
              <a:srgbClr val="E0CEDA"/>
            </a:solidFill>
            <a:prstDash val="solid"/>
          </a:ln>
        </p:spPr>
      </p:sp>
      <p:sp>
        <p:nvSpPr>
          <p:cNvPr id="65" name="Shape 58"/>
          <p:cNvSpPr/>
          <p:nvPr/>
        </p:nvSpPr>
        <p:spPr>
          <a:xfrm>
            <a:off x="6455664" y="1426464"/>
            <a:ext cx="6309360" cy="329184"/>
          </a:xfrm>
          <a:prstGeom prst="rect">
            <a:avLst/>
          </a:prstGeom>
          <a:solidFill>
            <a:srgbClr val="560547"/>
          </a:solidFill>
          <a:ln w="12700">
            <a:solidFill>
              <a:srgbClr val="560547"/>
            </a:solidFill>
            <a:prstDash val="solid"/>
          </a:ln>
        </p:spPr>
      </p:sp>
      <p:pic>
        <p:nvPicPr>
          <p:cNvPr id="66" name="Image 4" descr="/private/tmp/claude-501/-Users-prathmeshwalimbe-Downloads-Meesho/dfec39d5-f971-4a3a-8cfb-761f4ef1fedb/scratchpad/deck/assets/icons/FaRocket_w.png">    </p:cNvPr>
          <p:cNvPicPr>
            <a:picLocks noChangeAspect="1"/>
          </p:cNvPicPr>
          <p:nvPr/>
        </p:nvPicPr>
        <p:blipFill>
          <a:blip r:embed="rId5"/>
          <a:stretch>
            <a:fillRect/>
          </a:stretch>
        </p:blipFill>
        <p:spPr>
          <a:xfrm>
            <a:off x="6565392" y="1490472"/>
            <a:ext cx="201168" cy="201168"/>
          </a:xfrm>
          <a:prstGeom prst="rect">
            <a:avLst/>
          </a:prstGeom>
        </p:spPr>
      </p:pic>
      <p:sp>
        <p:nvSpPr>
          <p:cNvPr id="67" name="Text 59"/>
          <p:cNvSpPr txBox="1"/>
          <p:nvPr/>
        </p:nvSpPr>
        <p:spPr>
          <a:xfrm>
            <a:off x="6839712" y="1426464"/>
            <a:ext cx="5797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OPPORTUNITY LADDER · PRICE AND NMV IMPACT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847088"/>
          <a:ext cx="6053328" cy="914400"/>
        </p:xfrm>
        <a:graphic>
          <a:graphicData uri="http://schemas.openxmlformats.org/drawingml/2006/table">
            <a:tbl>
              <a:tblPr/>
              <a:tblGrid>
                <a:gridCol w="2148840"/>
                <a:gridCol w="1301496"/>
                <a:gridCol w="1301496"/>
                <a:gridCol w="1301496"/>
              </a:tblGrid>
              <a:tr h="402336">
                <a:tc>
                  <a:txBody>
                    <a:bodyPr/>
                    <a:lstStyle/>
                    <a:p>
                      <a:pPr algn="l" indent="0" marL="0">
                        <a:buNone/>
                      </a:pP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Pilot · Day 90</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Scale · Q2+</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Target · Year 4</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Clusters · Factory Nodes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2 · 1</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5 · 6</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12 · 12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Active C2M sellers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450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1,400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Run-rate NMV</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₹86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₹641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₹1,995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Share of FY26 NMV</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Buyer savings / yr, gap 8–12%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₹7.4–₹12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₹56–₹87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₹173–₹272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Contribution at 4.0% CM</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₹3.4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₹26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₹80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69" name="Text 60"/>
          <p:cNvSpPr txBox="1"/>
          <p:nvPr/>
        </p:nvSpPr>
        <p:spPr>
          <a:xfrm>
            <a:off x="6583680" y="4773168"/>
            <a:ext cx="6053328" cy="658368"/>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Buyer savings = NMV × g ÷ (1 − g)</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  ·  g from the 8% gate floor to 12%, the low end of the 12–18% cost edge integration buys. Contribution uses the 4.0% Q4 FY26 exit rate.</a:t>
            </a:r>
            <a:endParaRPr lang="en-US" sz="1100" dirty="0"/>
          </a:p>
        </p:txBody>
      </p:sp>
      <p:sp>
        <p:nvSpPr>
          <p:cNvPr id="70" name="Shape 61"/>
          <p:cNvSpPr/>
          <p:nvPr/>
        </p:nvSpPr>
        <p:spPr>
          <a:xfrm>
            <a:off x="6455664" y="5715000"/>
            <a:ext cx="2017776" cy="1097280"/>
          </a:xfrm>
          <a:prstGeom prst="rect">
            <a:avLst/>
          </a:prstGeom>
          <a:solidFill>
            <a:srgbClr val="FFF3D8"/>
          </a:solidFill>
          <a:ln w="12700">
            <a:solidFill>
              <a:srgbClr val="FFF3D8"/>
            </a:solidFill>
            <a:prstDash val="solid"/>
          </a:ln>
        </p:spPr>
      </p:sp>
      <p:sp>
        <p:nvSpPr>
          <p:cNvPr id="71" name="Text 62"/>
          <p:cNvSpPr txBox="1"/>
          <p:nvPr/>
        </p:nvSpPr>
        <p:spPr>
          <a:xfrm>
            <a:off x="6565392"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4.8%</a:t>
            </a:r>
            <a:endParaRPr lang="en-US" sz="2200" dirty="0"/>
          </a:p>
        </p:txBody>
      </p:sp>
      <p:sp>
        <p:nvSpPr>
          <p:cNvPr id="72" name="Text 63"/>
          <p:cNvSpPr txBox="1"/>
          <p:nvPr/>
        </p:nvSpPr>
        <p:spPr>
          <a:xfrm>
            <a:off x="6565392"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of FY26 NMV becomes structurally cheaper</a:t>
            </a:r>
            <a:endParaRPr lang="en-US" sz="1050" dirty="0"/>
          </a:p>
        </p:txBody>
      </p:sp>
      <p:sp>
        <p:nvSpPr>
          <p:cNvPr id="73" name="Shape 64"/>
          <p:cNvSpPr/>
          <p:nvPr/>
        </p:nvSpPr>
        <p:spPr>
          <a:xfrm>
            <a:off x="8601456" y="5715000"/>
            <a:ext cx="2017776" cy="1097280"/>
          </a:xfrm>
          <a:prstGeom prst="rect">
            <a:avLst/>
          </a:prstGeom>
          <a:solidFill>
            <a:srgbClr val="FFF3D8"/>
          </a:solidFill>
          <a:ln w="12700">
            <a:solidFill>
              <a:srgbClr val="FFF3D8"/>
            </a:solidFill>
            <a:prstDash val="solid"/>
          </a:ln>
        </p:spPr>
      </p:sp>
      <p:sp>
        <p:nvSpPr>
          <p:cNvPr id="74" name="Text 65"/>
          <p:cNvSpPr txBox="1"/>
          <p:nvPr/>
        </p:nvSpPr>
        <p:spPr>
          <a:xfrm>
            <a:off x="8711184"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₹173–272</a:t>
            </a:r>
            <a:endParaRPr lang="en-US" sz="2200" dirty="0"/>
          </a:p>
        </p:txBody>
      </p:sp>
      <p:sp>
        <p:nvSpPr>
          <p:cNvPr id="75" name="Text 66"/>
          <p:cNvSpPr txBox="1"/>
          <p:nvPr/>
        </p:nvSpPr>
        <p:spPr>
          <a:xfrm>
            <a:off x="8711184"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 cr a year returned to buyers</a:t>
            </a:r>
            <a:endParaRPr lang="en-US" sz="1050" dirty="0"/>
          </a:p>
        </p:txBody>
      </p:sp>
      <p:sp>
        <p:nvSpPr>
          <p:cNvPr id="76" name="Shape 67"/>
          <p:cNvSpPr/>
          <p:nvPr/>
        </p:nvSpPr>
        <p:spPr>
          <a:xfrm>
            <a:off x="10747248" y="5715000"/>
            <a:ext cx="2017776" cy="1097280"/>
          </a:xfrm>
          <a:prstGeom prst="rect">
            <a:avLst/>
          </a:prstGeom>
          <a:solidFill>
            <a:srgbClr val="FFF3D8"/>
          </a:solidFill>
          <a:ln w="12700">
            <a:solidFill>
              <a:srgbClr val="FFF3D8"/>
            </a:solidFill>
            <a:prstDash val="solid"/>
          </a:ln>
        </p:spPr>
      </p:sp>
      <p:sp>
        <p:nvSpPr>
          <p:cNvPr id="77" name="Text 68"/>
          <p:cNvSpPr txBox="1"/>
          <p:nvPr/>
        </p:nvSpPr>
        <p:spPr>
          <a:xfrm>
            <a:off x="10856976"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₹80 cr</a:t>
            </a:r>
            <a:endParaRPr lang="en-US" sz="2200" dirty="0"/>
          </a:p>
        </p:txBody>
      </p:sp>
      <p:sp>
        <p:nvSpPr>
          <p:cNvPr id="78" name="Text 69"/>
          <p:cNvSpPr txBox="1"/>
          <p:nvPr/>
        </p:nvSpPr>
        <p:spPr>
          <a:xfrm>
            <a:off x="10856976"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contribution a year at today’s margin</a:t>
            </a:r>
            <a:endParaRPr lang="en-US" sz="1050" dirty="0"/>
          </a:p>
        </p:txBody>
      </p:sp>
      <p:sp>
        <p:nvSpPr>
          <p:cNvPr id="79" name="Shape 70"/>
          <p:cNvSpPr/>
          <p:nvPr/>
        </p:nvSpPr>
        <p:spPr>
          <a:xfrm>
            <a:off x="6455664" y="6949440"/>
            <a:ext cx="6309360" cy="2066544"/>
          </a:xfrm>
          <a:prstGeom prst="rect">
            <a:avLst/>
          </a:prstGeom>
          <a:solidFill>
            <a:srgbClr val="FFFFFF"/>
          </a:solidFill>
          <a:ln w="9525">
            <a:solidFill>
              <a:srgbClr val="E0CEDA"/>
            </a:solidFill>
            <a:prstDash val="solid"/>
          </a:ln>
        </p:spPr>
      </p:sp>
      <p:sp>
        <p:nvSpPr>
          <p:cNvPr id="80" name="Shape 71"/>
          <p:cNvSpPr/>
          <p:nvPr/>
        </p:nvSpPr>
        <p:spPr>
          <a:xfrm>
            <a:off x="6455664" y="6949440"/>
            <a:ext cx="6309360" cy="329184"/>
          </a:xfrm>
          <a:prstGeom prst="rect">
            <a:avLst/>
          </a:prstGeom>
          <a:solidFill>
            <a:srgbClr val="8A245E"/>
          </a:solidFill>
          <a:ln w="12700">
            <a:solidFill>
              <a:srgbClr val="8A245E"/>
            </a:solidFill>
            <a:prstDash val="solid"/>
          </a:ln>
        </p:spPr>
      </p:sp>
      <p:pic>
        <p:nvPicPr>
          <p:cNvPr id="81" name="Image 5" descr="/private/tmp/claude-501/-Users-prathmeshwalimbe-Downloads-Meesho/dfec39d5-f971-4a3a-8cfb-761f4ef1fedb/scratchpad/deck/assets/icons/FaBolt_w.png">    </p:cNvPr>
          <p:cNvPicPr>
            <a:picLocks noChangeAspect="1"/>
          </p:cNvPicPr>
          <p:nvPr/>
        </p:nvPicPr>
        <p:blipFill>
          <a:blip r:embed="rId6"/>
          <a:stretch>
            <a:fillRect/>
          </a:stretch>
        </p:blipFill>
        <p:spPr>
          <a:xfrm>
            <a:off x="6565392" y="7013448"/>
            <a:ext cx="201168" cy="201168"/>
          </a:xfrm>
          <a:prstGeom prst="rect">
            <a:avLst/>
          </a:prstGeom>
        </p:spPr>
      </p:pic>
      <p:sp>
        <p:nvSpPr>
          <p:cNvPr id="82" name="Text 72"/>
          <p:cNvSpPr txBox="1"/>
          <p:nvPr/>
        </p:nvSpPr>
        <p:spPr>
          <a:xfrm>
            <a:off x="6839712" y="6949440"/>
            <a:ext cx="5797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WHY NOW · THE RATE-CARD MOAT IS GONE</a:t>
            </a:r>
            <a:endParaRPr lang="en-US" sz="1250" dirty="0"/>
          </a:p>
        </p:txBody>
      </p:sp>
      <p:sp>
        <p:nvSpPr>
          <p:cNvPr id="83" name="Shape 73"/>
          <p:cNvSpPr/>
          <p:nvPr/>
        </p:nvSpPr>
        <p:spPr>
          <a:xfrm>
            <a:off x="6675120" y="7680960"/>
            <a:ext cx="5870448" cy="914"/>
          </a:xfrm>
          <a:prstGeom prst="line">
            <a:avLst/>
          </a:prstGeom>
          <a:noFill/>
          <a:ln w="19050">
            <a:solidFill>
              <a:srgbClr val="8A245E"/>
            </a:solidFill>
            <a:prstDash val="solid"/>
          </a:ln>
        </p:spPr>
      </p:sp>
      <p:sp>
        <p:nvSpPr>
          <p:cNvPr id="84" name="Shape 74"/>
          <p:cNvSpPr/>
          <p:nvPr/>
        </p:nvSpPr>
        <p:spPr>
          <a:xfrm>
            <a:off x="7106717" y="7598664"/>
            <a:ext cx="164592" cy="164592"/>
          </a:xfrm>
          <a:prstGeom prst="ellipse">
            <a:avLst/>
          </a:prstGeom>
          <a:solidFill>
            <a:srgbClr val="8A245E"/>
          </a:solidFill>
          <a:ln w="19050">
            <a:solidFill>
              <a:srgbClr val="FFFFFF"/>
            </a:solidFill>
            <a:prstDash val="solid"/>
          </a:ln>
        </p:spPr>
      </p:sp>
      <p:sp>
        <p:nvSpPr>
          <p:cNvPr id="85" name="Text 75"/>
          <p:cNvSpPr txBox="1"/>
          <p:nvPr/>
        </p:nvSpPr>
        <p:spPr>
          <a:xfrm>
            <a:off x="6583680"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Apr 2025</a:t>
            </a:r>
            <a:endParaRPr lang="en-US" sz="1000" dirty="0"/>
          </a:p>
        </p:txBody>
      </p:sp>
      <p:sp>
        <p:nvSpPr>
          <p:cNvPr id="86" name="Text 76"/>
          <p:cNvSpPr txBox="1"/>
          <p:nvPr/>
        </p:nvSpPr>
        <p:spPr>
          <a:xfrm>
            <a:off x="6620256"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no referral fee &lt; ₹300</a:t>
            </a:r>
            <a:endParaRPr lang="en-US" sz="1050" dirty="0"/>
          </a:p>
        </p:txBody>
      </p:sp>
      <p:sp>
        <p:nvSpPr>
          <p:cNvPr id="87" name="Shape 77"/>
          <p:cNvSpPr/>
          <p:nvPr/>
        </p:nvSpPr>
        <p:spPr>
          <a:xfrm>
            <a:off x="8317382" y="7598664"/>
            <a:ext cx="164592" cy="164592"/>
          </a:xfrm>
          <a:prstGeom prst="ellipse">
            <a:avLst/>
          </a:prstGeom>
          <a:solidFill>
            <a:srgbClr val="8A245E"/>
          </a:solidFill>
          <a:ln w="19050">
            <a:solidFill>
              <a:srgbClr val="FFFFFF"/>
            </a:solidFill>
            <a:prstDash val="solid"/>
          </a:ln>
        </p:spPr>
      </p:sp>
      <p:sp>
        <p:nvSpPr>
          <p:cNvPr id="88" name="Text 78"/>
          <p:cNvSpPr txBox="1"/>
          <p:nvPr/>
        </p:nvSpPr>
        <p:spPr>
          <a:xfrm>
            <a:off x="7794346"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Nov 2025</a:t>
            </a:r>
            <a:endParaRPr lang="en-US" sz="1000" dirty="0"/>
          </a:p>
        </p:txBody>
      </p:sp>
      <p:sp>
        <p:nvSpPr>
          <p:cNvPr id="89" name="Text 79"/>
          <p:cNvSpPr txBox="1"/>
          <p:nvPr/>
        </p:nvSpPr>
        <p:spPr>
          <a:xfrm>
            <a:off x="7830922"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Flipkart: 0% &lt; ₹1,000; Shopsy 0%</a:t>
            </a:r>
            <a:endParaRPr lang="en-US" sz="1050" dirty="0"/>
          </a:p>
        </p:txBody>
      </p:sp>
      <p:sp>
        <p:nvSpPr>
          <p:cNvPr id="90" name="Shape 80"/>
          <p:cNvSpPr/>
          <p:nvPr/>
        </p:nvSpPr>
        <p:spPr>
          <a:xfrm>
            <a:off x="9528048" y="7598664"/>
            <a:ext cx="164592" cy="164592"/>
          </a:xfrm>
          <a:prstGeom prst="ellipse">
            <a:avLst/>
          </a:prstGeom>
          <a:solidFill>
            <a:srgbClr val="8A245E"/>
          </a:solidFill>
          <a:ln w="19050">
            <a:solidFill>
              <a:srgbClr val="FFFFFF"/>
            </a:solidFill>
            <a:prstDash val="solid"/>
          </a:ln>
        </p:spPr>
      </p:sp>
      <p:sp>
        <p:nvSpPr>
          <p:cNvPr id="91" name="Text 81"/>
          <p:cNvSpPr txBox="1"/>
          <p:nvPr/>
        </p:nvSpPr>
        <p:spPr>
          <a:xfrm>
            <a:off x="9005011"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Nov 2025</a:t>
            </a:r>
            <a:endParaRPr lang="en-US" sz="1000" dirty="0"/>
          </a:p>
        </p:txBody>
      </p:sp>
      <p:sp>
        <p:nvSpPr>
          <p:cNvPr id="92" name="Text 82"/>
          <p:cNvSpPr txBox="1"/>
          <p:nvPr/>
        </p:nvSpPr>
        <p:spPr>
          <a:xfrm>
            <a:off x="9041587"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0% referral &lt; ₹1,000</a:t>
            </a:r>
            <a:endParaRPr lang="en-US" sz="1050" dirty="0"/>
          </a:p>
        </p:txBody>
      </p:sp>
      <p:sp>
        <p:nvSpPr>
          <p:cNvPr id="93" name="Shape 83"/>
          <p:cNvSpPr/>
          <p:nvPr/>
        </p:nvSpPr>
        <p:spPr>
          <a:xfrm>
            <a:off x="10738714" y="7598664"/>
            <a:ext cx="164592" cy="164592"/>
          </a:xfrm>
          <a:prstGeom prst="ellipse">
            <a:avLst/>
          </a:prstGeom>
          <a:solidFill>
            <a:srgbClr val="8A245E"/>
          </a:solidFill>
          <a:ln w="19050">
            <a:solidFill>
              <a:srgbClr val="FFFFFF"/>
            </a:solidFill>
            <a:prstDash val="solid"/>
          </a:ln>
        </p:spPr>
      </p:sp>
      <p:sp>
        <p:nvSpPr>
          <p:cNvPr id="94" name="Text 84"/>
          <p:cNvSpPr txBox="1"/>
          <p:nvPr/>
        </p:nvSpPr>
        <p:spPr>
          <a:xfrm>
            <a:off x="10215677"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Mar 2026</a:t>
            </a:r>
            <a:endParaRPr lang="en-US" sz="1000" dirty="0"/>
          </a:p>
        </p:txBody>
      </p:sp>
      <p:sp>
        <p:nvSpPr>
          <p:cNvPr id="95" name="Text 85"/>
          <p:cNvSpPr txBox="1"/>
          <p:nvPr/>
        </p:nvSpPr>
        <p:spPr>
          <a:xfrm>
            <a:off x="10252253"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expands zero fees</a:t>
            </a:r>
            <a:endParaRPr lang="en-US" sz="1050" dirty="0"/>
          </a:p>
        </p:txBody>
      </p:sp>
      <p:sp>
        <p:nvSpPr>
          <p:cNvPr id="96" name="Shape 86"/>
          <p:cNvSpPr/>
          <p:nvPr/>
        </p:nvSpPr>
        <p:spPr>
          <a:xfrm>
            <a:off x="11949379" y="7598664"/>
            <a:ext cx="164592" cy="164592"/>
          </a:xfrm>
          <a:prstGeom prst="ellipse">
            <a:avLst/>
          </a:prstGeom>
          <a:solidFill>
            <a:srgbClr val="C0392B"/>
          </a:solidFill>
          <a:ln w="19050">
            <a:solidFill>
              <a:srgbClr val="FFFFFF"/>
            </a:solidFill>
            <a:prstDash val="solid"/>
          </a:ln>
        </p:spPr>
      </p:sp>
      <p:sp>
        <p:nvSpPr>
          <p:cNvPr id="97" name="Text 87"/>
          <p:cNvSpPr txBox="1"/>
          <p:nvPr/>
        </p:nvSpPr>
        <p:spPr>
          <a:xfrm>
            <a:off x="11426342"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8 Jul 2026</a:t>
            </a:r>
            <a:endParaRPr lang="en-US" sz="1000" dirty="0"/>
          </a:p>
        </p:txBody>
      </p:sp>
      <p:sp>
        <p:nvSpPr>
          <p:cNvPr id="98" name="Text 88"/>
          <p:cNvSpPr txBox="1"/>
          <p:nvPr/>
        </p:nvSpPr>
        <p:spPr>
          <a:xfrm>
            <a:off x="11462918"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Flipkart: 0% on all fashion, any price</a:t>
            </a:r>
            <a:endParaRPr lang="en-US" sz="1050" dirty="0"/>
          </a:p>
        </p:txBody>
      </p:sp>
      <p:sp>
        <p:nvSpPr>
          <p:cNvPr id="99" name="Text 89"/>
          <p:cNvSpPr txBox="1"/>
          <p:nvPr/>
        </p:nvSpPr>
        <p:spPr>
          <a:xfrm>
            <a:off x="6583680" y="8467344"/>
            <a:ext cx="6053328" cy="411480"/>
          </a:xfrm>
          <a:prstGeom prst="rect">
            <a:avLst/>
          </a:prstGeom>
          <a:noFill/>
          <a:ln/>
        </p:spPr>
        <p:txBody>
          <a:bodyPr wrap="square" lIns="0" tIns="0" rIns="0" bIns="0" rtlCol="0" anchor="t"/>
          <a:lstStyle/>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Fees converge to zero.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The only price advantage a competitor’s rate card cannot copy is a cost-structure advantage.</a:t>
            </a:r>
            <a:endParaRPr lang="en-US" sz="1150" dirty="0"/>
          </a:p>
        </p:txBody>
      </p:sp>
      <p:sp>
        <p:nvSpPr>
          <p:cNvPr id="100" name="Shape 90"/>
          <p:cNvSpPr/>
          <p:nvPr/>
        </p:nvSpPr>
        <p:spPr>
          <a:xfrm>
            <a:off x="12893040" y="1426464"/>
            <a:ext cx="5166360" cy="4572000"/>
          </a:xfrm>
          <a:prstGeom prst="rect">
            <a:avLst/>
          </a:prstGeom>
          <a:solidFill>
            <a:srgbClr val="FFFFFF"/>
          </a:solidFill>
          <a:ln w="9525">
            <a:solidFill>
              <a:srgbClr val="E0CEDA"/>
            </a:solidFill>
            <a:prstDash val="solid"/>
          </a:ln>
        </p:spPr>
      </p:sp>
      <p:sp>
        <p:nvSpPr>
          <p:cNvPr id="101" name="Shape 91"/>
          <p:cNvSpPr/>
          <p:nvPr/>
        </p:nvSpPr>
        <p:spPr>
          <a:xfrm>
            <a:off x="12893040" y="1426464"/>
            <a:ext cx="5166360" cy="329184"/>
          </a:xfrm>
          <a:prstGeom prst="rect">
            <a:avLst/>
          </a:prstGeom>
          <a:solidFill>
            <a:srgbClr val="560547"/>
          </a:solidFill>
          <a:ln w="12700">
            <a:solidFill>
              <a:srgbClr val="560547"/>
            </a:solidFill>
            <a:prstDash val="solid"/>
          </a:ln>
        </p:spPr>
      </p:sp>
      <p:pic>
        <p:nvPicPr>
          <p:cNvPr id="102" name="Image 6" descr="/private/tmp/claude-501/-Users-prathmeshwalimbe-Downloads-Meesho/dfec39d5-f971-4a3a-8cfb-761f4ef1fedb/scratchpad/deck/assets/icons/FaMapLocationDot_w.png">    </p:cNvPr>
          <p:cNvPicPr>
            <a:picLocks noChangeAspect="1"/>
          </p:cNvPicPr>
          <p:nvPr/>
        </p:nvPicPr>
        <p:blipFill>
          <a:blip r:embed="rId7"/>
          <a:stretch>
            <a:fillRect/>
          </a:stretch>
        </p:blipFill>
        <p:spPr>
          <a:xfrm>
            <a:off x="13002768" y="1490472"/>
            <a:ext cx="201168" cy="201168"/>
          </a:xfrm>
          <a:prstGeom prst="rect">
            <a:avLst/>
          </a:prstGeom>
        </p:spPr>
      </p:pic>
      <p:sp>
        <p:nvSpPr>
          <p:cNvPr id="103" name="Text 92"/>
          <p:cNvSpPr txBox="1"/>
          <p:nvPr/>
        </p:nvSpPr>
        <p:spPr>
          <a:xfrm>
            <a:off x="13277088" y="1426464"/>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WHERE TO PILOT · CLUSTER AHP</a:t>
            </a:r>
            <a:endParaRPr lang="en-US" sz="12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13021056" y="1847088"/>
          <a:ext cx="4910328" cy="914400"/>
        </p:xfrm>
        <a:graphic>
          <a:graphicData uri="http://schemas.openxmlformats.org/drawingml/2006/table">
            <a:tbl>
              <a:tblPr/>
              <a:tblGrid>
                <a:gridCol w="1234440"/>
                <a:gridCol w="579730"/>
                <a:gridCol w="579730"/>
                <a:gridCol w="579730"/>
                <a:gridCol w="579730"/>
                <a:gridCol w="579730"/>
                <a:gridCol w="777240"/>
              </a:tblGrid>
              <a:tr h="420624">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Cluster</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Cost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Dem</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Ret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Node</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Inst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Score</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20624">
                <a:tc>
                  <a:txBody>
                    <a:bodyPr/>
                    <a:lstStyle/>
                    <a:p>
                      <a:pPr algn="ctr" indent="0" marL="0">
                        <a:buNone/>
                      </a:pPr>
                      <a:r>
                        <a:rPr lang="en-US" sz="1150" b="1" dirty="0">
                          <a:solidFill>
                            <a:srgbClr val="2B1226"/>
                          </a:solidFill>
                          <a:latin typeface="Calibri" pitchFamily="34" charset="0"/>
                          <a:ea typeface="Calibri" pitchFamily="34" charset="-122"/>
                          <a:cs typeface="Calibri" pitchFamily="34" charset="-120"/>
                        </a:rPr>
                        <a:t>Tiruppur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4.68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420624">
                <a:tc>
                  <a:txBody>
                    <a:bodyPr/>
                    <a:lstStyle/>
                    <a:p>
                      <a:pPr algn="ctr" indent="0" marL="0">
                        <a:buNone/>
                      </a:pPr>
                      <a:r>
                        <a:rPr lang="en-US" sz="1150" b="1" dirty="0">
                          <a:solidFill>
                            <a:srgbClr val="2B1226"/>
                          </a:solidFill>
                          <a:latin typeface="Calibri" pitchFamily="34" charset="0"/>
                          <a:ea typeface="Calibri" pitchFamily="34" charset="-122"/>
                          <a:cs typeface="Calibri" pitchFamily="34" charset="-120"/>
                        </a:rPr>
                        <a:t>Panipat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4.52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Ludhiana</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3.74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Rajkot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3.70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Surat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3.28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r>
            </a:tbl>
          </a:graphicData>
        </a:graphic>
      </p:graphicFrame>
      <p:sp>
        <p:nvSpPr>
          <p:cNvPr id="105" name="Text 93"/>
          <p:cNvSpPr txBox="1"/>
          <p:nvPr/>
        </p:nvSpPr>
        <p:spPr>
          <a:xfrm>
            <a:off x="13021056" y="4544568"/>
            <a:ext cx="4910328" cy="1463040"/>
          </a:xfrm>
          <a:prstGeom prst="rect">
            <a:avLst/>
          </a:prstGeom>
          <a:noFill/>
          <a:ln/>
        </p:spPr>
        <p:txBody>
          <a:bodyPr wrap="square" lIns="0" tIns="0" rIns="0" bIns="0" rtlCol="0" anchor="t"/>
          <a:lstStyle/>
          <a:p>
            <a:pPr algn="l" indent="0" marL="0">
              <a:lnSpc>
                <a:spcPct val="100000"/>
              </a:lnSpc>
              <a:buNone/>
            </a:pPr>
            <a:r>
              <a:rPr lang="en-US" sz="1150" i="1" dirty="0">
                <a:solidFill>
                  <a:srgbClr val="7A6470"/>
                </a:solidFill>
                <a:latin typeface="Calibri" pitchFamily="34" charset="0"/>
                <a:ea typeface="Calibri" pitchFamily="34" charset="-122"/>
                <a:cs typeface="Calibri" pitchFamily="34" charset="-120"/>
              </a:rPr>
              <a:t>Criteria: cost ownership, demand on Meesho, returns band, node feasibility, institutional partner (association).</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 </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Surat passes a scale screen and fails the price screen.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Pilot where cost ownership, low returns and an association to recruit through coincide: Tiruppur (hosiery) and Panipat (home textiles).</a:t>
            </a:r>
            <a:endParaRPr lang="en-US" sz="1150" dirty="0"/>
          </a:p>
        </p:txBody>
      </p:sp>
      <p:sp>
        <p:nvSpPr>
          <p:cNvPr id="106" name="Shape 94"/>
          <p:cNvSpPr/>
          <p:nvPr/>
        </p:nvSpPr>
        <p:spPr>
          <a:xfrm>
            <a:off x="12893040" y="6126480"/>
            <a:ext cx="5166360" cy="2889504"/>
          </a:xfrm>
          <a:prstGeom prst="rect">
            <a:avLst/>
          </a:prstGeom>
          <a:solidFill>
            <a:srgbClr val="FFFFFF"/>
          </a:solidFill>
          <a:ln w="9525">
            <a:solidFill>
              <a:srgbClr val="E0CEDA"/>
            </a:solidFill>
            <a:prstDash val="solid"/>
          </a:ln>
        </p:spPr>
      </p:sp>
      <p:sp>
        <p:nvSpPr>
          <p:cNvPr id="107" name="Shape 95"/>
          <p:cNvSpPr/>
          <p:nvPr/>
        </p:nvSpPr>
        <p:spPr>
          <a:xfrm>
            <a:off x="12893040" y="6126480"/>
            <a:ext cx="5166360" cy="329184"/>
          </a:xfrm>
          <a:prstGeom prst="rect">
            <a:avLst/>
          </a:prstGeom>
          <a:solidFill>
            <a:srgbClr val="8A245E"/>
          </a:solidFill>
          <a:ln w="12700">
            <a:solidFill>
              <a:srgbClr val="8A245E"/>
            </a:solidFill>
            <a:prstDash val="solid"/>
          </a:ln>
        </p:spPr>
      </p:sp>
      <p:pic>
        <p:nvPicPr>
          <p:cNvPr id="108" name="Image 7" descr="/private/tmp/claude-501/-Users-prathmeshwalimbe-Downloads-Meesho/dfec39d5-f971-4a3a-8cfb-761f4ef1fedb/scratchpad/deck/assets/icons/FaRocket_w.png">    </p:cNvPr>
          <p:cNvPicPr>
            <a:picLocks noChangeAspect="1"/>
          </p:cNvPicPr>
          <p:nvPr/>
        </p:nvPicPr>
        <p:blipFill>
          <a:blip r:embed="rId8"/>
          <a:stretch>
            <a:fillRect/>
          </a:stretch>
        </p:blipFill>
        <p:spPr>
          <a:xfrm>
            <a:off x="13002768" y="6190488"/>
            <a:ext cx="201168" cy="201168"/>
          </a:xfrm>
          <a:prstGeom prst="rect">
            <a:avLst/>
          </a:prstGeom>
        </p:spPr>
      </p:pic>
      <p:sp>
        <p:nvSpPr>
          <p:cNvPr id="109" name="Text 96"/>
          <p:cNvSpPr txBox="1"/>
          <p:nvPr/>
        </p:nvSpPr>
        <p:spPr>
          <a:xfrm>
            <a:off x="13277088" y="6126480"/>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10X · THE C2M FLYWHEEL</a:t>
            </a:r>
            <a:endParaRPr lang="en-US" sz="1250" dirty="0"/>
          </a:p>
        </p:txBody>
      </p:sp>
      <p:sp>
        <p:nvSpPr>
          <p:cNvPr id="110" name="Shape 97"/>
          <p:cNvSpPr/>
          <p:nvPr/>
        </p:nvSpPr>
        <p:spPr>
          <a:xfrm>
            <a:off x="16271748" y="7027394"/>
            <a:ext cx="104754" cy="34346"/>
          </a:xfrm>
          <a:prstGeom prst="line">
            <a:avLst/>
          </a:prstGeom>
          <a:noFill/>
          <a:ln w="19050">
            <a:solidFill>
              <a:srgbClr val="8A245E"/>
            </a:solidFill>
            <a:prstDash val="solid"/>
            <a:tailEnd type="triangle"/>
          </a:ln>
        </p:spPr>
      </p:sp>
      <p:sp>
        <p:nvSpPr>
          <p:cNvPr id="111" name="Shape 98"/>
          <p:cNvSpPr/>
          <p:nvPr/>
        </p:nvSpPr>
        <p:spPr>
          <a:xfrm flipH="1">
            <a:off x="16728380" y="7606039"/>
            <a:ext cx="239558" cy="332723"/>
          </a:xfrm>
          <a:prstGeom prst="line">
            <a:avLst/>
          </a:prstGeom>
          <a:noFill/>
          <a:ln w="19050">
            <a:solidFill>
              <a:srgbClr val="8A245E"/>
            </a:solidFill>
            <a:prstDash val="solid"/>
            <a:tailEnd type="triangle"/>
          </a:ln>
        </p:spPr>
      </p:sp>
      <p:sp>
        <p:nvSpPr>
          <p:cNvPr id="112" name="Shape 99"/>
          <p:cNvSpPr/>
          <p:nvPr/>
        </p:nvSpPr>
        <p:spPr>
          <a:xfrm flipH="1">
            <a:off x="15223680" y="8222225"/>
            <a:ext cx="505080" cy="914"/>
          </a:xfrm>
          <a:prstGeom prst="line">
            <a:avLst/>
          </a:prstGeom>
          <a:noFill/>
          <a:ln w="19050">
            <a:solidFill>
              <a:srgbClr val="8A245E"/>
            </a:solidFill>
            <a:prstDash val="solid"/>
            <a:tailEnd type="triangle"/>
          </a:ln>
        </p:spPr>
      </p:sp>
      <p:sp>
        <p:nvSpPr>
          <p:cNvPr id="113" name="Shape 100"/>
          <p:cNvSpPr/>
          <p:nvPr/>
        </p:nvSpPr>
        <p:spPr>
          <a:xfrm flipH="1" flipV="1">
            <a:off x="13984502" y="7606039"/>
            <a:ext cx="239558" cy="332723"/>
          </a:xfrm>
          <a:prstGeom prst="line">
            <a:avLst/>
          </a:prstGeom>
          <a:noFill/>
          <a:ln w="19050">
            <a:solidFill>
              <a:srgbClr val="8A245E"/>
            </a:solidFill>
            <a:prstDash val="solid"/>
            <a:tailEnd type="triangle"/>
          </a:ln>
        </p:spPr>
      </p:sp>
      <p:sp>
        <p:nvSpPr>
          <p:cNvPr id="114" name="Shape 101"/>
          <p:cNvSpPr/>
          <p:nvPr/>
        </p:nvSpPr>
        <p:spPr>
          <a:xfrm flipV="1">
            <a:off x="14575938" y="7027394"/>
            <a:ext cx="104754" cy="34346"/>
          </a:xfrm>
          <a:prstGeom prst="line">
            <a:avLst/>
          </a:prstGeom>
          <a:noFill/>
          <a:ln w="19050">
            <a:solidFill>
              <a:srgbClr val="8A245E"/>
            </a:solidFill>
            <a:prstDash val="solid"/>
            <a:tailEnd type="triangle"/>
          </a:ln>
        </p:spPr>
      </p:sp>
      <p:sp>
        <p:nvSpPr>
          <p:cNvPr id="115" name="Shape 102"/>
          <p:cNvSpPr/>
          <p:nvPr/>
        </p:nvSpPr>
        <p:spPr>
          <a:xfrm>
            <a:off x="14735556" y="6537960"/>
            <a:ext cx="1481328" cy="457200"/>
          </a:xfrm>
          <a:prstGeom prst="roundRect">
            <a:avLst>
              <a:gd name="adj" fmla="val 12000"/>
            </a:avLst>
          </a:prstGeom>
          <a:solidFill>
            <a:srgbClr val="FF9D00"/>
          </a:solidFill>
          <a:ln w="12700">
            <a:solidFill>
              <a:srgbClr val="FF9D00"/>
            </a:solidFill>
            <a:prstDash val="solid"/>
          </a:ln>
        </p:spPr>
      </p:sp>
      <p:sp>
        <p:nvSpPr>
          <p:cNvPr id="116" name="Text 103"/>
          <p:cNvSpPr txBox="1"/>
          <p:nvPr/>
        </p:nvSpPr>
        <p:spPr>
          <a:xfrm>
            <a:off x="14781276" y="6537960"/>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Factories price 8%+ below market</a:t>
            </a:r>
            <a:endParaRPr lang="en-US" sz="1000" dirty="0"/>
          </a:p>
        </p:txBody>
      </p:sp>
      <p:sp>
        <p:nvSpPr>
          <p:cNvPr id="117" name="Shape 104"/>
          <p:cNvSpPr/>
          <p:nvPr/>
        </p:nvSpPr>
        <p:spPr>
          <a:xfrm>
            <a:off x="16431366" y="7093975"/>
            <a:ext cx="1481328" cy="457200"/>
          </a:xfrm>
          <a:prstGeom prst="roundRect">
            <a:avLst>
              <a:gd name="adj" fmla="val 12000"/>
            </a:avLst>
          </a:prstGeom>
          <a:solidFill>
            <a:srgbClr val="F2E4EE"/>
          </a:solidFill>
          <a:ln w="12700">
            <a:solidFill>
              <a:srgbClr val="F2E4EE"/>
            </a:solidFill>
            <a:prstDash val="solid"/>
          </a:ln>
        </p:spPr>
      </p:sp>
      <p:sp>
        <p:nvSpPr>
          <p:cNvPr id="118" name="Text 105"/>
          <p:cNvSpPr txBox="1"/>
          <p:nvPr/>
        </p:nvSpPr>
        <p:spPr>
          <a:xfrm>
            <a:off x="16477086" y="709397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Badge + briefs bring orders</a:t>
            </a:r>
            <a:endParaRPr lang="en-US" sz="1000" dirty="0"/>
          </a:p>
        </p:txBody>
      </p:sp>
      <p:sp>
        <p:nvSpPr>
          <p:cNvPr id="119" name="Shape 106"/>
          <p:cNvSpPr/>
          <p:nvPr/>
        </p:nvSpPr>
        <p:spPr>
          <a:xfrm>
            <a:off x="15783624" y="7993625"/>
            <a:ext cx="1481328" cy="457200"/>
          </a:xfrm>
          <a:prstGeom prst="roundRect">
            <a:avLst>
              <a:gd name="adj" fmla="val 12000"/>
            </a:avLst>
          </a:prstGeom>
          <a:solidFill>
            <a:srgbClr val="F2E4EE"/>
          </a:solidFill>
          <a:ln w="12700">
            <a:solidFill>
              <a:srgbClr val="F2E4EE"/>
            </a:solidFill>
            <a:prstDash val="solid"/>
          </a:ln>
        </p:spPr>
      </p:sp>
      <p:sp>
        <p:nvSpPr>
          <p:cNvPr id="120" name="Text 107"/>
          <p:cNvSpPr txBox="1"/>
          <p:nvPr/>
        </p:nvSpPr>
        <p:spPr>
          <a:xfrm>
            <a:off x="15829344" y="799362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Batches fill idle capacity</a:t>
            </a:r>
            <a:endParaRPr lang="en-US" sz="1000" dirty="0"/>
          </a:p>
        </p:txBody>
      </p:sp>
      <p:sp>
        <p:nvSpPr>
          <p:cNvPr id="121" name="Shape 108"/>
          <p:cNvSpPr/>
          <p:nvPr/>
        </p:nvSpPr>
        <p:spPr>
          <a:xfrm>
            <a:off x="13687488" y="7993625"/>
            <a:ext cx="1481328" cy="457200"/>
          </a:xfrm>
          <a:prstGeom prst="roundRect">
            <a:avLst>
              <a:gd name="adj" fmla="val 12000"/>
            </a:avLst>
          </a:prstGeom>
          <a:solidFill>
            <a:srgbClr val="F2E4EE"/>
          </a:solidFill>
          <a:ln w="12700">
            <a:solidFill>
              <a:srgbClr val="F2E4EE"/>
            </a:solidFill>
            <a:prstDash val="solid"/>
          </a:ln>
        </p:spPr>
      </p:sp>
      <p:sp>
        <p:nvSpPr>
          <p:cNvPr id="122" name="Text 109"/>
          <p:cNvSpPr txBox="1"/>
          <p:nvPr/>
        </p:nvSpPr>
        <p:spPr>
          <a:xfrm>
            <a:off x="13733208" y="799362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Volume lowers unit cost</a:t>
            </a:r>
            <a:endParaRPr lang="en-US" sz="1000" dirty="0"/>
          </a:p>
        </p:txBody>
      </p:sp>
      <p:sp>
        <p:nvSpPr>
          <p:cNvPr id="123" name="Shape 110"/>
          <p:cNvSpPr/>
          <p:nvPr/>
        </p:nvSpPr>
        <p:spPr>
          <a:xfrm>
            <a:off x="13039746" y="7093975"/>
            <a:ext cx="1481328" cy="457200"/>
          </a:xfrm>
          <a:prstGeom prst="roundRect">
            <a:avLst>
              <a:gd name="adj" fmla="val 12000"/>
            </a:avLst>
          </a:prstGeom>
          <a:solidFill>
            <a:srgbClr val="F2E4EE"/>
          </a:solidFill>
          <a:ln w="12700">
            <a:solidFill>
              <a:srgbClr val="F2E4EE"/>
            </a:solidFill>
            <a:prstDash val="solid"/>
          </a:ln>
        </p:spPr>
      </p:sp>
      <p:sp>
        <p:nvSpPr>
          <p:cNvPr id="124" name="Text 111"/>
          <p:cNvSpPr txBox="1"/>
          <p:nvPr/>
        </p:nvSpPr>
        <p:spPr>
          <a:xfrm>
            <a:off x="13085466" y="709397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Market median falls for everyone</a:t>
            </a:r>
            <a:endParaRPr lang="en-US" sz="1000" dirty="0"/>
          </a:p>
        </p:txBody>
      </p:sp>
      <p:sp>
        <p:nvSpPr>
          <p:cNvPr id="125" name="Text 112"/>
          <p:cNvSpPr txBox="1"/>
          <p:nvPr/>
        </p:nvSpPr>
        <p:spPr>
          <a:xfrm>
            <a:off x="14836140" y="7443216"/>
            <a:ext cx="1280160" cy="256032"/>
          </a:xfrm>
          <a:prstGeom prst="rect">
            <a:avLst/>
          </a:prstGeom>
          <a:noFill/>
          <a:ln/>
        </p:spPr>
        <p:txBody>
          <a:bodyPr wrap="square" lIns="0" tIns="0" rIns="0" bIns="0" rtlCol="0" anchor="ctr"/>
          <a:lstStyle/>
          <a:p>
            <a:pPr algn="ctr" indent="0" marL="0">
              <a:lnSpc>
                <a:spcPct val="100000"/>
              </a:lnSpc>
              <a:buNone/>
            </a:pPr>
            <a:r>
              <a:rPr lang="en-US" sz="1000" b="1" spc="200" kern="0" dirty="0">
                <a:solidFill>
                  <a:srgbClr val="7A6470"/>
                </a:solidFill>
                <a:latin typeface="Arial" pitchFamily="34" charset="0"/>
                <a:ea typeface="Arial" pitchFamily="34" charset="-122"/>
                <a:cs typeface="Arial" pitchFamily="34" charset="-120"/>
              </a:rPr>
              <a:t>COMPOUNDS</a:t>
            </a:r>
            <a:endParaRPr lang="en-US" sz="1000" dirty="0"/>
          </a:p>
        </p:txBody>
      </p:sp>
      <p:sp>
        <p:nvSpPr>
          <p:cNvPr id="126" name="Text 113"/>
          <p:cNvSpPr txBox="1"/>
          <p:nvPr/>
        </p:nvSpPr>
        <p:spPr>
          <a:xfrm>
            <a:off x="13021056" y="8577072"/>
            <a:ext cx="4910328" cy="45720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Every lap lowers the median resellers are measured against.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The price edge compounds instead of being paid for.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560547"/>
          </a:solidFill>
          <a:ln w="9525">
            <a:solidFill>
              <a:srgbClr val="560547"/>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WHERE PRICE IS REAL</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Q3 · Which manufacturers and categories carry a genuine, defensible price advantage, and which do not despite scale?</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Round 1 segment scorecard and platform teardown; seller-guide return fees (Shiprocket, Robnu, 2026). Prototype figures come from synthetic, seeded data (fictional sellers) and demonstrate the method, not Meesho’s actual distribution.</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Screen on price, not size: badge a catalogue only when ≥ 60% of its live SKUs sit ≥ 8% below the comparable-set median. In the prototype, 7 of the 10 largest sellers fail that test.</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6629400" cy="5074920"/>
          </a:xfrm>
          <a:prstGeom prst="rect">
            <a:avLst/>
          </a:prstGeom>
          <a:solidFill>
            <a:srgbClr val="FFFFFF"/>
          </a:solidFill>
          <a:ln w="9525">
            <a:solidFill>
              <a:srgbClr val="E0CEDA"/>
            </a:solidFill>
            <a:prstDash val="solid"/>
          </a:ln>
        </p:spPr>
      </p:sp>
      <p:sp>
        <p:nvSpPr>
          <p:cNvPr id="33" name="Shape 27"/>
          <p:cNvSpPr/>
          <p:nvPr/>
        </p:nvSpPr>
        <p:spPr>
          <a:xfrm>
            <a:off x="749808" y="1426464"/>
            <a:ext cx="6629400"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MagnifyingGlassChart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CATEGORY SCREEN · 12 SCREENED, 9 IN SCOPE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77824" y="1847088"/>
          <a:ext cx="6373368" cy="914400"/>
        </p:xfrm>
        <a:graphic>
          <a:graphicData uri="http://schemas.openxmlformats.org/drawingml/2006/table">
            <a:tbl>
              <a:tblPr/>
              <a:tblGrid>
                <a:gridCol w="2606040"/>
                <a:gridCol w="1783080"/>
                <a:gridCol w="502920"/>
                <a:gridCol w="502920"/>
                <a:gridCol w="502920"/>
                <a:gridCol w="475488"/>
              </a:tblGrid>
              <a:tr h="310896">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Category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Cluster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Floor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Idle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Frt.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Unstitched saree &amp; dress material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Erode, Bhiwandi</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Home textiles: sheets, towels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Panipat, Solapur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Hosiery, innerwear, socks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Tiruppur, Ludhiana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Moulded plastic housewares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Rajkot, Daman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Imitation jewellery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Rajkot, Coimbatore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Steel kitchenware, utensils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Jagadhri, Wazirpur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Basic footwear, PU/EVA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Agra, Bahadurgarh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Brass décor &amp; lighting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Moradabad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Bags, school bags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Nangloi, Kolkata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Ethnic wear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Surat (largest)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Fitted western, jeans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Gandhi Nagar, Bengaluru</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Electronics accessories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import-assembly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bl>
          </a:graphicData>
        </a:graphic>
      </p:graphicFrame>
      <p:sp>
        <p:nvSpPr>
          <p:cNvPr id="37" name="Text 29"/>
          <p:cNvSpPr txBox="1"/>
          <p:nvPr/>
        </p:nvSpPr>
        <p:spPr>
          <a:xfrm>
            <a:off x="877824" y="5943600"/>
            <a:ext cx="6373368" cy="457200"/>
          </a:xfrm>
          <a:prstGeom prst="rect">
            <a:avLst/>
          </a:prstGeom>
          <a:noFill/>
          <a:ln/>
        </p:spPr>
        <p:txBody>
          <a:bodyPr wrap="square" lIns="0" tIns="0" rIns="0" bIns="0" rtlCol="0" anchor="t"/>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Floor = cost floor below the market median · Idle = spare capacity · Ret. = low return band · Frt. = freight per rupee of value. Rows 10–12 fail two tests: not now.</a:t>
            </a:r>
            <a:endParaRPr lang="en-US" sz="1000" dirty="0"/>
          </a:p>
        </p:txBody>
      </p:sp>
      <p:sp>
        <p:nvSpPr>
          <p:cNvPr id="38" name="Shape 30"/>
          <p:cNvSpPr/>
          <p:nvPr/>
        </p:nvSpPr>
        <p:spPr>
          <a:xfrm>
            <a:off x="749808" y="6620256"/>
            <a:ext cx="6629400" cy="2395728"/>
          </a:xfrm>
          <a:prstGeom prst="rect">
            <a:avLst/>
          </a:prstGeom>
          <a:solidFill>
            <a:srgbClr val="FFFFFF"/>
          </a:solidFill>
          <a:ln w="9525">
            <a:solidFill>
              <a:srgbClr val="E0CEDA"/>
            </a:solidFill>
            <a:prstDash val="solid"/>
          </a:ln>
        </p:spPr>
      </p:sp>
      <p:sp>
        <p:nvSpPr>
          <p:cNvPr id="39" name="Shape 31"/>
          <p:cNvSpPr/>
          <p:nvPr/>
        </p:nvSpPr>
        <p:spPr>
          <a:xfrm>
            <a:off x="749808" y="6620256"/>
            <a:ext cx="6629400" cy="329184"/>
          </a:xfrm>
          <a:prstGeom prst="rect">
            <a:avLst/>
          </a:prstGeom>
          <a:solidFill>
            <a:srgbClr val="8A245E"/>
          </a:solidFill>
          <a:ln w="12700">
            <a:solidFill>
              <a:srgbClr val="8A245E"/>
            </a:solidFill>
            <a:prstDash val="solid"/>
          </a:ln>
        </p:spPr>
      </p:sp>
      <p:pic>
        <p:nvPicPr>
          <p:cNvPr id="40" name="Image 4" descr="/private/tmp/claude-501/-Users-prathmeshwalimbe-Downloads-Meesho/dfec39d5-f971-4a3a-8cfb-761f4ef1fedb/scratchpad/deck/assets/icons/FaRotateLeft_w.png">    </p:cNvPr>
          <p:cNvPicPr>
            <a:picLocks noChangeAspect="1"/>
          </p:cNvPicPr>
          <p:nvPr/>
        </p:nvPicPr>
        <p:blipFill>
          <a:blip r:embed="rId5"/>
          <a:stretch>
            <a:fillRect/>
          </a:stretch>
        </p:blipFill>
        <p:spPr>
          <a:xfrm>
            <a:off x="859536" y="6684264"/>
            <a:ext cx="201168" cy="201168"/>
          </a:xfrm>
          <a:prstGeom prst="rect">
            <a:avLst/>
          </a:prstGeom>
        </p:spPr>
      </p:pic>
      <p:sp>
        <p:nvSpPr>
          <p:cNvPr id="41" name="Text 32"/>
          <p:cNvSpPr txBox="1"/>
          <p:nvPr/>
        </p:nvSpPr>
        <p:spPr>
          <a:xfrm>
            <a:off x="1133856" y="6620256"/>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WHY CATEGORY BEATS SCALE · THE RETURN MATH</a:t>
            </a:r>
            <a:endParaRPr lang="en-US" sz="12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877824" y="7040880"/>
          <a:ext cx="6373368" cy="914400"/>
        </p:xfrm>
        <a:graphic>
          <a:graphicData uri="http://schemas.openxmlformats.org/drawingml/2006/table">
            <a:tbl>
              <a:tblPr/>
              <a:tblGrid>
                <a:gridCol w="2560320"/>
                <a:gridCol w="1906524"/>
                <a:gridCol w="1906524"/>
              </a:tblGrid>
              <a:tr h="310896">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Return cost per unit kept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 ₹90 / return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 ₹150 / return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10896">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30% returns (fitted ethnic)</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₹39 · 14.6%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₹64 · 24.3%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5% returns (home textiles)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₹5 · 1.8%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₹8 · 3.0%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Gap between the two categories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13 pp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21 pp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43" name="Text 33"/>
          <p:cNvSpPr txBox="1"/>
          <p:nvPr/>
        </p:nvSpPr>
        <p:spPr>
          <a:xfrm>
            <a:off x="877824" y="8366760"/>
            <a:ext cx="6373368" cy="50292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Returns × fee ÷ units kept. A wrong category swallows the whole 12–18% cost edge before a buyer sees it. ₹90 is our estimate; ₹150 is the seller-guide rate for ≤ 500 g.</a:t>
            </a:r>
            <a:endParaRPr lang="en-US" sz="1050" dirty="0"/>
          </a:p>
        </p:txBody>
      </p:sp>
      <p:sp>
        <p:nvSpPr>
          <p:cNvPr id="44" name="Shape 34"/>
          <p:cNvSpPr/>
          <p:nvPr/>
        </p:nvSpPr>
        <p:spPr>
          <a:xfrm>
            <a:off x="7507224" y="1426464"/>
            <a:ext cx="4892040" cy="5074920"/>
          </a:xfrm>
          <a:prstGeom prst="rect">
            <a:avLst/>
          </a:prstGeom>
          <a:solidFill>
            <a:srgbClr val="FFFFFF"/>
          </a:solidFill>
          <a:ln w="9525">
            <a:solidFill>
              <a:srgbClr val="E0CEDA"/>
            </a:solidFill>
            <a:prstDash val="solid"/>
          </a:ln>
        </p:spPr>
      </p:sp>
      <p:sp>
        <p:nvSpPr>
          <p:cNvPr id="45" name="Shape 35"/>
          <p:cNvSpPr/>
          <p:nvPr/>
        </p:nvSpPr>
        <p:spPr>
          <a:xfrm>
            <a:off x="7507224" y="1426464"/>
            <a:ext cx="4892040" cy="329184"/>
          </a:xfrm>
          <a:prstGeom prst="rect">
            <a:avLst/>
          </a:prstGeom>
          <a:solidFill>
            <a:srgbClr val="560547"/>
          </a:solidFill>
          <a:ln w="12700">
            <a:solidFill>
              <a:srgbClr val="560547"/>
            </a:solidFill>
            <a:prstDash val="solid"/>
          </a:ln>
        </p:spPr>
      </p:sp>
      <p:pic>
        <p:nvPicPr>
          <p:cNvPr id="46" name="Image 5" descr="/private/tmp/claude-501/-Users-prathmeshwalimbe-Downloads-Meesho/dfec39d5-f971-4a3a-8cfb-761f4ef1fedb/scratchpad/deck/assets/icons/FaCalculator_w.png">    </p:cNvPr>
          <p:cNvPicPr>
            <a:picLocks noChangeAspect="1"/>
          </p:cNvPicPr>
          <p:nvPr/>
        </p:nvPicPr>
        <p:blipFill>
          <a:blip r:embed="rId6"/>
          <a:stretch>
            <a:fillRect/>
          </a:stretch>
        </p:blipFill>
        <p:spPr>
          <a:xfrm>
            <a:off x="7616952" y="1490472"/>
            <a:ext cx="201168" cy="201168"/>
          </a:xfrm>
          <a:prstGeom prst="rect">
            <a:avLst/>
          </a:prstGeom>
        </p:spPr>
      </p:pic>
      <p:sp>
        <p:nvSpPr>
          <p:cNvPr id="47" name="Text 36"/>
          <p:cNvSpPr txBox="1"/>
          <p:nvPr/>
        </p:nvSpPr>
        <p:spPr>
          <a:xfrm>
            <a:off x="7891272" y="1426464"/>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PRICE TRUTH INDEX · THE SCREEN</a:t>
            </a:r>
            <a:endParaRPr lang="en-US" sz="1250" dirty="0"/>
          </a:p>
        </p:txBody>
      </p:sp>
      <p:sp>
        <p:nvSpPr>
          <p:cNvPr id="48" name="Shape 37"/>
          <p:cNvSpPr/>
          <p:nvPr/>
        </p:nvSpPr>
        <p:spPr>
          <a:xfrm>
            <a:off x="7635240" y="1883664"/>
            <a:ext cx="457200" cy="457200"/>
          </a:xfrm>
          <a:prstGeom prst="ellipse">
            <a:avLst/>
          </a:prstGeom>
          <a:solidFill>
            <a:srgbClr val="560547"/>
          </a:solidFill>
          <a:ln w="12700">
            <a:solidFill>
              <a:srgbClr val="560547"/>
            </a:solidFill>
            <a:prstDash val="solid"/>
          </a:ln>
        </p:spPr>
      </p:sp>
      <p:pic>
        <p:nvPicPr>
          <p:cNvPr id="49" name="Image 6" descr="/private/tmp/claude-501/-Users-prathmeshwalimbe-Downloads-Meesho/dfec39d5-f971-4a3a-8cfb-761f4ef1fedb/scratchpad/deck/assets/icons/FaMapLocationDot_w.png">    </p:cNvPr>
          <p:cNvPicPr>
            <a:picLocks noChangeAspect="1"/>
          </p:cNvPicPr>
          <p:nvPr/>
        </p:nvPicPr>
        <p:blipFill>
          <a:blip r:embed="rId7"/>
          <a:stretch>
            <a:fillRect/>
          </a:stretch>
        </p:blipFill>
        <p:spPr>
          <a:xfrm>
            <a:off x="7744968" y="1993392"/>
            <a:ext cx="237744" cy="237744"/>
          </a:xfrm>
          <a:prstGeom prst="rect">
            <a:avLst/>
          </a:prstGeom>
        </p:spPr>
      </p:pic>
      <p:sp>
        <p:nvSpPr>
          <p:cNvPr id="50" name="Text 38"/>
          <p:cNvSpPr txBox="1"/>
          <p:nvPr/>
        </p:nvSpPr>
        <p:spPr>
          <a:xfrm>
            <a:off x="8202168" y="184708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Comparable-set median</a:t>
            </a:r>
            <a:endParaRPr lang="en-US" sz="1150" dirty="0"/>
          </a:p>
        </p:txBody>
      </p:sp>
      <p:sp>
        <p:nvSpPr>
          <p:cNvPr id="51" name="Text 39"/>
          <p:cNvSpPr txBox="1"/>
          <p:nvPr/>
        </p:nvSpPr>
        <p:spPr>
          <a:xfrm>
            <a:off x="8202168" y="210312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Order-weighted landed price on delivered orders, per product type. SKUs need ≥ 10 orders.</a:t>
            </a:r>
            <a:endParaRPr lang="en-US" sz="1100" dirty="0"/>
          </a:p>
        </p:txBody>
      </p:sp>
      <p:sp>
        <p:nvSpPr>
          <p:cNvPr id="52" name="Shape 40"/>
          <p:cNvSpPr/>
          <p:nvPr/>
        </p:nvSpPr>
        <p:spPr>
          <a:xfrm>
            <a:off x="7863840" y="2377440"/>
            <a:ext cx="914" cy="292608"/>
          </a:xfrm>
          <a:prstGeom prst="line">
            <a:avLst/>
          </a:prstGeom>
          <a:noFill/>
          <a:ln w="12700">
            <a:solidFill>
              <a:srgbClr val="8A245E"/>
            </a:solidFill>
            <a:prstDash val="dash"/>
            <a:tailEnd type="triangle"/>
          </a:ln>
        </p:spPr>
      </p:sp>
      <p:sp>
        <p:nvSpPr>
          <p:cNvPr id="53" name="Shape 41"/>
          <p:cNvSpPr/>
          <p:nvPr/>
        </p:nvSpPr>
        <p:spPr>
          <a:xfrm>
            <a:off x="7635240" y="2734056"/>
            <a:ext cx="457200" cy="457200"/>
          </a:xfrm>
          <a:prstGeom prst="ellipse">
            <a:avLst/>
          </a:prstGeom>
          <a:solidFill>
            <a:srgbClr val="560547"/>
          </a:solidFill>
          <a:ln w="12700">
            <a:solidFill>
              <a:srgbClr val="560547"/>
            </a:solidFill>
            <a:prstDash val="solid"/>
          </a:ln>
        </p:spPr>
      </p:sp>
      <p:pic>
        <p:nvPicPr>
          <p:cNvPr id="54" name="Image 7" descr="/private/tmp/claude-501/-Users-prathmeshwalimbe-Downloads-Meesho/dfec39d5-f971-4a3a-8cfb-761f4ef1fedb/scratchpad/deck/assets/icons/FaCalculator_w.png">    </p:cNvPr>
          <p:cNvPicPr>
            <a:picLocks noChangeAspect="1"/>
          </p:cNvPicPr>
          <p:nvPr/>
        </p:nvPicPr>
        <p:blipFill>
          <a:blip r:embed="rId8"/>
          <a:stretch>
            <a:fillRect/>
          </a:stretch>
        </p:blipFill>
        <p:spPr>
          <a:xfrm>
            <a:off x="7744968" y="2843784"/>
            <a:ext cx="237744" cy="237744"/>
          </a:xfrm>
          <a:prstGeom prst="rect">
            <a:avLst/>
          </a:prstGeom>
        </p:spPr>
      </p:pic>
      <p:sp>
        <p:nvSpPr>
          <p:cNvPr id="55" name="Text 42"/>
          <p:cNvSpPr txBox="1"/>
          <p:nvPr/>
        </p:nvSpPr>
        <p:spPr>
          <a:xfrm>
            <a:off x="8202168" y="2697480"/>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SKU price gap</a:t>
            </a:r>
            <a:endParaRPr lang="en-US" sz="1150" dirty="0"/>
          </a:p>
        </p:txBody>
      </p:sp>
      <p:sp>
        <p:nvSpPr>
          <p:cNvPr id="56" name="Text 43"/>
          <p:cNvSpPr txBox="1"/>
          <p:nvPr/>
        </p:nvSpPr>
        <p:spPr>
          <a:xfrm>
            <a:off x="8202168" y="2953512"/>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gap = (median − seller landed price) ÷ median</a:t>
            </a:r>
            <a:endParaRPr lang="en-US" sz="1100" dirty="0"/>
          </a:p>
        </p:txBody>
      </p:sp>
      <p:sp>
        <p:nvSpPr>
          <p:cNvPr id="57" name="Shape 44"/>
          <p:cNvSpPr/>
          <p:nvPr/>
        </p:nvSpPr>
        <p:spPr>
          <a:xfrm>
            <a:off x="7863840" y="3227832"/>
            <a:ext cx="914" cy="292608"/>
          </a:xfrm>
          <a:prstGeom prst="line">
            <a:avLst/>
          </a:prstGeom>
          <a:noFill/>
          <a:ln w="12700">
            <a:solidFill>
              <a:srgbClr val="8A245E"/>
            </a:solidFill>
            <a:prstDash val="dash"/>
            <a:tailEnd type="triangle"/>
          </a:ln>
        </p:spPr>
      </p:sp>
      <p:sp>
        <p:nvSpPr>
          <p:cNvPr id="58" name="Shape 45"/>
          <p:cNvSpPr/>
          <p:nvPr/>
        </p:nvSpPr>
        <p:spPr>
          <a:xfrm>
            <a:off x="7635240" y="3584448"/>
            <a:ext cx="457200" cy="457200"/>
          </a:xfrm>
          <a:prstGeom prst="ellipse">
            <a:avLst/>
          </a:prstGeom>
          <a:solidFill>
            <a:srgbClr val="560547"/>
          </a:solidFill>
          <a:ln w="12700">
            <a:solidFill>
              <a:srgbClr val="560547"/>
            </a:solidFill>
            <a:prstDash val="solid"/>
          </a:ln>
        </p:spPr>
      </p:sp>
      <p:pic>
        <p:nvPicPr>
          <p:cNvPr id="59" name="Image 8" descr="/private/tmp/claude-501/-Users-prathmeshwalimbe-Downloads-Meesho/dfec39d5-f971-4a3a-8cfb-761f4ef1fedb/scratchpad/deck/assets/icons/FaScaleUnbalanced_w.png">    </p:cNvPr>
          <p:cNvPicPr>
            <a:picLocks noChangeAspect="1"/>
          </p:cNvPicPr>
          <p:nvPr/>
        </p:nvPicPr>
        <p:blipFill>
          <a:blip r:embed="rId9"/>
          <a:stretch>
            <a:fillRect/>
          </a:stretch>
        </p:blipFill>
        <p:spPr>
          <a:xfrm>
            <a:off x="7744968" y="3694176"/>
            <a:ext cx="237744" cy="237744"/>
          </a:xfrm>
          <a:prstGeom prst="rect">
            <a:avLst/>
          </a:prstGeom>
        </p:spPr>
      </p:pic>
      <p:sp>
        <p:nvSpPr>
          <p:cNvPr id="60" name="Text 46"/>
          <p:cNvSpPr txBox="1"/>
          <p:nvPr/>
        </p:nvSpPr>
        <p:spPr>
          <a:xfrm>
            <a:off x="8202168" y="3547872"/>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Dominant-seller fix</a:t>
            </a:r>
            <a:endParaRPr lang="en-US" sz="1150" dirty="0"/>
          </a:p>
        </p:txBody>
      </p:sp>
      <p:sp>
        <p:nvSpPr>
          <p:cNvPr id="61" name="Text 47"/>
          <p:cNvSpPr txBox="1"/>
          <p:nvPr/>
        </p:nvSpPr>
        <p:spPr>
          <a:xfrm>
            <a:off x="8202168" y="3803904"/>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A seller with &gt; 30% of a set’s orders is scored against the median without its own orders.</a:t>
            </a:r>
            <a:endParaRPr lang="en-US" sz="1100" dirty="0"/>
          </a:p>
        </p:txBody>
      </p:sp>
      <p:sp>
        <p:nvSpPr>
          <p:cNvPr id="62" name="Shape 48"/>
          <p:cNvSpPr/>
          <p:nvPr/>
        </p:nvSpPr>
        <p:spPr>
          <a:xfrm>
            <a:off x="7863840" y="4078224"/>
            <a:ext cx="914" cy="292608"/>
          </a:xfrm>
          <a:prstGeom prst="line">
            <a:avLst/>
          </a:prstGeom>
          <a:noFill/>
          <a:ln w="12700">
            <a:solidFill>
              <a:srgbClr val="8A245E"/>
            </a:solidFill>
            <a:prstDash val="dash"/>
            <a:tailEnd type="triangle"/>
          </a:ln>
        </p:spPr>
      </p:sp>
      <p:sp>
        <p:nvSpPr>
          <p:cNvPr id="63" name="Shape 49"/>
          <p:cNvSpPr/>
          <p:nvPr/>
        </p:nvSpPr>
        <p:spPr>
          <a:xfrm>
            <a:off x="7635240" y="4434840"/>
            <a:ext cx="457200" cy="457200"/>
          </a:xfrm>
          <a:prstGeom prst="ellipse">
            <a:avLst/>
          </a:prstGeom>
          <a:solidFill>
            <a:srgbClr val="560547"/>
          </a:solidFill>
          <a:ln w="12700">
            <a:solidFill>
              <a:srgbClr val="560547"/>
            </a:solidFill>
            <a:prstDash val="solid"/>
          </a:ln>
        </p:spPr>
      </p:sp>
      <p:pic>
        <p:nvPicPr>
          <p:cNvPr id="64" name="Image 9" descr="/private/tmp/claude-501/-Users-prathmeshwalimbe-Downloads-Meesho/dfec39d5-f971-4a3a-8cfb-761f4ef1fedb/scratchpad/deck/assets/icons/FaShieldHalved_w.png">    </p:cNvPr>
          <p:cNvPicPr>
            <a:picLocks noChangeAspect="1"/>
          </p:cNvPicPr>
          <p:nvPr/>
        </p:nvPicPr>
        <p:blipFill>
          <a:blip r:embed="rId10"/>
          <a:stretch>
            <a:fillRect/>
          </a:stretch>
        </p:blipFill>
        <p:spPr>
          <a:xfrm>
            <a:off x="7744968" y="4544568"/>
            <a:ext cx="237744" cy="237744"/>
          </a:xfrm>
          <a:prstGeom prst="rect">
            <a:avLst/>
          </a:prstGeom>
        </p:spPr>
      </p:pic>
      <p:sp>
        <p:nvSpPr>
          <p:cNvPr id="65" name="Text 50"/>
          <p:cNvSpPr txBox="1"/>
          <p:nvPr/>
        </p:nvSpPr>
        <p:spPr>
          <a:xfrm>
            <a:off x="8202168" y="4398264"/>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Catalogue gate</a:t>
            </a:r>
            <a:endParaRPr lang="en-US" sz="1150" dirty="0"/>
          </a:p>
        </p:txBody>
      </p:sp>
      <p:sp>
        <p:nvSpPr>
          <p:cNvPr id="66" name="Text 51"/>
          <p:cNvSpPr txBox="1"/>
          <p:nvPr/>
        </p:nvSpPr>
        <p:spPr>
          <a:xfrm>
            <a:off x="8202168" y="4654296"/>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 8% gap on ≥ 60% of live SKUs, sellers above ₹5 cr GMV. One loss-leader cannot buy the badge.</a:t>
            </a:r>
            <a:endParaRPr lang="en-US" sz="1100" dirty="0"/>
          </a:p>
        </p:txBody>
      </p:sp>
      <p:sp>
        <p:nvSpPr>
          <p:cNvPr id="67" name="Shape 52"/>
          <p:cNvSpPr/>
          <p:nvPr/>
        </p:nvSpPr>
        <p:spPr>
          <a:xfrm>
            <a:off x="7863840" y="4928616"/>
            <a:ext cx="914" cy="292608"/>
          </a:xfrm>
          <a:prstGeom prst="line">
            <a:avLst/>
          </a:prstGeom>
          <a:noFill/>
          <a:ln w="12700">
            <a:solidFill>
              <a:srgbClr val="8A245E"/>
            </a:solidFill>
            <a:prstDash val="dash"/>
            <a:tailEnd type="triangle"/>
          </a:ln>
        </p:spPr>
      </p:sp>
      <p:sp>
        <p:nvSpPr>
          <p:cNvPr id="68" name="Shape 53"/>
          <p:cNvSpPr/>
          <p:nvPr/>
        </p:nvSpPr>
        <p:spPr>
          <a:xfrm>
            <a:off x="7635240" y="5285232"/>
            <a:ext cx="457200" cy="457200"/>
          </a:xfrm>
          <a:prstGeom prst="ellipse">
            <a:avLst/>
          </a:prstGeom>
          <a:solidFill>
            <a:srgbClr val="560547"/>
          </a:solidFill>
          <a:ln w="12700">
            <a:solidFill>
              <a:srgbClr val="560547"/>
            </a:solidFill>
            <a:prstDash val="solid"/>
          </a:ln>
        </p:spPr>
      </p:sp>
      <p:pic>
        <p:nvPicPr>
          <p:cNvPr id="69" name="Image 10" descr="/private/tmp/claude-501/-Users-prathmeshwalimbe-Downloads-Meesho/dfec39d5-f971-4a3a-8cfb-761f4ef1fedb/scratchpad/deck/assets/icons/FaFlask_w.png">    </p:cNvPr>
          <p:cNvPicPr>
            <a:picLocks noChangeAspect="1"/>
          </p:cNvPicPr>
          <p:nvPr/>
        </p:nvPicPr>
        <p:blipFill>
          <a:blip r:embed="rId11"/>
          <a:stretch>
            <a:fillRect/>
          </a:stretch>
        </p:blipFill>
        <p:spPr>
          <a:xfrm>
            <a:off x="7744968" y="5394960"/>
            <a:ext cx="237744" cy="237744"/>
          </a:xfrm>
          <a:prstGeom prst="rect">
            <a:avLst/>
          </a:prstGeom>
        </p:spPr>
      </p:pic>
      <p:sp>
        <p:nvSpPr>
          <p:cNvPr id="70" name="Text 54"/>
          <p:cNvSpPr txBox="1"/>
          <p:nvPr/>
        </p:nvSpPr>
        <p:spPr>
          <a:xfrm>
            <a:off x="8202168" y="5248656"/>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Badge + re-rank, with a holdout</a:t>
            </a:r>
            <a:endParaRPr lang="en-US" sz="1150" dirty="0"/>
          </a:p>
        </p:txBody>
      </p:sp>
      <p:sp>
        <p:nvSpPr>
          <p:cNvPr id="71" name="Text 55"/>
          <p:cNvSpPr txBox="1"/>
          <p:nvPr/>
        </p:nvSpPr>
        <p:spPr>
          <a:xfrm>
            <a:off x="8202168" y="5504688"/>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Matched control, read at Day 30 (see Roadmap).</a:t>
            </a:r>
            <a:endParaRPr lang="en-US" sz="1100" dirty="0"/>
          </a:p>
        </p:txBody>
      </p:sp>
      <p:sp>
        <p:nvSpPr>
          <p:cNvPr id="72" name="Shape 56"/>
          <p:cNvSpPr/>
          <p:nvPr/>
        </p:nvSpPr>
        <p:spPr>
          <a:xfrm>
            <a:off x="7507224" y="6620256"/>
            <a:ext cx="4892040" cy="2395728"/>
          </a:xfrm>
          <a:prstGeom prst="rect">
            <a:avLst/>
          </a:prstGeom>
          <a:solidFill>
            <a:srgbClr val="FFFFFF"/>
          </a:solidFill>
          <a:ln w="9525">
            <a:solidFill>
              <a:srgbClr val="E0CEDA"/>
            </a:solidFill>
            <a:prstDash val="solid"/>
          </a:ln>
        </p:spPr>
      </p:sp>
      <p:sp>
        <p:nvSpPr>
          <p:cNvPr id="73" name="Shape 57"/>
          <p:cNvSpPr/>
          <p:nvPr/>
        </p:nvSpPr>
        <p:spPr>
          <a:xfrm>
            <a:off x="7507224" y="6620256"/>
            <a:ext cx="4892040" cy="329184"/>
          </a:xfrm>
          <a:prstGeom prst="rect">
            <a:avLst/>
          </a:prstGeom>
          <a:solidFill>
            <a:srgbClr val="8A245E"/>
          </a:solidFill>
          <a:ln w="12700">
            <a:solidFill>
              <a:srgbClr val="8A245E"/>
            </a:solidFill>
            <a:prstDash val="solid"/>
          </a:ln>
        </p:spPr>
      </p:sp>
      <p:pic>
        <p:nvPicPr>
          <p:cNvPr id="74" name="Image 11" descr="/private/tmp/claude-501/-Users-prathmeshwalimbe-Downloads-Meesho/dfec39d5-f971-4a3a-8cfb-761f4ef1fedb/scratchpad/deck/assets/icons/FaCircleCheck_w.png">    </p:cNvPr>
          <p:cNvPicPr>
            <a:picLocks noChangeAspect="1"/>
          </p:cNvPicPr>
          <p:nvPr/>
        </p:nvPicPr>
        <p:blipFill>
          <a:blip r:embed="rId12"/>
          <a:stretch>
            <a:fillRect/>
          </a:stretch>
        </p:blipFill>
        <p:spPr>
          <a:xfrm>
            <a:off x="7616952" y="6684264"/>
            <a:ext cx="201168" cy="201168"/>
          </a:xfrm>
          <a:prstGeom prst="rect">
            <a:avLst/>
          </a:prstGeom>
        </p:spPr>
      </p:pic>
      <p:sp>
        <p:nvSpPr>
          <p:cNvPr id="75" name="Text 58"/>
          <p:cNvSpPr txBox="1"/>
          <p:nvPr/>
        </p:nvSpPr>
        <p:spPr>
          <a:xfrm>
            <a:off x="7891272" y="6620256"/>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FOUR VERDICTS, FOUR ACTIONS</a:t>
            </a:r>
            <a:endParaRPr lang="en-US" sz="12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7635240" y="7040880"/>
          <a:ext cx="4636008" cy="914400"/>
        </p:xfrm>
        <a:graphic>
          <a:graphicData uri="http://schemas.openxmlformats.org/drawingml/2006/table">
            <a:tbl>
              <a:tblPr/>
              <a:tblGrid>
                <a:gridCol w="2148840"/>
                <a:gridCol w="2487168"/>
              </a:tblGrid>
              <a:tr h="32918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C2M-ready (62)</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 + re-rank + Demand Brief</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Scale without price (84)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No badge; offer a value-tier catalogue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Loss-leader pattern (18)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No badge; the catalogue gate holds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D68200"/>
                          </a:solidFill>
                          <a:latin typeface="Calibri" pitchFamily="34" charset="0"/>
                          <a:ea typeface="Calibri" pitchFamily="34" charset="-122"/>
                          <a:cs typeface="Calibri" pitchFamily="34" charset="-120"/>
                        </a:rPr>
                        <a:t>Near miss (16)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Factory Node cost help; re-score in 28 days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7" name="Shape 59"/>
          <p:cNvSpPr/>
          <p:nvPr/>
        </p:nvSpPr>
        <p:spPr>
          <a:xfrm>
            <a:off x="12527280" y="1426464"/>
            <a:ext cx="5532120" cy="7589520"/>
          </a:xfrm>
          <a:prstGeom prst="rect">
            <a:avLst/>
          </a:prstGeom>
          <a:solidFill>
            <a:srgbClr val="FFFFFF"/>
          </a:solidFill>
          <a:ln w="9525">
            <a:solidFill>
              <a:srgbClr val="E0CEDA"/>
            </a:solidFill>
            <a:prstDash val="solid"/>
          </a:ln>
        </p:spPr>
      </p:sp>
      <p:sp>
        <p:nvSpPr>
          <p:cNvPr id="78" name="Shape 60"/>
          <p:cNvSpPr/>
          <p:nvPr/>
        </p:nvSpPr>
        <p:spPr>
          <a:xfrm>
            <a:off x="12527280" y="1426464"/>
            <a:ext cx="5532120" cy="329184"/>
          </a:xfrm>
          <a:prstGeom prst="rect">
            <a:avLst/>
          </a:prstGeom>
          <a:solidFill>
            <a:srgbClr val="560547"/>
          </a:solidFill>
          <a:ln w="12700">
            <a:solidFill>
              <a:srgbClr val="560547"/>
            </a:solidFill>
            <a:prstDash val="solid"/>
          </a:ln>
        </p:spPr>
      </p:sp>
      <p:pic>
        <p:nvPicPr>
          <p:cNvPr id="79" name="Image 12" descr="/private/tmp/claude-501/-Users-prathmeshwalimbe-Downloads-Meesho/dfec39d5-f971-4a3a-8cfb-761f4ef1fedb/scratchpad/deck/assets/icons/FaGaugeHigh_w.png">    </p:cNvPr>
          <p:cNvPicPr>
            <a:picLocks noChangeAspect="1"/>
          </p:cNvPicPr>
          <p:nvPr/>
        </p:nvPicPr>
        <p:blipFill>
          <a:blip r:embed="rId13"/>
          <a:stretch>
            <a:fillRect/>
          </a:stretch>
        </p:blipFill>
        <p:spPr>
          <a:xfrm>
            <a:off x="12637008" y="1490472"/>
            <a:ext cx="201168" cy="201168"/>
          </a:xfrm>
          <a:prstGeom prst="rect">
            <a:avLst/>
          </a:prstGeom>
        </p:spPr>
      </p:pic>
      <p:sp>
        <p:nvSpPr>
          <p:cNvPr id="80" name="Text 61"/>
          <p:cNvSpPr txBox="1"/>
          <p:nvPr/>
        </p:nvSpPr>
        <p:spPr>
          <a:xfrm>
            <a:off x="12911328" y="1426464"/>
            <a:ext cx="50200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BIGGER IS NOT CHEAPER · FROM THE WORKING PROTOTYPE</a:t>
            </a:r>
            <a:endParaRPr lang="en-US" sz="1250" dirty="0"/>
          </a:p>
        </p:txBody>
      </p:sp>
      <p:sp>
        <p:nvSpPr>
          <p:cNvPr id="81" name="Shape 62"/>
          <p:cNvSpPr/>
          <p:nvPr/>
        </p:nvSpPr>
        <p:spPr>
          <a:xfrm>
            <a:off x="12646152" y="1837944"/>
            <a:ext cx="5294376" cy="3697399"/>
          </a:xfrm>
          <a:prstGeom prst="rect">
            <a:avLst/>
          </a:prstGeom>
          <a:solidFill>
            <a:srgbClr val="FFFFFF"/>
          </a:solidFill>
          <a:ln w="9525">
            <a:solidFill>
              <a:srgbClr val="E0CEDA"/>
            </a:solidFill>
            <a:prstDash val="solid"/>
          </a:ln>
        </p:spPr>
      </p:sp>
      <p:pic>
        <p:nvPicPr>
          <p:cNvPr id="82" name="Image 13" descr="/private/tmp/claude-501/-Users-prathmeshwalimbe-Downloads-Meesho/dfec39d5-f971-4a3a-8cfb-761f4ef1fedb/scratchpad/deck/assets/shot_pti_scatter.png">    </p:cNvPr>
          <p:cNvPicPr>
            <a:picLocks noChangeAspect="1"/>
          </p:cNvPicPr>
          <p:nvPr/>
        </p:nvPicPr>
        <p:blipFill>
          <a:blip r:embed="rId14"/>
          <a:stretch>
            <a:fillRect/>
          </a:stretch>
        </p:blipFill>
        <p:spPr>
          <a:xfrm>
            <a:off x="12655296" y="1847088"/>
            <a:ext cx="5276088" cy="3679111"/>
          </a:xfrm>
          <a:prstGeom prst="rect">
            <a:avLst/>
          </a:prstGeom>
        </p:spPr>
      </p:pic>
      <p:sp>
        <p:nvSpPr>
          <p:cNvPr id="83" name="Shape 63"/>
          <p:cNvSpPr/>
          <p:nvPr/>
        </p:nvSpPr>
        <p:spPr>
          <a:xfrm>
            <a:off x="12655296" y="5663359"/>
            <a:ext cx="1250442" cy="868680"/>
          </a:xfrm>
          <a:prstGeom prst="rect">
            <a:avLst/>
          </a:prstGeom>
          <a:solidFill>
            <a:srgbClr val="F2E4EE"/>
          </a:solidFill>
          <a:ln w="12700">
            <a:solidFill>
              <a:srgbClr val="F2E4EE"/>
            </a:solidFill>
            <a:prstDash val="solid"/>
          </a:ln>
        </p:spPr>
      </p:sp>
      <p:sp>
        <p:nvSpPr>
          <p:cNvPr id="84" name="Text 64"/>
          <p:cNvSpPr txBox="1"/>
          <p:nvPr/>
        </p:nvSpPr>
        <p:spPr>
          <a:xfrm>
            <a:off x="12765024"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180</a:t>
            </a:r>
            <a:endParaRPr lang="en-US" sz="1700" dirty="0"/>
          </a:p>
        </p:txBody>
      </p:sp>
      <p:sp>
        <p:nvSpPr>
          <p:cNvPr id="85" name="Text 65"/>
          <p:cNvSpPr txBox="1"/>
          <p:nvPr/>
        </p:nvSpPr>
        <p:spPr>
          <a:xfrm>
            <a:off x="12765024"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sellers above ₹5 cr screened</a:t>
            </a:r>
            <a:endParaRPr lang="en-US" sz="1050" dirty="0"/>
          </a:p>
        </p:txBody>
      </p:sp>
      <p:sp>
        <p:nvSpPr>
          <p:cNvPr id="86" name="Shape 66"/>
          <p:cNvSpPr/>
          <p:nvPr/>
        </p:nvSpPr>
        <p:spPr>
          <a:xfrm>
            <a:off x="13997178" y="5663359"/>
            <a:ext cx="1250442" cy="868680"/>
          </a:xfrm>
          <a:prstGeom prst="rect">
            <a:avLst/>
          </a:prstGeom>
          <a:solidFill>
            <a:srgbClr val="F2E4EE"/>
          </a:solidFill>
          <a:ln w="12700">
            <a:solidFill>
              <a:srgbClr val="F2E4EE"/>
            </a:solidFill>
            <a:prstDash val="solid"/>
          </a:ln>
        </p:spPr>
      </p:sp>
      <p:sp>
        <p:nvSpPr>
          <p:cNvPr id="87" name="Text 67"/>
          <p:cNvSpPr txBox="1"/>
          <p:nvPr/>
        </p:nvSpPr>
        <p:spPr>
          <a:xfrm>
            <a:off x="14106906"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62 · 34%</a:t>
            </a:r>
            <a:endParaRPr lang="en-US" sz="1700" dirty="0"/>
          </a:p>
        </p:txBody>
      </p:sp>
      <p:sp>
        <p:nvSpPr>
          <p:cNvPr id="88" name="Text 68"/>
          <p:cNvSpPr txBox="1"/>
          <p:nvPr/>
        </p:nvSpPr>
        <p:spPr>
          <a:xfrm>
            <a:off x="14106906"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pass the gate</a:t>
            </a:r>
            <a:endParaRPr lang="en-US" sz="1050" dirty="0"/>
          </a:p>
        </p:txBody>
      </p:sp>
      <p:sp>
        <p:nvSpPr>
          <p:cNvPr id="89" name="Shape 69"/>
          <p:cNvSpPr/>
          <p:nvPr/>
        </p:nvSpPr>
        <p:spPr>
          <a:xfrm>
            <a:off x="15339060" y="5663359"/>
            <a:ext cx="1250442" cy="868680"/>
          </a:xfrm>
          <a:prstGeom prst="rect">
            <a:avLst/>
          </a:prstGeom>
          <a:solidFill>
            <a:srgbClr val="F2E4EE"/>
          </a:solidFill>
          <a:ln w="12700">
            <a:solidFill>
              <a:srgbClr val="F2E4EE"/>
            </a:solidFill>
            <a:prstDash val="solid"/>
          </a:ln>
        </p:spPr>
      </p:sp>
      <p:sp>
        <p:nvSpPr>
          <p:cNvPr id="90" name="Text 70"/>
          <p:cNvSpPr txBox="1"/>
          <p:nvPr/>
        </p:nvSpPr>
        <p:spPr>
          <a:xfrm>
            <a:off x="15448788"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84 · 47%</a:t>
            </a:r>
            <a:endParaRPr lang="en-US" sz="1700" dirty="0"/>
          </a:p>
        </p:txBody>
      </p:sp>
      <p:sp>
        <p:nvSpPr>
          <p:cNvPr id="91" name="Text 71"/>
          <p:cNvSpPr txBox="1"/>
          <p:nvPr/>
        </p:nvSpPr>
        <p:spPr>
          <a:xfrm>
            <a:off x="15448788"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scale without price</a:t>
            </a:r>
            <a:endParaRPr lang="en-US" sz="1050" dirty="0"/>
          </a:p>
        </p:txBody>
      </p:sp>
      <p:sp>
        <p:nvSpPr>
          <p:cNvPr id="92" name="Shape 72"/>
          <p:cNvSpPr/>
          <p:nvPr/>
        </p:nvSpPr>
        <p:spPr>
          <a:xfrm>
            <a:off x="16680942" y="5663359"/>
            <a:ext cx="1250442" cy="868680"/>
          </a:xfrm>
          <a:prstGeom prst="rect">
            <a:avLst/>
          </a:prstGeom>
          <a:solidFill>
            <a:srgbClr val="F2E4EE"/>
          </a:solidFill>
          <a:ln w="12700">
            <a:solidFill>
              <a:srgbClr val="F2E4EE"/>
            </a:solidFill>
            <a:prstDash val="solid"/>
          </a:ln>
        </p:spPr>
      </p:sp>
      <p:sp>
        <p:nvSpPr>
          <p:cNvPr id="93" name="Text 73"/>
          <p:cNvSpPr txBox="1"/>
          <p:nvPr/>
        </p:nvSpPr>
        <p:spPr>
          <a:xfrm>
            <a:off x="16790670"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r = -0.18</a:t>
            </a:r>
            <a:endParaRPr lang="en-US" sz="1700" dirty="0"/>
          </a:p>
        </p:txBody>
      </p:sp>
      <p:sp>
        <p:nvSpPr>
          <p:cNvPr id="94" name="Text 74"/>
          <p:cNvSpPr txBox="1"/>
          <p:nvPr/>
        </p:nvSpPr>
        <p:spPr>
          <a:xfrm>
            <a:off x="16790670"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size vs price gap</a:t>
            </a:r>
            <a:endParaRPr lang="en-US" sz="1050" dirty="0"/>
          </a:p>
        </p:txBody>
      </p:sp>
      <p:sp>
        <p:nvSpPr>
          <p:cNvPr id="95" name="Text 75"/>
          <p:cNvSpPr txBox="1"/>
          <p:nvPr/>
        </p:nvSpPr>
        <p:spPr>
          <a:xfrm>
            <a:off x="12655296" y="6669199"/>
            <a:ext cx="5276088" cy="1920240"/>
          </a:xfrm>
          <a:prstGeom prst="rect">
            <a:avLst/>
          </a:prstGeom>
          <a:noFill/>
          <a:ln/>
        </p:spPr>
        <p:txBody>
          <a:bodyPr wrap="square" lIns="0" tIns="0" rIns="0" bIns="0" rtlCol="0" anchor="t"/>
          <a:lstStyle/>
          <a:p>
            <a:pPr algn="l" indent="0" marL="0">
              <a:lnSpc>
                <a:spcPct val="100000"/>
              </a:lnSpc>
              <a:spcAft>
                <a:spcPts val="300"/>
              </a:spcAft>
              <a:buNone/>
            </a:pPr>
            <a:r>
              <a:rPr lang="en-US" sz="1150" b="1" dirty="0">
                <a:solidFill>
                  <a:srgbClr val="560547"/>
                </a:solidFill>
                <a:latin typeface="Calibri" pitchFamily="34" charset="0"/>
                <a:ea typeface="Calibri" pitchFamily="34" charset="-122"/>
                <a:cs typeface="Calibri" pitchFamily="34" charset="-120"/>
              </a:rPr>
              <a:t>What the screen catches that a turnover filter misses</a:t>
            </a:r>
            <a:endParaRPr lang="en-US" sz="1150" dirty="0"/>
          </a:p>
          <a:p>
            <a:pPr algn="l" indent="0" marL="0">
              <a:lnSpc>
                <a:spcPct val="100000"/>
              </a:lnSpc>
              <a:spcAft>
                <a:spcPts val="300"/>
              </a:spcAft>
              <a:buNone/>
            </a:pPr>
            <a:r>
              <a:rPr lang="en-US" sz="1150" dirty="0">
                <a:solidFill>
                  <a:srgbClr val="2B1226"/>
                </a:solidFill>
                <a:latin typeface="Calibri" pitchFamily="34" charset="0"/>
                <a:ea typeface="Calibri" pitchFamily="34" charset="-122"/>
                <a:cs typeface="Calibri" pitchFamily="34" charset="-120"/>
              </a:rPr>
              <a:t>• 7 of the 10 largest sellers carry no real price edge: they are traders, and scale never became price.</a:t>
            </a:r>
            <a:endParaRPr lang="en-US" sz="1150" dirty="0"/>
          </a:p>
          <a:p>
            <a:pPr algn="l" indent="0" marL="0">
              <a:lnSpc>
                <a:spcPct val="100000"/>
              </a:lnSpc>
              <a:spcAft>
                <a:spcPts val="300"/>
              </a:spcAft>
              <a:buNone/>
            </a:pPr>
            <a:r>
              <a:rPr lang="en-US" sz="1150" dirty="0">
                <a:solidFill>
                  <a:srgbClr val="2B1226"/>
                </a:solidFill>
                <a:latin typeface="Calibri" pitchFamily="34" charset="0"/>
                <a:ea typeface="Calibri" pitchFamily="34" charset="-122"/>
                <a:cs typeface="Calibri" pitchFamily="34" charset="-120"/>
              </a:rPr>
              <a:t>• 18 catalogues had 2–3 SKUs 20%+ below market and the rest at market: the gate refuses them.</a:t>
            </a:r>
            <a:endParaRPr lang="en-US" sz="1150" dirty="0"/>
          </a:p>
          <a:p>
            <a:pPr algn="l" indent="0" marL="0">
              <a:lnSpc>
                <a:spcPct val="100000"/>
              </a:lnSpc>
              <a:spcAft>
                <a:spcPts val="300"/>
              </a:spcAft>
              <a:buNone/>
            </a:pPr>
            <a:r>
              <a:rPr lang="en-US" sz="1150" dirty="0">
                <a:solidFill>
                  <a:srgbClr val="2B1226"/>
                </a:solidFill>
                <a:latin typeface="Calibri" pitchFamily="34" charset="0"/>
                <a:ea typeface="Calibri" pitchFamily="34" charset="-122"/>
                <a:cs typeface="Calibri" pitchFamily="34" charset="-120"/>
              </a:rPr>
              <a:t>• 16 near misses have a real but thin edge: the Factory Node closes it (see Onboarding).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560547"/>
          </a:solidFill>
          <a:ln w="9525">
            <a:solidFill>
              <a:srgbClr val="560547"/>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GETTING THEM ON</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Q4 · Onboarding model · Support stack, risk-sharing and assisted operations for reluctant manufacturers</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prototype manufacturer app (illustrative seller Kavin Knit Mills, fictional; ₹98 making cost; assumptions in src/config.js); Reuters via FashionNetwork (Feb 2026); KrASIA (Pinduoduo, 2019 data); Tech Buzz China (Temu, 2025).</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Keep the B2B risk model: price-check before listing, show demand by pin-code, make only what is pre-ordered, and hand over in bulk to a Factory Node that runs unit operations.</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17309592" cy="2103120"/>
          </a:xfrm>
          <a:prstGeom prst="rect">
            <a:avLst/>
          </a:prstGeom>
          <a:solidFill>
            <a:srgbClr val="FFFFFF"/>
          </a:solidFill>
          <a:ln w="9525">
            <a:solidFill>
              <a:srgbClr val="E0CEDA"/>
            </a:solidFill>
            <a:prstDash val="solid"/>
          </a:ln>
        </p:spPr>
      </p:sp>
      <p:sp>
        <p:nvSpPr>
          <p:cNvPr id="33" name="Shape 27"/>
          <p:cNvSpPr/>
          <p:nvPr/>
        </p:nvSpPr>
        <p:spPr>
          <a:xfrm>
            <a:off x="749808" y="1426464"/>
            <a:ext cx="17309592"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1679752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MADE-TO-MEESHO FLOW · ONE MANUFACTURER, END TO END</a:t>
            </a:r>
            <a:endParaRPr lang="en-US" sz="1250" dirty="0"/>
          </a:p>
        </p:txBody>
      </p:sp>
      <p:sp>
        <p:nvSpPr>
          <p:cNvPr id="36" name="Text 29"/>
          <p:cNvSpPr txBox="1"/>
          <p:nvPr/>
        </p:nvSpPr>
        <p:spPr>
          <a:xfrm>
            <a:off x="14218920" y="1426464"/>
            <a:ext cx="3712464" cy="329184"/>
          </a:xfrm>
          <a:prstGeom prst="rect">
            <a:avLst/>
          </a:prstGeom>
          <a:noFill/>
          <a:ln/>
        </p:spPr>
        <p:txBody>
          <a:bodyPr wrap="square" lIns="0" tIns="0" rIns="0" bIns="0" rtlCol="0" anchor="ctr"/>
          <a:lstStyle/>
          <a:p>
            <a:pPr algn="r" indent="0" marL="0">
              <a:lnSpc>
                <a:spcPct val="100000"/>
              </a:lnSpc>
              <a:buNone/>
            </a:pPr>
            <a:r>
              <a:rPr lang="en-US" sz="1050" i="1" dirty="0">
                <a:solidFill>
                  <a:srgbClr val="F3D6E6"/>
                </a:solidFill>
                <a:latin typeface="Calibri" pitchFamily="34" charset="0"/>
                <a:ea typeface="Calibri" pitchFamily="34" charset="-122"/>
                <a:cs typeface="Calibri" pitchFamily="34" charset="-120"/>
              </a:rPr>
              <a:t>numbers from the working prototype</a:t>
            </a:r>
            <a:endParaRPr lang="en-US" sz="1050" dirty="0"/>
          </a:p>
        </p:txBody>
      </p:sp>
      <p:sp>
        <p:nvSpPr>
          <p:cNvPr id="37" name="Shape 30"/>
          <p:cNvSpPr/>
          <p:nvPr/>
        </p:nvSpPr>
        <p:spPr>
          <a:xfrm>
            <a:off x="1969770" y="1865376"/>
            <a:ext cx="658368" cy="658368"/>
          </a:xfrm>
          <a:prstGeom prst="ellipse">
            <a:avLst/>
          </a:prstGeom>
          <a:solidFill>
            <a:srgbClr val="560547"/>
          </a:solidFill>
          <a:ln w="12700">
            <a:solidFill>
              <a:srgbClr val="560547"/>
            </a:solidFill>
            <a:prstDash val="solid"/>
          </a:ln>
        </p:spPr>
      </p:sp>
      <p:pic>
        <p:nvPicPr>
          <p:cNvPr id="38" name="Image 4" descr="/private/tmp/claude-501/-Users-prathmeshwalimbe-Downloads-Meesho/dfec39d5-f971-4a3a-8cfb-761f4ef1fedb/scratchpad/deck/assets/icons/FaCalculator_w.png">    </p:cNvPr>
          <p:cNvPicPr>
            <a:picLocks noChangeAspect="1"/>
          </p:cNvPicPr>
          <p:nvPr/>
        </p:nvPicPr>
        <p:blipFill>
          <a:blip r:embed="rId5"/>
          <a:stretch>
            <a:fillRect/>
          </a:stretch>
        </p:blipFill>
        <p:spPr>
          <a:xfrm>
            <a:off x="2127778" y="2023384"/>
            <a:ext cx="342351" cy="342351"/>
          </a:xfrm>
          <a:prstGeom prst="rect">
            <a:avLst/>
          </a:prstGeom>
        </p:spPr>
      </p:pic>
      <p:sp>
        <p:nvSpPr>
          <p:cNvPr id="39" name="Shape 31"/>
          <p:cNvSpPr/>
          <p:nvPr/>
        </p:nvSpPr>
        <p:spPr>
          <a:xfrm>
            <a:off x="2710434" y="2194560"/>
            <a:ext cx="2019300" cy="914"/>
          </a:xfrm>
          <a:prstGeom prst="line">
            <a:avLst/>
          </a:prstGeom>
          <a:noFill/>
          <a:ln w="19050">
            <a:solidFill>
              <a:srgbClr val="8A245E"/>
            </a:solidFill>
            <a:prstDash val="dash"/>
            <a:tailEnd type="triangle"/>
          </a:ln>
        </p:spPr>
      </p:sp>
      <p:sp>
        <p:nvSpPr>
          <p:cNvPr id="40" name="Text 32"/>
          <p:cNvSpPr txBox="1"/>
          <p:nvPr/>
        </p:nvSpPr>
        <p:spPr>
          <a:xfrm>
            <a:off x="93268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1 · Price check</a:t>
            </a:r>
            <a:endParaRPr lang="en-US" sz="1200" dirty="0"/>
          </a:p>
        </p:txBody>
      </p:sp>
      <p:sp>
        <p:nvSpPr>
          <p:cNvPr id="41" name="Text 33"/>
          <p:cNvSpPr txBox="1"/>
          <p:nvPr/>
        </p:nvSpPr>
        <p:spPr>
          <a:xfrm>
            <a:off x="96926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Lowest price at 9% margin ₹213 vs ₹245 median: 13.3% below, qualifies before listing</a:t>
            </a:r>
            <a:endParaRPr lang="en-US" sz="1100" dirty="0"/>
          </a:p>
        </p:txBody>
      </p:sp>
      <p:sp>
        <p:nvSpPr>
          <p:cNvPr id="42" name="Shape 34"/>
          <p:cNvSpPr/>
          <p:nvPr/>
        </p:nvSpPr>
        <p:spPr>
          <a:xfrm>
            <a:off x="4812030" y="1865376"/>
            <a:ext cx="658368" cy="658368"/>
          </a:xfrm>
          <a:prstGeom prst="ellipse">
            <a:avLst/>
          </a:prstGeom>
          <a:solidFill>
            <a:srgbClr val="560547"/>
          </a:solidFill>
          <a:ln w="12700">
            <a:solidFill>
              <a:srgbClr val="560547"/>
            </a:solidFill>
            <a:prstDash val="solid"/>
          </a:ln>
        </p:spPr>
      </p:sp>
      <p:pic>
        <p:nvPicPr>
          <p:cNvPr id="43" name="Image 5" descr="/private/tmp/claude-501/-Users-prathmeshwalimbe-Downloads-Meesho/dfec39d5-f971-4a3a-8cfb-761f4ef1fedb/scratchpad/deck/assets/icons/FaMapLocationDot_w.png">    </p:cNvPr>
          <p:cNvPicPr>
            <a:picLocks noChangeAspect="1"/>
          </p:cNvPicPr>
          <p:nvPr/>
        </p:nvPicPr>
        <p:blipFill>
          <a:blip r:embed="rId6"/>
          <a:stretch>
            <a:fillRect/>
          </a:stretch>
        </p:blipFill>
        <p:spPr>
          <a:xfrm>
            <a:off x="4970038" y="2023384"/>
            <a:ext cx="342351" cy="342351"/>
          </a:xfrm>
          <a:prstGeom prst="rect">
            <a:avLst/>
          </a:prstGeom>
        </p:spPr>
      </p:pic>
      <p:sp>
        <p:nvSpPr>
          <p:cNvPr id="44" name="Shape 35"/>
          <p:cNvSpPr/>
          <p:nvPr/>
        </p:nvSpPr>
        <p:spPr>
          <a:xfrm>
            <a:off x="5552694" y="2194560"/>
            <a:ext cx="2019300" cy="914"/>
          </a:xfrm>
          <a:prstGeom prst="line">
            <a:avLst/>
          </a:prstGeom>
          <a:noFill/>
          <a:ln w="19050">
            <a:solidFill>
              <a:srgbClr val="8A245E"/>
            </a:solidFill>
            <a:prstDash val="dash"/>
            <a:tailEnd type="triangle"/>
          </a:ln>
        </p:spPr>
      </p:sp>
      <p:sp>
        <p:nvSpPr>
          <p:cNvPr id="45" name="Text 36"/>
          <p:cNvSpPr txBox="1"/>
          <p:nvPr/>
        </p:nvSpPr>
        <p:spPr>
          <a:xfrm>
            <a:off x="377494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2 · Demand Brief</a:t>
            </a:r>
            <a:endParaRPr lang="en-US" sz="1200" dirty="0"/>
          </a:p>
        </p:txBody>
      </p:sp>
      <p:sp>
        <p:nvSpPr>
          <p:cNvPr id="46" name="Text 37"/>
          <p:cNvSpPr txBox="1"/>
          <p:nvPr/>
        </p:nvSpPr>
        <p:spPr>
          <a:xfrm>
            <a:off x="381152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12 districts, 15,630 orders a week, price band and size mix; first batch 1,900 units</a:t>
            </a:r>
            <a:endParaRPr lang="en-US" sz="1100" dirty="0"/>
          </a:p>
        </p:txBody>
      </p:sp>
      <p:sp>
        <p:nvSpPr>
          <p:cNvPr id="47" name="Shape 38"/>
          <p:cNvSpPr/>
          <p:nvPr/>
        </p:nvSpPr>
        <p:spPr>
          <a:xfrm>
            <a:off x="7654290" y="1865376"/>
            <a:ext cx="658368" cy="658368"/>
          </a:xfrm>
          <a:prstGeom prst="ellipse">
            <a:avLst/>
          </a:prstGeom>
          <a:solidFill>
            <a:srgbClr val="560547"/>
          </a:solidFill>
          <a:ln w="12700">
            <a:solidFill>
              <a:srgbClr val="560547"/>
            </a:solidFill>
            <a:prstDash val="solid"/>
          </a:ln>
        </p:spPr>
      </p:sp>
      <p:pic>
        <p:nvPicPr>
          <p:cNvPr id="48" name="Image 6" descr="/private/tmp/claude-501/-Users-prathmeshwalimbe-Downloads-Meesho/dfec39d5-f971-4a3a-8cfb-761f4ef1fedb/scratchpad/deck/assets/icons/FaClipboardCheck_w.png">    </p:cNvPr>
          <p:cNvPicPr>
            <a:picLocks noChangeAspect="1"/>
          </p:cNvPicPr>
          <p:nvPr/>
        </p:nvPicPr>
        <p:blipFill>
          <a:blip r:embed="rId7"/>
          <a:stretch>
            <a:fillRect/>
          </a:stretch>
        </p:blipFill>
        <p:spPr>
          <a:xfrm>
            <a:off x="7812298" y="2023384"/>
            <a:ext cx="342351" cy="342351"/>
          </a:xfrm>
          <a:prstGeom prst="rect">
            <a:avLst/>
          </a:prstGeom>
        </p:spPr>
      </p:pic>
      <p:sp>
        <p:nvSpPr>
          <p:cNvPr id="49" name="Shape 39"/>
          <p:cNvSpPr/>
          <p:nvPr/>
        </p:nvSpPr>
        <p:spPr>
          <a:xfrm>
            <a:off x="8394954" y="2194560"/>
            <a:ext cx="2019300" cy="914"/>
          </a:xfrm>
          <a:prstGeom prst="line">
            <a:avLst/>
          </a:prstGeom>
          <a:noFill/>
          <a:ln w="19050">
            <a:solidFill>
              <a:srgbClr val="8A245E"/>
            </a:solidFill>
            <a:prstDash val="dash"/>
            <a:tailEnd type="triangle"/>
          </a:ln>
        </p:spPr>
      </p:sp>
      <p:sp>
        <p:nvSpPr>
          <p:cNvPr id="50" name="Text 40"/>
          <p:cNvSpPr txBox="1"/>
          <p:nvPr/>
        </p:nvSpPr>
        <p:spPr>
          <a:xfrm>
            <a:off x="661720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3 · Batch window</a:t>
            </a:r>
            <a:endParaRPr lang="en-US" sz="1200" dirty="0"/>
          </a:p>
        </p:txBody>
      </p:sp>
      <p:sp>
        <p:nvSpPr>
          <p:cNvPr id="51" name="Text 41"/>
          <p:cNvSpPr txBox="1"/>
          <p:nvPr/>
        </p:nvSpPr>
        <p:spPr>
          <a:xfrm>
            <a:off x="665378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Buyers pre-order (ships in 7 days); 1,052 confirmed, make 1,210 (+15% buffer)</a:t>
            </a:r>
            <a:endParaRPr lang="en-US" sz="1100" dirty="0"/>
          </a:p>
        </p:txBody>
      </p:sp>
      <p:sp>
        <p:nvSpPr>
          <p:cNvPr id="52" name="Shape 42"/>
          <p:cNvSpPr/>
          <p:nvPr/>
        </p:nvSpPr>
        <p:spPr>
          <a:xfrm>
            <a:off x="10496550" y="1865376"/>
            <a:ext cx="658368" cy="658368"/>
          </a:xfrm>
          <a:prstGeom prst="ellipse">
            <a:avLst/>
          </a:prstGeom>
          <a:solidFill>
            <a:srgbClr val="FF9D00"/>
          </a:solidFill>
          <a:ln w="12700">
            <a:solidFill>
              <a:srgbClr val="FF9D00"/>
            </a:solidFill>
            <a:prstDash val="solid"/>
          </a:ln>
        </p:spPr>
      </p:sp>
      <p:pic>
        <p:nvPicPr>
          <p:cNvPr id="53" name="Image 7" descr="/private/tmp/claude-501/-Users-prathmeshwalimbe-Downloads-Meesho/dfec39d5-f971-4a3a-8cfb-761f4ef1fedb/scratchpad/deck/assets/icons/FaWarehouse_w.png">    </p:cNvPr>
          <p:cNvPicPr>
            <a:picLocks noChangeAspect="1"/>
          </p:cNvPicPr>
          <p:nvPr/>
        </p:nvPicPr>
        <p:blipFill>
          <a:blip r:embed="rId8"/>
          <a:stretch>
            <a:fillRect/>
          </a:stretch>
        </p:blipFill>
        <p:spPr>
          <a:xfrm>
            <a:off x="10654558" y="2023384"/>
            <a:ext cx="342351" cy="342351"/>
          </a:xfrm>
          <a:prstGeom prst="rect">
            <a:avLst/>
          </a:prstGeom>
        </p:spPr>
      </p:pic>
      <p:sp>
        <p:nvSpPr>
          <p:cNvPr id="54" name="Shape 43"/>
          <p:cNvSpPr/>
          <p:nvPr/>
        </p:nvSpPr>
        <p:spPr>
          <a:xfrm>
            <a:off x="11237214" y="2194560"/>
            <a:ext cx="2019300" cy="914"/>
          </a:xfrm>
          <a:prstGeom prst="line">
            <a:avLst/>
          </a:prstGeom>
          <a:noFill/>
          <a:ln w="19050">
            <a:solidFill>
              <a:srgbClr val="8A245E"/>
            </a:solidFill>
            <a:prstDash val="dash"/>
            <a:tailEnd type="triangle"/>
          </a:ln>
        </p:spPr>
      </p:sp>
      <p:sp>
        <p:nvSpPr>
          <p:cNvPr id="55" name="Text 44"/>
          <p:cNvSpPr txBox="1"/>
          <p:nvPr/>
        </p:nvSpPr>
        <p:spPr>
          <a:xfrm>
            <a:off x="945946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4 · Bulk handover</a:t>
            </a:r>
            <a:endParaRPr lang="en-US" sz="1200" dirty="0"/>
          </a:p>
        </p:txBody>
      </p:sp>
      <p:sp>
        <p:nvSpPr>
          <p:cNvPr id="56" name="Text 45"/>
          <p:cNvSpPr txBox="1"/>
          <p:nvPr/>
        </p:nvSpPr>
        <p:spPr>
          <a:xfrm>
            <a:off x="949604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One drop at the cluster Factory Node; 30% of confirmed value, ₹67,223, paid at handover</a:t>
            </a:r>
            <a:endParaRPr lang="en-US" sz="1100" dirty="0"/>
          </a:p>
        </p:txBody>
      </p:sp>
      <p:sp>
        <p:nvSpPr>
          <p:cNvPr id="57" name="Shape 46"/>
          <p:cNvSpPr/>
          <p:nvPr/>
        </p:nvSpPr>
        <p:spPr>
          <a:xfrm>
            <a:off x="13338810" y="1865376"/>
            <a:ext cx="658368" cy="658368"/>
          </a:xfrm>
          <a:prstGeom prst="ellipse">
            <a:avLst/>
          </a:prstGeom>
          <a:solidFill>
            <a:srgbClr val="560547"/>
          </a:solidFill>
          <a:ln w="12700">
            <a:solidFill>
              <a:srgbClr val="560547"/>
            </a:solidFill>
            <a:prstDash val="solid"/>
          </a:ln>
        </p:spPr>
      </p:sp>
      <p:pic>
        <p:nvPicPr>
          <p:cNvPr id="58" name="Image 8" descr="/private/tmp/claude-501/-Users-prathmeshwalimbe-Downloads-Meesho/dfec39d5-f971-4a3a-8cfb-761f4ef1fedb/scratchpad/deck/assets/icons/FaTruckFast_w.png">    </p:cNvPr>
          <p:cNvPicPr>
            <a:picLocks noChangeAspect="1"/>
          </p:cNvPicPr>
          <p:nvPr/>
        </p:nvPicPr>
        <p:blipFill>
          <a:blip r:embed="rId9"/>
          <a:stretch>
            <a:fillRect/>
          </a:stretch>
        </p:blipFill>
        <p:spPr>
          <a:xfrm>
            <a:off x="13496818" y="2023384"/>
            <a:ext cx="342351" cy="342351"/>
          </a:xfrm>
          <a:prstGeom prst="rect">
            <a:avLst/>
          </a:prstGeom>
        </p:spPr>
      </p:pic>
      <p:sp>
        <p:nvSpPr>
          <p:cNvPr id="59" name="Shape 47"/>
          <p:cNvSpPr/>
          <p:nvPr/>
        </p:nvSpPr>
        <p:spPr>
          <a:xfrm>
            <a:off x="14079474" y="2194560"/>
            <a:ext cx="2019300" cy="914"/>
          </a:xfrm>
          <a:prstGeom prst="line">
            <a:avLst/>
          </a:prstGeom>
          <a:noFill/>
          <a:ln w="19050">
            <a:solidFill>
              <a:srgbClr val="8A245E"/>
            </a:solidFill>
            <a:prstDash val="dash"/>
            <a:tailEnd type="triangle"/>
          </a:ln>
        </p:spPr>
      </p:sp>
      <p:sp>
        <p:nvSpPr>
          <p:cNvPr id="60" name="Text 48"/>
          <p:cNvSpPr txBox="1"/>
          <p:nvPr/>
        </p:nvSpPr>
        <p:spPr>
          <a:xfrm>
            <a:off x="1230172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5 · Node runs unit ops</a:t>
            </a:r>
            <a:endParaRPr lang="en-US" sz="1200" dirty="0"/>
          </a:p>
        </p:txBody>
      </p:sp>
      <p:sp>
        <p:nvSpPr>
          <p:cNvPr id="61" name="Text 49"/>
          <p:cNvSpPr txBox="1"/>
          <p:nvPr/>
        </p:nvSpPr>
        <p:spPr>
          <a:xfrm>
            <a:off x="1233830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Pick, pack, ship each order; returns terminate at the node, not the factory</a:t>
            </a:r>
            <a:endParaRPr lang="en-US" sz="1100" dirty="0"/>
          </a:p>
        </p:txBody>
      </p:sp>
      <p:sp>
        <p:nvSpPr>
          <p:cNvPr id="62" name="Shape 50"/>
          <p:cNvSpPr/>
          <p:nvPr/>
        </p:nvSpPr>
        <p:spPr>
          <a:xfrm>
            <a:off x="16181070" y="1865376"/>
            <a:ext cx="658368" cy="658368"/>
          </a:xfrm>
          <a:prstGeom prst="ellipse">
            <a:avLst/>
          </a:prstGeom>
          <a:solidFill>
            <a:srgbClr val="560547"/>
          </a:solidFill>
          <a:ln w="12700">
            <a:solidFill>
              <a:srgbClr val="560547"/>
            </a:solidFill>
            <a:prstDash val="solid"/>
          </a:ln>
        </p:spPr>
      </p:sp>
      <p:pic>
        <p:nvPicPr>
          <p:cNvPr id="63" name="Image 9" descr="/private/tmp/claude-501/-Users-prathmeshwalimbe-Downloads-Meesho/dfec39d5-f971-4a3a-8cfb-761f4ef1fedb/scratchpad/deck/assets/icons/FaIndianRupeeSign_w.png">    </p:cNvPr>
          <p:cNvPicPr>
            <a:picLocks noChangeAspect="1"/>
          </p:cNvPicPr>
          <p:nvPr/>
        </p:nvPicPr>
        <p:blipFill>
          <a:blip r:embed="rId10"/>
          <a:stretch>
            <a:fillRect/>
          </a:stretch>
        </p:blipFill>
        <p:spPr>
          <a:xfrm>
            <a:off x="16339078" y="2023384"/>
            <a:ext cx="342351" cy="342351"/>
          </a:xfrm>
          <a:prstGeom prst="rect">
            <a:avLst/>
          </a:prstGeom>
        </p:spPr>
      </p:pic>
      <p:sp>
        <p:nvSpPr>
          <p:cNvPr id="64" name="Text 51"/>
          <p:cNvSpPr txBox="1"/>
          <p:nvPr/>
        </p:nvSpPr>
        <p:spPr>
          <a:xfrm>
            <a:off x="1514398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6 · Settlement</a:t>
            </a:r>
            <a:endParaRPr lang="en-US" sz="1200" dirty="0"/>
          </a:p>
        </p:txBody>
      </p:sp>
      <p:sp>
        <p:nvSpPr>
          <p:cNvPr id="65" name="Text 52"/>
          <p:cNvSpPr txBox="1"/>
          <p:nvPr/>
        </p:nvSpPr>
        <p:spPr>
          <a:xfrm>
            <a:off x="1518056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Balance 7 days after delivery: cash in ~11 days vs 50 on distributor terms</a:t>
            </a:r>
            <a:endParaRPr lang="en-US" sz="1100" dirty="0"/>
          </a:p>
        </p:txBody>
      </p:sp>
      <p:sp>
        <p:nvSpPr>
          <p:cNvPr id="66" name="Shape 53"/>
          <p:cNvSpPr/>
          <p:nvPr/>
        </p:nvSpPr>
        <p:spPr>
          <a:xfrm>
            <a:off x="749808" y="3657600"/>
            <a:ext cx="6903720" cy="3017520"/>
          </a:xfrm>
          <a:prstGeom prst="rect">
            <a:avLst/>
          </a:prstGeom>
          <a:solidFill>
            <a:srgbClr val="FFFFFF"/>
          </a:solidFill>
          <a:ln w="9525">
            <a:solidFill>
              <a:srgbClr val="E0CEDA"/>
            </a:solidFill>
            <a:prstDash val="solid"/>
          </a:ln>
        </p:spPr>
      </p:sp>
      <p:sp>
        <p:nvSpPr>
          <p:cNvPr id="67" name="Shape 54"/>
          <p:cNvSpPr/>
          <p:nvPr/>
        </p:nvSpPr>
        <p:spPr>
          <a:xfrm>
            <a:off x="749808" y="3657600"/>
            <a:ext cx="6903720" cy="329184"/>
          </a:xfrm>
          <a:prstGeom prst="rect">
            <a:avLst/>
          </a:prstGeom>
          <a:solidFill>
            <a:srgbClr val="560547"/>
          </a:solidFill>
          <a:ln w="12700">
            <a:solidFill>
              <a:srgbClr val="560547"/>
            </a:solidFill>
            <a:prstDash val="solid"/>
          </a:ln>
        </p:spPr>
      </p:sp>
      <p:pic>
        <p:nvPicPr>
          <p:cNvPr id="68" name="Image 10" descr="/private/tmp/claude-501/-Users-prathmeshwalimbe-Downloads-Meesho/dfec39d5-f971-4a3a-8cfb-761f4ef1fedb/scratchpad/deck/assets/icons/FaShieldHalved_w.png">    </p:cNvPr>
          <p:cNvPicPr>
            <a:picLocks noChangeAspect="1"/>
          </p:cNvPicPr>
          <p:nvPr/>
        </p:nvPicPr>
        <p:blipFill>
          <a:blip r:embed="rId11"/>
          <a:stretch>
            <a:fillRect/>
          </a:stretch>
        </p:blipFill>
        <p:spPr>
          <a:xfrm>
            <a:off x="859536" y="3721608"/>
            <a:ext cx="201168" cy="201168"/>
          </a:xfrm>
          <a:prstGeom prst="rect">
            <a:avLst/>
          </a:prstGeom>
        </p:spPr>
      </p:pic>
      <p:sp>
        <p:nvSpPr>
          <p:cNvPr id="69" name="Text 55"/>
          <p:cNvSpPr txBox="1"/>
          <p:nvPr/>
        </p:nvSpPr>
        <p:spPr>
          <a:xfrm>
            <a:off x="1133856" y="3657600"/>
            <a:ext cx="63916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EVERY BARRIER HAS A LEVER · COVERAGE</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77824" y="4078224"/>
          <a:ext cx="6647688" cy="914400"/>
        </p:xfrm>
        <a:graphic>
          <a:graphicData uri="http://schemas.openxmlformats.org/drawingml/2006/table">
            <a:tbl>
              <a:tblPr/>
              <a:tblGrid>
                <a:gridCol w="1783080"/>
                <a:gridCol w="810768"/>
                <a:gridCol w="810768"/>
                <a:gridCol w="810768"/>
                <a:gridCol w="810768"/>
                <a:gridCol w="810768"/>
                <a:gridCol w="810768"/>
              </a:tblGrid>
              <a:tr h="329184">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Barrier</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Price check</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Demand Brief</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Batch window</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Factory Node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Returns firewall</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Prepay</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Unit-level fulfilment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Inventory risk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Returns and RTO</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Unproven demand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Cash cycle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Channel conflict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1" name="Text 56"/>
          <p:cNvSpPr txBox="1"/>
          <p:nvPr/>
        </p:nvSpPr>
        <p:spPr>
          <a:xfrm>
            <a:off x="877824" y="6455664"/>
            <a:ext cx="6647688" cy="27432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 removes · – reduces. The price check prices returns in; the node cuts reverse cost; the firewall caps the rest.</a:t>
            </a:r>
            <a:endParaRPr lang="en-US" sz="1050" dirty="0"/>
          </a:p>
        </p:txBody>
      </p:sp>
      <p:sp>
        <p:nvSpPr>
          <p:cNvPr id="72" name="Shape 57"/>
          <p:cNvSpPr/>
          <p:nvPr/>
        </p:nvSpPr>
        <p:spPr>
          <a:xfrm>
            <a:off x="7781544" y="3657600"/>
            <a:ext cx="4983480" cy="3017520"/>
          </a:xfrm>
          <a:prstGeom prst="rect">
            <a:avLst/>
          </a:prstGeom>
          <a:solidFill>
            <a:srgbClr val="FFFFFF"/>
          </a:solidFill>
          <a:ln w="9525">
            <a:solidFill>
              <a:srgbClr val="E0CEDA"/>
            </a:solidFill>
            <a:prstDash val="solid"/>
          </a:ln>
        </p:spPr>
      </p:sp>
      <p:sp>
        <p:nvSpPr>
          <p:cNvPr id="73" name="Shape 58"/>
          <p:cNvSpPr/>
          <p:nvPr/>
        </p:nvSpPr>
        <p:spPr>
          <a:xfrm>
            <a:off x="7781544" y="3657600"/>
            <a:ext cx="4983480" cy="329184"/>
          </a:xfrm>
          <a:prstGeom prst="rect">
            <a:avLst/>
          </a:prstGeom>
          <a:solidFill>
            <a:srgbClr val="560547"/>
          </a:solidFill>
          <a:ln w="12700">
            <a:solidFill>
              <a:srgbClr val="560547"/>
            </a:solidFill>
            <a:prstDash val="solid"/>
          </a:ln>
        </p:spPr>
      </p:sp>
      <p:pic>
        <p:nvPicPr>
          <p:cNvPr id="74" name="Image 11" descr="/private/tmp/claude-501/-Users-prathmeshwalimbe-Downloads-Meesho/dfec39d5-f971-4a3a-8cfb-761f4ef1fedb/scratchpad/deck/assets/icons/FaUserTie_w.png">    </p:cNvPr>
          <p:cNvPicPr>
            <a:picLocks noChangeAspect="1"/>
          </p:cNvPicPr>
          <p:nvPr/>
        </p:nvPicPr>
        <p:blipFill>
          <a:blip r:embed="rId12"/>
          <a:stretch>
            <a:fillRect/>
          </a:stretch>
        </p:blipFill>
        <p:spPr>
          <a:xfrm>
            <a:off x="7891272" y="3721608"/>
            <a:ext cx="201168" cy="201168"/>
          </a:xfrm>
          <a:prstGeom prst="rect">
            <a:avLst/>
          </a:prstGeom>
        </p:spPr>
      </p:pic>
      <p:sp>
        <p:nvSpPr>
          <p:cNvPr id="75" name="Text 59"/>
          <p:cNvSpPr txBox="1"/>
          <p:nvPr/>
        </p:nvSpPr>
        <p:spPr>
          <a:xfrm>
            <a:off x="8165592" y="3657600"/>
            <a:ext cx="44714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SUPPORT STACK BY COHORT</a:t>
            </a:r>
            <a:endParaRPr lang="en-US" sz="1250" dirty="0"/>
          </a:p>
        </p:txBody>
      </p:sp>
      <p:sp>
        <p:nvSpPr>
          <p:cNvPr id="76" name="Shape 60"/>
          <p:cNvSpPr/>
          <p:nvPr/>
        </p:nvSpPr>
        <p:spPr>
          <a:xfrm>
            <a:off x="7909560" y="4078224"/>
            <a:ext cx="502920" cy="731520"/>
          </a:xfrm>
          <a:prstGeom prst="roundRect">
            <a:avLst>
              <a:gd name="adj" fmla="val 10909"/>
            </a:avLst>
          </a:prstGeom>
          <a:solidFill>
            <a:srgbClr val="560547"/>
          </a:solidFill>
          <a:ln w="12700">
            <a:solidFill>
              <a:srgbClr val="560547"/>
            </a:solidFill>
            <a:prstDash val="solid"/>
          </a:ln>
        </p:spPr>
      </p:sp>
      <p:sp>
        <p:nvSpPr>
          <p:cNvPr id="77" name="Text 61"/>
          <p:cNvSpPr txBox="1"/>
          <p:nvPr/>
        </p:nvSpPr>
        <p:spPr>
          <a:xfrm>
            <a:off x="7909560" y="4078224"/>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A</a:t>
            </a:r>
            <a:endParaRPr lang="en-US" sz="2000" dirty="0"/>
          </a:p>
        </p:txBody>
      </p:sp>
      <p:sp>
        <p:nvSpPr>
          <p:cNvPr id="78" name="Text 62"/>
          <p:cNvSpPr txBox="1"/>
          <p:nvPr/>
        </p:nvSpPr>
        <p:spPr>
          <a:xfrm>
            <a:off x="8531352" y="4078224"/>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Offline B2B</a:t>
            </a:r>
            <a:endParaRPr lang="en-US" sz="1150" dirty="0"/>
          </a:p>
        </p:txBody>
      </p:sp>
      <p:sp>
        <p:nvSpPr>
          <p:cNvPr id="79" name="Text 63"/>
          <p:cNvSpPr txBox="1"/>
          <p:nvPr/>
        </p:nvSpPr>
        <p:spPr>
          <a:xfrm>
            <a:off x="8531352" y="4315968"/>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Cluster co-op onboarding (40–60 at a time) · price check · briefs · batch window · Factory Node · 30% prepayment</a:t>
            </a:r>
            <a:endParaRPr lang="en-US" sz="1100" dirty="0"/>
          </a:p>
        </p:txBody>
      </p:sp>
      <p:sp>
        <p:nvSpPr>
          <p:cNvPr id="80" name="Shape 64"/>
          <p:cNvSpPr/>
          <p:nvPr/>
        </p:nvSpPr>
        <p:spPr>
          <a:xfrm>
            <a:off x="7909560" y="4919472"/>
            <a:ext cx="502920" cy="731520"/>
          </a:xfrm>
          <a:prstGeom prst="roundRect">
            <a:avLst>
              <a:gd name="adj" fmla="val 10909"/>
            </a:avLst>
          </a:prstGeom>
          <a:solidFill>
            <a:srgbClr val="560547"/>
          </a:solidFill>
          <a:ln w="12700">
            <a:solidFill>
              <a:srgbClr val="560547"/>
            </a:solidFill>
            <a:prstDash val="solid"/>
          </a:ln>
        </p:spPr>
      </p:sp>
      <p:sp>
        <p:nvSpPr>
          <p:cNvPr id="81" name="Text 65"/>
          <p:cNvSpPr txBox="1"/>
          <p:nvPr/>
        </p:nvSpPr>
        <p:spPr>
          <a:xfrm>
            <a:off x="7909560" y="4919472"/>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B</a:t>
            </a:r>
            <a:endParaRPr lang="en-US" sz="2000" dirty="0"/>
          </a:p>
        </p:txBody>
      </p:sp>
      <p:sp>
        <p:nvSpPr>
          <p:cNvPr id="82" name="Text 66"/>
          <p:cNvSpPr txBox="1"/>
          <p:nvPr/>
        </p:nvSpPr>
        <p:spPr>
          <a:xfrm>
            <a:off x="8531352" y="4919472"/>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Online elsewhere</a:t>
            </a:r>
            <a:endParaRPr lang="en-US" sz="1150" dirty="0"/>
          </a:p>
        </p:txBody>
      </p:sp>
      <p:sp>
        <p:nvSpPr>
          <p:cNvPr id="83" name="Text 67"/>
          <p:cNvSpPr txBox="1"/>
          <p:nvPr/>
        </p:nvSpPr>
        <p:spPr>
          <a:xfrm>
            <a:off x="8531352" y="5157216"/>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Price check → separate value-tier SKUs (not a discount) · briefs · may self-ship</a:t>
            </a:r>
            <a:endParaRPr lang="en-US" sz="1100" dirty="0"/>
          </a:p>
        </p:txBody>
      </p:sp>
      <p:sp>
        <p:nvSpPr>
          <p:cNvPr id="84" name="Shape 68"/>
          <p:cNvSpPr/>
          <p:nvPr/>
        </p:nvSpPr>
        <p:spPr>
          <a:xfrm>
            <a:off x="7909560" y="5760720"/>
            <a:ext cx="502920" cy="731520"/>
          </a:xfrm>
          <a:prstGeom prst="roundRect">
            <a:avLst>
              <a:gd name="adj" fmla="val 10909"/>
            </a:avLst>
          </a:prstGeom>
          <a:solidFill>
            <a:srgbClr val="560547"/>
          </a:solidFill>
          <a:ln w="12700">
            <a:solidFill>
              <a:srgbClr val="560547"/>
            </a:solidFill>
            <a:prstDash val="solid"/>
          </a:ln>
        </p:spPr>
      </p:sp>
      <p:sp>
        <p:nvSpPr>
          <p:cNvPr id="85" name="Text 69"/>
          <p:cNvSpPr txBox="1"/>
          <p:nvPr/>
        </p:nvSpPr>
        <p:spPr>
          <a:xfrm>
            <a:off x="7909560" y="5760720"/>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86" name="Text 70"/>
          <p:cNvSpPr txBox="1"/>
          <p:nvPr/>
        </p:nvSpPr>
        <p:spPr>
          <a:xfrm>
            <a:off x="8531352" y="5760720"/>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Churned</a:t>
            </a:r>
            <a:endParaRPr lang="en-US" sz="1150" dirty="0"/>
          </a:p>
        </p:txBody>
      </p:sp>
      <p:sp>
        <p:nvSpPr>
          <p:cNvPr id="87" name="Text 71"/>
          <p:cNvSpPr txBox="1"/>
          <p:nvPr/>
        </p:nvSpPr>
        <p:spPr>
          <a:xfrm>
            <a:off x="8531352" y="5998464"/>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Returns firewall (capped exposure) · health-score re-entry · catalogue and KYC reused</a:t>
            </a:r>
            <a:endParaRPr lang="en-US" sz="1100" dirty="0"/>
          </a:p>
        </p:txBody>
      </p:sp>
      <p:sp>
        <p:nvSpPr>
          <p:cNvPr id="88" name="Shape 72"/>
          <p:cNvSpPr/>
          <p:nvPr/>
        </p:nvSpPr>
        <p:spPr>
          <a:xfrm>
            <a:off x="12893040" y="3657600"/>
            <a:ext cx="5166360" cy="3017520"/>
          </a:xfrm>
          <a:prstGeom prst="rect">
            <a:avLst/>
          </a:prstGeom>
          <a:solidFill>
            <a:srgbClr val="FFFFFF"/>
          </a:solidFill>
          <a:ln w="9525">
            <a:solidFill>
              <a:srgbClr val="E0CEDA"/>
            </a:solidFill>
            <a:prstDash val="solid"/>
          </a:ln>
        </p:spPr>
      </p:sp>
      <p:sp>
        <p:nvSpPr>
          <p:cNvPr id="89" name="Shape 73"/>
          <p:cNvSpPr/>
          <p:nvPr/>
        </p:nvSpPr>
        <p:spPr>
          <a:xfrm>
            <a:off x="12893040" y="3657600"/>
            <a:ext cx="5166360" cy="329184"/>
          </a:xfrm>
          <a:prstGeom prst="rect">
            <a:avLst/>
          </a:prstGeom>
          <a:solidFill>
            <a:srgbClr val="560547"/>
          </a:solidFill>
          <a:ln w="12700">
            <a:solidFill>
              <a:srgbClr val="560547"/>
            </a:solidFill>
            <a:prstDash val="solid"/>
          </a:ln>
        </p:spPr>
      </p:sp>
      <p:pic>
        <p:nvPicPr>
          <p:cNvPr id="90" name="Image 12" descr="/private/tmp/claude-501/-Users-prathmeshwalimbe-Downloads-Meesho/dfec39d5-f971-4a3a-8cfb-761f4ef1fedb/scratchpad/deck/assets/icons/FaGlobe_w.png">    </p:cNvPr>
          <p:cNvPicPr>
            <a:picLocks noChangeAspect="1"/>
          </p:cNvPicPr>
          <p:nvPr/>
        </p:nvPicPr>
        <p:blipFill>
          <a:blip r:embed="rId13"/>
          <a:stretch>
            <a:fillRect/>
          </a:stretch>
        </p:blipFill>
        <p:spPr>
          <a:xfrm>
            <a:off x="13002768" y="3721608"/>
            <a:ext cx="201168" cy="201168"/>
          </a:xfrm>
          <a:prstGeom prst="rect">
            <a:avLst/>
          </a:prstGeom>
        </p:spPr>
      </p:pic>
      <p:sp>
        <p:nvSpPr>
          <p:cNvPr id="91" name="Text 74"/>
          <p:cNvSpPr txBox="1"/>
          <p:nvPr/>
        </p:nvSpPr>
        <p:spPr>
          <a:xfrm>
            <a:off x="13277088" y="3657600"/>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PRECEDENT · WHAT WE COPY, WHAT WE AVOID</a:t>
            </a:r>
            <a:endParaRPr lang="en-US" sz="12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13021056" y="4078224"/>
          <a:ext cx="4910328" cy="914400"/>
        </p:xfrm>
        <a:graphic>
          <a:graphicData uri="http://schemas.openxmlformats.org/drawingml/2006/table">
            <a:tbl>
              <a:tblPr/>
              <a:tblGrid>
                <a:gridCol w="1234440"/>
                <a:gridCol w="1837944"/>
                <a:gridCol w="1837944"/>
              </a:tblGrid>
              <a:tr h="45720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Platform</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Mechanic</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57200">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Copy · Pinduoduo</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Anonymised demand data to factories (New Brand Initiative)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900+ factories, 2,200+ custom SKUs, 115 mn orders by end-2019</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Copy · Temu</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Semi-managed: bulk to local warehouses, platform runs storefront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Targeted 60–80% of US GMV in 2025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Avoid · Shein Brazil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Demanded ~30% price cuts and faster delivery from factories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336 signed vs 2,000 target; 1 still producing (Reuters, Feb 2026)</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93" name="Text 75"/>
          <p:cNvSpPr txBox="1"/>
          <p:nvPr/>
        </p:nvSpPr>
        <p:spPr>
          <a:xfrm>
            <a:off x="13021056" y="6163056"/>
            <a:ext cx="4910328" cy="41148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Lesson: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fix the operating model and measure the gap that already exists. Never ask a factory for a price cut.</a:t>
            </a:r>
            <a:endParaRPr lang="en-US" sz="1100" dirty="0"/>
          </a:p>
        </p:txBody>
      </p:sp>
      <p:sp>
        <p:nvSpPr>
          <p:cNvPr id="94" name="Shape 76"/>
          <p:cNvSpPr/>
          <p:nvPr/>
        </p:nvSpPr>
        <p:spPr>
          <a:xfrm>
            <a:off x="749808" y="6803136"/>
            <a:ext cx="9555480" cy="2212848"/>
          </a:xfrm>
          <a:prstGeom prst="rect">
            <a:avLst/>
          </a:prstGeom>
          <a:solidFill>
            <a:srgbClr val="FFFFFF"/>
          </a:solidFill>
          <a:ln w="9525">
            <a:solidFill>
              <a:srgbClr val="E0CEDA"/>
            </a:solidFill>
            <a:prstDash val="solid"/>
          </a:ln>
        </p:spPr>
      </p:sp>
      <p:sp>
        <p:nvSpPr>
          <p:cNvPr id="95" name="Shape 77"/>
          <p:cNvSpPr/>
          <p:nvPr/>
        </p:nvSpPr>
        <p:spPr>
          <a:xfrm>
            <a:off x="749808" y="6803136"/>
            <a:ext cx="9555480" cy="329184"/>
          </a:xfrm>
          <a:prstGeom prst="rect">
            <a:avLst/>
          </a:prstGeom>
          <a:solidFill>
            <a:srgbClr val="8A245E"/>
          </a:solidFill>
          <a:ln w="12700">
            <a:solidFill>
              <a:srgbClr val="8A245E"/>
            </a:solidFill>
            <a:prstDash val="solid"/>
          </a:ln>
        </p:spPr>
      </p:sp>
      <p:pic>
        <p:nvPicPr>
          <p:cNvPr id="96" name="Image 13" descr="/private/tmp/claude-501/-Users-prathmeshwalimbe-Downloads-Meesho/dfec39d5-f971-4a3a-8cfb-761f4ef1fedb/scratchpad/deck/assets/icons/FaWarehouse_w.png">    </p:cNvPr>
          <p:cNvPicPr>
            <a:picLocks noChangeAspect="1"/>
          </p:cNvPicPr>
          <p:nvPr/>
        </p:nvPicPr>
        <p:blipFill>
          <a:blip r:embed="rId14"/>
          <a:stretch>
            <a:fillRect/>
          </a:stretch>
        </p:blipFill>
        <p:spPr>
          <a:xfrm>
            <a:off x="859536" y="6867144"/>
            <a:ext cx="201168" cy="201168"/>
          </a:xfrm>
          <a:prstGeom prst="rect">
            <a:avLst/>
          </a:prstGeom>
        </p:spPr>
      </p:pic>
      <p:sp>
        <p:nvSpPr>
          <p:cNvPr id="97" name="Text 78"/>
          <p:cNvSpPr txBox="1"/>
          <p:nvPr/>
        </p:nvSpPr>
        <p:spPr>
          <a:xfrm>
            <a:off x="1133856" y="6803136"/>
            <a:ext cx="90434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ASSISTED OPERATIONS · WHAT THE FACTORY NODE BUYS (₹98 COST, 9% MARGIN)</a:t>
            </a:r>
            <a:endParaRPr lang="en-US" sz="125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877824" y="7223760"/>
          <a:ext cx="9299448" cy="914400"/>
        </p:xfrm>
        <a:graphic>
          <a:graphicData uri="http://schemas.openxmlformats.org/drawingml/2006/table">
            <a:tbl>
              <a:tblPr/>
              <a:tblGrid>
                <a:gridCol w="2103120"/>
                <a:gridCol w="1439266"/>
                <a:gridCol w="1439266"/>
                <a:gridCol w="1439266"/>
                <a:gridCol w="1439266"/>
                <a:gridCol w="1439266"/>
              </a:tblGrid>
              <a:tr h="365760">
                <a:tc>
                  <a:txBody>
                    <a:bodyPr/>
                    <a:lstStyle/>
                    <a:p>
                      <a:pPr algn="ctr" indent="0" marL="0">
                        <a:buNone/>
                      </a:pP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Lowest viable price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Below market median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Return cost / unit kept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Margin at ₹221</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C2M badge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65760">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Ship each order yourself</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 yes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560547"/>
                          </a:solidFill>
                          <a:latin typeface="Calibri" pitchFamily="34" charset="0"/>
                          <a:ea typeface="Calibri" pitchFamily="34" charset="-122"/>
                          <a:cs typeface="Calibri" pitchFamily="34" charset="-120"/>
                        </a:rPr>
                        <a:t>Factory Node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₹213</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13.3%</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 yes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99" name="Text 79"/>
          <p:cNvSpPr txBox="1"/>
          <p:nvPr/>
        </p:nvSpPr>
        <p:spPr>
          <a:xfrm>
            <a:off x="877824" y="8595360"/>
            <a:ext cx="9299448" cy="41148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Working capital: 2.5% of revenue on 50-day distributor terms vs 0.6% on a prepaid batch (18% cost of capital). Node rates are proposal assumptions (src/config.js).</a:t>
            </a:r>
            <a:endParaRPr lang="en-US" sz="1050" dirty="0"/>
          </a:p>
        </p:txBody>
      </p:sp>
      <p:sp>
        <p:nvSpPr>
          <p:cNvPr id="100" name="Shape 80"/>
          <p:cNvSpPr/>
          <p:nvPr/>
        </p:nvSpPr>
        <p:spPr>
          <a:xfrm>
            <a:off x="10433304" y="6803136"/>
            <a:ext cx="7626096" cy="2212848"/>
          </a:xfrm>
          <a:prstGeom prst="rect">
            <a:avLst/>
          </a:prstGeom>
          <a:solidFill>
            <a:srgbClr val="FFFFFF"/>
          </a:solidFill>
          <a:ln w="9525">
            <a:solidFill>
              <a:srgbClr val="E0CEDA"/>
            </a:solidFill>
            <a:prstDash val="solid"/>
          </a:ln>
        </p:spPr>
      </p:sp>
      <p:sp>
        <p:nvSpPr>
          <p:cNvPr id="101" name="Shape 81"/>
          <p:cNvSpPr/>
          <p:nvPr/>
        </p:nvSpPr>
        <p:spPr>
          <a:xfrm>
            <a:off x="10433304" y="6803136"/>
            <a:ext cx="7626096" cy="329184"/>
          </a:xfrm>
          <a:prstGeom prst="rect">
            <a:avLst/>
          </a:prstGeom>
          <a:solidFill>
            <a:srgbClr val="8A245E"/>
          </a:solidFill>
          <a:ln w="12700">
            <a:solidFill>
              <a:srgbClr val="8A245E"/>
            </a:solidFill>
            <a:prstDash val="solid"/>
          </a:ln>
        </p:spPr>
      </p:sp>
      <p:pic>
        <p:nvPicPr>
          <p:cNvPr id="102" name="Image 14" descr="/private/tmp/claude-501/-Users-prathmeshwalimbe-Downloads-Meesho/dfec39d5-f971-4a3a-8cfb-761f4ef1fedb/scratchpad/deck/assets/icons/FaShieldHalved_w.png">    </p:cNvPr>
          <p:cNvPicPr>
            <a:picLocks noChangeAspect="1"/>
          </p:cNvPicPr>
          <p:nvPr/>
        </p:nvPicPr>
        <p:blipFill>
          <a:blip r:embed="rId15"/>
          <a:stretch>
            <a:fillRect/>
          </a:stretch>
        </p:blipFill>
        <p:spPr>
          <a:xfrm>
            <a:off x="10543032" y="6867144"/>
            <a:ext cx="201168" cy="201168"/>
          </a:xfrm>
          <a:prstGeom prst="rect">
            <a:avLst/>
          </a:prstGeom>
        </p:spPr>
      </p:pic>
      <p:sp>
        <p:nvSpPr>
          <p:cNvPr id="103" name="Text 82"/>
          <p:cNvSpPr txBox="1"/>
          <p:nvPr/>
        </p:nvSpPr>
        <p:spPr>
          <a:xfrm>
            <a:off x="10817352" y="6803136"/>
            <a:ext cx="711403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RISK-SHARING · WHO CARRIES WHAT</a:t>
            </a:r>
            <a:endParaRPr lang="en-US" sz="1250" dirty="0"/>
          </a:p>
        </p:txBody>
      </p:sp>
      <p:graphicFrame>
        <p:nvGraphicFramePr>
          <p:cNvPr id="21" name="Table 3"/>
          <p:cNvGraphicFramePr>
            <a:graphicFrameLocks noGrp="1"/>
          </p:cNvGraphicFramePr>
          <p:nvPr>
            <p:extLst>
              <p:ext uri="{D42A27DB-BD31-4B8C-83A1-F6EECF244321}">
                <p14:modId xmlns:p14="http://schemas.microsoft.com/office/powerpoint/2010/main" val="1579011935"/>
              </p:ext>
            </p:extLst>
          </p:nvPr>
        </p:nvGraphicFramePr>
        <p:xfrm>
          <a:off x="10561320" y="7223760"/>
          <a:ext cx="7370064" cy="914400"/>
        </p:xfrm>
        <a:graphic>
          <a:graphicData uri="http://schemas.openxmlformats.org/drawingml/2006/table">
            <a:tbl>
              <a:tblPr/>
              <a:tblGrid>
                <a:gridCol w="1600200"/>
                <a:gridCol w="1554480"/>
                <a:gridCol w="4215384"/>
              </a:tblGrid>
              <a:tr h="32004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Risk</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B2B today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Made-to-Meesho</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Unsold stock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None: made to order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Only the 15% buffer on confirmed orders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Returns handling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Node absorbs it; firewall pool caps the loss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Waiting for cash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45–60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30% at handover; rest ~7 days after delivery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Distributor orders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Pre-orders plus the pin-code brief</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560547"/>
          </a:solidFill>
          <a:ln w="9525">
            <a:solidFill>
              <a:srgbClr val="560547"/>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KEEPING THEM</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Q5 · Sustainable scale-up · Early order conviction and retention, without subsidy or handholding</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Q4 FY26 earnings call transcript (6 May 2026); prototype Seller Health module (synthetic 60-seller pilot, fixed seed). The category-manager capacity of 40 escalation reviews a month is an assumption.</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Pay for early conviction in impressions, not rupees, and let rules fix what the Health Score flags: 90 automated actions to 3 escalations, ~910 sellers per category manager.</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5577840" cy="2697480"/>
          </a:xfrm>
          <a:prstGeom prst="rect">
            <a:avLst/>
          </a:prstGeom>
          <a:solidFill>
            <a:srgbClr val="FFFFFF"/>
          </a:solidFill>
          <a:ln w="9525">
            <a:solidFill>
              <a:srgbClr val="E0CEDA"/>
            </a:solidFill>
            <a:prstDash val="solid"/>
          </a:ln>
        </p:spPr>
      </p:sp>
      <p:sp>
        <p:nvSpPr>
          <p:cNvPr id="33" name="Shape 27"/>
          <p:cNvSpPr/>
          <p:nvPr/>
        </p:nvSpPr>
        <p:spPr>
          <a:xfrm>
            <a:off x="749808" y="1426464"/>
            <a:ext cx="5577840"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UserTie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COLD-START GAP, IN MEESHO’S OWN WORDS</a:t>
            </a:r>
            <a:endParaRPr lang="en-US" sz="1250" dirty="0"/>
          </a:p>
        </p:txBody>
      </p:sp>
      <p:sp>
        <p:nvSpPr>
          <p:cNvPr id="36" name="Text 29"/>
          <p:cNvSpPr txBox="1"/>
          <p:nvPr/>
        </p:nvSpPr>
        <p:spPr>
          <a:xfrm>
            <a:off x="877824" y="1847088"/>
            <a:ext cx="5321808" cy="960120"/>
          </a:xfrm>
          <a:prstGeom prst="rect">
            <a:avLst/>
          </a:prstGeom>
          <a:noFill/>
          <a:ln/>
        </p:spPr>
        <p:txBody>
          <a:bodyPr wrap="square" lIns="0" tIns="0" rIns="0" bIns="0" rtlCol="0" anchor="t"/>
          <a:lstStyle/>
          <a:p>
            <a:pPr algn="l" indent="0" marL="0">
              <a:lnSpc>
                <a:spcPct val="100000"/>
              </a:lnSpc>
              <a:buNone/>
            </a:pPr>
            <a:r>
              <a:rPr lang="en-US" sz="1400" b="1" i="1" dirty="0">
                <a:solidFill>
                  <a:srgbClr val="560547"/>
                </a:solidFill>
                <a:latin typeface="Calibri" pitchFamily="34" charset="0"/>
                <a:ea typeface="Calibri" pitchFamily="34" charset="-122"/>
                <a:cs typeface="Calibri" pitchFamily="34" charset="-120"/>
              </a:rPr>
              <a:t>“If their quality is not that great, they do not get visibility for orders. And products that have very good quality continue to scale on the platform.”</a:t>
            </a:r>
            <a:endParaRPr lang="en-US" sz="1400" dirty="0"/>
          </a:p>
        </p:txBody>
      </p:sp>
      <p:sp>
        <p:nvSpPr>
          <p:cNvPr id="37" name="Text 30"/>
          <p:cNvSpPr txBox="1"/>
          <p:nvPr/>
        </p:nvSpPr>
        <p:spPr>
          <a:xfrm>
            <a:off x="877824" y="2834640"/>
            <a:ext cx="5321808" cy="274320"/>
          </a:xfrm>
          <a:prstGeom prst="rect">
            <a:avLst/>
          </a:prstGeom>
          <a:noFill/>
          <a:ln/>
        </p:spPr>
        <p:txBody>
          <a:bodyPr wrap="square" lIns="0" tIns="0" rIns="0" bIns="0" rtlCol="0" anchor="t"/>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 Vidit Aatrey, CEO, Q4 FY26 earnings call, 6 May 2026</a:t>
            </a:r>
            <a:endParaRPr lang="en-US" sz="1050" dirty="0"/>
          </a:p>
        </p:txBody>
      </p:sp>
      <p:sp>
        <p:nvSpPr>
          <p:cNvPr id="38" name="Text 31"/>
          <p:cNvSpPr txBox="1"/>
          <p:nvPr/>
        </p:nvSpPr>
        <p:spPr>
          <a:xfrm>
            <a:off x="877824" y="3172968"/>
            <a:ext cx="5321808" cy="822960"/>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Implication: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a new factory needs orders to prove quality and quality to earn orders. That loop, not price, is why new sellers take a small share of orders in their first 30 days.</a:t>
            </a:r>
            <a:endParaRPr lang="en-US" sz="1150" dirty="0"/>
          </a:p>
        </p:txBody>
      </p:sp>
      <p:sp>
        <p:nvSpPr>
          <p:cNvPr id="39" name="Shape 32"/>
          <p:cNvSpPr/>
          <p:nvPr/>
        </p:nvSpPr>
        <p:spPr>
          <a:xfrm>
            <a:off x="749808" y="4251960"/>
            <a:ext cx="5577840" cy="1828800"/>
          </a:xfrm>
          <a:prstGeom prst="rect">
            <a:avLst/>
          </a:prstGeom>
          <a:solidFill>
            <a:srgbClr val="FFFFFF"/>
          </a:solidFill>
          <a:ln w="9525">
            <a:solidFill>
              <a:srgbClr val="E0CEDA"/>
            </a:solidFill>
            <a:prstDash val="solid"/>
          </a:ln>
        </p:spPr>
      </p:sp>
      <p:sp>
        <p:nvSpPr>
          <p:cNvPr id="40" name="Shape 33"/>
          <p:cNvSpPr/>
          <p:nvPr/>
        </p:nvSpPr>
        <p:spPr>
          <a:xfrm>
            <a:off x="749808" y="4251960"/>
            <a:ext cx="5577840" cy="329184"/>
          </a:xfrm>
          <a:prstGeom prst="rect">
            <a:avLst/>
          </a:prstGeom>
          <a:solidFill>
            <a:srgbClr val="8A245E"/>
          </a:solidFill>
          <a:ln w="12700">
            <a:solidFill>
              <a:srgbClr val="8A245E"/>
            </a:solidFill>
            <a:prstDash val="solid"/>
          </a:ln>
        </p:spPr>
      </p:sp>
      <p:pic>
        <p:nvPicPr>
          <p:cNvPr id="41" name="Image 4" descr="/private/tmp/claude-501/-Users-prathmeshwalimbe-Downloads-Meesho/dfec39d5-f971-4a3a-8cfb-761f4ef1fedb/scratchpad/deck/assets/icons/FaBolt_w.png">    </p:cNvPr>
          <p:cNvPicPr>
            <a:picLocks noChangeAspect="1"/>
          </p:cNvPicPr>
          <p:nvPr/>
        </p:nvPicPr>
        <p:blipFill>
          <a:blip r:embed="rId5"/>
          <a:stretch>
            <a:fillRect/>
          </a:stretch>
        </p:blipFill>
        <p:spPr>
          <a:xfrm>
            <a:off x="859536" y="4315968"/>
            <a:ext cx="201168" cy="201168"/>
          </a:xfrm>
          <a:prstGeom prst="rect">
            <a:avLst/>
          </a:prstGeom>
        </p:spPr>
      </p:pic>
      <p:sp>
        <p:nvSpPr>
          <p:cNvPr id="42" name="Text 34"/>
          <p:cNvSpPr txBox="1"/>
          <p:nvPr/>
        </p:nvSpPr>
        <p:spPr>
          <a:xfrm>
            <a:off x="1133856" y="4251960"/>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IMPRESSIONS, NOT RUPEES · THE GRANT</a:t>
            </a:r>
            <a:endParaRPr lang="en-US" sz="1250" dirty="0"/>
          </a:p>
        </p:txBody>
      </p:sp>
      <p:sp>
        <p:nvSpPr>
          <p:cNvPr id="43" name="Shape 35"/>
          <p:cNvSpPr/>
          <p:nvPr/>
        </p:nvSpPr>
        <p:spPr>
          <a:xfrm>
            <a:off x="877824" y="4672584"/>
            <a:ext cx="1261872" cy="1280160"/>
          </a:xfrm>
          <a:prstGeom prst="rect">
            <a:avLst/>
          </a:prstGeom>
          <a:solidFill>
            <a:srgbClr val="F2E4EE"/>
          </a:solidFill>
          <a:ln w="12700">
            <a:solidFill>
              <a:srgbClr val="F2E4EE"/>
            </a:solidFill>
            <a:prstDash val="solid"/>
          </a:ln>
        </p:spPr>
      </p:sp>
      <p:sp>
        <p:nvSpPr>
          <p:cNvPr id="44" name="Text 36"/>
          <p:cNvSpPr txBox="1"/>
          <p:nvPr/>
        </p:nvSpPr>
        <p:spPr>
          <a:xfrm>
            <a:off x="987552"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12</a:t>
            </a:r>
            <a:endParaRPr lang="en-US" sz="1800" dirty="0"/>
          </a:p>
        </p:txBody>
      </p:sp>
      <p:sp>
        <p:nvSpPr>
          <p:cNvPr id="45" name="Text 37"/>
          <p:cNvSpPr txBox="1"/>
          <p:nvPr/>
        </p:nvSpPr>
        <p:spPr>
          <a:xfrm>
            <a:off x="987552"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Demand Brief pin-codes get starter impressions</a:t>
            </a:r>
            <a:endParaRPr lang="en-US" sz="1000" dirty="0"/>
          </a:p>
        </p:txBody>
      </p:sp>
      <p:sp>
        <p:nvSpPr>
          <p:cNvPr id="46" name="Shape 38"/>
          <p:cNvSpPr/>
          <p:nvPr/>
        </p:nvSpPr>
        <p:spPr>
          <a:xfrm>
            <a:off x="2231136" y="4672584"/>
            <a:ext cx="1261872" cy="1280160"/>
          </a:xfrm>
          <a:prstGeom prst="rect">
            <a:avLst/>
          </a:prstGeom>
          <a:solidFill>
            <a:srgbClr val="FFF3D8"/>
          </a:solidFill>
          <a:ln w="12700">
            <a:solidFill>
              <a:srgbClr val="FFF3D8"/>
            </a:solidFill>
            <a:prstDash val="solid"/>
          </a:ln>
        </p:spPr>
      </p:sp>
      <p:sp>
        <p:nvSpPr>
          <p:cNvPr id="47" name="Text 39"/>
          <p:cNvSpPr txBox="1"/>
          <p:nvPr/>
        </p:nvSpPr>
        <p:spPr>
          <a:xfrm>
            <a:off x="2340864"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+25K</a:t>
            </a:r>
            <a:endParaRPr lang="en-US" sz="1800" dirty="0"/>
          </a:p>
        </p:txBody>
      </p:sp>
      <p:sp>
        <p:nvSpPr>
          <p:cNvPr id="48" name="Text 40"/>
          <p:cNvSpPr txBox="1"/>
          <p:nvPr/>
        </p:nvSpPr>
        <p:spPr>
          <a:xfrm>
            <a:off x="2340864"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impressions for 7 days if orders &lt; 60% at D7/D14</a:t>
            </a:r>
            <a:endParaRPr lang="en-US" sz="1000" dirty="0"/>
          </a:p>
        </p:txBody>
      </p:sp>
      <p:sp>
        <p:nvSpPr>
          <p:cNvPr id="49" name="Shape 41"/>
          <p:cNvSpPr/>
          <p:nvPr/>
        </p:nvSpPr>
        <p:spPr>
          <a:xfrm>
            <a:off x="3584448" y="4672584"/>
            <a:ext cx="1261872" cy="1280160"/>
          </a:xfrm>
          <a:prstGeom prst="rect">
            <a:avLst/>
          </a:prstGeom>
          <a:solidFill>
            <a:srgbClr val="F2E4EE"/>
          </a:solidFill>
          <a:ln w="12700">
            <a:solidFill>
              <a:srgbClr val="F2E4EE"/>
            </a:solidFill>
            <a:prstDash val="solid"/>
          </a:ln>
        </p:spPr>
      </p:sp>
      <p:sp>
        <p:nvSpPr>
          <p:cNvPr id="50" name="Text 42"/>
          <p:cNvSpPr txBox="1"/>
          <p:nvPr/>
        </p:nvSpPr>
        <p:spPr>
          <a:xfrm>
            <a:off x="3694176"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max 2</a:t>
            </a:r>
            <a:endParaRPr lang="en-US" sz="1800" dirty="0"/>
          </a:p>
        </p:txBody>
      </p:sp>
      <p:sp>
        <p:nvSpPr>
          <p:cNvPr id="51" name="Text 43"/>
          <p:cNvSpPr txBox="1"/>
          <p:nvPr/>
        </p:nvSpPr>
        <p:spPr>
          <a:xfrm>
            <a:off x="3694176"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grants per seller</a:t>
            </a:r>
            <a:endParaRPr lang="en-US" sz="1000" dirty="0"/>
          </a:p>
        </p:txBody>
      </p:sp>
      <p:sp>
        <p:nvSpPr>
          <p:cNvPr id="52" name="Shape 44"/>
          <p:cNvSpPr/>
          <p:nvPr/>
        </p:nvSpPr>
        <p:spPr>
          <a:xfrm>
            <a:off x="4937760" y="4672584"/>
            <a:ext cx="1261872" cy="1280160"/>
          </a:xfrm>
          <a:prstGeom prst="rect">
            <a:avLst/>
          </a:prstGeom>
          <a:solidFill>
            <a:srgbClr val="FFF3D8"/>
          </a:solidFill>
          <a:ln w="12700">
            <a:solidFill>
              <a:srgbClr val="FFF3D8"/>
            </a:solidFill>
            <a:prstDash val="solid"/>
          </a:ln>
        </p:spPr>
      </p:sp>
      <p:sp>
        <p:nvSpPr>
          <p:cNvPr id="53" name="Text 45"/>
          <p:cNvSpPr txBox="1"/>
          <p:nvPr/>
        </p:nvSpPr>
        <p:spPr>
          <a:xfrm>
            <a:off x="5047488"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 20%</a:t>
            </a:r>
            <a:endParaRPr lang="en-US" sz="1800" dirty="0"/>
          </a:p>
        </p:txBody>
      </p:sp>
      <p:sp>
        <p:nvSpPr>
          <p:cNvPr id="54" name="Text 46"/>
          <p:cNvSpPr txBox="1"/>
          <p:nvPr/>
        </p:nvSpPr>
        <p:spPr>
          <a:xfrm>
            <a:off x="5047488"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of category impressions, hard cap</a:t>
            </a:r>
            <a:endParaRPr lang="en-US" sz="1000" dirty="0"/>
          </a:p>
        </p:txBody>
      </p:sp>
      <p:sp>
        <p:nvSpPr>
          <p:cNvPr id="55" name="Shape 47"/>
          <p:cNvSpPr/>
          <p:nvPr/>
        </p:nvSpPr>
        <p:spPr>
          <a:xfrm>
            <a:off x="6455664" y="1426464"/>
            <a:ext cx="11603736" cy="4654296"/>
          </a:xfrm>
          <a:prstGeom prst="rect">
            <a:avLst/>
          </a:prstGeom>
          <a:solidFill>
            <a:srgbClr val="FFFFFF"/>
          </a:solidFill>
          <a:ln w="9525">
            <a:solidFill>
              <a:srgbClr val="E0CEDA"/>
            </a:solidFill>
            <a:prstDash val="solid"/>
          </a:ln>
        </p:spPr>
      </p:sp>
      <p:sp>
        <p:nvSpPr>
          <p:cNvPr id="56" name="Shape 48"/>
          <p:cNvSpPr/>
          <p:nvPr/>
        </p:nvSpPr>
        <p:spPr>
          <a:xfrm>
            <a:off x="6455664" y="1426464"/>
            <a:ext cx="11603736" cy="329184"/>
          </a:xfrm>
          <a:prstGeom prst="rect">
            <a:avLst/>
          </a:prstGeom>
          <a:solidFill>
            <a:srgbClr val="560547"/>
          </a:solidFill>
          <a:ln w="12700">
            <a:solidFill>
              <a:srgbClr val="560547"/>
            </a:solidFill>
            <a:prstDash val="solid"/>
          </a:ln>
        </p:spPr>
      </p:sp>
      <p:pic>
        <p:nvPicPr>
          <p:cNvPr id="57" name="Image 5" descr="/private/tmp/claude-501/-Users-prathmeshwalimbe-Downloads-Meesho/dfec39d5-f971-4a3a-8cfb-761f4ef1fedb/scratchpad/deck/assets/icons/FaRobot_w.png">    </p:cNvPr>
          <p:cNvPicPr>
            <a:picLocks noChangeAspect="1"/>
          </p:cNvPicPr>
          <p:nvPr/>
        </p:nvPicPr>
        <p:blipFill>
          <a:blip r:embed="rId6"/>
          <a:stretch>
            <a:fillRect/>
          </a:stretch>
        </p:blipFill>
        <p:spPr>
          <a:xfrm>
            <a:off x="6565392" y="1490472"/>
            <a:ext cx="201168" cy="201168"/>
          </a:xfrm>
          <a:prstGeom prst="rect">
            <a:avLst/>
          </a:prstGeom>
        </p:spPr>
      </p:pic>
      <p:sp>
        <p:nvSpPr>
          <p:cNvPr id="58" name="Text 49"/>
          <p:cNvSpPr txBox="1"/>
          <p:nvPr/>
        </p:nvSpPr>
        <p:spPr>
          <a:xfrm>
            <a:off x="6839712" y="1426464"/>
            <a:ext cx="11091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CONVICTION, THEN RETENTION · WHAT FIRES, WHEN, AND WHAT WE WATCH</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847088"/>
          <a:ext cx="11347704" cy="914400"/>
        </p:xfrm>
        <a:graphic>
          <a:graphicData uri="http://schemas.openxmlformats.org/drawingml/2006/table">
            <a:tbl>
              <a:tblPr/>
              <a:tblGrid>
                <a:gridCol w="914400"/>
                <a:gridCol w="868680"/>
                <a:gridCol w="3063240"/>
                <a:gridCol w="2240280"/>
                <a:gridCol w="1874520"/>
                <a:gridCol w="2386584"/>
              </a:tblGrid>
              <a:tr h="41148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Stage</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When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What Meesho does, automatically</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Trigger</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Seller sees</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KPI</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Qualify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Day 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 on; re-rank inside the category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Passed the price gate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C2M badge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Gap at onboarding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Allocate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D0–D14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Starter impressions in the 12 Demand Brief pin-codes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Onboarding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First orders where demand is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Orders vs cohort curve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Allocate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D7, 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+25K impressions for 7 days (max 2 grants)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Orders &lt; 60% of cohort median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WhatsApp: grant applied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Recovery by D21</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Diagnose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Health Score from five signals (see Metrics)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Every day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Weekly score card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0–100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Remedy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 trigger</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Price nudge · QC hold · node offer · restock nudge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8 rule thresholds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One specific fix</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Time to recover</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Graduate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D30+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Batch prepayment unlocked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 80 for 30 days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Cheaper working capital</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Graduation rate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Retain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D60+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Weekly brief refresh; prepaid batches each cycle; Meesho Mall path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Graduated, gap held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Steady demand, fast cash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Active at D90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Human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Exception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Category manager reviews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&lt; 40 for 7 days after a fix</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A call</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 5 per 100 / month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60" name="Shape 50"/>
          <p:cNvSpPr/>
          <p:nvPr/>
        </p:nvSpPr>
        <p:spPr>
          <a:xfrm>
            <a:off x="749808" y="6208776"/>
            <a:ext cx="7406640" cy="2807208"/>
          </a:xfrm>
          <a:prstGeom prst="rect">
            <a:avLst/>
          </a:prstGeom>
          <a:solidFill>
            <a:srgbClr val="FFFFFF"/>
          </a:solidFill>
          <a:ln w="9525">
            <a:solidFill>
              <a:srgbClr val="E0CEDA"/>
            </a:solidFill>
            <a:prstDash val="solid"/>
          </a:ln>
        </p:spPr>
      </p:sp>
      <p:sp>
        <p:nvSpPr>
          <p:cNvPr id="61" name="Shape 51"/>
          <p:cNvSpPr/>
          <p:nvPr/>
        </p:nvSpPr>
        <p:spPr>
          <a:xfrm>
            <a:off x="749808" y="6208776"/>
            <a:ext cx="7406640" cy="329184"/>
          </a:xfrm>
          <a:prstGeom prst="rect">
            <a:avLst/>
          </a:prstGeom>
          <a:solidFill>
            <a:srgbClr val="8A245E"/>
          </a:solidFill>
          <a:ln w="12700">
            <a:solidFill>
              <a:srgbClr val="8A245E"/>
            </a:solidFill>
            <a:prstDash val="solid"/>
          </a:ln>
        </p:spPr>
      </p:sp>
      <p:pic>
        <p:nvPicPr>
          <p:cNvPr id="62" name="Image 6" descr="/private/tmp/claude-501/-Users-prathmeshwalimbe-Downloads-Meesho/dfec39d5-f971-4a3a-8cfb-761f4ef1fedb/scratchpad/deck/assets/icons/FaGaugeHigh_w.png">    </p:cNvPr>
          <p:cNvPicPr>
            <a:picLocks noChangeAspect="1"/>
          </p:cNvPicPr>
          <p:nvPr/>
        </p:nvPicPr>
        <p:blipFill>
          <a:blip r:embed="rId7"/>
          <a:stretch>
            <a:fillRect/>
          </a:stretch>
        </p:blipFill>
        <p:spPr>
          <a:xfrm>
            <a:off x="859536" y="6272784"/>
            <a:ext cx="201168" cy="201168"/>
          </a:xfrm>
          <a:prstGeom prst="rect">
            <a:avLst/>
          </a:prstGeom>
        </p:spPr>
      </p:pic>
      <p:sp>
        <p:nvSpPr>
          <p:cNvPr id="63" name="Text 52"/>
          <p:cNvSpPr txBox="1"/>
          <p:nvPr/>
        </p:nvSpPr>
        <p:spPr>
          <a:xfrm>
            <a:off x="1133856" y="6208776"/>
            <a:ext cx="68945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ONE SELLER · KAVIN KNIT MILLS (FICTIONAL), TIRUPPUR</a:t>
            </a:r>
            <a:endParaRPr lang="en-US" sz="1250" dirty="0"/>
          </a:p>
        </p:txBody>
      </p:sp>
      <p:sp>
        <p:nvSpPr>
          <p:cNvPr id="64" name="Shape 53"/>
          <p:cNvSpPr/>
          <p:nvPr/>
        </p:nvSpPr>
        <p:spPr>
          <a:xfrm>
            <a:off x="868680" y="6620256"/>
            <a:ext cx="2980897" cy="2331720"/>
          </a:xfrm>
          <a:prstGeom prst="rect">
            <a:avLst/>
          </a:prstGeom>
          <a:solidFill>
            <a:srgbClr val="FFFFFF"/>
          </a:solidFill>
          <a:ln w="9525">
            <a:solidFill>
              <a:srgbClr val="E0CEDA"/>
            </a:solidFill>
            <a:prstDash val="solid"/>
          </a:ln>
        </p:spPr>
      </p:sp>
      <p:pic>
        <p:nvPicPr>
          <p:cNvPr id="65" name="Image 7" descr="/private/tmp/claude-501/-Users-prathmeshwalimbe-Downloads-Meesho/dfec39d5-f971-4a3a-8cfb-761f4ef1fedb/scratchpad/deck/assets/shot_health_detail.png">    </p:cNvPr>
          <p:cNvPicPr>
            <a:picLocks noChangeAspect="1"/>
          </p:cNvPicPr>
          <p:nvPr/>
        </p:nvPicPr>
        <p:blipFill>
          <a:blip r:embed="rId8"/>
          <a:stretch>
            <a:fillRect/>
          </a:stretch>
        </p:blipFill>
        <p:spPr>
          <a:xfrm>
            <a:off x="877824" y="6629400"/>
            <a:ext cx="2962609" cy="2313432"/>
          </a:xfrm>
          <a:prstGeom prst="rect">
            <a:avLst/>
          </a:prstGeom>
        </p:spPr>
      </p:pic>
      <p:sp>
        <p:nvSpPr>
          <p:cNvPr id="66" name="Text 54"/>
          <p:cNvSpPr txBox="1"/>
          <p:nvPr/>
        </p:nvSpPr>
        <p:spPr>
          <a:xfrm>
            <a:off x="4261104" y="6629400"/>
            <a:ext cx="3767328" cy="23134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0</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Badge on; first batch handed over at the node</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7</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Orders at D7 were 41% of the cohort median (floor 60%): a grant fires, no one calls</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8+</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Orders recover into the cohort band; score ≥ 80</a:t>
            </a:r>
            <a:endParaRPr lang="en-US" sz="1150" dirty="0"/>
          </a:p>
          <a:p>
            <a:pPr algn="l" indent="0" marL="0">
              <a:lnSpc>
                <a:spcPct val="100000"/>
              </a:lnSpc>
              <a:buNone/>
            </a:pPr>
            <a:r>
              <a:rPr lang="en-US" sz="1150" b="1" dirty="0">
                <a:solidFill>
                  <a:srgbClr val="1E8E5A"/>
                </a:solidFill>
                <a:latin typeface="Calibri" pitchFamily="34" charset="0"/>
                <a:ea typeface="Calibri" pitchFamily="34" charset="-122"/>
                <a:cs typeface="Calibri" pitchFamily="34" charset="-120"/>
              </a:rPr>
              <a:t>Day 37</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Graduated: batch prepayment unlocked</a:t>
            </a:r>
            <a:endParaRPr lang="en-US" sz="1150" dirty="0"/>
          </a:p>
        </p:txBody>
      </p:sp>
      <p:sp>
        <p:nvSpPr>
          <p:cNvPr id="67" name="Shape 55"/>
          <p:cNvSpPr/>
          <p:nvPr/>
        </p:nvSpPr>
        <p:spPr>
          <a:xfrm>
            <a:off x="8284464" y="6208776"/>
            <a:ext cx="4846320" cy="2807208"/>
          </a:xfrm>
          <a:prstGeom prst="rect">
            <a:avLst/>
          </a:prstGeom>
          <a:solidFill>
            <a:srgbClr val="FFFFFF"/>
          </a:solidFill>
          <a:ln w="9525">
            <a:solidFill>
              <a:srgbClr val="E0CEDA"/>
            </a:solidFill>
            <a:prstDash val="solid"/>
          </a:ln>
        </p:spPr>
      </p:sp>
      <p:sp>
        <p:nvSpPr>
          <p:cNvPr id="68" name="Shape 56"/>
          <p:cNvSpPr/>
          <p:nvPr/>
        </p:nvSpPr>
        <p:spPr>
          <a:xfrm>
            <a:off x="8284464" y="6208776"/>
            <a:ext cx="4846320" cy="329184"/>
          </a:xfrm>
          <a:prstGeom prst="rect">
            <a:avLst/>
          </a:prstGeom>
          <a:solidFill>
            <a:srgbClr val="8A245E"/>
          </a:solidFill>
          <a:ln w="12700">
            <a:solidFill>
              <a:srgbClr val="8A245E"/>
            </a:solidFill>
            <a:prstDash val="solid"/>
          </a:ln>
        </p:spPr>
      </p:sp>
      <p:pic>
        <p:nvPicPr>
          <p:cNvPr id="69" name="Image 8" descr="/private/tmp/claude-501/-Users-prathmeshwalimbe-Downloads-Meesho/dfec39d5-f971-4a3a-8cfb-761f4ef1fedb/scratchpad/deck/assets/icons/FaRobot_w.png">    </p:cNvPr>
          <p:cNvPicPr>
            <a:picLocks noChangeAspect="1"/>
          </p:cNvPicPr>
          <p:nvPr/>
        </p:nvPicPr>
        <p:blipFill>
          <a:blip r:embed="rId9"/>
          <a:stretch>
            <a:fillRect/>
          </a:stretch>
        </p:blipFill>
        <p:spPr>
          <a:xfrm>
            <a:off x="8394192" y="6272784"/>
            <a:ext cx="201168" cy="201168"/>
          </a:xfrm>
          <a:prstGeom prst="rect">
            <a:avLst/>
          </a:prstGeom>
        </p:spPr>
      </p:pic>
      <p:sp>
        <p:nvSpPr>
          <p:cNvPr id="70" name="Text 57"/>
          <p:cNvSpPr txBox="1"/>
          <p:nvPr/>
        </p:nvSpPr>
        <p:spPr>
          <a:xfrm>
            <a:off x="8668512" y="6208776"/>
            <a:ext cx="43342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SCALES TO HUNDREDS WITHOUT HEADCOUNT</a:t>
            </a:r>
            <a:endParaRPr lang="en-US" sz="1250" dirty="0"/>
          </a:p>
        </p:txBody>
      </p:sp>
      <p:sp>
        <p:nvSpPr>
          <p:cNvPr id="71" name="Shape 58"/>
          <p:cNvSpPr/>
          <p:nvPr/>
        </p:nvSpPr>
        <p:spPr>
          <a:xfrm>
            <a:off x="8412480" y="6629400"/>
            <a:ext cx="2240280" cy="1005840"/>
          </a:xfrm>
          <a:prstGeom prst="rect">
            <a:avLst/>
          </a:prstGeom>
          <a:solidFill>
            <a:srgbClr val="F2E4EE"/>
          </a:solidFill>
          <a:ln w="12700">
            <a:solidFill>
              <a:srgbClr val="F2E4EE"/>
            </a:solidFill>
            <a:prstDash val="solid"/>
          </a:ln>
        </p:spPr>
      </p:sp>
      <p:sp>
        <p:nvSpPr>
          <p:cNvPr id="72" name="Text 59"/>
          <p:cNvSpPr txBox="1"/>
          <p:nvPr/>
        </p:nvSpPr>
        <p:spPr>
          <a:xfrm>
            <a:off x="8522208" y="6684264"/>
            <a:ext cx="2020824" cy="523037"/>
          </a:xfrm>
          <a:prstGeom prst="rect">
            <a:avLst/>
          </a:prstGeom>
          <a:noFill/>
          <a:ln/>
        </p:spPr>
        <p:txBody>
          <a:bodyPr wrap="square" lIns="0" tIns="0" rIns="0" bIns="0" rtlCol="0" anchor="ctr"/>
          <a:lstStyle/>
          <a:p>
            <a:pPr algn="l" indent="0" marL="0">
              <a:lnSpc>
                <a:spcPct val="100000"/>
              </a:lnSpc>
              <a:buNone/>
            </a:pPr>
            <a:r>
              <a:rPr lang="en-US" sz="2400" b="1" dirty="0">
                <a:solidFill>
                  <a:srgbClr val="560547"/>
                </a:solidFill>
                <a:latin typeface="Arial" pitchFamily="34" charset="0"/>
                <a:ea typeface="Arial" pitchFamily="34" charset="-122"/>
                <a:cs typeface="Arial" pitchFamily="34" charset="-120"/>
              </a:rPr>
              <a:t>90 : 3</a:t>
            </a:r>
            <a:endParaRPr lang="en-US" sz="2400" dirty="0"/>
          </a:p>
        </p:txBody>
      </p:sp>
      <p:sp>
        <p:nvSpPr>
          <p:cNvPr id="73" name="Text 60"/>
          <p:cNvSpPr txBox="1"/>
          <p:nvPr/>
        </p:nvSpPr>
        <p:spPr>
          <a:xfrm>
            <a:off x="8522208" y="7182612"/>
            <a:ext cx="2020824" cy="422453"/>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automated vs human actions</a:t>
            </a:r>
            <a:endParaRPr lang="en-US" sz="1100" dirty="0"/>
          </a:p>
        </p:txBody>
      </p:sp>
      <p:sp>
        <p:nvSpPr>
          <p:cNvPr id="74" name="Shape 61"/>
          <p:cNvSpPr/>
          <p:nvPr/>
        </p:nvSpPr>
        <p:spPr>
          <a:xfrm>
            <a:off x="10762488" y="6629400"/>
            <a:ext cx="2240280" cy="1005840"/>
          </a:xfrm>
          <a:prstGeom prst="rect">
            <a:avLst/>
          </a:prstGeom>
          <a:solidFill>
            <a:srgbClr val="FFF3D8"/>
          </a:solidFill>
          <a:ln w="12700">
            <a:solidFill>
              <a:srgbClr val="FFF3D8"/>
            </a:solidFill>
            <a:prstDash val="solid"/>
          </a:ln>
        </p:spPr>
      </p:sp>
      <p:sp>
        <p:nvSpPr>
          <p:cNvPr id="75" name="Text 62"/>
          <p:cNvSpPr txBox="1"/>
          <p:nvPr/>
        </p:nvSpPr>
        <p:spPr>
          <a:xfrm>
            <a:off x="10872216" y="6684264"/>
            <a:ext cx="2020824" cy="523037"/>
          </a:xfrm>
          <a:prstGeom prst="rect">
            <a:avLst/>
          </a:prstGeom>
          <a:noFill/>
          <a:ln/>
        </p:spPr>
        <p:txBody>
          <a:bodyPr wrap="square" lIns="0" tIns="0" rIns="0" bIns="0" rtlCol="0" anchor="ctr"/>
          <a:lstStyle/>
          <a:p>
            <a:pPr algn="l" indent="0" marL="0">
              <a:lnSpc>
                <a:spcPct val="100000"/>
              </a:lnSpc>
              <a:buNone/>
            </a:pPr>
            <a:r>
              <a:rPr lang="en-US" sz="2400" b="1" dirty="0">
                <a:solidFill>
                  <a:srgbClr val="560547"/>
                </a:solidFill>
                <a:latin typeface="Arial" pitchFamily="34" charset="0"/>
                <a:ea typeface="Arial" pitchFamily="34" charset="-122"/>
                <a:cs typeface="Arial" pitchFamily="34" charset="-120"/>
              </a:rPr>
              <a:t>~910</a:t>
            </a:r>
            <a:endParaRPr lang="en-US" sz="2400" dirty="0"/>
          </a:p>
        </p:txBody>
      </p:sp>
      <p:sp>
        <p:nvSpPr>
          <p:cNvPr id="76" name="Text 63"/>
          <p:cNvSpPr txBox="1"/>
          <p:nvPr/>
        </p:nvSpPr>
        <p:spPr>
          <a:xfrm>
            <a:off x="10872216" y="7182612"/>
            <a:ext cx="2020824" cy="422453"/>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sellers per category manager</a:t>
            </a:r>
            <a:endParaRPr lang="en-US" sz="1100" dirty="0"/>
          </a:p>
        </p:txBody>
      </p:sp>
      <p:sp>
        <p:nvSpPr>
          <p:cNvPr id="77" name="Text 64"/>
          <p:cNvSpPr txBox="1"/>
          <p:nvPr/>
        </p:nvSpPr>
        <p:spPr>
          <a:xfrm>
            <a:off x="8412480" y="7744968"/>
            <a:ext cx="4590288" cy="109728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Sellers per manager = capacity ÷ escalation rate</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 = 40 ÷ (3 ÷ 68 seller-months) ≈ 910. The 3 escalations are the only human touches in the pilot.</a:t>
            </a:r>
            <a:endParaRPr lang="en-US" sz="1100" dirty="0"/>
          </a:p>
        </p:txBody>
      </p:sp>
      <p:sp>
        <p:nvSpPr>
          <p:cNvPr id="78" name="Shape 65"/>
          <p:cNvSpPr/>
          <p:nvPr/>
        </p:nvSpPr>
        <p:spPr>
          <a:xfrm>
            <a:off x="13258800" y="6208776"/>
            <a:ext cx="4800600" cy="2807208"/>
          </a:xfrm>
          <a:prstGeom prst="rect">
            <a:avLst/>
          </a:prstGeom>
          <a:solidFill>
            <a:srgbClr val="FFFFFF"/>
          </a:solidFill>
          <a:ln w="9525">
            <a:solidFill>
              <a:srgbClr val="E0CEDA"/>
            </a:solidFill>
            <a:prstDash val="solid"/>
          </a:ln>
        </p:spPr>
      </p:sp>
      <p:sp>
        <p:nvSpPr>
          <p:cNvPr id="79" name="Shape 66"/>
          <p:cNvSpPr/>
          <p:nvPr/>
        </p:nvSpPr>
        <p:spPr>
          <a:xfrm>
            <a:off x="13258800" y="6208776"/>
            <a:ext cx="4800600" cy="329184"/>
          </a:xfrm>
          <a:prstGeom prst="rect">
            <a:avLst/>
          </a:prstGeom>
          <a:solidFill>
            <a:srgbClr val="8A245E"/>
          </a:solidFill>
          <a:ln w="12700">
            <a:solidFill>
              <a:srgbClr val="8A245E"/>
            </a:solidFill>
            <a:prstDash val="solid"/>
          </a:ln>
        </p:spPr>
      </p:sp>
      <p:pic>
        <p:nvPicPr>
          <p:cNvPr id="80" name="Image 9" descr="/private/tmp/claude-501/-Users-prathmeshwalimbe-Downloads-Meesho/dfec39d5-f971-4a3a-8cfb-761f4ef1fedb/scratchpad/deck/assets/icons/FaTriangleExclamation_w.png">    </p:cNvPr>
          <p:cNvPicPr>
            <a:picLocks noChangeAspect="1"/>
          </p:cNvPicPr>
          <p:nvPr/>
        </p:nvPicPr>
        <p:blipFill>
          <a:blip r:embed="rId10"/>
          <a:stretch>
            <a:fillRect/>
          </a:stretch>
        </p:blipFill>
        <p:spPr>
          <a:xfrm>
            <a:off x="13368528" y="6272784"/>
            <a:ext cx="201168" cy="201168"/>
          </a:xfrm>
          <a:prstGeom prst="rect">
            <a:avLst/>
          </a:prstGeom>
        </p:spPr>
      </p:pic>
      <p:sp>
        <p:nvSpPr>
          <p:cNvPr id="81" name="Text 67"/>
          <p:cNvSpPr txBox="1"/>
          <p:nvPr/>
        </p:nvSpPr>
        <p:spPr>
          <a:xfrm>
            <a:off x="13642848" y="6208776"/>
            <a:ext cx="42885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EXPLICITLY REJECTED</a:t>
            </a:r>
            <a:endParaRPr lang="en-US" sz="12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13386816" y="6629400"/>
          <a:ext cx="4544568" cy="914400"/>
        </p:xfrm>
        <a:graphic>
          <a:graphicData uri="http://schemas.openxmlformats.org/drawingml/2006/table">
            <a:tbl>
              <a:tblPr/>
              <a:tblGrid>
                <a:gridCol w="1874520"/>
                <a:gridCol w="2670048"/>
              </a:tblGrid>
              <a:tr h="43891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Why not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 subsidy or paid boosts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Buys volume, not conviction; stops the day funding stops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Account managers per seller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Works at 20 sellers, breaks at 200, cannot reach 1,400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Onboarding by turnover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The brief’s own diagnosis: scale is not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Weakening the quality gate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Protects nobody; grants target traffic, not ranking rules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560547"/>
          </a:solidFill>
          <a:ln w="9525">
            <a:solidFill>
              <a:srgbClr val="560547"/>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WHAT WE WATCH</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Q6 · Metrics and KPIs · What Meesho tracks across onboarding, activation and retention, and when it steps in</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Targets are proposed pilot thresholds, to be recalibrated on the first cohort. Health Score weights and rule thresholds are the ones running in the prototype (src/config.js).</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Measure the funnel from qualified to graduated, score every seller daily, and act at fixed thresholds; a person steps in only after an automatic fix has failed.</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10241280" cy="4892040"/>
          </a:xfrm>
          <a:prstGeom prst="rect">
            <a:avLst/>
          </a:prstGeom>
          <a:solidFill>
            <a:srgbClr val="FFFFFF"/>
          </a:solidFill>
          <a:ln w="9525">
            <a:solidFill>
              <a:srgbClr val="E0CEDA"/>
            </a:solidFill>
            <a:prstDash val="solid"/>
          </a:ln>
        </p:spPr>
      </p:sp>
      <p:sp>
        <p:nvSpPr>
          <p:cNvPr id="33" name="Shape 27"/>
          <p:cNvSpPr/>
          <p:nvPr/>
        </p:nvSpPr>
        <p:spPr>
          <a:xfrm>
            <a:off x="749808" y="1426464"/>
            <a:ext cx="10241280"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MagnifyingGlassChart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97292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KPI TREE · ONBOARDING → ACTIVATION → RETENTION</a:t>
            </a:r>
            <a:endParaRPr lang="en-US" sz="1250" dirty="0"/>
          </a:p>
        </p:txBody>
      </p:sp>
      <p:sp>
        <p:nvSpPr>
          <p:cNvPr id="36" name="Shape 29"/>
          <p:cNvSpPr/>
          <p:nvPr/>
        </p:nvSpPr>
        <p:spPr>
          <a:xfrm>
            <a:off x="2980944" y="1847088"/>
            <a:ext cx="5779008" cy="658368"/>
          </a:xfrm>
          <a:prstGeom prst="roundRect">
            <a:avLst>
              <a:gd name="adj" fmla="val 8333"/>
            </a:avLst>
          </a:prstGeom>
          <a:solidFill>
            <a:srgbClr val="560547"/>
          </a:solidFill>
          <a:ln w="12700">
            <a:solidFill>
              <a:srgbClr val="560547"/>
            </a:solidFill>
            <a:prstDash val="solid"/>
          </a:ln>
        </p:spPr>
      </p:sp>
      <p:sp>
        <p:nvSpPr>
          <p:cNvPr id="37" name="Text 30"/>
          <p:cNvSpPr txBox="1"/>
          <p:nvPr/>
        </p:nvSpPr>
        <p:spPr>
          <a:xfrm>
            <a:off x="2980944" y="1847088"/>
            <a:ext cx="5779008" cy="658368"/>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NORTH STAR · PRICE-COMPETITIVE C2M NMV</a:t>
            </a:r>
            <a:endParaRPr lang="en-US" sz="1200" dirty="0"/>
          </a:p>
          <a:p>
            <a:pPr algn="ctr" indent="0" marL="0">
              <a:lnSpc>
                <a:spcPct val="100000"/>
              </a:lnSpc>
              <a:buNone/>
            </a:pPr>
            <a:r>
              <a:rPr lang="en-US" sz="1200" dirty="0">
                <a:solidFill>
                  <a:srgbClr val="FFFFFF"/>
                </a:solidFill>
                <a:latin typeface="Calibri" pitchFamily="34" charset="0"/>
                <a:ea typeface="Calibri" pitchFamily="34" charset="-122"/>
                <a:cs typeface="Calibri" pitchFamily="34" charset="-120"/>
              </a:rPr>
              <a:t>NMV from sellers whose catalogue still clears the ≥ 8% gate</a:t>
            </a:r>
            <a:endParaRPr lang="en-US" sz="1200" dirty="0"/>
          </a:p>
        </p:txBody>
      </p:sp>
      <p:sp>
        <p:nvSpPr>
          <p:cNvPr id="38" name="Shape 31"/>
          <p:cNvSpPr/>
          <p:nvPr/>
        </p:nvSpPr>
        <p:spPr>
          <a:xfrm flipH="1">
            <a:off x="2496312" y="2505456"/>
            <a:ext cx="3374136" cy="393192"/>
          </a:xfrm>
          <a:prstGeom prst="line">
            <a:avLst/>
          </a:prstGeom>
          <a:noFill/>
          <a:ln w="15875">
            <a:solidFill>
              <a:srgbClr val="8A245E"/>
            </a:solidFill>
            <a:prstDash val="solid"/>
          </a:ln>
        </p:spPr>
      </p:sp>
      <p:sp>
        <p:nvSpPr>
          <p:cNvPr id="39" name="Shape 32"/>
          <p:cNvSpPr/>
          <p:nvPr/>
        </p:nvSpPr>
        <p:spPr>
          <a:xfrm>
            <a:off x="877824" y="2898648"/>
            <a:ext cx="3236976" cy="457200"/>
          </a:xfrm>
          <a:prstGeom prst="roundRect">
            <a:avLst>
              <a:gd name="adj" fmla="val 10000"/>
            </a:avLst>
          </a:prstGeom>
          <a:solidFill>
            <a:srgbClr val="8A245E"/>
          </a:solidFill>
          <a:ln w="12700">
            <a:solidFill>
              <a:srgbClr val="8A245E"/>
            </a:solidFill>
            <a:prstDash val="solid"/>
          </a:ln>
        </p:spPr>
      </p:sp>
      <p:pic>
        <p:nvPicPr>
          <p:cNvPr id="40" name="Image 4" descr="/private/tmp/claude-501/-Users-prathmeshwalimbe-Downloads-Meesho/dfec39d5-f971-4a3a-8cfb-761f4ef1fedb/scratchpad/deck/assets/icons/FaClipboardCheck_w.png">    </p:cNvPr>
          <p:cNvPicPr>
            <a:picLocks noChangeAspect="1"/>
          </p:cNvPicPr>
          <p:nvPr/>
        </p:nvPicPr>
        <p:blipFill>
          <a:blip r:embed="rId5"/>
          <a:stretch>
            <a:fillRect/>
          </a:stretch>
        </p:blipFill>
        <p:spPr>
          <a:xfrm>
            <a:off x="987552" y="2990088"/>
            <a:ext cx="274320" cy="274320"/>
          </a:xfrm>
          <a:prstGeom prst="rect">
            <a:avLst/>
          </a:prstGeom>
        </p:spPr>
      </p:pic>
      <p:sp>
        <p:nvSpPr>
          <p:cNvPr id="41" name="Text 33"/>
          <p:cNvSpPr txBox="1"/>
          <p:nvPr/>
        </p:nvSpPr>
        <p:spPr>
          <a:xfrm>
            <a:off x="1335024"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42" name="Shape 34"/>
          <p:cNvSpPr/>
          <p:nvPr/>
        </p:nvSpPr>
        <p:spPr>
          <a:xfrm>
            <a:off x="877824" y="3447288"/>
            <a:ext cx="3236976" cy="566928"/>
          </a:xfrm>
          <a:prstGeom prst="roundRect">
            <a:avLst>
              <a:gd name="adj" fmla="val 6452"/>
            </a:avLst>
          </a:prstGeom>
          <a:solidFill>
            <a:srgbClr val="F2E4EE"/>
          </a:solidFill>
          <a:ln w="12700">
            <a:solidFill>
              <a:srgbClr val="F2E4EE"/>
            </a:solidFill>
            <a:prstDash val="solid"/>
          </a:ln>
        </p:spPr>
      </p:sp>
      <p:sp>
        <p:nvSpPr>
          <p:cNvPr id="43" name="Text 35"/>
          <p:cNvSpPr txBox="1"/>
          <p:nvPr/>
        </p:nvSpPr>
        <p:spPr>
          <a:xfrm>
            <a:off x="987552"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Qualified → listed</a:t>
            </a:r>
            <a:endParaRPr lang="en-US" sz="1150" dirty="0"/>
          </a:p>
        </p:txBody>
      </p:sp>
      <p:sp>
        <p:nvSpPr>
          <p:cNvPr id="44" name="Text 36"/>
          <p:cNvSpPr txBox="1"/>
          <p:nvPr/>
        </p:nvSpPr>
        <p:spPr>
          <a:xfrm>
            <a:off x="987552"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50% in 30 days</a:t>
            </a:r>
            <a:endParaRPr lang="en-US" sz="1100" dirty="0"/>
          </a:p>
        </p:txBody>
      </p:sp>
      <p:sp>
        <p:nvSpPr>
          <p:cNvPr id="45" name="Shape 37"/>
          <p:cNvSpPr/>
          <p:nvPr/>
        </p:nvSpPr>
        <p:spPr>
          <a:xfrm>
            <a:off x="877824" y="4087368"/>
            <a:ext cx="3236976" cy="566928"/>
          </a:xfrm>
          <a:prstGeom prst="roundRect">
            <a:avLst>
              <a:gd name="adj" fmla="val 6452"/>
            </a:avLst>
          </a:prstGeom>
          <a:solidFill>
            <a:srgbClr val="F2E4EE"/>
          </a:solidFill>
          <a:ln w="12700">
            <a:solidFill>
              <a:srgbClr val="F2E4EE"/>
            </a:solidFill>
            <a:prstDash val="solid"/>
          </a:ln>
        </p:spPr>
      </p:sp>
      <p:sp>
        <p:nvSpPr>
          <p:cNvPr id="46" name="Text 38"/>
          <p:cNvSpPr txBox="1"/>
          <p:nvPr/>
        </p:nvSpPr>
        <p:spPr>
          <a:xfrm>
            <a:off x="987552"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Days to first live listing</a:t>
            </a:r>
            <a:endParaRPr lang="en-US" sz="1150" dirty="0"/>
          </a:p>
        </p:txBody>
      </p:sp>
      <p:sp>
        <p:nvSpPr>
          <p:cNvPr id="47" name="Text 39"/>
          <p:cNvSpPr txBox="1"/>
          <p:nvPr/>
        </p:nvSpPr>
        <p:spPr>
          <a:xfrm>
            <a:off x="987552"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a:t>
            </a:r>
            <a:endParaRPr lang="en-US" sz="1100" dirty="0"/>
          </a:p>
        </p:txBody>
      </p:sp>
      <p:sp>
        <p:nvSpPr>
          <p:cNvPr id="48" name="Shape 40"/>
          <p:cNvSpPr/>
          <p:nvPr/>
        </p:nvSpPr>
        <p:spPr>
          <a:xfrm>
            <a:off x="877824" y="4727448"/>
            <a:ext cx="3236976" cy="566928"/>
          </a:xfrm>
          <a:prstGeom prst="roundRect">
            <a:avLst>
              <a:gd name="adj" fmla="val 6452"/>
            </a:avLst>
          </a:prstGeom>
          <a:solidFill>
            <a:srgbClr val="F2E4EE"/>
          </a:solidFill>
          <a:ln w="12700">
            <a:solidFill>
              <a:srgbClr val="F2E4EE"/>
            </a:solidFill>
            <a:prstDash val="solid"/>
          </a:ln>
        </p:spPr>
      </p:sp>
      <p:sp>
        <p:nvSpPr>
          <p:cNvPr id="49" name="Text 41"/>
          <p:cNvSpPr txBox="1"/>
          <p:nvPr/>
        </p:nvSpPr>
        <p:spPr>
          <a:xfrm>
            <a:off x="987552"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First batch committed</a:t>
            </a:r>
            <a:endParaRPr lang="en-US" sz="1150" dirty="0"/>
          </a:p>
        </p:txBody>
      </p:sp>
      <p:sp>
        <p:nvSpPr>
          <p:cNvPr id="50" name="Text 42"/>
          <p:cNvSpPr txBox="1"/>
          <p:nvPr/>
        </p:nvSpPr>
        <p:spPr>
          <a:xfrm>
            <a:off x="987552"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14 days</a:t>
            </a:r>
            <a:endParaRPr lang="en-US" sz="1100" dirty="0"/>
          </a:p>
        </p:txBody>
      </p:sp>
      <p:sp>
        <p:nvSpPr>
          <p:cNvPr id="51" name="Shape 43"/>
          <p:cNvSpPr/>
          <p:nvPr/>
        </p:nvSpPr>
        <p:spPr>
          <a:xfrm flipH="1">
            <a:off x="5870448" y="2505456"/>
            <a:ext cx="914" cy="393192"/>
          </a:xfrm>
          <a:prstGeom prst="line">
            <a:avLst/>
          </a:prstGeom>
          <a:noFill/>
          <a:ln w="15875">
            <a:solidFill>
              <a:srgbClr val="8A245E"/>
            </a:solidFill>
            <a:prstDash val="solid"/>
          </a:ln>
        </p:spPr>
      </p:sp>
      <p:sp>
        <p:nvSpPr>
          <p:cNvPr id="52" name="Shape 44"/>
          <p:cNvSpPr/>
          <p:nvPr/>
        </p:nvSpPr>
        <p:spPr>
          <a:xfrm>
            <a:off x="4251960" y="2898648"/>
            <a:ext cx="3236976" cy="457200"/>
          </a:xfrm>
          <a:prstGeom prst="roundRect">
            <a:avLst>
              <a:gd name="adj" fmla="val 10000"/>
            </a:avLst>
          </a:prstGeom>
          <a:solidFill>
            <a:srgbClr val="8A245E"/>
          </a:solidFill>
          <a:ln w="12700">
            <a:solidFill>
              <a:srgbClr val="8A245E"/>
            </a:solidFill>
            <a:prstDash val="solid"/>
          </a:ln>
        </p:spPr>
      </p:sp>
      <p:pic>
        <p:nvPicPr>
          <p:cNvPr id="53" name="Image 5" descr="/private/tmp/claude-501/-Users-prathmeshwalimbe-Downloads-Meesho/dfec39d5-f971-4a3a-8cfb-761f4ef1fedb/scratchpad/deck/assets/icons/FaBolt_w.png">    </p:cNvPr>
          <p:cNvPicPr>
            <a:picLocks noChangeAspect="1"/>
          </p:cNvPicPr>
          <p:nvPr/>
        </p:nvPicPr>
        <p:blipFill>
          <a:blip r:embed="rId6"/>
          <a:stretch>
            <a:fillRect/>
          </a:stretch>
        </p:blipFill>
        <p:spPr>
          <a:xfrm>
            <a:off x="4361688" y="2990088"/>
            <a:ext cx="274320" cy="274320"/>
          </a:xfrm>
          <a:prstGeom prst="rect">
            <a:avLst/>
          </a:prstGeom>
        </p:spPr>
      </p:pic>
      <p:sp>
        <p:nvSpPr>
          <p:cNvPr id="54" name="Text 45"/>
          <p:cNvSpPr txBox="1"/>
          <p:nvPr/>
        </p:nvSpPr>
        <p:spPr>
          <a:xfrm>
            <a:off x="4709160"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ACTIVATION</a:t>
            </a:r>
            <a:endParaRPr lang="en-US" sz="1200" dirty="0"/>
          </a:p>
        </p:txBody>
      </p:sp>
      <p:sp>
        <p:nvSpPr>
          <p:cNvPr id="55" name="Shape 46"/>
          <p:cNvSpPr/>
          <p:nvPr/>
        </p:nvSpPr>
        <p:spPr>
          <a:xfrm>
            <a:off x="4251960" y="3447288"/>
            <a:ext cx="3236976" cy="566928"/>
          </a:xfrm>
          <a:prstGeom prst="roundRect">
            <a:avLst>
              <a:gd name="adj" fmla="val 6452"/>
            </a:avLst>
          </a:prstGeom>
          <a:solidFill>
            <a:srgbClr val="F2E4EE"/>
          </a:solidFill>
          <a:ln w="12700">
            <a:solidFill>
              <a:srgbClr val="F2E4EE"/>
            </a:solidFill>
            <a:prstDash val="solid"/>
          </a:ln>
        </p:spPr>
      </p:sp>
      <p:sp>
        <p:nvSpPr>
          <p:cNvPr id="56" name="Text 47"/>
          <p:cNvSpPr txBox="1"/>
          <p:nvPr/>
        </p:nvSpPr>
        <p:spPr>
          <a:xfrm>
            <a:off x="4361688"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Orders at D7 / D14</a:t>
            </a:r>
            <a:endParaRPr lang="en-US" sz="1150" dirty="0"/>
          </a:p>
        </p:txBody>
      </p:sp>
      <p:sp>
        <p:nvSpPr>
          <p:cNvPr id="57" name="Text 48"/>
          <p:cNvSpPr txBox="1"/>
          <p:nvPr/>
        </p:nvSpPr>
        <p:spPr>
          <a:xfrm>
            <a:off x="4361688"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60% of cohort median</a:t>
            </a:r>
            <a:endParaRPr lang="en-US" sz="1100" dirty="0"/>
          </a:p>
        </p:txBody>
      </p:sp>
      <p:sp>
        <p:nvSpPr>
          <p:cNvPr id="58" name="Shape 49"/>
          <p:cNvSpPr/>
          <p:nvPr/>
        </p:nvSpPr>
        <p:spPr>
          <a:xfrm>
            <a:off x="4251960" y="4087368"/>
            <a:ext cx="3236976" cy="566928"/>
          </a:xfrm>
          <a:prstGeom prst="roundRect">
            <a:avLst>
              <a:gd name="adj" fmla="val 6452"/>
            </a:avLst>
          </a:prstGeom>
          <a:solidFill>
            <a:srgbClr val="F2E4EE"/>
          </a:solidFill>
          <a:ln w="12700">
            <a:solidFill>
              <a:srgbClr val="F2E4EE"/>
            </a:solidFill>
            <a:prstDash val="solid"/>
          </a:ln>
        </p:spPr>
      </p:sp>
      <p:sp>
        <p:nvSpPr>
          <p:cNvPr id="59" name="Text 50"/>
          <p:cNvSpPr txBox="1"/>
          <p:nvPr/>
        </p:nvSpPr>
        <p:spPr>
          <a:xfrm>
            <a:off x="4361688"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First-30-day orders</a:t>
            </a:r>
            <a:endParaRPr lang="en-US" sz="1150" dirty="0"/>
          </a:p>
        </p:txBody>
      </p:sp>
      <p:sp>
        <p:nvSpPr>
          <p:cNvPr id="60" name="Text 51"/>
          <p:cNvSpPr txBox="1"/>
          <p:nvPr/>
        </p:nvSpPr>
        <p:spPr>
          <a:xfrm>
            <a:off x="4361688"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cohort p50 for 70%</a:t>
            </a:r>
            <a:endParaRPr lang="en-US" sz="1100" dirty="0"/>
          </a:p>
        </p:txBody>
      </p:sp>
      <p:sp>
        <p:nvSpPr>
          <p:cNvPr id="61" name="Shape 52"/>
          <p:cNvSpPr/>
          <p:nvPr/>
        </p:nvSpPr>
        <p:spPr>
          <a:xfrm>
            <a:off x="4251960" y="4727448"/>
            <a:ext cx="3236976" cy="566928"/>
          </a:xfrm>
          <a:prstGeom prst="roundRect">
            <a:avLst>
              <a:gd name="adj" fmla="val 6452"/>
            </a:avLst>
          </a:prstGeom>
          <a:solidFill>
            <a:srgbClr val="F2E4EE"/>
          </a:solidFill>
          <a:ln w="12700">
            <a:solidFill>
              <a:srgbClr val="F2E4EE"/>
            </a:solidFill>
            <a:prstDash val="solid"/>
          </a:ln>
        </p:spPr>
      </p:sp>
      <p:sp>
        <p:nvSpPr>
          <p:cNvPr id="62" name="Text 53"/>
          <p:cNvSpPr txBox="1"/>
          <p:nvPr/>
        </p:nvSpPr>
        <p:spPr>
          <a:xfrm>
            <a:off x="4361688"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Days to 10th order</a:t>
            </a:r>
            <a:endParaRPr lang="en-US" sz="1150" dirty="0"/>
          </a:p>
        </p:txBody>
      </p:sp>
      <p:sp>
        <p:nvSpPr>
          <p:cNvPr id="63" name="Text 54"/>
          <p:cNvSpPr txBox="1"/>
          <p:nvPr/>
        </p:nvSpPr>
        <p:spPr>
          <a:xfrm>
            <a:off x="4361688"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10</a:t>
            </a:r>
            <a:endParaRPr lang="en-US" sz="1100" dirty="0"/>
          </a:p>
        </p:txBody>
      </p:sp>
      <p:sp>
        <p:nvSpPr>
          <p:cNvPr id="64" name="Shape 55"/>
          <p:cNvSpPr/>
          <p:nvPr/>
        </p:nvSpPr>
        <p:spPr>
          <a:xfrm>
            <a:off x="5870448" y="2505456"/>
            <a:ext cx="3374136" cy="393192"/>
          </a:xfrm>
          <a:prstGeom prst="line">
            <a:avLst/>
          </a:prstGeom>
          <a:noFill/>
          <a:ln w="15875">
            <a:solidFill>
              <a:srgbClr val="8A245E"/>
            </a:solidFill>
            <a:prstDash val="solid"/>
          </a:ln>
        </p:spPr>
      </p:sp>
      <p:sp>
        <p:nvSpPr>
          <p:cNvPr id="65" name="Shape 56"/>
          <p:cNvSpPr/>
          <p:nvPr/>
        </p:nvSpPr>
        <p:spPr>
          <a:xfrm>
            <a:off x="7626096" y="2898648"/>
            <a:ext cx="3236976" cy="457200"/>
          </a:xfrm>
          <a:prstGeom prst="roundRect">
            <a:avLst>
              <a:gd name="adj" fmla="val 10000"/>
            </a:avLst>
          </a:prstGeom>
          <a:solidFill>
            <a:srgbClr val="8A245E"/>
          </a:solidFill>
          <a:ln w="12700">
            <a:solidFill>
              <a:srgbClr val="8A245E"/>
            </a:solidFill>
            <a:prstDash val="solid"/>
          </a:ln>
        </p:spPr>
      </p:sp>
      <p:pic>
        <p:nvPicPr>
          <p:cNvPr id="66" name="Image 6" descr="/private/tmp/claude-501/-Users-prathmeshwalimbe-Downloads-Meesho/dfec39d5-f971-4a3a-8cfb-761f4ef1fedb/scratchpad/deck/assets/icons/FaFlagCheckered_w.png">    </p:cNvPr>
          <p:cNvPicPr>
            <a:picLocks noChangeAspect="1"/>
          </p:cNvPicPr>
          <p:nvPr/>
        </p:nvPicPr>
        <p:blipFill>
          <a:blip r:embed="rId7"/>
          <a:stretch>
            <a:fillRect/>
          </a:stretch>
        </p:blipFill>
        <p:spPr>
          <a:xfrm>
            <a:off x="7735824" y="2990088"/>
            <a:ext cx="274320" cy="274320"/>
          </a:xfrm>
          <a:prstGeom prst="rect">
            <a:avLst/>
          </a:prstGeom>
        </p:spPr>
      </p:pic>
      <p:sp>
        <p:nvSpPr>
          <p:cNvPr id="67" name="Text 57"/>
          <p:cNvSpPr txBox="1"/>
          <p:nvPr/>
        </p:nvSpPr>
        <p:spPr>
          <a:xfrm>
            <a:off x="8083296"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68" name="Shape 58"/>
          <p:cNvSpPr/>
          <p:nvPr/>
        </p:nvSpPr>
        <p:spPr>
          <a:xfrm>
            <a:off x="7626096" y="3447288"/>
            <a:ext cx="3236976" cy="566928"/>
          </a:xfrm>
          <a:prstGeom prst="roundRect">
            <a:avLst>
              <a:gd name="adj" fmla="val 6452"/>
            </a:avLst>
          </a:prstGeom>
          <a:solidFill>
            <a:srgbClr val="F2E4EE"/>
          </a:solidFill>
          <a:ln w="12700">
            <a:solidFill>
              <a:srgbClr val="F2E4EE"/>
            </a:solidFill>
            <a:prstDash val="solid"/>
          </a:ln>
        </p:spPr>
      </p:sp>
      <p:sp>
        <p:nvSpPr>
          <p:cNvPr id="69" name="Text 59"/>
          <p:cNvSpPr txBox="1"/>
          <p:nvPr/>
        </p:nvSpPr>
        <p:spPr>
          <a:xfrm>
            <a:off x="7735824"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Active at D90</a:t>
            </a:r>
            <a:endParaRPr lang="en-US" sz="1150" dirty="0"/>
          </a:p>
        </p:txBody>
      </p:sp>
      <p:sp>
        <p:nvSpPr>
          <p:cNvPr id="70" name="Text 60"/>
          <p:cNvSpPr txBox="1"/>
          <p:nvPr/>
        </p:nvSpPr>
        <p:spPr>
          <a:xfrm>
            <a:off x="7735824"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75%</a:t>
            </a:r>
            <a:endParaRPr lang="en-US" sz="1100" dirty="0"/>
          </a:p>
        </p:txBody>
      </p:sp>
      <p:sp>
        <p:nvSpPr>
          <p:cNvPr id="71" name="Shape 61"/>
          <p:cNvSpPr/>
          <p:nvPr/>
        </p:nvSpPr>
        <p:spPr>
          <a:xfrm>
            <a:off x="7626096" y="4087368"/>
            <a:ext cx="3236976" cy="566928"/>
          </a:xfrm>
          <a:prstGeom prst="roundRect">
            <a:avLst>
              <a:gd name="adj" fmla="val 6452"/>
            </a:avLst>
          </a:prstGeom>
          <a:solidFill>
            <a:srgbClr val="F2E4EE"/>
          </a:solidFill>
          <a:ln w="12700">
            <a:solidFill>
              <a:srgbClr val="F2E4EE"/>
            </a:solidFill>
            <a:prstDash val="solid"/>
          </a:ln>
        </p:spPr>
      </p:sp>
      <p:sp>
        <p:nvSpPr>
          <p:cNvPr id="72" name="Text 62"/>
          <p:cNvSpPr txBox="1"/>
          <p:nvPr/>
        </p:nvSpPr>
        <p:spPr>
          <a:xfrm>
            <a:off x="7735824"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Gate retention D14 / D30</a:t>
            </a:r>
            <a:endParaRPr lang="en-US" sz="1150" dirty="0"/>
          </a:p>
        </p:txBody>
      </p:sp>
      <p:sp>
        <p:nvSpPr>
          <p:cNvPr id="73" name="Text 63"/>
          <p:cNvSpPr txBox="1"/>
          <p:nvPr/>
        </p:nvSpPr>
        <p:spPr>
          <a:xfrm>
            <a:off x="7735824"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70% still clear</a:t>
            </a:r>
            <a:endParaRPr lang="en-US" sz="1100" dirty="0"/>
          </a:p>
        </p:txBody>
      </p:sp>
      <p:sp>
        <p:nvSpPr>
          <p:cNvPr id="74" name="Shape 64"/>
          <p:cNvSpPr/>
          <p:nvPr/>
        </p:nvSpPr>
        <p:spPr>
          <a:xfrm>
            <a:off x="7626096" y="4727448"/>
            <a:ext cx="3236976" cy="566928"/>
          </a:xfrm>
          <a:prstGeom prst="roundRect">
            <a:avLst>
              <a:gd name="adj" fmla="val 6452"/>
            </a:avLst>
          </a:prstGeom>
          <a:solidFill>
            <a:srgbClr val="F2E4EE"/>
          </a:solidFill>
          <a:ln w="12700">
            <a:solidFill>
              <a:srgbClr val="F2E4EE"/>
            </a:solidFill>
            <a:prstDash val="solid"/>
          </a:ln>
        </p:spPr>
      </p:sp>
      <p:sp>
        <p:nvSpPr>
          <p:cNvPr id="75" name="Text 65"/>
          <p:cNvSpPr txBox="1"/>
          <p:nvPr/>
        </p:nvSpPr>
        <p:spPr>
          <a:xfrm>
            <a:off x="7735824"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Graduated by D60</a:t>
            </a:r>
            <a:endParaRPr lang="en-US" sz="1150" dirty="0"/>
          </a:p>
        </p:txBody>
      </p:sp>
      <p:sp>
        <p:nvSpPr>
          <p:cNvPr id="76" name="Text 66"/>
          <p:cNvSpPr txBox="1"/>
          <p:nvPr/>
        </p:nvSpPr>
        <p:spPr>
          <a:xfrm>
            <a:off x="7735824"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40%</a:t>
            </a:r>
            <a:endParaRPr lang="en-US" sz="1100" dirty="0"/>
          </a:p>
        </p:txBody>
      </p:sp>
      <p:sp>
        <p:nvSpPr>
          <p:cNvPr id="77" name="Shape 67"/>
          <p:cNvSpPr/>
          <p:nvPr/>
        </p:nvSpPr>
        <p:spPr>
          <a:xfrm>
            <a:off x="877824" y="5413248"/>
            <a:ext cx="9985248" cy="749808"/>
          </a:xfrm>
          <a:prstGeom prst="roundRect">
            <a:avLst>
              <a:gd name="adj" fmla="val 6098"/>
            </a:avLst>
          </a:prstGeom>
          <a:solidFill>
            <a:srgbClr val="FFF3D8"/>
          </a:solidFill>
          <a:ln w="12700">
            <a:solidFill>
              <a:srgbClr val="FFF3D8"/>
            </a:solidFill>
            <a:prstDash val="solid"/>
          </a:ln>
        </p:spPr>
      </p:sp>
      <p:sp>
        <p:nvSpPr>
          <p:cNvPr id="78" name="Text 68"/>
          <p:cNvSpPr txBox="1"/>
          <p:nvPr/>
        </p:nvSpPr>
        <p:spPr>
          <a:xfrm>
            <a:off x="1014984" y="5468112"/>
            <a:ext cx="9710928" cy="658368"/>
          </a:xfrm>
          <a:prstGeom prst="rect">
            <a:avLst/>
          </a:prstGeom>
          <a:noFill/>
          <a:ln/>
        </p:spPr>
        <p:txBody>
          <a:bodyPr wrap="square" lIns="0" tIns="0" rIns="0" bIns="0" rtlCol="0" anchor="t"/>
          <a:lstStyle/>
          <a:p>
            <a:pPr algn="l" indent="0" marL="0">
              <a:lnSpc>
                <a:spcPct val="100000"/>
              </a:lnSpc>
              <a:buNone/>
            </a:pPr>
            <a:r>
              <a:rPr lang="en-US" sz="1200" b="1" dirty="0">
                <a:solidFill>
                  <a:srgbClr val="D68200"/>
                </a:solidFill>
                <a:latin typeface="Calibri" pitchFamily="34" charset="0"/>
                <a:ea typeface="Calibri" pitchFamily="34" charset="-122"/>
                <a:cs typeface="Calibri" pitchFamily="34" charset="-120"/>
              </a:rPr>
              <a:t>GUARDRAILS (programme level)</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Category NMV ≥ pre-period · badged ≤ 20% of category impressions · quality returns ≤ 1.5× norm · escalations ≤ 5 per 100 sellers a month</a:t>
            </a:r>
            <a:endParaRPr lang="en-US" sz="1200" dirty="0"/>
          </a:p>
        </p:txBody>
      </p:sp>
      <p:sp>
        <p:nvSpPr>
          <p:cNvPr id="79" name="Shape 69"/>
          <p:cNvSpPr/>
          <p:nvPr/>
        </p:nvSpPr>
        <p:spPr>
          <a:xfrm>
            <a:off x="11119104" y="1426464"/>
            <a:ext cx="6940296" cy="4892040"/>
          </a:xfrm>
          <a:prstGeom prst="rect">
            <a:avLst/>
          </a:prstGeom>
          <a:solidFill>
            <a:srgbClr val="FFFFFF"/>
          </a:solidFill>
          <a:ln w="9525">
            <a:solidFill>
              <a:srgbClr val="E0CEDA"/>
            </a:solidFill>
            <a:prstDash val="solid"/>
          </a:ln>
        </p:spPr>
      </p:sp>
      <p:sp>
        <p:nvSpPr>
          <p:cNvPr id="80" name="Shape 70"/>
          <p:cNvSpPr/>
          <p:nvPr/>
        </p:nvSpPr>
        <p:spPr>
          <a:xfrm>
            <a:off x="11119104" y="1426464"/>
            <a:ext cx="6940296" cy="329184"/>
          </a:xfrm>
          <a:prstGeom prst="rect">
            <a:avLst/>
          </a:prstGeom>
          <a:solidFill>
            <a:srgbClr val="560547"/>
          </a:solidFill>
          <a:ln w="12700">
            <a:solidFill>
              <a:srgbClr val="560547"/>
            </a:solidFill>
            <a:prstDash val="solid"/>
          </a:ln>
        </p:spPr>
      </p:sp>
      <p:pic>
        <p:nvPicPr>
          <p:cNvPr id="81" name="Image 7" descr="/private/tmp/claude-501/-Users-prathmeshwalimbe-Downloads-Meesho/dfec39d5-f971-4a3a-8cfb-761f4ef1fedb/scratchpad/deck/assets/icons/FaGaugeHigh_w.png">    </p:cNvPr>
          <p:cNvPicPr>
            <a:picLocks noChangeAspect="1"/>
          </p:cNvPicPr>
          <p:nvPr/>
        </p:nvPicPr>
        <p:blipFill>
          <a:blip r:embed="rId8"/>
          <a:stretch>
            <a:fillRect/>
          </a:stretch>
        </p:blipFill>
        <p:spPr>
          <a:xfrm>
            <a:off x="11228832" y="1490472"/>
            <a:ext cx="201168" cy="201168"/>
          </a:xfrm>
          <a:prstGeom prst="rect">
            <a:avLst/>
          </a:prstGeom>
        </p:spPr>
      </p:pic>
      <p:sp>
        <p:nvSpPr>
          <p:cNvPr id="82" name="Text 71"/>
          <p:cNvSpPr txBox="1"/>
          <p:nvPr/>
        </p:nvSpPr>
        <p:spPr>
          <a:xfrm>
            <a:off x="11503152" y="1426464"/>
            <a:ext cx="642823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C2M SELLER HEALTH SCORE · 0–100, DAILY</a:t>
            </a:r>
            <a:endParaRPr lang="en-US" sz="1250" dirty="0"/>
          </a:p>
        </p:txBody>
      </p:sp>
      <p:sp>
        <p:nvSpPr>
          <p:cNvPr id="83" name="Shape 72"/>
          <p:cNvSpPr/>
          <p:nvPr/>
        </p:nvSpPr>
        <p:spPr>
          <a:xfrm>
            <a:off x="11247120" y="1847088"/>
            <a:ext cx="1977847" cy="566928"/>
          </a:xfrm>
          <a:prstGeom prst="rect">
            <a:avLst/>
          </a:prstGeom>
          <a:solidFill>
            <a:srgbClr val="560547"/>
          </a:solidFill>
          <a:ln w="12700">
            <a:solidFill>
              <a:srgbClr val="560547"/>
            </a:solidFill>
            <a:prstDash val="solid"/>
          </a:ln>
        </p:spPr>
      </p:sp>
      <p:sp>
        <p:nvSpPr>
          <p:cNvPr id="84" name="Text 73"/>
          <p:cNvSpPr txBox="1"/>
          <p:nvPr/>
        </p:nvSpPr>
        <p:spPr>
          <a:xfrm>
            <a:off x="11247120" y="1847088"/>
            <a:ext cx="1977847"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85" name="Shape 74"/>
          <p:cNvSpPr/>
          <p:nvPr/>
        </p:nvSpPr>
        <p:spPr>
          <a:xfrm>
            <a:off x="13252399" y="1847088"/>
            <a:ext cx="1643634" cy="566928"/>
          </a:xfrm>
          <a:prstGeom prst="rect">
            <a:avLst/>
          </a:prstGeom>
          <a:solidFill>
            <a:srgbClr val="6E1251"/>
          </a:solidFill>
          <a:ln w="12700">
            <a:solidFill>
              <a:srgbClr val="6E1251"/>
            </a:solidFill>
            <a:prstDash val="solid"/>
          </a:ln>
        </p:spPr>
      </p:sp>
      <p:sp>
        <p:nvSpPr>
          <p:cNvPr id="86" name="Text 75"/>
          <p:cNvSpPr txBox="1"/>
          <p:nvPr/>
        </p:nvSpPr>
        <p:spPr>
          <a:xfrm>
            <a:off x="13252399" y="1847088"/>
            <a:ext cx="1643634"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87" name="Shape 76"/>
          <p:cNvSpPr/>
          <p:nvPr/>
        </p:nvSpPr>
        <p:spPr>
          <a:xfrm>
            <a:off x="14923465" y="1847088"/>
            <a:ext cx="1309421" cy="566928"/>
          </a:xfrm>
          <a:prstGeom prst="rect">
            <a:avLst/>
          </a:prstGeom>
          <a:solidFill>
            <a:srgbClr val="8A245E"/>
          </a:solidFill>
          <a:ln w="12700">
            <a:solidFill>
              <a:srgbClr val="8A245E"/>
            </a:solidFill>
            <a:prstDash val="solid"/>
          </a:ln>
        </p:spPr>
      </p:sp>
      <p:sp>
        <p:nvSpPr>
          <p:cNvPr id="88" name="Text 77"/>
          <p:cNvSpPr txBox="1"/>
          <p:nvPr/>
        </p:nvSpPr>
        <p:spPr>
          <a:xfrm>
            <a:off x="14923465" y="1847088"/>
            <a:ext cx="1309421"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20%</a:t>
            </a:r>
            <a:endParaRPr lang="en-US" sz="1400" dirty="0"/>
          </a:p>
        </p:txBody>
      </p:sp>
      <p:sp>
        <p:nvSpPr>
          <p:cNvPr id="89" name="Shape 78"/>
          <p:cNvSpPr/>
          <p:nvPr/>
        </p:nvSpPr>
        <p:spPr>
          <a:xfrm>
            <a:off x="16260318" y="1847088"/>
            <a:ext cx="975208" cy="566928"/>
          </a:xfrm>
          <a:prstGeom prst="rect">
            <a:avLst/>
          </a:prstGeom>
          <a:solidFill>
            <a:srgbClr val="A8527F"/>
          </a:solidFill>
          <a:ln w="12700">
            <a:solidFill>
              <a:srgbClr val="A8527F"/>
            </a:solidFill>
            <a:prstDash val="solid"/>
          </a:ln>
        </p:spPr>
      </p:sp>
      <p:sp>
        <p:nvSpPr>
          <p:cNvPr id="90" name="Text 79"/>
          <p:cNvSpPr txBox="1"/>
          <p:nvPr/>
        </p:nvSpPr>
        <p:spPr>
          <a:xfrm>
            <a:off x="16260318" y="1847088"/>
            <a:ext cx="975208"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91" name="Shape 80"/>
          <p:cNvSpPr/>
          <p:nvPr/>
        </p:nvSpPr>
        <p:spPr>
          <a:xfrm>
            <a:off x="17262958" y="1847088"/>
            <a:ext cx="640994" cy="566928"/>
          </a:xfrm>
          <a:prstGeom prst="rect">
            <a:avLst/>
          </a:prstGeom>
          <a:solidFill>
            <a:srgbClr val="C58AA9"/>
          </a:solidFill>
          <a:ln w="12700">
            <a:solidFill>
              <a:srgbClr val="C58AA9"/>
            </a:solidFill>
            <a:prstDash val="solid"/>
          </a:ln>
        </p:spPr>
      </p:sp>
      <p:sp>
        <p:nvSpPr>
          <p:cNvPr id="92" name="Text 81"/>
          <p:cNvSpPr txBox="1"/>
          <p:nvPr/>
        </p:nvSpPr>
        <p:spPr>
          <a:xfrm>
            <a:off x="17262958" y="1847088"/>
            <a:ext cx="640994"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93" name="Shape 82"/>
          <p:cNvSpPr/>
          <p:nvPr/>
        </p:nvSpPr>
        <p:spPr>
          <a:xfrm>
            <a:off x="11247120" y="2633472"/>
            <a:ext cx="182880" cy="182880"/>
          </a:xfrm>
          <a:prstGeom prst="rect">
            <a:avLst/>
          </a:prstGeom>
          <a:solidFill>
            <a:srgbClr val="560547"/>
          </a:solidFill>
          <a:ln w="12700">
            <a:solidFill>
              <a:srgbClr val="560547"/>
            </a:solidFill>
            <a:prstDash val="solid"/>
          </a:ln>
        </p:spPr>
      </p:sp>
      <p:sp>
        <p:nvSpPr>
          <p:cNvPr id="94" name="Text 83"/>
          <p:cNvSpPr txBox="1"/>
          <p:nvPr/>
        </p:nvSpPr>
        <p:spPr>
          <a:xfrm>
            <a:off x="11521440" y="2560320"/>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Price gap held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today’s gap ÷ gap at onboarding</a:t>
            </a:r>
            <a:endParaRPr lang="en-US" sz="1100" dirty="0"/>
          </a:p>
        </p:txBody>
      </p:sp>
      <p:sp>
        <p:nvSpPr>
          <p:cNvPr id="95" name="Shape 84"/>
          <p:cNvSpPr/>
          <p:nvPr/>
        </p:nvSpPr>
        <p:spPr>
          <a:xfrm>
            <a:off x="11247120" y="3108960"/>
            <a:ext cx="182880" cy="182880"/>
          </a:xfrm>
          <a:prstGeom prst="rect">
            <a:avLst/>
          </a:prstGeom>
          <a:solidFill>
            <a:srgbClr val="6E1251"/>
          </a:solidFill>
          <a:ln w="12700">
            <a:solidFill>
              <a:srgbClr val="6E1251"/>
            </a:solidFill>
            <a:prstDash val="solid"/>
          </a:ln>
        </p:spPr>
      </p:sp>
      <p:sp>
        <p:nvSpPr>
          <p:cNvPr id="96" name="Text 85"/>
          <p:cNvSpPr txBox="1"/>
          <p:nvPr/>
        </p:nvSpPr>
        <p:spPr>
          <a:xfrm>
            <a:off x="11521440" y="3035808"/>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Order pace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14-day orders ÷ cohort median (0.3 → 0, 1.0 → 100)</a:t>
            </a:r>
            <a:endParaRPr lang="en-US" sz="1100" dirty="0"/>
          </a:p>
        </p:txBody>
      </p:sp>
      <p:sp>
        <p:nvSpPr>
          <p:cNvPr id="97" name="Shape 86"/>
          <p:cNvSpPr/>
          <p:nvPr/>
        </p:nvSpPr>
        <p:spPr>
          <a:xfrm>
            <a:off x="11247120" y="3584448"/>
            <a:ext cx="182880" cy="182880"/>
          </a:xfrm>
          <a:prstGeom prst="rect">
            <a:avLst/>
          </a:prstGeom>
          <a:solidFill>
            <a:srgbClr val="8A245E"/>
          </a:solidFill>
          <a:ln w="12700">
            <a:solidFill>
              <a:srgbClr val="8A245E"/>
            </a:solidFill>
            <a:prstDash val="solid"/>
          </a:ln>
        </p:spPr>
      </p:sp>
      <p:sp>
        <p:nvSpPr>
          <p:cNvPr id="98" name="Text 87"/>
          <p:cNvSpPr txBox="1"/>
          <p:nvPr/>
        </p:nvSpPr>
        <p:spPr>
          <a:xfrm>
            <a:off x="11521440" y="3511296"/>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Quality returns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 1× category norm = 100, 2× = 0</a:t>
            </a:r>
            <a:endParaRPr lang="en-US" sz="1100" dirty="0"/>
          </a:p>
        </p:txBody>
      </p:sp>
      <p:sp>
        <p:nvSpPr>
          <p:cNvPr id="99" name="Shape 88"/>
          <p:cNvSpPr/>
          <p:nvPr/>
        </p:nvSpPr>
        <p:spPr>
          <a:xfrm>
            <a:off x="11247120" y="4059936"/>
            <a:ext cx="182880" cy="182880"/>
          </a:xfrm>
          <a:prstGeom prst="rect">
            <a:avLst/>
          </a:prstGeom>
          <a:solidFill>
            <a:srgbClr val="A8527F"/>
          </a:solidFill>
          <a:ln w="12700">
            <a:solidFill>
              <a:srgbClr val="A8527F"/>
            </a:solidFill>
            <a:prstDash val="solid"/>
          </a:ln>
        </p:spPr>
      </p:sp>
      <p:sp>
        <p:nvSpPr>
          <p:cNvPr id="100" name="Text 89"/>
          <p:cNvSpPr txBox="1"/>
          <p:nvPr/>
        </p:nvSpPr>
        <p:spPr>
          <a:xfrm>
            <a:off x="11521440" y="3986784"/>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On-time dispatch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7-day SLA: 80% → 0, 97% → 100</a:t>
            </a:r>
            <a:endParaRPr lang="en-US" sz="1100" dirty="0"/>
          </a:p>
        </p:txBody>
      </p:sp>
      <p:sp>
        <p:nvSpPr>
          <p:cNvPr id="101" name="Shape 90"/>
          <p:cNvSpPr/>
          <p:nvPr/>
        </p:nvSpPr>
        <p:spPr>
          <a:xfrm>
            <a:off x="11247120" y="4535424"/>
            <a:ext cx="182880" cy="182880"/>
          </a:xfrm>
          <a:prstGeom prst="rect">
            <a:avLst/>
          </a:prstGeom>
          <a:solidFill>
            <a:srgbClr val="C58AA9"/>
          </a:solidFill>
          <a:ln w="12700">
            <a:solidFill>
              <a:srgbClr val="C58AA9"/>
            </a:solidFill>
            <a:prstDash val="solid"/>
          </a:ln>
        </p:spPr>
      </p:sp>
      <p:sp>
        <p:nvSpPr>
          <p:cNvPr id="102" name="Text 91"/>
          <p:cNvSpPr txBox="1"/>
          <p:nvPr/>
        </p:nvSpPr>
        <p:spPr>
          <a:xfrm>
            <a:off x="11521440" y="4462272"/>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In-stock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live SKUs in stock: 50% → 0, 95% → 100</a:t>
            </a:r>
            <a:endParaRPr lang="en-US" sz="1100" dirty="0"/>
          </a:p>
        </p:txBody>
      </p:sp>
      <p:sp>
        <p:nvSpPr>
          <p:cNvPr id="103" name="Shape 92"/>
          <p:cNvSpPr/>
          <p:nvPr/>
        </p:nvSpPr>
        <p:spPr>
          <a:xfrm>
            <a:off x="11247120" y="5047488"/>
            <a:ext cx="3296412" cy="868680"/>
          </a:xfrm>
          <a:prstGeom prst="roundRect">
            <a:avLst>
              <a:gd name="adj" fmla="val 5263"/>
            </a:avLst>
          </a:prstGeom>
          <a:solidFill>
            <a:srgbClr val="E2F2E9"/>
          </a:solidFill>
          <a:ln w="12700">
            <a:solidFill>
              <a:srgbClr val="E2F2E9"/>
            </a:solidFill>
            <a:prstDash val="solid"/>
          </a:ln>
        </p:spPr>
      </p:sp>
      <p:sp>
        <p:nvSpPr>
          <p:cNvPr id="104" name="Text 93"/>
          <p:cNvSpPr txBox="1"/>
          <p:nvPr/>
        </p:nvSpPr>
        <p:spPr>
          <a:xfrm>
            <a:off x="11356848" y="5120640"/>
            <a:ext cx="3067812" cy="731520"/>
          </a:xfrm>
          <a:prstGeom prst="rect">
            <a:avLst/>
          </a:prstGeom>
          <a:noFill/>
          <a:ln/>
        </p:spPr>
        <p:txBody>
          <a:bodyPr wrap="square" lIns="0" tIns="0" rIns="0" bIns="0" rtlCol="0" anchor="t"/>
          <a:lstStyle/>
          <a:p>
            <a:pPr algn="l" indent="0" marL="0">
              <a:lnSpc>
                <a:spcPct val="100000"/>
              </a:lnSpc>
              <a:buNone/>
            </a:pPr>
            <a:r>
              <a:rPr lang="en-US" sz="1200" b="1" dirty="0">
                <a:solidFill>
                  <a:srgbClr val="1E8E5A"/>
                </a:solidFill>
                <a:latin typeface="Calibri" pitchFamily="34" charset="0"/>
                <a:ea typeface="Calibri" pitchFamily="34" charset="-122"/>
                <a:cs typeface="Calibri" pitchFamily="34" charset="-120"/>
              </a:rPr>
              <a:t>≥ 80 for 30 days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Graduate: prepayment unlocked</a:t>
            </a:r>
            <a:endParaRPr lang="en-US" sz="1200" dirty="0"/>
          </a:p>
        </p:txBody>
      </p:sp>
      <p:sp>
        <p:nvSpPr>
          <p:cNvPr id="105" name="Shape 94"/>
          <p:cNvSpPr/>
          <p:nvPr/>
        </p:nvSpPr>
        <p:spPr>
          <a:xfrm>
            <a:off x="14634972" y="5047488"/>
            <a:ext cx="3296412" cy="868680"/>
          </a:xfrm>
          <a:prstGeom prst="roundRect">
            <a:avLst>
              <a:gd name="adj" fmla="val 5263"/>
            </a:avLst>
          </a:prstGeom>
          <a:solidFill>
            <a:srgbClr val="F8E0DC"/>
          </a:solidFill>
          <a:ln w="12700">
            <a:solidFill>
              <a:srgbClr val="F8E0DC"/>
            </a:solidFill>
            <a:prstDash val="solid"/>
          </a:ln>
        </p:spPr>
      </p:sp>
      <p:sp>
        <p:nvSpPr>
          <p:cNvPr id="106" name="Text 95"/>
          <p:cNvSpPr txBox="1"/>
          <p:nvPr/>
        </p:nvSpPr>
        <p:spPr>
          <a:xfrm>
            <a:off x="14744700" y="5120640"/>
            <a:ext cx="3067812" cy="731520"/>
          </a:xfrm>
          <a:prstGeom prst="rect">
            <a:avLst/>
          </a:prstGeom>
          <a:noFill/>
          <a:ln/>
        </p:spPr>
        <p:txBody>
          <a:bodyPr wrap="square" lIns="0" tIns="0" rIns="0" bIns="0" rtlCol="0" anchor="t"/>
          <a:lstStyle/>
          <a:p>
            <a:pPr algn="l" indent="0" marL="0">
              <a:lnSpc>
                <a:spcPct val="100000"/>
              </a:lnSpc>
              <a:buNone/>
            </a:pPr>
            <a:r>
              <a:rPr lang="en-US" sz="1200" b="1" dirty="0">
                <a:solidFill>
                  <a:srgbClr val="C0392B"/>
                </a:solidFill>
                <a:latin typeface="Calibri" pitchFamily="34" charset="0"/>
                <a:ea typeface="Calibri" pitchFamily="34" charset="-122"/>
                <a:cs typeface="Calibri" pitchFamily="34" charset="-120"/>
              </a:rPr>
              <a:t>&lt; 40 for 7 days after a fix</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Escalate to a category manager</a:t>
            </a:r>
            <a:endParaRPr lang="en-US" sz="1200" dirty="0"/>
          </a:p>
        </p:txBody>
      </p:sp>
      <p:sp>
        <p:nvSpPr>
          <p:cNvPr id="107" name="Shape 96"/>
          <p:cNvSpPr/>
          <p:nvPr/>
        </p:nvSpPr>
        <p:spPr>
          <a:xfrm>
            <a:off x="749808" y="6446520"/>
            <a:ext cx="11338560" cy="2569464"/>
          </a:xfrm>
          <a:prstGeom prst="rect">
            <a:avLst/>
          </a:prstGeom>
          <a:solidFill>
            <a:srgbClr val="FFFFFF"/>
          </a:solidFill>
          <a:ln w="9525">
            <a:solidFill>
              <a:srgbClr val="E0CEDA"/>
            </a:solidFill>
            <a:prstDash val="solid"/>
          </a:ln>
        </p:spPr>
      </p:sp>
      <p:sp>
        <p:nvSpPr>
          <p:cNvPr id="108" name="Shape 97"/>
          <p:cNvSpPr/>
          <p:nvPr/>
        </p:nvSpPr>
        <p:spPr>
          <a:xfrm>
            <a:off x="749808" y="6446520"/>
            <a:ext cx="11338560" cy="329184"/>
          </a:xfrm>
          <a:prstGeom prst="rect">
            <a:avLst/>
          </a:prstGeom>
          <a:solidFill>
            <a:srgbClr val="8A245E"/>
          </a:solidFill>
          <a:ln w="12700">
            <a:solidFill>
              <a:srgbClr val="8A245E"/>
            </a:solidFill>
            <a:prstDash val="solid"/>
          </a:ln>
        </p:spPr>
      </p:sp>
      <p:pic>
        <p:nvPicPr>
          <p:cNvPr id="109" name="Image 8" descr="/private/tmp/claude-501/-Users-prathmeshwalimbe-Downloads-Meesho/dfec39d5-f971-4a3a-8cfb-761f4ef1fedb/scratchpad/deck/assets/icons/FaRobot_w.png">    </p:cNvPr>
          <p:cNvPicPr>
            <a:picLocks noChangeAspect="1"/>
          </p:cNvPicPr>
          <p:nvPr/>
        </p:nvPicPr>
        <p:blipFill>
          <a:blip r:embed="rId9"/>
          <a:stretch>
            <a:fillRect/>
          </a:stretch>
        </p:blipFill>
        <p:spPr>
          <a:xfrm>
            <a:off x="859536" y="6510528"/>
            <a:ext cx="201168" cy="201168"/>
          </a:xfrm>
          <a:prstGeom prst="rect">
            <a:avLst/>
          </a:prstGeom>
        </p:spPr>
      </p:pic>
      <p:sp>
        <p:nvSpPr>
          <p:cNvPr id="110" name="Text 98"/>
          <p:cNvSpPr txBox="1"/>
          <p:nvPr/>
        </p:nvSpPr>
        <p:spPr>
          <a:xfrm>
            <a:off x="1133856" y="6446520"/>
            <a:ext cx="108264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WHEN TO INTERVENE · THE RULEBOOK (9 AUTOMATIC, 1 HUMAN)</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77824" y="6867144"/>
          <a:ext cx="5495544" cy="914400"/>
        </p:xfrm>
        <a:graphic>
          <a:graphicData uri="http://schemas.openxmlformats.org/drawingml/2006/table">
            <a:tbl>
              <a:tblPr/>
              <a:tblGrid>
                <a:gridCol w="3017520"/>
                <a:gridCol w="2478024"/>
              </a:tblGrid>
              <a:tr h="39319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Signal and threshold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Orders &lt; 60% of cohort median at D7 / D14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Impression grant (+25K, 7 days, max 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gap &lt; 8% for 7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Price-drift nudge with market median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gap &lt; 4% for 3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Badge removed; re-entry after 7 days ≥ 8%</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Quality returns &gt; 1.5× norm (≥ 30 deliveries)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Badge suspended + QC checklist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64808" y="6867144"/>
          <a:ext cx="5495544" cy="914400"/>
        </p:xfrm>
        <a:graphic>
          <a:graphicData uri="http://schemas.openxmlformats.org/drawingml/2006/table">
            <a:tbl>
              <a:tblPr/>
              <a:tblGrid>
                <a:gridCol w="3017520"/>
                <a:gridCol w="2478024"/>
              </a:tblGrid>
              <a:tr h="39319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Signal and threshold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On-time dispatch &lt; 90% over 7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Offer Factory Node operations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In-stock &lt; 70% for 3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Restock nudge sized by the Demand Brief</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Score ≥ 80 for 30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Graduate: batch prepayment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Score &lt; 40 for 7 days after a fix</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Human: category manager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13" name="Shape 99"/>
          <p:cNvSpPr/>
          <p:nvPr/>
        </p:nvSpPr>
        <p:spPr>
          <a:xfrm>
            <a:off x="12216384" y="6446520"/>
            <a:ext cx="5843016" cy="2569464"/>
          </a:xfrm>
          <a:prstGeom prst="rect">
            <a:avLst/>
          </a:prstGeom>
          <a:solidFill>
            <a:srgbClr val="FFFFFF"/>
          </a:solidFill>
          <a:ln w="9525">
            <a:solidFill>
              <a:srgbClr val="E0CEDA"/>
            </a:solidFill>
            <a:prstDash val="solid"/>
          </a:ln>
        </p:spPr>
      </p:sp>
      <p:sp>
        <p:nvSpPr>
          <p:cNvPr id="114" name="Shape 100"/>
          <p:cNvSpPr/>
          <p:nvPr/>
        </p:nvSpPr>
        <p:spPr>
          <a:xfrm>
            <a:off x="12216384" y="6446520"/>
            <a:ext cx="5843016" cy="329184"/>
          </a:xfrm>
          <a:prstGeom prst="rect">
            <a:avLst/>
          </a:prstGeom>
          <a:solidFill>
            <a:srgbClr val="8A245E"/>
          </a:solidFill>
          <a:ln w="12700">
            <a:solidFill>
              <a:srgbClr val="8A245E"/>
            </a:solidFill>
            <a:prstDash val="solid"/>
          </a:ln>
        </p:spPr>
      </p:sp>
      <p:pic>
        <p:nvPicPr>
          <p:cNvPr id="115" name="Image 9" descr="/private/tmp/claude-501/-Users-prathmeshwalimbe-Downloads-Meesho/dfec39d5-f971-4a3a-8cfb-761f4ef1fedb/scratchpad/deck/assets/icons/FaGaugeHigh_w.png">    </p:cNvPr>
          <p:cNvPicPr>
            <a:picLocks noChangeAspect="1"/>
          </p:cNvPicPr>
          <p:nvPr/>
        </p:nvPicPr>
        <p:blipFill>
          <a:blip r:embed="rId10"/>
          <a:stretch>
            <a:fillRect/>
          </a:stretch>
        </p:blipFill>
        <p:spPr>
          <a:xfrm>
            <a:off x="12326112" y="6510528"/>
            <a:ext cx="201168" cy="201168"/>
          </a:xfrm>
          <a:prstGeom prst="rect">
            <a:avLst/>
          </a:prstGeom>
        </p:spPr>
      </p:pic>
      <p:sp>
        <p:nvSpPr>
          <p:cNvPr id="116" name="Text 101"/>
          <p:cNvSpPr txBox="1"/>
          <p:nvPr/>
        </p:nvSpPr>
        <p:spPr>
          <a:xfrm>
            <a:off x="12600432" y="6446520"/>
            <a:ext cx="533095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LIVE IN THE PROTOTYPE · 60 PILOT SELLERS TODAY</a:t>
            </a:r>
            <a:endParaRPr lang="en-US" sz="1250" dirty="0"/>
          </a:p>
        </p:txBody>
      </p:sp>
      <p:sp>
        <p:nvSpPr>
          <p:cNvPr id="117" name="Shape 102"/>
          <p:cNvSpPr/>
          <p:nvPr/>
        </p:nvSpPr>
        <p:spPr>
          <a:xfrm>
            <a:off x="12344400" y="7141464"/>
            <a:ext cx="531266" cy="502920"/>
          </a:xfrm>
          <a:prstGeom prst="rect">
            <a:avLst/>
          </a:prstGeom>
          <a:solidFill>
            <a:srgbClr val="B886A6"/>
          </a:solidFill>
          <a:ln w="12700">
            <a:solidFill>
              <a:srgbClr val="B886A6"/>
            </a:solidFill>
            <a:prstDash val="solid"/>
          </a:ln>
        </p:spPr>
      </p:sp>
      <p:sp>
        <p:nvSpPr>
          <p:cNvPr id="118" name="Text 103"/>
          <p:cNvSpPr txBox="1"/>
          <p:nvPr/>
        </p:nvSpPr>
        <p:spPr>
          <a:xfrm>
            <a:off x="12344400" y="7141464"/>
            <a:ext cx="531266"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19" name="Text 104"/>
          <p:cNvSpPr txBox="1"/>
          <p:nvPr/>
        </p:nvSpPr>
        <p:spPr>
          <a:xfrm>
            <a:off x="12344400" y="6867144"/>
            <a:ext cx="558698"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Allocate</a:t>
            </a:r>
            <a:endParaRPr lang="en-US" sz="1050" dirty="0"/>
          </a:p>
        </p:txBody>
      </p:sp>
      <p:sp>
        <p:nvSpPr>
          <p:cNvPr id="120" name="Shape 105"/>
          <p:cNvSpPr/>
          <p:nvPr/>
        </p:nvSpPr>
        <p:spPr>
          <a:xfrm>
            <a:off x="12903098" y="7141464"/>
            <a:ext cx="1555547" cy="502920"/>
          </a:xfrm>
          <a:prstGeom prst="rect">
            <a:avLst/>
          </a:prstGeom>
          <a:solidFill>
            <a:srgbClr val="8A245E"/>
          </a:solidFill>
          <a:ln w="12700">
            <a:solidFill>
              <a:srgbClr val="8A245E"/>
            </a:solidFill>
            <a:prstDash val="solid"/>
          </a:ln>
        </p:spPr>
      </p:sp>
      <p:sp>
        <p:nvSpPr>
          <p:cNvPr id="121" name="Text 106"/>
          <p:cNvSpPr txBox="1"/>
          <p:nvPr/>
        </p:nvSpPr>
        <p:spPr>
          <a:xfrm>
            <a:off x="12903098" y="7141464"/>
            <a:ext cx="1555547"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17</a:t>
            </a:r>
            <a:endParaRPr lang="en-US" sz="1400" dirty="0"/>
          </a:p>
        </p:txBody>
      </p:sp>
      <p:sp>
        <p:nvSpPr>
          <p:cNvPr id="122" name="Text 107"/>
          <p:cNvSpPr txBox="1"/>
          <p:nvPr/>
        </p:nvSpPr>
        <p:spPr>
          <a:xfrm>
            <a:off x="12903098" y="6867144"/>
            <a:ext cx="1582979"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Diagnose</a:t>
            </a:r>
            <a:endParaRPr lang="en-US" sz="1050" dirty="0"/>
          </a:p>
        </p:txBody>
      </p:sp>
      <p:sp>
        <p:nvSpPr>
          <p:cNvPr id="123" name="Shape 108"/>
          <p:cNvSpPr/>
          <p:nvPr/>
        </p:nvSpPr>
        <p:spPr>
          <a:xfrm>
            <a:off x="14486077" y="7141464"/>
            <a:ext cx="1089965" cy="502920"/>
          </a:xfrm>
          <a:prstGeom prst="rect">
            <a:avLst/>
          </a:prstGeom>
          <a:solidFill>
            <a:srgbClr val="D68200"/>
          </a:solidFill>
          <a:ln w="12700">
            <a:solidFill>
              <a:srgbClr val="D68200"/>
            </a:solidFill>
            <a:prstDash val="solid"/>
          </a:ln>
        </p:spPr>
      </p:sp>
      <p:sp>
        <p:nvSpPr>
          <p:cNvPr id="124" name="Text 109"/>
          <p:cNvSpPr txBox="1"/>
          <p:nvPr/>
        </p:nvSpPr>
        <p:spPr>
          <a:xfrm>
            <a:off x="14486077" y="7141464"/>
            <a:ext cx="1089965"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125" name="Text 110"/>
          <p:cNvSpPr txBox="1"/>
          <p:nvPr/>
        </p:nvSpPr>
        <p:spPr>
          <a:xfrm>
            <a:off x="14486077" y="6867144"/>
            <a:ext cx="1117397"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Remedy</a:t>
            </a:r>
            <a:endParaRPr lang="en-US" sz="1050" dirty="0"/>
          </a:p>
        </p:txBody>
      </p:sp>
      <p:sp>
        <p:nvSpPr>
          <p:cNvPr id="126" name="Shape 111"/>
          <p:cNvSpPr/>
          <p:nvPr/>
        </p:nvSpPr>
        <p:spPr>
          <a:xfrm>
            <a:off x="15603474" y="7141464"/>
            <a:ext cx="2300478" cy="502920"/>
          </a:xfrm>
          <a:prstGeom prst="rect">
            <a:avLst/>
          </a:prstGeom>
          <a:solidFill>
            <a:srgbClr val="1E8E5A"/>
          </a:solidFill>
          <a:ln w="12700">
            <a:solidFill>
              <a:srgbClr val="1E8E5A"/>
            </a:solidFill>
            <a:prstDash val="solid"/>
          </a:ln>
        </p:spPr>
      </p:sp>
      <p:sp>
        <p:nvSpPr>
          <p:cNvPr id="127" name="Text 112"/>
          <p:cNvSpPr txBox="1"/>
          <p:nvPr/>
        </p:nvSpPr>
        <p:spPr>
          <a:xfrm>
            <a:off x="15603474" y="7141464"/>
            <a:ext cx="2300478"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128" name="Text 113"/>
          <p:cNvSpPr txBox="1"/>
          <p:nvPr/>
        </p:nvSpPr>
        <p:spPr>
          <a:xfrm>
            <a:off x="15603474" y="6867144"/>
            <a:ext cx="2327910"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Graduate</a:t>
            </a:r>
            <a:endParaRPr lang="en-US" sz="1050" dirty="0"/>
          </a:p>
        </p:txBody>
      </p:sp>
      <p:sp>
        <p:nvSpPr>
          <p:cNvPr id="129" name="Text 114"/>
          <p:cNvSpPr txBox="1"/>
          <p:nvPr/>
        </p:nvSpPr>
        <p:spPr>
          <a:xfrm>
            <a:off x="12344400" y="7781544"/>
            <a:ext cx="5586984" cy="86868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Average score 90 ·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90 automated actions and 3 escalations so far. Remedy (amber) means an automatic fix is running; 3 of those sellers are with a person.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560547"/>
          </a:solidFill>
          <a:ln w="9525">
            <a:solidFill>
              <a:srgbClr val="560547"/>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WHEN AND HOW MUCH</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Q7 · 30-60-90 roadmap · What happens in the first 90 days, which numbers release the money, and what does it cost?</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Round 1 RICE costing and NPV model (12% discount rate); prototype Day-30 readout (synthetic). MSME-TEAM: Ministry of MSME / ONDC, ₹277 cr over three years (Inc42); eligibility for Meesho to be confirmed.</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Spend nothing until the price gap is proven: ₹0 capex to Day 30, ₹12 cr by Day 90 only if the Day-30 gate says fund, and ₹22 cr in Year 1 for a programme the Round 1 model values at NPV +₹156 cr.</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17309592" cy="3749040"/>
          </a:xfrm>
          <a:prstGeom prst="rect">
            <a:avLst/>
          </a:prstGeom>
          <a:solidFill>
            <a:srgbClr val="FFFFFF"/>
          </a:solidFill>
          <a:ln w="9525">
            <a:solidFill>
              <a:srgbClr val="E0CEDA"/>
            </a:solidFill>
            <a:prstDash val="solid"/>
          </a:ln>
        </p:spPr>
      </p:sp>
      <p:sp>
        <p:nvSpPr>
          <p:cNvPr id="33" name="Shape 27"/>
          <p:cNvSpPr/>
          <p:nvPr/>
        </p:nvSpPr>
        <p:spPr>
          <a:xfrm>
            <a:off x="749808" y="1426464"/>
            <a:ext cx="17309592"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FlagCheckered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1679752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30-60-90 PILOT, THEN SCALE · WORKSTREAMS, OWNERS AND GATES</a:t>
            </a:r>
            <a:endParaRPr lang="en-US" sz="1250" dirty="0"/>
          </a:p>
        </p:txBody>
      </p:sp>
      <p:sp>
        <p:nvSpPr>
          <p:cNvPr id="36" name="Shape 29"/>
          <p:cNvSpPr/>
          <p:nvPr/>
        </p:nvSpPr>
        <p:spPr>
          <a:xfrm>
            <a:off x="6656832" y="1847088"/>
            <a:ext cx="2786634" cy="310896"/>
          </a:xfrm>
          <a:prstGeom prst="roundRect">
            <a:avLst>
              <a:gd name="adj" fmla="val 11765"/>
            </a:avLst>
          </a:prstGeom>
          <a:solidFill>
            <a:srgbClr val="560547"/>
          </a:solidFill>
          <a:ln w="12700">
            <a:solidFill>
              <a:srgbClr val="560547"/>
            </a:solidFill>
            <a:prstDash val="solid"/>
          </a:ln>
        </p:spPr>
      </p:sp>
      <p:sp>
        <p:nvSpPr>
          <p:cNvPr id="37" name="Text 30"/>
          <p:cNvSpPr txBox="1"/>
          <p:nvPr/>
        </p:nvSpPr>
        <p:spPr>
          <a:xfrm>
            <a:off x="6638544" y="1847088"/>
            <a:ext cx="282321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0–30</a:t>
            </a:r>
            <a:endParaRPr lang="en-US" sz="1100" dirty="0"/>
          </a:p>
        </p:txBody>
      </p:sp>
      <p:sp>
        <p:nvSpPr>
          <p:cNvPr id="38" name="Shape 31"/>
          <p:cNvSpPr/>
          <p:nvPr/>
        </p:nvSpPr>
        <p:spPr>
          <a:xfrm>
            <a:off x="9480042" y="1847088"/>
            <a:ext cx="2786634" cy="310896"/>
          </a:xfrm>
          <a:prstGeom prst="roundRect">
            <a:avLst>
              <a:gd name="adj" fmla="val 11765"/>
            </a:avLst>
          </a:prstGeom>
          <a:solidFill>
            <a:srgbClr val="8A245E"/>
          </a:solidFill>
          <a:ln w="12700">
            <a:solidFill>
              <a:srgbClr val="8A245E"/>
            </a:solidFill>
            <a:prstDash val="solid"/>
          </a:ln>
        </p:spPr>
      </p:sp>
      <p:sp>
        <p:nvSpPr>
          <p:cNvPr id="39" name="Text 32"/>
          <p:cNvSpPr txBox="1"/>
          <p:nvPr/>
        </p:nvSpPr>
        <p:spPr>
          <a:xfrm>
            <a:off x="9461754" y="1847088"/>
            <a:ext cx="282321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31–60</a:t>
            </a:r>
            <a:endParaRPr lang="en-US" sz="1100" dirty="0"/>
          </a:p>
        </p:txBody>
      </p:sp>
      <p:sp>
        <p:nvSpPr>
          <p:cNvPr id="40" name="Shape 33"/>
          <p:cNvSpPr/>
          <p:nvPr/>
        </p:nvSpPr>
        <p:spPr>
          <a:xfrm>
            <a:off x="12303252" y="1847088"/>
            <a:ext cx="2786634" cy="310896"/>
          </a:xfrm>
          <a:prstGeom prst="roundRect">
            <a:avLst>
              <a:gd name="adj" fmla="val 11765"/>
            </a:avLst>
          </a:prstGeom>
          <a:solidFill>
            <a:srgbClr val="8A245E"/>
          </a:solidFill>
          <a:ln w="12700">
            <a:solidFill>
              <a:srgbClr val="8A245E"/>
            </a:solidFill>
            <a:prstDash val="solid"/>
          </a:ln>
        </p:spPr>
      </p:sp>
      <p:sp>
        <p:nvSpPr>
          <p:cNvPr id="41" name="Text 34"/>
          <p:cNvSpPr txBox="1"/>
          <p:nvPr/>
        </p:nvSpPr>
        <p:spPr>
          <a:xfrm>
            <a:off x="12284964" y="1847088"/>
            <a:ext cx="282321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61–90</a:t>
            </a:r>
            <a:endParaRPr lang="en-US" sz="1100" dirty="0"/>
          </a:p>
        </p:txBody>
      </p:sp>
      <p:sp>
        <p:nvSpPr>
          <p:cNvPr id="42" name="Shape 35"/>
          <p:cNvSpPr/>
          <p:nvPr/>
        </p:nvSpPr>
        <p:spPr>
          <a:xfrm>
            <a:off x="15126462" y="1847088"/>
            <a:ext cx="2786634" cy="310896"/>
          </a:xfrm>
          <a:prstGeom prst="roundRect">
            <a:avLst>
              <a:gd name="adj" fmla="val 11765"/>
            </a:avLst>
          </a:prstGeom>
          <a:solidFill>
            <a:srgbClr val="8A245E"/>
          </a:solidFill>
          <a:ln w="12700">
            <a:solidFill>
              <a:srgbClr val="8A245E"/>
            </a:solidFill>
            <a:prstDash val="solid"/>
          </a:ln>
        </p:spPr>
      </p:sp>
      <p:sp>
        <p:nvSpPr>
          <p:cNvPr id="43" name="Text 36"/>
          <p:cNvSpPr txBox="1"/>
          <p:nvPr/>
        </p:nvSpPr>
        <p:spPr>
          <a:xfrm>
            <a:off x="15108174" y="1847088"/>
            <a:ext cx="282321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Quarter 2+</a:t>
            </a:r>
            <a:endParaRPr lang="en-US" sz="1100" dirty="0"/>
          </a:p>
        </p:txBody>
      </p:sp>
      <p:sp>
        <p:nvSpPr>
          <p:cNvPr id="44" name="Text 37"/>
          <p:cNvSpPr txBox="1"/>
          <p:nvPr/>
        </p:nvSpPr>
        <p:spPr>
          <a:xfrm>
            <a:off x="877824" y="1847088"/>
            <a:ext cx="3931920" cy="310896"/>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Workstream</a:t>
            </a:r>
            <a:endParaRPr lang="en-US" sz="1100" dirty="0"/>
          </a:p>
        </p:txBody>
      </p:sp>
      <p:sp>
        <p:nvSpPr>
          <p:cNvPr id="45" name="Text 38"/>
          <p:cNvSpPr txBox="1"/>
          <p:nvPr/>
        </p:nvSpPr>
        <p:spPr>
          <a:xfrm>
            <a:off x="4809744" y="1847088"/>
            <a:ext cx="1828800" cy="310896"/>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Owner</a:t>
            </a:r>
            <a:endParaRPr lang="en-US" sz="1100" dirty="0"/>
          </a:p>
        </p:txBody>
      </p:sp>
      <p:sp>
        <p:nvSpPr>
          <p:cNvPr id="46" name="Shape 39"/>
          <p:cNvSpPr/>
          <p:nvPr/>
        </p:nvSpPr>
        <p:spPr>
          <a:xfrm>
            <a:off x="877824" y="2231136"/>
            <a:ext cx="17053560" cy="347472"/>
          </a:xfrm>
          <a:prstGeom prst="rect">
            <a:avLst/>
          </a:prstGeom>
          <a:solidFill>
            <a:srgbClr val="F7F3F6"/>
          </a:solidFill>
          <a:ln w="12700">
            <a:solidFill>
              <a:srgbClr val="F7F3F6"/>
            </a:solidFill>
            <a:prstDash val="solid"/>
          </a:ln>
        </p:spPr>
      </p:sp>
      <p:sp>
        <p:nvSpPr>
          <p:cNvPr id="47" name="Text 40"/>
          <p:cNvSpPr txBox="1"/>
          <p:nvPr/>
        </p:nvSpPr>
        <p:spPr>
          <a:xfrm>
            <a:off x="923544" y="224942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Price Truth Index + badge test with holdout</a:t>
            </a:r>
            <a:endParaRPr lang="en-US" sz="1100" dirty="0"/>
          </a:p>
        </p:txBody>
      </p:sp>
      <p:sp>
        <p:nvSpPr>
          <p:cNvPr id="48" name="Text 41"/>
          <p:cNvSpPr txBox="1"/>
          <p:nvPr/>
        </p:nvSpPr>
        <p:spPr>
          <a:xfrm>
            <a:off x="4809744" y="224942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Pricing, Growth</a:t>
            </a:r>
            <a:endParaRPr lang="en-US" sz="1050" dirty="0"/>
          </a:p>
        </p:txBody>
      </p:sp>
      <p:sp>
        <p:nvSpPr>
          <p:cNvPr id="49" name="Shape 42"/>
          <p:cNvSpPr/>
          <p:nvPr/>
        </p:nvSpPr>
        <p:spPr>
          <a:xfrm>
            <a:off x="6711696" y="2295144"/>
            <a:ext cx="2676906" cy="219456"/>
          </a:xfrm>
          <a:prstGeom prst="roundRect">
            <a:avLst>
              <a:gd name="adj" fmla="val 20833"/>
            </a:avLst>
          </a:prstGeom>
          <a:solidFill>
            <a:srgbClr val="560547"/>
          </a:solidFill>
          <a:ln w="12700">
            <a:solidFill>
              <a:srgbClr val="560547"/>
            </a:solidFill>
            <a:prstDash val="solid"/>
          </a:ln>
        </p:spPr>
      </p:sp>
      <p:sp>
        <p:nvSpPr>
          <p:cNvPr id="50" name="Text 43"/>
          <p:cNvSpPr txBox="1"/>
          <p:nvPr/>
        </p:nvSpPr>
        <p:spPr>
          <a:xfrm>
            <a:off x="923544" y="261518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Health Score + rulebook live</a:t>
            </a:r>
            <a:endParaRPr lang="en-US" sz="1100" dirty="0"/>
          </a:p>
        </p:txBody>
      </p:sp>
      <p:sp>
        <p:nvSpPr>
          <p:cNvPr id="51" name="Text 44"/>
          <p:cNvSpPr txBox="1"/>
          <p:nvPr/>
        </p:nvSpPr>
        <p:spPr>
          <a:xfrm>
            <a:off x="4809744" y="261518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Data science</a:t>
            </a:r>
            <a:endParaRPr lang="en-US" sz="1050" dirty="0"/>
          </a:p>
        </p:txBody>
      </p:sp>
      <p:sp>
        <p:nvSpPr>
          <p:cNvPr id="52" name="Shape 45"/>
          <p:cNvSpPr/>
          <p:nvPr/>
        </p:nvSpPr>
        <p:spPr>
          <a:xfrm>
            <a:off x="6711696" y="2660904"/>
            <a:ext cx="11146536" cy="219456"/>
          </a:xfrm>
          <a:prstGeom prst="roundRect">
            <a:avLst>
              <a:gd name="adj" fmla="val 20833"/>
            </a:avLst>
          </a:prstGeom>
          <a:solidFill>
            <a:srgbClr val="8A245E"/>
          </a:solidFill>
          <a:ln w="12700">
            <a:solidFill>
              <a:srgbClr val="8A245E"/>
            </a:solidFill>
            <a:prstDash val="solid"/>
          </a:ln>
        </p:spPr>
      </p:sp>
      <p:sp>
        <p:nvSpPr>
          <p:cNvPr id="53" name="Shape 46"/>
          <p:cNvSpPr/>
          <p:nvPr/>
        </p:nvSpPr>
        <p:spPr>
          <a:xfrm>
            <a:off x="877824" y="2962656"/>
            <a:ext cx="17053560" cy="347472"/>
          </a:xfrm>
          <a:prstGeom prst="rect">
            <a:avLst/>
          </a:prstGeom>
          <a:solidFill>
            <a:srgbClr val="F7F3F6"/>
          </a:solidFill>
          <a:ln w="12700">
            <a:solidFill>
              <a:srgbClr val="F7F3F6"/>
            </a:solidFill>
            <a:prstDash val="solid"/>
          </a:ln>
        </p:spPr>
      </p:sp>
      <p:sp>
        <p:nvSpPr>
          <p:cNvPr id="54" name="Text 47"/>
          <p:cNvSpPr txBox="1"/>
          <p:nvPr/>
        </p:nvSpPr>
        <p:spPr>
          <a:xfrm>
            <a:off x="923544" y="298094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Cluster co-ops: Tiruppur, Panipat associations</a:t>
            </a:r>
            <a:endParaRPr lang="en-US" sz="1100" dirty="0"/>
          </a:p>
        </p:txBody>
      </p:sp>
      <p:sp>
        <p:nvSpPr>
          <p:cNvPr id="55" name="Text 48"/>
          <p:cNvSpPr txBox="1"/>
          <p:nvPr/>
        </p:nvSpPr>
        <p:spPr>
          <a:xfrm>
            <a:off x="4809744" y="298094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Category</a:t>
            </a:r>
            <a:endParaRPr lang="en-US" sz="1050" dirty="0"/>
          </a:p>
        </p:txBody>
      </p:sp>
      <p:sp>
        <p:nvSpPr>
          <p:cNvPr id="56" name="Shape 49"/>
          <p:cNvSpPr/>
          <p:nvPr/>
        </p:nvSpPr>
        <p:spPr>
          <a:xfrm>
            <a:off x="9534906" y="3026664"/>
            <a:ext cx="2676906" cy="219456"/>
          </a:xfrm>
          <a:prstGeom prst="roundRect">
            <a:avLst>
              <a:gd name="adj" fmla="val 20833"/>
            </a:avLst>
          </a:prstGeom>
          <a:solidFill>
            <a:srgbClr val="8A245E"/>
          </a:solidFill>
          <a:ln w="12700">
            <a:solidFill>
              <a:srgbClr val="8A245E"/>
            </a:solidFill>
            <a:prstDash val="solid"/>
          </a:ln>
        </p:spPr>
      </p:sp>
      <p:sp>
        <p:nvSpPr>
          <p:cNvPr id="57" name="Text 50"/>
          <p:cNvSpPr txBox="1"/>
          <p:nvPr/>
        </p:nvSpPr>
        <p:spPr>
          <a:xfrm>
            <a:off x="923544" y="334670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Demand Briefs, 5 categories</a:t>
            </a:r>
            <a:endParaRPr lang="en-US" sz="1100" dirty="0"/>
          </a:p>
        </p:txBody>
      </p:sp>
      <p:sp>
        <p:nvSpPr>
          <p:cNvPr id="58" name="Text 51"/>
          <p:cNvSpPr txBox="1"/>
          <p:nvPr/>
        </p:nvSpPr>
        <p:spPr>
          <a:xfrm>
            <a:off x="4809744" y="334670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Data science</a:t>
            </a:r>
            <a:endParaRPr lang="en-US" sz="1050" dirty="0"/>
          </a:p>
        </p:txBody>
      </p:sp>
      <p:sp>
        <p:nvSpPr>
          <p:cNvPr id="59" name="Shape 52"/>
          <p:cNvSpPr/>
          <p:nvPr/>
        </p:nvSpPr>
        <p:spPr>
          <a:xfrm>
            <a:off x="9534906" y="3392424"/>
            <a:ext cx="8323326" cy="219456"/>
          </a:xfrm>
          <a:prstGeom prst="roundRect">
            <a:avLst>
              <a:gd name="adj" fmla="val 20833"/>
            </a:avLst>
          </a:prstGeom>
          <a:solidFill>
            <a:srgbClr val="8A245E"/>
          </a:solidFill>
          <a:ln w="12700">
            <a:solidFill>
              <a:srgbClr val="8A245E"/>
            </a:solidFill>
            <a:prstDash val="solid"/>
          </a:ln>
        </p:spPr>
      </p:sp>
      <p:sp>
        <p:nvSpPr>
          <p:cNvPr id="60" name="Shape 53"/>
          <p:cNvSpPr/>
          <p:nvPr/>
        </p:nvSpPr>
        <p:spPr>
          <a:xfrm>
            <a:off x="877824" y="3694176"/>
            <a:ext cx="17053560" cy="347472"/>
          </a:xfrm>
          <a:prstGeom prst="rect">
            <a:avLst/>
          </a:prstGeom>
          <a:solidFill>
            <a:srgbClr val="F7F3F6"/>
          </a:solidFill>
          <a:ln w="12700">
            <a:solidFill>
              <a:srgbClr val="F7F3F6"/>
            </a:solidFill>
            <a:prstDash val="solid"/>
          </a:ln>
        </p:spPr>
      </p:sp>
      <p:sp>
        <p:nvSpPr>
          <p:cNvPr id="61" name="Text 54"/>
          <p:cNvSpPr txBox="1"/>
          <p:nvPr/>
        </p:nvSpPr>
        <p:spPr>
          <a:xfrm>
            <a:off x="923544" y="371246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Batch window + 30% prepayment</a:t>
            </a:r>
            <a:endParaRPr lang="en-US" sz="1100" dirty="0"/>
          </a:p>
        </p:txBody>
      </p:sp>
      <p:sp>
        <p:nvSpPr>
          <p:cNvPr id="62" name="Text 55"/>
          <p:cNvSpPr txBox="1"/>
          <p:nvPr/>
        </p:nvSpPr>
        <p:spPr>
          <a:xfrm>
            <a:off x="4809744" y="371246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Product, Finance</a:t>
            </a:r>
            <a:endParaRPr lang="en-US" sz="1050" dirty="0"/>
          </a:p>
        </p:txBody>
      </p:sp>
      <p:sp>
        <p:nvSpPr>
          <p:cNvPr id="63" name="Shape 56"/>
          <p:cNvSpPr/>
          <p:nvPr/>
        </p:nvSpPr>
        <p:spPr>
          <a:xfrm>
            <a:off x="12358116" y="3758184"/>
            <a:ext cx="2676906" cy="219456"/>
          </a:xfrm>
          <a:prstGeom prst="roundRect">
            <a:avLst>
              <a:gd name="adj" fmla="val 20833"/>
            </a:avLst>
          </a:prstGeom>
          <a:solidFill>
            <a:srgbClr val="FF9D00"/>
          </a:solidFill>
          <a:ln w="12700">
            <a:solidFill>
              <a:srgbClr val="FF9D00"/>
            </a:solidFill>
            <a:prstDash val="solid"/>
          </a:ln>
        </p:spPr>
      </p:sp>
      <p:sp>
        <p:nvSpPr>
          <p:cNvPr id="64" name="Text 57"/>
          <p:cNvSpPr txBox="1"/>
          <p:nvPr/>
        </p:nvSpPr>
        <p:spPr>
          <a:xfrm>
            <a:off x="923544" y="407822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Factory Node, Tiruppur (partner warehouse)</a:t>
            </a:r>
            <a:endParaRPr lang="en-US" sz="1100" dirty="0"/>
          </a:p>
        </p:txBody>
      </p:sp>
      <p:sp>
        <p:nvSpPr>
          <p:cNvPr id="65" name="Text 58"/>
          <p:cNvSpPr txBox="1"/>
          <p:nvPr/>
        </p:nvSpPr>
        <p:spPr>
          <a:xfrm>
            <a:off x="4809744" y="407822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Valmo</a:t>
            </a:r>
            <a:endParaRPr lang="en-US" sz="1050" dirty="0"/>
          </a:p>
        </p:txBody>
      </p:sp>
      <p:sp>
        <p:nvSpPr>
          <p:cNvPr id="66" name="Shape 59"/>
          <p:cNvSpPr/>
          <p:nvPr/>
        </p:nvSpPr>
        <p:spPr>
          <a:xfrm>
            <a:off x="12358116" y="4123944"/>
            <a:ext cx="2676906" cy="219456"/>
          </a:xfrm>
          <a:prstGeom prst="roundRect">
            <a:avLst>
              <a:gd name="adj" fmla="val 20833"/>
            </a:avLst>
          </a:prstGeom>
          <a:solidFill>
            <a:srgbClr val="FF9D00"/>
          </a:solidFill>
          <a:ln w="12700">
            <a:solidFill>
              <a:srgbClr val="FF9D00"/>
            </a:solidFill>
            <a:prstDash val="solid"/>
          </a:ln>
        </p:spPr>
      </p:sp>
      <p:sp>
        <p:nvSpPr>
          <p:cNvPr id="67" name="Shape 60"/>
          <p:cNvSpPr/>
          <p:nvPr/>
        </p:nvSpPr>
        <p:spPr>
          <a:xfrm>
            <a:off x="877824" y="4425696"/>
            <a:ext cx="17053560" cy="347472"/>
          </a:xfrm>
          <a:prstGeom prst="rect">
            <a:avLst/>
          </a:prstGeom>
          <a:solidFill>
            <a:srgbClr val="F7F3F6"/>
          </a:solidFill>
          <a:ln w="12700">
            <a:solidFill>
              <a:srgbClr val="F7F3F6"/>
            </a:solidFill>
            <a:prstDash val="solid"/>
          </a:ln>
        </p:spPr>
      </p:sp>
      <p:sp>
        <p:nvSpPr>
          <p:cNvPr id="68" name="Text 61"/>
          <p:cNvSpPr txBox="1"/>
          <p:nvPr/>
        </p:nvSpPr>
        <p:spPr>
          <a:xfrm>
            <a:off x="923544" y="4443984"/>
            <a:ext cx="3840480" cy="310896"/>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Scale: 5 clusters, 6 nodes, 450 sellers</a:t>
            </a:r>
            <a:endParaRPr lang="en-US" sz="1100" dirty="0"/>
          </a:p>
        </p:txBody>
      </p:sp>
      <p:sp>
        <p:nvSpPr>
          <p:cNvPr id="69" name="Text 62"/>
          <p:cNvSpPr txBox="1"/>
          <p:nvPr/>
        </p:nvSpPr>
        <p:spPr>
          <a:xfrm>
            <a:off x="4809744" y="4443984"/>
            <a:ext cx="1828800" cy="310896"/>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Category, Valmo</a:t>
            </a:r>
            <a:endParaRPr lang="en-US" sz="1050" dirty="0"/>
          </a:p>
        </p:txBody>
      </p:sp>
      <p:sp>
        <p:nvSpPr>
          <p:cNvPr id="70" name="Shape 63"/>
          <p:cNvSpPr/>
          <p:nvPr/>
        </p:nvSpPr>
        <p:spPr>
          <a:xfrm>
            <a:off x="15181326" y="4489704"/>
            <a:ext cx="2676906" cy="219456"/>
          </a:xfrm>
          <a:prstGeom prst="roundRect">
            <a:avLst>
              <a:gd name="adj" fmla="val 20833"/>
            </a:avLst>
          </a:prstGeom>
          <a:solidFill>
            <a:srgbClr val="FF9D00"/>
          </a:solidFill>
          <a:ln w="12700">
            <a:solidFill>
              <a:srgbClr val="FF9D00"/>
            </a:solidFill>
            <a:prstDash val="solid"/>
          </a:ln>
        </p:spPr>
      </p:sp>
      <p:sp>
        <p:nvSpPr>
          <p:cNvPr id="71" name="Shape 64"/>
          <p:cNvSpPr/>
          <p:nvPr/>
        </p:nvSpPr>
        <p:spPr>
          <a:xfrm>
            <a:off x="9461754" y="2194560"/>
            <a:ext cx="914" cy="2670048"/>
          </a:xfrm>
          <a:prstGeom prst="line">
            <a:avLst/>
          </a:prstGeom>
          <a:noFill/>
          <a:ln w="15875">
            <a:solidFill>
              <a:srgbClr val="C0392B"/>
            </a:solidFill>
            <a:prstDash val="solid"/>
          </a:ln>
        </p:spPr>
      </p:sp>
      <p:sp>
        <p:nvSpPr>
          <p:cNvPr id="72" name="Shape 65"/>
          <p:cNvSpPr/>
          <p:nvPr/>
        </p:nvSpPr>
        <p:spPr>
          <a:xfrm>
            <a:off x="9342882" y="4791456"/>
            <a:ext cx="237744" cy="237744"/>
          </a:xfrm>
          <a:prstGeom prst="diamond">
            <a:avLst/>
          </a:prstGeom>
          <a:solidFill>
            <a:srgbClr val="C0392B"/>
          </a:solidFill>
          <a:ln w="12700">
            <a:solidFill>
              <a:srgbClr val="FFFFFF"/>
            </a:solidFill>
            <a:prstDash val="solid"/>
          </a:ln>
        </p:spPr>
      </p:sp>
      <p:sp>
        <p:nvSpPr>
          <p:cNvPr id="73" name="Text 66"/>
          <p:cNvSpPr txBox="1"/>
          <p:nvPr/>
        </p:nvSpPr>
        <p:spPr>
          <a:xfrm>
            <a:off x="8638794" y="5047488"/>
            <a:ext cx="1645920" cy="256032"/>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Day-30 gate</a:t>
            </a:r>
            <a:endParaRPr lang="en-US" sz="1050" dirty="0"/>
          </a:p>
        </p:txBody>
      </p:sp>
      <p:sp>
        <p:nvSpPr>
          <p:cNvPr id="74" name="Shape 67"/>
          <p:cNvSpPr/>
          <p:nvPr/>
        </p:nvSpPr>
        <p:spPr>
          <a:xfrm>
            <a:off x="12284964" y="2194560"/>
            <a:ext cx="914" cy="2670048"/>
          </a:xfrm>
          <a:prstGeom prst="line">
            <a:avLst/>
          </a:prstGeom>
          <a:noFill/>
          <a:ln w="15875">
            <a:solidFill>
              <a:srgbClr val="C0392B"/>
            </a:solidFill>
            <a:prstDash val="solid"/>
          </a:ln>
        </p:spPr>
      </p:sp>
      <p:sp>
        <p:nvSpPr>
          <p:cNvPr id="75" name="Shape 68"/>
          <p:cNvSpPr/>
          <p:nvPr/>
        </p:nvSpPr>
        <p:spPr>
          <a:xfrm>
            <a:off x="12166092" y="4791456"/>
            <a:ext cx="237744" cy="237744"/>
          </a:xfrm>
          <a:prstGeom prst="diamond">
            <a:avLst/>
          </a:prstGeom>
          <a:solidFill>
            <a:srgbClr val="C0392B"/>
          </a:solidFill>
          <a:ln w="12700">
            <a:solidFill>
              <a:srgbClr val="FFFFFF"/>
            </a:solidFill>
            <a:prstDash val="solid"/>
          </a:ln>
        </p:spPr>
      </p:sp>
      <p:sp>
        <p:nvSpPr>
          <p:cNvPr id="76" name="Text 69"/>
          <p:cNvSpPr txBox="1"/>
          <p:nvPr/>
        </p:nvSpPr>
        <p:spPr>
          <a:xfrm>
            <a:off x="11462004" y="5047488"/>
            <a:ext cx="1645920" cy="256032"/>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Day-60 gate</a:t>
            </a:r>
            <a:endParaRPr lang="en-US" sz="1050" dirty="0"/>
          </a:p>
        </p:txBody>
      </p:sp>
      <p:sp>
        <p:nvSpPr>
          <p:cNvPr id="77" name="Shape 70"/>
          <p:cNvSpPr/>
          <p:nvPr/>
        </p:nvSpPr>
        <p:spPr>
          <a:xfrm>
            <a:off x="15108174" y="2194560"/>
            <a:ext cx="914" cy="2670048"/>
          </a:xfrm>
          <a:prstGeom prst="line">
            <a:avLst/>
          </a:prstGeom>
          <a:noFill/>
          <a:ln w="15875">
            <a:solidFill>
              <a:srgbClr val="C0392B"/>
            </a:solidFill>
            <a:prstDash val="solid"/>
          </a:ln>
        </p:spPr>
      </p:sp>
      <p:sp>
        <p:nvSpPr>
          <p:cNvPr id="78" name="Shape 71"/>
          <p:cNvSpPr/>
          <p:nvPr/>
        </p:nvSpPr>
        <p:spPr>
          <a:xfrm>
            <a:off x="14989302" y="4791456"/>
            <a:ext cx="237744" cy="237744"/>
          </a:xfrm>
          <a:prstGeom prst="diamond">
            <a:avLst/>
          </a:prstGeom>
          <a:solidFill>
            <a:srgbClr val="C0392B"/>
          </a:solidFill>
          <a:ln w="12700">
            <a:solidFill>
              <a:srgbClr val="FFFFFF"/>
            </a:solidFill>
            <a:prstDash val="solid"/>
          </a:ln>
        </p:spPr>
      </p:sp>
      <p:sp>
        <p:nvSpPr>
          <p:cNvPr id="79" name="Text 72"/>
          <p:cNvSpPr txBox="1"/>
          <p:nvPr/>
        </p:nvSpPr>
        <p:spPr>
          <a:xfrm>
            <a:off x="14285214" y="5047488"/>
            <a:ext cx="1645920" cy="256032"/>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Day-90 gate</a:t>
            </a:r>
            <a:endParaRPr lang="en-US" sz="1050" dirty="0"/>
          </a:p>
        </p:txBody>
      </p:sp>
      <p:sp>
        <p:nvSpPr>
          <p:cNvPr id="80" name="Shape 73"/>
          <p:cNvSpPr/>
          <p:nvPr/>
        </p:nvSpPr>
        <p:spPr>
          <a:xfrm>
            <a:off x="749808" y="5303520"/>
            <a:ext cx="8869680" cy="3712464"/>
          </a:xfrm>
          <a:prstGeom prst="rect">
            <a:avLst/>
          </a:prstGeom>
          <a:solidFill>
            <a:srgbClr val="FFFFFF"/>
          </a:solidFill>
          <a:ln w="9525">
            <a:solidFill>
              <a:srgbClr val="E0CEDA"/>
            </a:solidFill>
            <a:prstDash val="solid"/>
          </a:ln>
        </p:spPr>
      </p:sp>
      <p:sp>
        <p:nvSpPr>
          <p:cNvPr id="81" name="Shape 74"/>
          <p:cNvSpPr/>
          <p:nvPr/>
        </p:nvSpPr>
        <p:spPr>
          <a:xfrm>
            <a:off x="749808" y="5303520"/>
            <a:ext cx="8869680" cy="329184"/>
          </a:xfrm>
          <a:prstGeom prst="rect">
            <a:avLst/>
          </a:prstGeom>
          <a:solidFill>
            <a:srgbClr val="560547"/>
          </a:solidFill>
          <a:ln w="12700">
            <a:solidFill>
              <a:srgbClr val="560547"/>
            </a:solidFill>
            <a:prstDash val="solid"/>
          </a:ln>
        </p:spPr>
      </p:sp>
      <p:pic>
        <p:nvPicPr>
          <p:cNvPr id="82" name="Image 4" descr="/private/tmp/claude-501/-Users-prathmeshwalimbe-Downloads-Meesho/dfec39d5-f971-4a3a-8cfb-761f4ef1fedb/scratchpad/deck/assets/icons/FaShieldHalved_w.png">    </p:cNvPr>
          <p:cNvPicPr>
            <a:picLocks noChangeAspect="1"/>
          </p:cNvPicPr>
          <p:nvPr/>
        </p:nvPicPr>
        <p:blipFill>
          <a:blip r:embed="rId5"/>
          <a:stretch>
            <a:fillRect/>
          </a:stretch>
        </p:blipFill>
        <p:spPr>
          <a:xfrm>
            <a:off x="859536" y="5367528"/>
            <a:ext cx="201168" cy="201168"/>
          </a:xfrm>
          <a:prstGeom prst="rect">
            <a:avLst/>
          </a:prstGeom>
        </p:spPr>
      </p:pic>
      <p:sp>
        <p:nvSpPr>
          <p:cNvPr id="83" name="Text 75"/>
          <p:cNvSpPr txBox="1"/>
          <p:nvPr/>
        </p:nvSpPr>
        <p:spPr>
          <a:xfrm>
            <a:off x="1133856" y="5303520"/>
            <a:ext cx="83576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WHAT RELEASES THE MONEY · GATES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77824" y="5724144"/>
          <a:ext cx="8613648" cy="914400"/>
        </p:xfrm>
        <a:graphic>
          <a:graphicData uri="http://schemas.openxmlformats.org/drawingml/2006/table">
            <a:tbl>
              <a:tblPr/>
              <a:tblGrid>
                <a:gridCol w="914400"/>
                <a:gridCol w="4526280"/>
                <a:gridCol w="3172968"/>
              </a:tblGrid>
              <a:tr h="56692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Gate</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Pass when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If not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566928">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Badged NMV per live SKU ≥ 12% over holdout, interval above zero, and ≥ 70% of badged sellers still clear at 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Lift &lt; 12%: tighten to a 10% gap and re-run. Decay or no lift: stop</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Day 60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2 associations signed · 60 Cohort A factories catalogued · briefs live for 5 categories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Hold node spend; extend recruitment</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3 of 4: batches inside SLA · returns end at the node · gap retention ≥ 70% · category NMV ≥ baseline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Fix the failing number before Q2 scale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85" name="Shape 76"/>
          <p:cNvSpPr/>
          <p:nvPr/>
        </p:nvSpPr>
        <p:spPr>
          <a:xfrm>
            <a:off x="877824" y="8119872"/>
            <a:ext cx="8613648" cy="658368"/>
          </a:xfrm>
          <a:prstGeom prst="roundRect">
            <a:avLst>
              <a:gd name="adj" fmla="val 6944"/>
            </a:avLst>
          </a:prstGeom>
          <a:solidFill>
            <a:srgbClr val="F2E4EE"/>
          </a:solidFill>
          <a:ln w="12700">
            <a:solidFill>
              <a:srgbClr val="F2E4EE"/>
            </a:solidFill>
            <a:prstDash val="solid"/>
          </a:ln>
        </p:spPr>
      </p:sp>
      <p:sp>
        <p:nvSpPr>
          <p:cNvPr id="86" name="Text 77"/>
          <p:cNvSpPr txBox="1"/>
          <p:nvPr/>
        </p:nvSpPr>
        <p:spPr>
          <a:xfrm>
            <a:off x="987552" y="8119872"/>
            <a:ext cx="8394192" cy="658368"/>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Prototype check: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base scenario +18.2% with 87% retained → fund · weak +4.7% → tighten · decay 40% retained → stop. All three branches fire as specified.</a:t>
            </a:r>
            <a:endParaRPr lang="en-US" sz="1100" dirty="0"/>
          </a:p>
        </p:txBody>
      </p:sp>
      <p:sp>
        <p:nvSpPr>
          <p:cNvPr id="87" name="Shape 78"/>
          <p:cNvSpPr/>
          <p:nvPr/>
        </p:nvSpPr>
        <p:spPr>
          <a:xfrm>
            <a:off x="9747504" y="5303520"/>
            <a:ext cx="4480560" cy="3712464"/>
          </a:xfrm>
          <a:prstGeom prst="rect">
            <a:avLst/>
          </a:prstGeom>
          <a:solidFill>
            <a:srgbClr val="FFFFFF"/>
          </a:solidFill>
          <a:ln w="9525">
            <a:solidFill>
              <a:srgbClr val="E0CEDA"/>
            </a:solidFill>
            <a:prstDash val="solid"/>
          </a:ln>
        </p:spPr>
      </p:sp>
      <p:sp>
        <p:nvSpPr>
          <p:cNvPr id="88" name="Shape 79"/>
          <p:cNvSpPr/>
          <p:nvPr/>
        </p:nvSpPr>
        <p:spPr>
          <a:xfrm>
            <a:off x="9747504" y="5303520"/>
            <a:ext cx="4480560" cy="329184"/>
          </a:xfrm>
          <a:prstGeom prst="rect">
            <a:avLst/>
          </a:prstGeom>
          <a:solidFill>
            <a:srgbClr val="560547"/>
          </a:solidFill>
          <a:ln w="12700">
            <a:solidFill>
              <a:srgbClr val="560547"/>
            </a:solidFill>
            <a:prstDash val="solid"/>
          </a:ln>
        </p:spPr>
      </p:sp>
      <p:pic>
        <p:nvPicPr>
          <p:cNvPr id="89" name="Image 5" descr="/private/tmp/claude-501/-Users-prathmeshwalimbe-Downloads-Meesho/dfec39d5-f971-4a3a-8cfb-761f4ef1fedb/scratchpad/deck/assets/icons/FaIndianRupeeSign_w.png">    </p:cNvPr>
          <p:cNvPicPr>
            <a:picLocks noChangeAspect="1"/>
          </p:cNvPicPr>
          <p:nvPr/>
        </p:nvPicPr>
        <p:blipFill>
          <a:blip r:embed="rId6"/>
          <a:stretch>
            <a:fillRect/>
          </a:stretch>
        </p:blipFill>
        <p:spPr>
          <a:xfrm>
            <a:off x="9857232" y="5367528"/>
            <a:ext cx="201168" cy="201168"/>
          </a:xfrm>
          <a:prstGeom prst="rect">
            <a:avLst/>
          </a:prstGeom>
        </p:spPr>
      </p:pic>
      <p:sp>
        <p:nvSpPr>
          <p:cNvPr id="90" name="Text 80"/>
          <p:cNvSpPr txBox="1"/>
          <p:nvPr/>
        </p:nvSpPr>
        <p:spPr>
          <a:xfrm>
            <a:off x="10131552" y="5303520"/>
            <a:ext cx="39684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SPEND BY HORIZON · ₹ CR</a:t>
            </a:r>
            <a:endParaRPr lang="en-US" sz="1250" dirty="0"/>
          </a:p>
        </p:txBody>
      </p:sp>
      <p:graphicFrame>
        <p:nvGraphicFramePr>
          <p:cNvPr id="91" name="Chart 0" descr=""/>
          <p:cNvGraphicFramePr/>
          <p:nvPr/>
        </p:nvGraphicFramePr>
        <p:xfrm>
          <a:off x="9875520" y="5724144"/>
          <a:ext cx="4224528" cy="2377440"/>
        </p:xfrm>
        <a:graphic xmlns:a="http://schemas.openxmlformats.org/drawingml/2006/main">
          <a:graphicData uri="http://schemas.openxmlformats.org/drawingml/2006/chart">
            <c:chart xmlns:c="http://schemas.openxmlformats.org/drawingml/2006/chart" r:id="rId7"/>
          </a:graphicData>
        </a:graphic>
      </p:graphicFrame>
      <p:sp>
        <p:nvSpPr>
          <p:cNvPr id="92" name="Text 81"/>
          <p:cNvSpPr txBox="1"/>
          <p:nvPr/>
        </p:nvSpPr>
        <p:spPr>
          <a:xfrm>
            <a:off x="9875520" y="8147304"/>
            <a:ext cx="4224528" cy="731520"/>
          </a:xfrm>
          <a:prstGeom prst="rect">
            <a:avLst/>
          </a:prstGeom>
          <a:noFill/>
          <a:ln/>
        </p:spPr>
        <p:txBody>
          <a:bodyPr wrap="square" lIns="0" tIns="0" rIns="0" bIns="0" rtlCol="0" anchor="t"/>
          <a:lstStyle/>
          <a:p>
            <a:pPr algn="l" indent="0" marL="0">
              <a:lnSpc>
                <a:spcPct val="100000"/>
              </a:lnSpc>
              <a:buNone/>
            </a:pPr>
            <a:r>
              <a:rPr lang="en-US" sz="1100" b="1" dirty="0">
                <a:solidFill>
                  <a:srgbClr val="1E8E5A"/>
                </a:solidFill>
                <a:latin typeface="Calibri" pitchFamily="34" charset="0"/>
                <a:ea typeface="Calibri" pitchFamily="34" charset="-122"/>
                <a:cs typeface="Calibri" pitchFamily="34" charset="-120"/>
              </a:rPr>
              <a:t>₹0 capex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until the price gap is proven. Cumulative ₹22 cr in Year 1.</a:t>
            </a:r>
            <a:endParaRPr lang="en-US" sz="1100" dirty="0"/>
          </a:p>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No new team: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Pricing, Growth, Category and Valmo own existing workstreams.</a:t>
            </a:r>
            <a:endParaRPr lang="en-US" sz="1100" dirty="0"/>
          </a:p>
        </p:txBody>
      </p:sp>
      <p:sp>
        <p:nvSpPr>
          <p:cNvPr id="93" name="Shape 82"/>
          <p:cNvSpPr/>
          <p:nvPr/>
        </p:nvSpPr>
        <p:spPr>
          <a:xfrm>
            <a:off x="14356080" y="5303520"/>
            <a:ext cx="3703320" cy="3712464"/>
          </a:xfrm>
          <a:prstGeom prst="rect">
            <a:avLst/>
          </a:prstGeom>
          <a:solidFill>
            <a:srgbClr val="FFFFFF"/>
          </a:solidFill>
          <a:ln w="9525">
            <a:solidFill>
              <a:srgbClr val="E0CEDA"/>
            </a:solidFill>
            <a:prstDash val="solid"/>
          </a:ln>
        </p:spPr>
      </p:sp>
      <p:sp>
        <p:nvSpPr>
          <p:cNvPr id="94" name="Shape 83"/>
          <p:cNvSpPr/>
          <p:nvPr/>
        </p:nvSpPr>
        <p:spPr>
          <a:xfrm>
            <a:off x="14356080" y="5303520"/>
            <a:ext cx="3703320" cy="329184"/>
          </a:xfrm>
          <a:prstGeom prst="rect">
            <a:avLst/>
          </a:prstGeom>
          <a:solidFill>
            <a:srgbClr val="8A245E"/>
          </a:solidFill>
          <a:ln w="12700">
            <a:solidFill>
              <a:srgbClr val="8A245E"/>
            </a:solidFill>
            <a:prstDash val="solid"/>
          </a:ln>
        </p:spPr>
      </p:sp>
      <p:pic>
        <p:nvPicPr>
          <p:cNvPr id="95" name="Image 6" descr="/private/tmp/claude-501/-Users-prathmeshwalimbe-Downloads-Meesho/dfec39d5-f971-4a3a-8cfb-761f4ef1fedb/scratchpad/deck/assets/icons/FaCalculator_w.png">    </p:cNvPr>
          <p:cNvPicPr>
            <a:picLocks noChangeAspect="1"/>
          </p:cNvPicPr>
          <p:nvPr/>
        </p:nvPicPr>
        <p:blipFill>
          <a:blip r:embed="rId8"/>
          <a:stretch>
            <a:fillRect/>
          </a:stretch>
        </p:blipFill>
        <p:spPr>
          <a:xfrm>
            <a:off x="14465808" y="5367528"/>
            <a:ext cx="201168" cy="201168"/>
          </a:xfrm>
          <a:prstGeom prst="rect">
            <a:avLst/>
          </a:prstGeom>
        </p:spPr>
      </p:pic>
      <p:sp>
        <p:nvSpPr>
          <p:cNvPr id="96" name="Text 84"/>
          <p:cNvSpPr txBox="1"/>
          <p:nvPr/>
        </p:nvSpPr>
        <p:spPr>
          <a:xfrm>
            <a:off x="14740128" y="5303520"/>
            <a:ext cx="31912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YEAR-1 COST AND RETURN</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14484096" y="5724144"/>
          <a:ext cx="1896008" cy="914400"/>
        </p:xfrm>
        <a:graphic>
          <a:graphicData uri="http://schemas.openxmlformats.org/drawingml/2006/table">
            <a:tbl>
              <a:tblPr/>
              <a:tblGrid>
                <a:gridCol w="981608"/>
                <a:gridCol w="914400"/>
              </a:tblGrid>
              <a:tr h="329184">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Lever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Year-1 cost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gate, Health Score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Cluster co-op onboarding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 Briefs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₹6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Factory Node (partner)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₹8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Returns firewall pool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Batch prepayment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float only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₹22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98" name="Shape 85"/>
          <p:cNvSpPr/>
          <p:nvPr/>
        </p:nvSpPr>
        <p:spPr>
          <a:xfrm>
            <a:off x="16489832" y="5724144"/>
            <a:ext cx="1441552" cy="868680"/>
          </a:xfrm>
          <a:prstGeom prst="rect">
            <a:avLst/>
          </a:prstGeom>
          <a:solidFill>
            <a:srgbClr val="E2F2E9"/>
          </a:solidFill>
          <a:ln w="12700">
            <a:solidFill>
              <a:srgbClr val="E2F2E9"/>
            </a:solidFill>
            <a:prstDash val="solid"/>
          </a:ln>
        </p:spPr>
      </p:sp>
      <p:sp>
        <p:nvSpPr>
          <p:cNvPr id="99" name="Text 86"/>
          <p:cNvSpPr txBox="1"/>
          <p:nvPr/>
        </p:nvSpPr>
        <p:spPr>
          <a:xfrm>
            <a:off x="16599560" y="5779008"/>
            <a:ext cx="1222096" cy="451714"/>
          </a:xfrm>
          <a:prstGeom prst="rect">
            <a:avLst/>
          </a:prstGeom>
          <a:noFill/>
          <a:ln/>
        </p:spPr>
        <p:txBody>
          <a:bodyPr wrap="square" lIns="0" tIns="0" rIns="0" bIns="0" rtlCol="0" anchor="ctr"/>
          <a:lstStyle/>
          <a:p>
            <a:pPr algn="l" indent="0" marL="0">
              <a:lnSpc>
                <a:spcPct val="100000"/>
              </a:lnSpc>
              <a:buNone/>
            </a:pPr>
            <a:r>
              <a:rPr lang="en-US" sz="1900" b="1" dirty="0">
                <a:solidFill>
                  <a:srgbClr val="1E8E5A"/>
                </a:solidFill>
                <a:latin typeface="Arial" pitchFamily="34" charset="0"/>
                <a:ea typeface="Arial" pitchFamily="34" charset="-122"/>
                <a:cs typeface="Arial" pitchFamily="34" charset="-120"/>
              </a:rPr>
              <a:t>+₹156 cr</a:t>
            </a:r>
            <a:endParaRPr lang="en-US" sz="1900" dirty="0"/>
          </a:p>
        </p:txBody>
      </p:sp>
      <p:sp>
        <p:nvSpPr>
          <p:cNvPr id="100" name="Text 87"/>
          <p:cNvSpPr txBox="1"/>
          <p:nvPr/>
        </p:nvSpPr>
        <p:spPr>
          <a:xfrm>
            <a:off x="16599560" y="6201918"/>
            <a:ext cx="1222096" cy="364846"/>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NPV at 12% (Round 1 model)</a:t>
            </a:r>
            <a:endParaRPr lang="en-US" sz="1100" dirty="0"/>
          </a:p>
        </p:txBody>
      </p:sp>
      <p:sp>
        <p:nvSpPr>
          <p:cNvPr id="101" name="Shape 88"/>
          <p:cNvSpPr/>
          <p:nvPr/>
        </p:nvSpPr>
        <p:spPr>
          <a:xfrm>
            <a:off x="16489832" y="6684264"/>
            <a:ext cx="1441552" cy="868680"/>
          </a:xfrm>
          <a:prstGeom prst="rect">
            <a:avLst/>
          </a:prstGeom>
          <a:solidFill>
            <a:srgbClr val="F2E4EE"/>
          </a:solidFill>
          <a:ln w="12700">
            <a:solidFill>
              <a:srgbClr val="F2E4EE"/>
            </a:solidFill>
            <a:prstDash val="solid"/>
          </a:ln>
        </p:spPr>
      </p:sp>
      <p:sp>
        <p:nvSpPr>
          <p:cNvPr id="102" name="Text 89"/>
          <p:cNvSpPr txBox="1"/>
          <p:nvPr/>
        </p:nvSpPr>
        <p:spPr>
          <a:xfrm>
            <a:off x="16599560" y="6739128"/>
            <a:ext cx="1222096" cy="451714"/>
          </a:xfrm>
          <a:prstGeom prst="rect">
            <a:avLst/>
          </a:prstGeom>
          <a:noFill/>
          <a:ln/>
        </p:spPr>
        <p:txBody>
          <a:bodyPr wrap="square" lIns="0" tIns="0" rIns="0" bIns="0" rtlCol="0" anchor="ctr"/>
          <a:lstStyle/>
          <a:p>
            <a:pPr algn="l" indent="0" marL="0">
              <a:lnSpc>
                <a:spcPct val="100000"/>
              </a:lnSpc>
              <a:buNone/>
            </a:pPr>
            <a:r>
              <a:rPr lang="en-US" sz="1900" b="1" dirty="0">
                <a:solidFill>
                  <a:srgbClr val="560547"/>
                </a:solidFill>
                <a:latin typeface="Arial" pitchFamily="34" charset="0"/>
                <a:ea typeface="Arial" pitchFamily="34" charset="-122"/>
                <a:cs typeface="Arial" pitchFamily="34" charset="-120"/>
              </a:rPr>
              <a:t>Year 3</a:t>
            </a:r>
            <a:endParaRPr lang="en-US" sz="1900" dirty="0"/>
          </a:p>
        </p:txBody>
      </p:sp>
      <p:sp>
        <p:nvSpPr>
          <p:cNvPr id="103" name="Text 90"/>
          <p:cNvSpPr txBox="1"/>
          <p:nvPr/>
        </p:nvSpPr>
        <p:spPr>
          <a:xfrm>
            <a:off x="16599560" y="7162038"/>
            <a:ext cx="1222096" cy="364846"/>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breakeven</a:t>
            </a:r>
            <a:endParaRPr lang="en-US" sz="1100" dirty="0"/>
          </a:p>
        </p:txBody>
      </p:sp>
      <p:sp>
        <p:nvSpPr>
          <p:cNvPr id="104" name="Shape 91"/>
          <p:cNvSpPr/>
          <p:nvPr/>
        </p:nvSpPr>
        <p:spPr>
          <a:xfrm>
            <a:off x="16489832" y="7644384"/>
            <a:ext cx="1441552" cy="868680"/>
          </a:xfrm>
          <a:prstGeom prst="rect">
            <a:avLst/>
          </a:prstGeom>
          <a:solidFill>
            <a:srgbClr val="FFF3D8"/>
          </a:solidFill>
          <a:ln w="12700">
            <a:solidFill>
              <a:srgbClr val="FFF3D8"/>
            </a:solidFill>
            <a:prstDash val="solid"/>
          </a:ln>
        </p:spPr>
      </p:sp>
      <p:sp>
        <p:nvSpPr>
          <p:cNvPr id="105" name="Text 92"/>
          <p:cNvSpPr txBox="1"/>
          <p:nvPr/>
        </p:nvSpPr>
        <p:spPr>
          <a:xfrm>
            <a:off x="16599560" y="7699248"/>
            <a:ext cx="1222096" cy="451714"/>
          </a:xfrm>
          <a:prstGeom prst="rect">
            <a:avLst/>
          </a:prstGeom>
          <a:noFill/>
          <a:ln/>
        </p:spPr>
        <p:txBody>
          <a:bodyPr wrap="square" lIns="0" tIns="0" rIns="0" bIns="0" rtlCol="0" anchor="ctr"/>
          <a:lstStyle/>
          <a:p>
            <a:pPr algn="l" indent="0" marL="0">
              <a:lnSpc>
                <a:spcPct val="100000"/>
              </a:lnSpc>
              <a:buNone/>
            </a:pPr>
            <a:r>
              <a:rPr lang="en-US" sz="1900" b="1" dirty="0">
                <a:solidFill>
                  <a:srgbClr val="560547"/>
                </a:solidFill>
                <a:latin typeface="Arial" pitchFamily="34" charset="0"/>
                <a:ea typeface="Arial" pitchFamily="34" charset="-122"/>
                <a:cs typeface="Arial" pitchFamily="34" charset="-120"/>
              </a:rPr>
              <a:t>₹80 cr</a:t>
            </a:r>
            <a:endParaRPr lang="en-US" sz="1900" dirty="0"/>
          </a:p>
        </p:txBody>
      </p:sp>
      <p:sp>
        <p:nvSpPr>
          <p:cNvPr id="106" name="Text 93"/>
          <p:cNvSpPr txBox="1"/>
          <p:nvPr/>
        </p:nvSpPr>
        <p:spPr>
          <a:xfrm>
            <a:off x="16599560" y="8122158"/>
            <a:ext cx="1222096" cy="364846"/>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contribution a year by Year 4 at 4.0% CM</a:t>
            </a:r>
            <a:endParaRPr lang="en-US" sz="1100" dirty="0"/>
          </a:p>
        </p:txBody>
      </p:sp>
      <p:sp>
        <p:nvSpPr>
          <p:cNvPr id="107" name="Text 94"/>
          <p:cNvSpPr txBox="1"/>
          <p:nvPr/>
        </p:nvSpPr>
        <p:spPr>
          <a:xfrm>
            <a:off x="14484096" y="8577072"/>
            <a:ext cx="3447288" cy="45720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MSME-TEAM (₹277 cr national scheme) could co-fund cluster onboarding.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560547"/>
          </a:solidFill>
          <a:ln w="9525">
            <a:solidFill>
              <a:srgbClr val="560547"/>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WHAT BREAKS, WHAT’S NEXT</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Q8 · Risks and guardrails · What could go wrong, how is each risk guarded, and where does C2M take Meesho in five years?</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Q4 FY26 earnings call (Meesho Mall remarks, 6 May 2026); Reuters via FashionNetwork (Shein Brazil, Feb 2026); Flipkart newsroom (Jul 2026); The Federal (Tiruppur tariff rollback, 2026); KrASIA (Pinduoduo).</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Every risk has a tripwire in the rulebook. The long game: graduated factories become Meesho Mall value brands, the path Pinduoduo’s C2M opened for 900+ factories.</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10149840" cy="5440680"/>
          </a:xfrm>
          <a:prstGeom prst="rect">
            <a:avLst/>
          </a:prstGeom>
          <a:solidFill>
            <a:srgbClr val="FFFFFF"/>
          </a:solidFill>
          <a:ln w="9525">
            <a:solidFill>
              <a:srgbClr val="E0CEDA"/>
            </a:solidFill>
            <a:prstDash val="solid"/>
          </a:ln>
        </p:spPr>
      </p:sp>
      <p:sp>
        <p:nvSpPr>
          <p:cNvPr id="33" name="Shape 27"/>
          <p:cNvSpPr/>
          <p:nvPr/>
        </p:nvSpPr>
        <p:spPr>
          <a:xfrm>
            <a:off x="749808" y="1426464"/>
            <a:ext cx="10149840"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TriangleExclamation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9637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RISK REGISTER · EARLY SIGNAL AND BUILT-IN GUARDRAIL</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77824" y="1847088"/>
          <a:ext cx="9893808" cy="914400"/>
        </p:xfrm>
        <a:graphic>
          <a:graphicData uri="http://schemas.openxmlformats.org/drawingml/2006/table">
            <a:tbl>
              <a:tblPr/>
              <a:tblGrid>
                <a:gridCol w="365760"/>
                <a:gridCol w="2606040"/>
                <a:gridCol w="2514600"/>
                <a:gridCol w="3520440"/>
                <a:gridCol w="886968"/>
              </a:tblGrid>
              <a:tr h="45720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Risk</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Early signal</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Guardrail</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Owner</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The price gap was a promotion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Gate retention &lt; 70% at 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Day-30 stop rule; badge off at &lt; 4% gap</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Pricing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Loss-leader SKUs game the badge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2–3 SKUs 20%+ below, rest at market</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Catalogue gate: ≥ 60% of live SKUs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Pricing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Quality falls with price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Quality returns &gt; 1.5× norm</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Suspend + QC; reinstate at ≤ 1.2× for 7 days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Re-rank starves existing resellers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Category NMV vs pre-period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Badged ≤ 20% of category impressions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Capex before demand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Batch fill rate, node utilisation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No node before the Day-30 and Day-60 gates; partner warehouses first</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Valmo</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Export recovery pulls factories back</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Tariff 50% → 18%; India–EU deal</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Batches fill idle capacity around export runs; C2M as hedge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Rate-card war escalates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Flipkart 0% on all fashion (Jul 2026)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Compete on cost structure (node, briefs), not fees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2B1226"/>
                          </a:solidFill>
                          <a:latin typeface="Calibri" pitchFamily="34" charset="0"/>
                          <a:ea typeface="Calibri" pitchFamily="34" charset="-122"/>
                          <a:cs typeface="Calibri" pitchFamily="34" charset="-120"/>
                        </a:rPr>
                        <a:t>Shein-style squeeze drives factories away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Attrition after price asks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Never ask for a price cut; the gate measures the gap that exists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7A6470"/>
                          </a:solidFill>
                          <a:latin typeface="Calibri" pitchFamily="34" charset="0"/>
                          <a:ea typeface="Calibri" pitchFamily="34" charset="-122"/>
                          <a:cs typeface="Calibri" pitchFamily="34" charset="-120"/>
                        </a:rPr>
                        <a:t>Leadership</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37" name="Text 29"/>
          <p:cNvSpPr txBox="1"/>
          <p:nvPr/>
        </p:nvSpPr>
        <p:spPr>
          <a:xfrm>
            <a:off x="877824" y="6163056"/>
            <a:ext cx="9893808" cy="548640"/>
          </a:xfrm>
          <a:prstGeom prst="rect">
            <a:avLst/>
          </a:prstGeom>
          <a:noFill/>
          <a:ln/>
        </p:spPr>
        <p:txBody>
          <a:bodyPr wrap="square" lIns="0" tIns="0" rIns="0" bIns="0" rtlCol="0" anchor="t"/>
          <a:lstStyle/>
          <a:p>
            <a:pPr algn="l" indent="0" marL="0">
              <a:lnSpc>
                <a:spcPct val="100000"/>
              </a:lnSpc>
              <a:buNone/>
            </a:pPr>
            <a:r>
              <a:rPr lang="en-US" sz="1100" b="1" dirty="0">
                <a:solidFill>
                  <a:srgbClr val="C0392B"/>
                </a:solidFill>
                <a:latin typeface="Calibri" pitchFamily="34" charset="0"/>
                <a:ea typeface="Calibri" pitchFamily="34" charset="-122"/>
                <a:cs typeface="Calibri" pitchFamily="34" charset="-120"/>
              </a:rPr>
              <a:t>Why risk 8 matters: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Shein pledged $150 mn for 2,000 Brazilian factories and asked for ~30% price cuts; 336 signed and 1 is still producing. Our screen only rewards a gap that already exists.</a:t>
            </a:r>
            <a:endParaRPr lang="en-US" sz="1100" dirty="0"/>
          </a:p>
        </p:txBody>
      </p:sp>
      <p:sp>
        <p:nvSpPr>
          <p:cNvPr id="38" name="Shape 30"/>
          <p:cNvSpPr/>
          <p:nvPr/>
        </p:nvSpPr>
        <p:spPr>
          <a:xfrm>
            <a:off x="749808" y="6995160"/>
            <a:ext cx="10149840" cy="2020824"/>
          </a:xfrm>
          <a:prstGeom prst="rect">
            <a:avLst/>
          </a:prstGeom>
          <a:solidFill>
            <a:srgbClr val="FFFFFF"/>
          </a:solidFill>
          <a:ln w="9525">
            <a:solidFill>
              <a:srgbClr val="E0CEDA"/>
            </a:solidFill>
            <a:prstDash val="solid"/>
          </a:ln>
        </p:spPr>
      </p:sp>
      <p:sp>
        <p:nvSpPr>
          <p:cNvPr id="39" name="Shape 31"/>
          <p:cNvSpPr/>
          <p:nvPr/>
        </p:nvSpPr>
        <p:spPr>
          <a:xfrm>
            <a:off x="749808" y="6995160"/>
            <a:ext cx="10149840" cy="329184"/>
          </a:xfrm>
          <a:prstGeom prst="rect">
            <a:avLst/>
          </a:prstGeom>
          <a:solidFill>
            <a:srgbClr val="8A245E"/>
          </a:solidFill>
          <a:ln w="12700">
            <a:solidFill>
              <a:srgbClr val="8A245E"/>
            </a:solidFill>
            <a:prstDash val="solid"/>
          </a:ln>
        </p:spPr>
      </p:sp>
      <p:pic>
        <p:nvPicPr>
          <p:cNvPr id="40" name="Image 4" descr="/private/tmp/claude-501/-Users-prathmeshwalimbe-Downloads-Meesho/dfec39d5-f971-4a3a-8cfb-761f4ef1fedb/scratchpad/deck/assets/icons/FaFlask_w.png">    </p:cNvPr>
          <p:cNvPicPr>
            <a:picLocks noChangeAspect="1"/>
          </p:cNvPicPr>
          <p:nvPr/>
        </p:nvPicPr>
        <p:blipFill>
          <a:blip r:embed="rId5"/>
          <a:stretch>
            <a:fillRect/>
          </a:stretch>
        </p:blipFill>
        <p:spPr>
          <a:xfrm>
            <a:off x="859536" y="7059168"/>
            <a:ext cx="201168" cy="201168"/>
          </a:xfrm>
          <a:prstGeom prst="rect">
            <a:avLst/>
          </a:prstGeom>
        </p:spPr>
      </p:pic>
      <p:sp>
        <p:nvSpPr>
          <p:cNvPr id="41" name="Text 32"/>
          <p:cNvSpPr txBox="1"/>
          <p:nvPr/>
        </p:nvSpPr>
        <p:spPr>
          <a:xfrm>
            <a:off x="1133856" y="6995160"/>
            <a:ext cx="9637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ASSUMPTIONS WE STILL HAVE TO VERIFY · BEFORE ANY CAPEX</a:t>
            </a:r>
            <a:endParaRPr lang="en-US" sz="12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877824" y="7415784"/>
          <a:ext cx="9893808" cy="914400"/>
        </p:xfrm>
        <a:graphic>
          <a:graphicData uri="http://schemas.openxmlformats.org/drawingml/2006/table">
            <a:tbl>
              <a:tblPr/>
              <a:tblGrid>
                <a:gridCol w="3017520"/>
                <a:gridCol w="2971800"/>
                <a:gridCol w="3172968"/>
                <a:gridCol w="731520"/>
              </a:tblGrid>
              <a:tr h="2743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Assumption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Value used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How we verify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Seller fee per customer return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₹90 (team estimate) to ₹150 (seller guides)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Pull from three live supplier panels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7</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Factory Node handling and forward cost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 + ₹42 per unit (proposal)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Partner-warehouse quotes, Tiruppur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45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Pre-order uptake at ₹20 off, 7-day delivery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55–70% of the suggested batch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A/B test in brief pin-codes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60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 lift while a grant is active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1.35× (simulation)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Holdout on the grant rule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43" name="Shape 33"/>
          <p:cNvSpPr/>
          <p:nvPr/>
        </p:nvSpPr>
        <p:spPr>
          <a:xfrm>
            <a:off x="11027664" y="1426464"/>
            <a:ext cx="7031736" cy="3657600"/>
          </a:xfrm>
          <a:prstGeom prst="rect">
            <a:avLst/>
          </a:prstGeom>
          <a:solidFill>
            <a:srgbClr val="FFFFFF"/>
          </a:solidFill>
          <a:ln w="9525">
            <a:solidFill>
              <a:srgbClr val="E0CEDA"/>
            </a:solidFill>
            <a:prstDash val="solid"/>
          </a:ln>
        </p:spPr>
      </p:sp>
      <p:sp>
        <p:nvSpPr>
          <p:cNvPr id="44" name="Shape 34"/>
          <p:cNvSpPr/>
          <p:nvPr/>
        </p:nvSpPr>
        <p:spPr>
          <a:xfrm>
            <a:off x="11027664" y="1426464"/>
            <a:ext cx="7031736" cy="329184"/>
          </a:xfrm>
          <a:prstGeom prst="rect">
            <a:avLst/>
          </a:prstGeom>
          <a:solidFill>
            <a:srgbClr val="8A245E"/>
          </a:solidFill>
          <a:ln w="12700">
            <a:solidFill>
              <a:srgbClr val="8A245E"/>
            </a:solidFill>
            <a:prstDash val="solid"/>
          </a:ln>
        </p:spPr>
      </p:sp>
      <p:pic>
        <p:nvPicPr>
          <p:cNvPr id="45" name="Image 5" descr="/private/tmp/claude-501/-Users-prathmeshwalimbe-Downloads-Meesho/dfec39d5-f971-4a3a-8cfb-761f4ef1fedb/scratchpad/deck/assets/icons/FaScaleUnbalanced_w.png">    </p:cNvPr>
          <p:cNvPicPr>
            <a:picLocks noChangeAspect="1"/>
          </p:cNvPicPr>
          <p:nvPr/>
        </p:nvPicPr>
        <p:blipFill>
          <a:blip r:embed="rId6"/>
          <a:stretch>
            <a:fillRect/>
          </a:stretch>
        </p:blipFill>
        <p:spPr>
          <a:xfrm>
            <a:off x="11137392" y="1490472"/>
            <a:ext cx="201168" cy="201168"/>
          </a:xfrm>
          <a:prstGeom prst="rect">
            <a:avLst/>
          </a:prstGeom>
        </p:spPr>
      </p:pic>
      <p:sp>
        <p:nvSpPr>
          <p:cNvPr id="46" name="Text 35"/>
          <p:cNvSpPr txBox="1"/>
          <p:nvPr/>
        </p:nvSpPr>
        <p:spPr>
          <a:xfrm>
            <a:off x="11411712" y="1426464"/>
            <a:ext cx="6519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LIKELIHOOD × IMPACT</a:t>
            </a:r>
            <a:endParaRPr lang="en-US" sz="1250" dirty="0"/>
          </a:p>
        </p:txBody>
      </p:sp>
      <p:sp>
        <p:nvSpPr>
          <p:cNvPr id="47" name="Shape 36"/>
          <p:cNvSpPr/>
          <p:nvPr/>
        </p:nvSpPr>
        <p:spPr>
          <a:xfrm>
            <a:off x="11567160" y="1892808"/>
            <a:ext cx="3099816" cy="1339596"/>
          </a:xfrm>
          <a:prstGeom prst="rect">
            <a:avLst/>
          </a:prstGeom>
          <a:solidFill>
            <a:srgbClr val="E2F2E9"/>
          </a:solidFill>
          <a:ln w="12700">
            <a:solidFill>
              <a:srgbClr val="E2F2E9"/>
            </a:solidFill>
            <a:prstDash val="solid"/>
          </a:ln>
        </p:spPr>
      </p:sp>
      <p:sp>
        <p:nvSpPr>
          <p:cNvPr id="48" name="Text 37"/>
          <p:cNvSpPr txBox="1"/>
          <p:nvPr/>
        </p:nvSpPr>
        <p:spPr>
          <a:xfrm>
            <a:off x="11640312" y="1929384"/>
            <a:ext cx="2953512" cy="228600"/>
          </a:xfrm>
          <a:prstGeom prst="rect">
            <a:avLst/>
          </a:prstGeom>
          <a:noFill/>
          <a:ln/>
        </p:spPr>
        <p:txBody>
          <a:bodyPr wrap="square" lIns="0" tIns="0" rIns="0" bIns="0" rtlCol="0" anchor="t"/>
          <a:lstStyle/>
          <a:p>
            <a:pPr algn="l" indent="0" marL="0">
              <a:lnSpc>
                <a:spcPct val="100000"/>
              </a:lnSpc>
              <a:buNone/>
            </a:pPr>
            <a:r>
              <a:rPr lang="en-US" sz="1000" b="1" dirty="0">
                <a:solidFill>
                  <a:srgbClr val="7A6470"/>
                </a:solidFill>
                <a:latin typeface="Calibri" pitchFamily="34" charset="0"/>
                <a:ea typeface="Calibri" pitchFamily="34" charset="-122"/>
                <a:cs typeface="Calibri" pitchFamily="34" charset="-120"/>
              </a:rPr>
              <a:t>Watch</a:t>
            </a:r>
            <a:endParaRPr lang="en-US" sz="1000" dirty="0"/>
          </a:p>
        </p:txBody>
      </p:sp>
      <p:sp>
        <p:nvSpPr>
          <p:cNvPr id="49" name="Shape 38"/>
          <p:cNvSpPr/>
          <p:nvPr/>
        </p:nvSpPr>
        <p:spPr>
          <a:xfrm>
            <a:off x="14703552" y="1892808"/>
            <a:ext cx="3099816" cy="1339596"/>
          </a:xfrm>
          <a:prstGeom prst="rect">
            <a:avLst/>
          </a:prstGeom>
          <a:solidFill>
            <a:srgbClr val="F8E0DC"/>
          </a:solidFill>
          <a:ln w="12700">
            <a:solidFill>
              <a:srgbClr val="F8E0DC"/>
            </a:solidFill>
            <a:prstDash val="solid"/>
          </a:ln>
        </p:spPr>
      </p:sp>
      <p:sp>
        <p:nvSpPr>
          <p:cNvPr id="50" name="Text 39"/>
          <p:cNvSpPr txBox="1"/>
          <p:nvPr/>
        </p:nvSpPr>
        <p:spPr>
          <a:xfrm>
            <a:off x="14776704" y="1929384"/>
            <a:ext cx="2953512" cy="228600"/>
          </a:xfrm>
          <a:prstGeom prst="rect">
            <a:avLst/>
          </a:prstGeom>
          <a:noFill/>
          <a:ln/>
        </p:spPr>
        <p:txBody>
          <a:bodyPr wrap="square" lIns="0" tIns="0" rIns="0" bIns="0" rtlCol="0" anchor="t"/>
          <a:lstStyle/>
          <a:p>
            <a:pPr algn="l" indent="0" marL="0">
              <a:lnSpc>
                <a:spcPct val="100000"/>
              </a:lnSpc>
              <a:buNone/>
            </a:pPr>
            <a:r>
              <a:rPr lang="en-US" sz="1000" b="1" dirty="0">
                <a:solidFill>
                  <a:srgbClr val="7A6470"/>
                </a:solidFill>
                <a:latin typeface="Calibri" pitchFamily="34" charset="0"/>
                <a:ea typeface="Calibri" pitchFamily="34" charset="-122"/>
                <a:cs typeface="Calibri" pitchFamily="34" charset="-120"/>
              </a:rPr>
              <a:t>Guard hardest</a:t>
            </a:r>
            <a:endParaRPr lang="en-US" sz="1000" dirty="0"/>
          </a:p>
        </p:txBody>
      </p:sp>
      <p:sp>
        <p:nvSpPr>
          <p:cNvPr id="51" name="Shape 40"/>
          <p:cNvSpPr/>
          <p:nvPr/>
        </p:nvSpPr>
        <p:spPr>
          <a:xfrm>
            <a:off x="11567160" y="3268980"/>
            <a:ext cx="3099816" cy="1339596"/>
          </a:xfrm>
          <a:prstGeom prst="rect">
            <a:avLst/>
          </a:prstGeom>
          <a:solidFill>
            <a:srgbClr val="F7F3F6"/>
          </a:solidFill>
          <a:ln w="12700">
            <a:solidFill>
              <a:srgbClr val="F7F3F6"/>
            </a:solidFill>
            <a:prstDash val="solid"/>
          </a:ln>
        </p:spPr>
      </p:sp>
      <p:sp>
        <p:nvSpPr>
          <p:cNvPr id="52" name="Text 41"/>
          <p:cNvSpPr txBox="1"/>
          <p:nvPr/>
        </p:nvSpPr>
        <p:spPr>
          <a:xfrm>
            <a:off x="11640312" y="3305556"/>
            <a:ext cx="2953512" cy="228600"/>
          </a:xfrm>
          <a:prstGeom prst="rect">
            <a:avLst/>
          </a:prstGeom>
          <a:noFill/>
          <a:ln/>
        </p:spPr>
        <p:txBody>
          <a:bodyPr wrap="square" lIns="0" tIns="0" rIns="0" bIns="0" rtlCol="0" anchor="t"/>
          <a:lstStyle/>
          <a:p>
            <a:pPr algn="l" indent="0" marL="0">
              <a:lnSpc>
                <a:spcPct val="100000"/>
              </a:lnSpc>
              <a:buNone/>
            </a:pPr>
            <a:r>
              <a:rPr lang="en-US" sz="1000" b="1" dirty="0">
                <a:solidFill>
                  <a:srgbClr val="7A6470"/>
                </a:solidFill>
                <a:latin typeface="Calibri" pitchFamily="34" charset="0"/>
                <a:ea typeface="Calibri" pitchFamily="34" charset="-122"/>
                <a:cs typeface="Calibri" pitchFamily="34" charset="-120"/>
              </a:rPr>
              <a:t>Accept</a:t>
            </a:r>
            <a:endParaRPr lang="en-US" sz="1000" dirty="0"/>
          </a:p>
        </p:txBody>
      </p:sp>
      <p:sp>
        <p:nvSpPr>
          <p:cNvPr id="53" name="Shape 42"/>
          <p:cNvSpPr/>
          <p:nvPr/>
        </p:nvSpPr>
        <p:spPr>
          <a:xfrm>
            <a:off x="14703552" y="3268980"/>
            <a:ext cx="3099816" cy="1339596"/>
          </a:xfrm>
          <a:prstGeom prst="rect">
            <a:avLst/>
          </a:prstGeom>
          <a:solidFill>
            <a:srgbClr val="FCEFD6"/>
          </a:solidFill>
          <a:ln w="12700">
            <a:solidFill>
              <a:srgbClr val="FCEFD6"/>
            </a:solidFill>
            <a:prstDash val="solid"/>
          </a:ln>
        </p:spPr>
      </p:sp>
      <p:sp>
        <p:nvSpPr>
          <p:cNvPr id="54" name="Text 43"/>
          <p:cNvSpPr txBox="1"/>
          <p:nvPr/>
        </p:nvSpPr>
        <p:spPr>
          <a:xfrm>
            <a:off x="14776704" y="3305556"/>
            <a:ext cx="2953512" cy="228600"/>
          </a:xfrm>
          <a:prstGeom prst="rect">
            <a:avLst/>
          </a:prstGeom>
          <a:noFill/>
          <a:ln/>
        </p:spPr>
        <p:txBody>
          <a:bodyPr wrap="square" lIns="0" tIns="0" rIns="0" bIns="0" rtlCol="0" anchor="t"/>
          <a:lstStyle/>
          <a:p>
            <a:pPr algn="l" indent="0" marL="0">
              <a:lnSpc>
                <a:spcPct val="100000"/>
              </a:lnSpc>
              <a:buNone/>
            </a:pPr>
            <a:r>
              <a:rPr lang="en-US" sz="1000" b="1" dirty="0">
                <a:solidFill>
                  <a:srgbClr val="7A6470"/>
                </a:solidFill>
                <a:latin typeface="Calibri" pitchFamily="34" charset="0"/>
                <a:ea typeface="Calibri" pitchFamily="34" charset="-122"/>
                <a:cs typeface="Calibri" pitchFamily="34" charset="-120"/>
              </a:rPr>
              <a:t>Monitor</a:t>
            </a:r>
            <a:endParaRPr lang="en-US" sz="1000" dirty="0"/>
          </a:p>
        </p:txBody>
      </p:sp>
      <p:sp>
        <p:nvSpPr>
          <p:cNvPr id="55" name="Text 44"/>
          <p:cNvSpPr txBox="1"/>
          <p:nvPr/>
        </p:nvSpPr>
        <p:spPr>
          <a:xfrm>
            <a:off x="11155680" y="4736592"/>
            <a:ext cx="6775704" cy="228600"/>
          </a:xfrm>
          <a:prstGeom prst="rect">
            <a:avLst/>
          </a:prstGeom>
          <a:noFill/>
          <a:ln/>
        </p:spPr>
        <p:txBody>
          <a:bodyPr wrap="square" lIns="0" tIns="0" rIns="0" bIns="0" rtlCol="0" anchor="t"/>
          <a:lstStyle/>
          <a:p>
            <a:pPr algn="ctr" indent="0" marL="0">
              <a:lnSpc>
                <a:spcPct val="100000"/>
              </a:lnSpc>
              <a:buNone/>
            </a:pPr>
            <a:r>
              <a:rPr lang="en-US" sz="1000" b="1" dirty="0">
                <a:solidFill>
                  <a:srgbClr val="7A6470"/>
                </a:solidFill>
                <a:latin typeface="Calibri" pitchFamily="34" charset="0"/>
                <a:ea typeface="Calibri" pitchFamily="34" charset="-122"/>
                <a:cs typeface="Calibri" pitchFamily="34" charset="-120"/>
              </a:rPr>
              <a:t>IMPACT →</a:t>
            </a:r>
            <a:endParaRPr lang="en-US" sz="1000" dirty="0"/>
          </a:p>
        </p:txBody>
      </p:sp>
      <p:sp>
        <p:nvSpPr>
          <p:cNvPr id="56" name="Text 45"/>
          <p:cNvSpPr txBox="1"/>
          <p:nvPr/>
        </p:nvSpPr>
        <p:spPr>
          <a:xfrm rot="16200000">
            <a:off x="9966960" y="3113532"/>
            <a:ext cx="2651760" cy="228600"/>
          </a:xfrm>
          <a:prstGeom prst="rect">
            <a:avLst/>
          </a:prstGeom>
          <a:noFill/>
          <a:ln/>
        </p:spPr>
        <p:txBody>
          <a:bodyPr wrap="square" lIns="0" tIns="0" rIns="0" bIns="0" rtlCol="0" anchor="t"/>
          <a:lstStyle/>
          <a:p>
            <a:pPr algn="ctr" indent="0" marL="0">
              <a:lnSpc>
                <a:spcPct val="100000"/>
              </a:lnSpc>
              <a:buNone/>
            </a:pPr>
            <a:r>
              <a:rPr lang="en-US" sz="1000" b="1" dirty="0">
                <a:solidFill>
                  <a:srgbClr val="7A6470"/>
                </a:solidFill>
                <a:latin typeface="Calibri" pitchFamily="34" charset="0"/>
                <a:ea typeface="Calibri" pitchFamily="34" charset="-122"/>
                <a:cs typeface="Calibri" pitchFamily="34" charset="-120"/>
              </a:rPr>
              <a:t>LIKELIHOOD →</a:t>
            </a:r>
            <a:endParaRPr lang="en-US" sz="1000" dirty="0"/>
          </a:p>
        </p:txBody>
      </p:sp>
      <p:sp>
        <p:nvSpPr>
          <p:cNvPr id="57" name="Shape 46"/>
          <p:cNvSpPr/>
          <p:nvPr/>
        </p:nvSpPr>
        <p:spPr>
          <a:xfrm>
            <a:off x="16716146" y="2260397"/>
            <a:ext cx="365760" cy="365760"/>
          </a:xfrm>
          <a:prstGeom prst="ellipse">
            <a:avLst/>
          </a:prstGeom>
          <a:solidFill>
            <a:srgbClr val="560547"/>
          </a:solidFill>
          <a:ln w="19050">
            <a:solidFill>
              <a:srgbClr val="FFFFFF"/>
            </a:solidFill>
            <a:prstDash val="solid"/>
          </a:ln>
        </p:spPr>
      </p:sp>
      <p:sp>
        <p:nvSpPr>
          <p:cNvPr id="58" name="Text 47"/>
          <p:cNvSpPr txBox="1"/>
          <p:nvPr/>
        </p:nvSpPr>
        <p:spPr>
          <a:xfrm>
            <a:off x="16716146" y="2260397"/>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59" name="Shape 48"/>
          <p:cNvSpPr/>
          <p:nvPr/>
        </p:nvSpPr>
        <p:spPr>
          <a:xfrm>
            <a:off x="14207033" y="2948483"/>
            <a:ext cx="365760" cy="365760"/>
          </a:xfrm>
          <a:prstGeom prst="ellipse">
            <a:avLst/>
          </a:prstGeom>
          <a:solidFill>
            <a:srgbClr val="560547"/>
          </a:solidFill>
          <a:ln w="19050">
            <a:solidFill>
              <a:srgbClr val="FFFFFF"/>
            </a:solidFill>
            <a:prstDash val="solid"/>
          </a:ln>
        </p:spPr>
      </p:sp>
      <p:sp>
        <p:nvSpPr>
          <p:cNvPr id="60" name="Text 49"/>
          <p:cNvSpPr txBox="1"/>
          <p:nvPr/>
        </p:nvSpPr>
        <p:spPr>
          <a:xfrm>
            <a:off x="14207033" y="2948483"/>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61" name="Shape 50"/>
          <p:cNvSpPr/>
          <p:nvPr/>
        </p:nvSpPr>
        <p:spPr>
          <a:xfrm>
            <a:off x="15900684" y="2755819"/>
            <a:ext cx="365760" cy="365760"/>
          </a:xfrm>
          <a:prstGeom prst="ellipse">
            <a:avLst/>
          </a:prstGeom>
          <a:solidFill>
            <a:srgbClr val="560547"/>
          </a:solidFill>
          <a:ln w="19050">
            <a:solidFill>
              <a:srgbClr val="FFFFFF"/>
            </a:solidFill>
            <a:prstDash val="solid"/>
          </a:ln>
        </p:spPr>
      </p:sp>
      <p:sp>
        <p:nvSpPr>
          <p:cNvPr id="62" name="Text 51"/>
          <p:cNvSpPr txBox="1"/>
          <p:nvPr/>
        </p:nvSpPr>
        <p:spPr>
          <a:xfrm>
            <a:off x="15900684" y="2755819"/>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63" name="Shape 52"/>
          <p:cNvSpPr/>
          <p:nvPr/>
        </p:nvSpPr>
        <p:spPr>
          <a:xfrm>
            <a:off x="15147950" y="3416381"/>
            <a:ext cx="365760" cy="365760"/>
          </a:xfrm>
          <a:prstGeom prst="ellipse">
            <a:avLst/>
          </a:prstGeom>
          <a:solidFill>
            <a:srgbClr val="560547"/>
          </a:solidFill>
          <a:ln w="19050">
            <a:solidFill>
              <a:srgbClr val="FFFFFF"/>
            </a:solidFill>
            <a:prstDash val="solid"/>
          </a:ln>
        </p:spPr>
      </p:sp>
      <p:sp>
        <p:nvSpPr>
          <p:cNvPr id="64" name="Text 53"/>
          <p:cNvSpPr txBox="1"/>
          <p:nvPr/>
        </p:nvSpPr>
        <p:spPr>
          <a:xfrm>
            <a:off x="15147950" y="3416381"/>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65" name="Shape 54"/>
          <p:cNvSpPr/>
          <p:nvPr/>
        </p:nvSpPr>
        <p:spPr>
          <a:xfrm>
            <a:off x="17029786" y="3774186"/>
            <a:ext cx="365760" cy="365760"/>
          </a:xfrm>
          <a:prstGeom prst="ellipse">
            <a:avLst/>
          </a:prstGeom>
          <a:solidFill>
            <a:srgbClr val="560547"/>
          </a:solidFill>
          <a:ln w="19050">
            <a:solidFill>
              <a:srgbClr val="FFFFFF"/>
            </a:solidFill>
            <a:prstDash val="solid"/>
          </a:ln>
        </p:spPr>
      </p:sp>
      <p:sp>
        <p:nvSpPr>
          <p:cNvPr id="66" name="Text 55"/>
          <p:cNvSpPr txBox="1"/>
          <p:nvPr/>
        </p:nvSpPr>
        <p:spPr>
          <a:xfrm>
            <a:off x="17029786" y="3774186"/>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67" name="Shape 56"/>
          <p:cNvSpPr/>
          <p:nvPr/>
        </p:nvSpPr>
        <p:spPr>
          <a:xfrm>
            <a:off x="14834311" y="2535631"/>
            <a:ext cx="365760" cy="365760"/>
          </a:xfrm>
          <a:prstGeom prst="ellipse">
            <a:avLst/>
          </a:prstGeom>
          <a:solidFill>
            <a:srgbClr val="560547"/>
          </a:solidFill>
          <a:ln w="19050">
            <a:solidFill>
              <a:srgbClr val="FFFFFF"/>
            </a:solidFill>
            <a:prstDash val="solid"/>
          </a:ln>
        </p:spPr>
      </p:sp>
      <p:sp>
        <p:nvSpPr>
          <p:cNvPr id="68" name="Text 57"/>
          <p:cNvSpPr txBox="1"/>
          <p:nvPr/>
        </p:nvSpPr>
        <p:spPr>
          <a:xfrm>
            <a:off x="14834311" y="2535631"/>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69" name="Shape 58"/>
          <p:cNvSpPr/>
          <p:nvPr/>
        </p:nvSpPr>
        <p:spPr>
          <a:xfrm>
            <a:off x="13579754" y="2122780"/>
            <a:ext cx="365760" cy="365760"/>
          </a:xfrm>
          <a:prstGeom prst="ellipse">
            <a:avLst/>
          </a:prstGeom>
          <a:solidFill>
            <a:srgbClr val="560547"/>
          </a:solidFill>
          <a:ln w="19050">
            <a:solidFill>
              <a:srgbClr val="FFFFFF"/>
            </a:solidFill>
            <a:prstDash val="solid"/>
          </a:ln>
        </p:spPr>
      </p:sp>
      <p:sp>
        <p:nvSpPr>
          <p:cNvPr id="70" name="Text 59"/>
          <p:cNvSpPr txBox="1"/>
          <p:nvPr/>
        </p:nvSpPr>
        <p:spPr>
          <a:xfrm>
            <a:off x="13579754" y="2122780"/>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71" name="Shape 60"/>
          <p:cNvSpPr/>
          <p:nvPr/>
        </p:nvSpPr>
        <p:spPr>
          <a:xfrm>
            <a:off x="16088868" y="3911803"/>
            <a:ext cx="365760" cy="365760"/>
          </a:xfrm>
          <a:prstGeom prst="ellipse">
            <a:avLst/>
          </a:prstGeom>
          <a:solidFill>
            <a:srgbClr val="560547"/>
          </a:solidFill>
          <a:ln w="19050">
            <a:solidFill>
              <a:srgbClr val="FFFFFF"/>
            </a:solidFill>
            <a:prstDash val="solid"/>
          </a:ln>
        </p:spPr>
      </p:sp>
      <p:sp>
        <p:nvSpPr>
          <p:cNvPr id="72" name="Text 61"/>
          <p:cNvSpPr txBox="1"/>
          <p:nvPr/>
        </p:nvSpPr>
        <p:spPr>
          <a:xfrm>
            <a:off x="16088868" y="3911803"/>
            <a:ext cx="365760" cy="36576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73" name="Shape 62"/>
          <p:cNvSpPr/>
          <p:nvPr/>
        </p:nvSpPr>
        <p:spPr>
          <a:xfrm>
            <a:off x="11027664" y="5212080"/>
            <a:ext cx="7031736" cy="3803904"/>
          </a:xfrm>
          <a:prstGeom prst="rect">
            <a:avLst/>
          </a:prstGeom>
          <a:solidFill>
            <a:srgbClr val="FFFFFF"/>
          </a:solidFill>
          <a:ln w="9525">
            <a:solidFill>
              <a:srgbClr val="E0CEDA"/>
            </a:solidFill>
            <a:prstDash val="solid"/>
          </a:ln>
        </p:spPr>
      </p:sp>
      <p:sp>
        <p:nvSpPr>
          <p:cNvPr id="74" name="Shape 63"/>
          <p:cNvSpPr/>
          <p:nvPr/>
        </p:nvSpPr>
        <p:spPr>
          <a:xfrm>
            <a:off x="11027664" y="5212080"/>
            <a:ext cx="7031736" cy="329184"/>
          </a:xfrm>
          <a:prstGeom prst="rect">
            <a:avLst/>
          </a:prstGeom>
          <a:solidFill>
            <a:srgbClr val="560547"/>
          </a:solidFill>
          <a:ln w="12700">
            <a:solidFill>
              <a:srgbClr val="560547"/>
            </a:solidFill>
            <a:prstDash val="solid"/>
          </a:ln>
        </p:spPr>
      </p:sp>
      <p:pic>
        <p:nvPicPr>
          <p:cNvPr id="75" name="Image 6" descr="/private/tmp/claude-501/-Users-prathmeshwalimbe-Downloads-Meesho/dfec39d5-f971-4a3a-8cfb-761f4ef1fedb/scratchpad/deck/assets/icons/FaRocket_w.png">    </p:cNvPr>
          <p:cNvPicPr>
            <a:picLocks noChangeAspect="1"/>
          </p:cNvPicPr>
          <p:nvPr/>
        </p:nvPicPr>
        <p:blipFill>
          <a:blip r:embed="rId7"/>
          <a:stretch>
            <a:fillRect/>
          </a:stretch>
        </p:blipFill>
        <p:spPr>
          <a:xfrm>
            <a:off x="11137392" y="5276088"/>
            <a:ext cx="201168" cy="201168"/>
          </a:xfrm>
          <a:prstGeom prst="rect">
            <a:avLst/>
          </a:prstGeom>
        </p:spPr>
      </p:pic>
      <p:sp>
        <p:nvSpPr>
          <p:cNvPr id="76" name="Text 64"/>
          <p:cNvSpPr txBox="1"/>
          <p:nvPr/>
        </p:nvSpPr>
        <p:spPr>
          <a:xfrm>
            <a:off x="11411712" y="5212080"/>
            <a:ext cx="6519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10X PATH · FROM PILOT TO SUPPLY ENGINE</a:t>
            </a:r>
            <a:endParaRPr lang="en-US" sz="1250" dirty="0"/>
          </a:p>
        </p:txBody>
      </p:sp>
      <p:sp>
        <p:nvSpPr>
          <p:cNvPr id="77" name="Shape 65"/>
          <p:cNvSpPr/>
          <p:nvPr/>
        </p:nvSpPr>
        <p:spPr>
          <a:xfrm>
            <a:off x="11155680" y="8046720"/>
            <a:ext cx="6775704" cy="713232"/>
          </a:xfrm>
          <a:prstGeom prst="roundRect">
            <a:avLst>
              <a:gd name="adj" fmla="val 6410"/>
            </a:avLst>
          </a:prstGeom>
          <a:solidFill>
            <a:srgbClr val="F2E4EE"/>
          </a:solidFill>
          <a:ln w="12700">
            <a:solidFill>
              <a:srgbClr val="F2E4EE"/>
            </a:solidFill>
            <a:prstDash val="solid"/>
          </a:ln>
        </p:spPr>
      </p:sp>
      <p:sp>
        <p:nvSpPr>
          <p:cNvPr id="78" name="Text 66"/>
          <p:cNvSpPr txBox="1"/>
          <p:nvPr/>
        </p:nvSpPr>
        <p:spPr>
          <a:xfrm>
            <a:off x="11247120" y="8046720"/>
            <a:ext cx="868680" cy="713232"/>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Year 1</a:t>
            </a:r>
            <a:endParaRPr lang="en-US" sz="1150" dirty="0"/>
          </a:p>
        </p:txBody>
      </p:sp>
      <p:sp>
        <p:nvSpPr>
          <p:cNvPr id="79" name="Text 67"/>
          <p:cNvSpPr txBox="1"/>
          <p:nvPr/>
        </p:nvSpPr>
        <p:spPr>
          <a:xfrm>
            <a:off x="12143232" y="8065008"/>
            <a:ext cx="5696712" cy="676656"/>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2 clusters · 60 → 450 sellers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Prove the gap at ₹0 capex; gate the money</a:t>
            </a:r>
            <a:endParaRPr lang="en-US" sz="1200" dirty="0"/>
          </a:p>
        </p:txBody>
      </p:sp>
      <p:sp>
        <p:nvSpPr>
          <p:cNvPr id="80" name="Shape 68"/>
          <p:cNvSpPr/>
          <p:nvPr/>
        </p:nvSpPr>
        <p:spPr>
          <a:xfrm>
            <a:off x="11475720" y="7242048"/>
            <a:ext cx="6455664" cy="713232"/>
          </a:xfrm>
          <a:prstGeom prst="roundRect">
            <a:avLst>
              <a:gd name="adj" fmla="val 6410"/>
            </a:avLst>
          </a:prstGeom>
          <a:solidFill>
            <a:srgbClr val="EBD3E2"/>
          </a:solidFill>
          <a:ln w="12700">
            <a:solidFill>
              <a:srgbClr val="EBD3E2"/>
            </a:solidFill>
            <a:prstDash val="solid"/>
          </a:ln>
        </p:spPr>
      </p:sp>
      <p:sp>
        <p:nvSpPr>
          <p:cNvPr id="81" name="Text 69"/>
          <p:cNvSpPr txBox="1"/>
          <p:nvPr/>
        </p:nvSpPr>
        <p:spPr>
          <a:xfrm>
            <a:off x="11567160" y="7242048"/>
            <a:ext cx="868680" cy="713232"/>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Year 2</a:t>
            </a:r>
            <a:endParaRPr lang="en-US" sz="1150" dirty="0"/>
          </a:p>
        </p:txBody>
      </p:sp>
      <p:sp>
        <p:nvSpPr>
          <p:cNvPr id="82" name="Text 70"/>
          <p:cNvSpPr txBox="1"/>
          <p:nvPr/>
        </p:nvSpPr>
        <p:spPr>
          <a:xfrm>
            <a:off x="12463272" y="7260336"/>
            <a:ext cx="5376672" cy="676656"/>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5 clusters · 6 nodes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Briefs and batches become the default onboarding path</a:t>
            </a:r>
            <a:endParaRPr lang="en-US" sz="1200" dirty="0"/>
          </a:p>
        </p:txBody>
      </p:sp>
      <p:sp>
        <p:nvSpPr>
          <p:cNvPr id="83" name="Shape 71"/>
          <p:cNvSpPr/>
          <p:nvPr/>
        </p:nvSpPr>
        <p:spPr>
          <a:xfrm>
            <a:off x="11795760" y="6437376"/>
            <a:ext cx="6135624" cy="713232"/>
          </a:xfrm>
          <a:prstGeom prst="roundRect">
            <a:avLst>
              <a:gd name="adj" fmla="val 6410"/>
            </a:avLst>
          </a:prstGeom>
          <a:solidFill>
            <a:srgbClr val="DDB8CE"/>
          </a:solidFill>
          <a:ln w="12700">
            <a:solidFill>
              <a:srgbClr val="DDB8CE"/>
            </a:solidFill>
            <a:prstDash val="solid"/>
          </a:ln>
        </p:spPr>
      </p:sp>
      <p:sp>
        <p:nvSpPr>
          <p:cNvPr id="84" name="Text 72"/>
          <p:cNvSpPr txBox="1"/>
          <p:nvPr/>
        </p:nvSpPr>
        <p:spPr>
          <a:xfrm>
            <a:off x="11887200" y="6437376"/>
            <a:ext cx="868680" cy="713232"/>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Year 4</a:t>
            </a:r>
            <a:endParaRPr lang="en-US" sz="1150" dirty="0"/>
          </a:p>
        </p:txBody>
      </p:sp>
      <p:sp>
        <p:nvSpPr>
          <p:cNvPr id="85" name="Text 73"/>
          <p:cNvSpPr txBox="1"/>
          <p:nvPr/>
        </p:nvSpPr>
        <p:spPr>
          <a:xfrm>
            <a:off x="12783312" y="6455664"/>
            <a:ext cx="5056632" cy="676656"/>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12 clusters · 1,400 sellers · ₹1,995 cr</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4.8% of FY26 NMV structurally cheaper</a:t>
            </a:r>
            <a:endParaRPr lang="en-US" sz="1200" dirty="0"/>
          </a:p>
        </p:txBody>
      </p:sp>
      <p:sp>
        <p:nvSpPr>
          <p:cNvPr id="86" name="Shape 74"/>
          <p:cNvSpPr/>
          <p:nvPr/>
        </p:nvSpPr>
        <p:spPr>
          <a:xfrm>
            <a:off x="12115800" y="5632704"/>
            <a:ext cx="5815584" cy="713232"/>
          </a:xfrm>
          <a:prstGeom prst="roundRect">
            <a:avLst>
              <a:gd name="adj" fmla="val 6410"/>
            </a:avLst>
          </a:prstGeom>
          <a:solidFill>
            <a:srgbClr val="FF9D00"/>
          </a:solidFill>
          <a:ln w="12700">
            <a:solidFill>
              <a:srgbClr val="FF9D00"/>
            </a:solidFill>
            <a:prstDash val="solid"/>
          </a:ln>
        </p:spPr>
      </p:sp>
      <p:sp>
        <p:nvSpPr>
          <p:cNvPr id="87" name="Text 75"/>
          <p:cNvSpPr txBox="1"/>
          <p:nvPr/>
        </p:nvSpPr>
        <p:spPr>
          <a:xfrm>
            <a:off x="12207240" y="5632704"/>
            <a:ext cx="868680" cy="713232"/>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Year 5+</a:t>
            </a:r>
            <a:endParaRPr lang="en-US" sz="1150" dirty="0"/>
          </a:p>
        </p:txBody>
      </p:sp>
      <p:sp>
        <p:nvSpPr>
          <p:cNvPr id="88" name="Text 76"/>
          <p:cNvSpPr txBox="1"/>
          <p:nvPr/>
        </p:nvSpPr>
        <p:spPr>
          <a:xfrm>
            <a:off x="13103352" y="5650992"/>
            <a:ext cx="4736592" cy="676656"/>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Factory brands on Meesho Mall</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“Value brands … for a billion people” (Aatrey): graduates brand their own lines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568704"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461512" y="182880"/>
            <a:ext cx="1568704"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49808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5094224" y="182880"/>
            <a:ext cx="1568704"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513080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726936" y="182880"/>
            <a:ext cx="1568704"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76351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8359648" y="182880"/>
            <a:ext cx="1568704"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8396224"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992360" y="182880"/>
            <a:ext cx="1568704"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10028936"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1625072" y="182880"/>
            <a:ext cx="1568704"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1661648"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3257784" y="182880"/>
            <a:ext cx="1568704"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3294360"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4890496" y="182880"/>
            <a:ext cx="1568704" cy="502920"/>
          </a:xfrm>
          <a:prstGeom prst="roundRect">
            <a:avLst>
              <a:gd name="adj" fmla="val 14545"/>
            </a:avLst>
          </a:prstGeom>
          <a:solidFill>
            <a:srgbClr val="560547"/>
          </a:solidFill>
          <a:ln w="9525">
            <a:solidFill>
              <a:srgbClr val="560547"/>
            </a:solidFill>
            <a:prstDash val="solid"/>
          </a:ln>
        </p:spPr>
      </p:sp>
      <p:sp>
        <p:nvSpPr>
          <p:cNvPr id="22" name="Text 18"/>
          <p:cNvSpPr txBox="1"/>
          <p:nvPr/>
        </p:nvSpPr>
        <p:spPr>
          <a:xfrm>
            <a:off x="14927072" y="182880"/>
            <a:ext cx="1495552"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9 · PROTOTYPE</a:t>
            </a:r>
            <a:endParaRPr lang="en-US" sz="950" dirty="0"/>
          </a:p>
        </p:txBody>
      </p:sp>
      <p:sp>
        <p:nvSpPr>
          <p:cNvPr id="23" name="Shape 19"/>
          <p:cNvSpPr/>
          <p:nvPr/>
        </p:nvSpPr>
        <p:spPr>
          <a:xfrm>
            <a:off x="228600" y="987552"/>
            <a:ext cx="384048" cy="8083296"/>
          </a:xfrm>
          <a:prstGeom prst="rect">
            <a:avLst/>
          </a:prstGeom>
          <a:solidFill>
            <a:srgbClr val="6E1251"/>
          </a:solidFill>
          <a:ln w="12700">
            <a:solidFill>
              <a:srgbClr val="6E1251"/>
            </a:solidFill>
            <a:prstDash val="solid"/>
          </a:ln>
        </p:spPr>
      </p:sp>
      <p:sp>
        <p:nvSpPr>
          <p:cNvPr id="24" name="Text 20"/>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IT RUNS</a:t>
            </a:r>
            <a:endParaRPr lang="en-US" sz="1200" dirty="0"/>
          </a:p>
        </p:txBody>
      </p:sp>
      <p:sp>
        <p:nvSpPr>
          <p:cNvPr id="25" name="Text 21"/>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Q9 · Does it actually work? The working prototype, live</a:t>
            </a:r>
            <a:endParaRPr lang="en-US" sz="1700" dirty="0"/>
          </a:p>
        </p:txBody>
      </p:sp>
      <p:sp>
        <p:nvSpPr>
          <p:cNvPr id="26" name="Text 22"/>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Built for this submission: React + Recharts, static site. 261 synthetic sellers and 4,415 SKUs across 9 categories, a 60-seller pilot, fixed seed, fictional names. Four model tests run before every deploy. All assumptions live in one config file.</a:t>
            </a:r>
            <a:endParaRPr lang="en-US" sz="1000" dirty="0"/>
          </a:p>
        </p:txBody>
      </p:sp>
      <p:sp>
        <p:nvSpPr>
          <p:cNvPr id="27" name="Shape 23"/>
          <p:cNvSpPr/>
          <p:nvPr/>
        </p:nvSpPr>
        <p:spPr>
          <a:xfrm>
            <a:off x="228600" y="9400032"/>
            <a:ext cx="17830800" cy="603504"/>
          </a:xfrm>
          <a:prstGeom prst="rect">
            <a:avLst/>
          </a:prstGeom>
          <a:solidFill>
            <a:srgbClr val="560547"/>
          </a:solidFill>
          <a:ln w="12700">
            <a:solidFill>
              <a:srgbClr val="560547"/>
            </a:solidFill>
            <a:prstDash val="solid"/>
          </a:ln>
        </p:spPr>
      </p:sp>
      <p:sp>
        <p:nvSpPr>
          <p:cNvPr id="28" name="Shape 24"/>
          <p:cNvSpPr/>
          <p:nvPr/>
        </p:nvSpPr>
        <p:spPr>
          <a:xfrm>
            <a:off x="411480" y="9592056"/>
            <a:ext cx="219456" cy="219456"/>
          </a:xfrm>
          <a:prstGeom prst="rect">
            <a:avLst/>
          </a:prstGeom>
          <a:solidFill>
            <a:srgbClr val="FF9D00"/>
          </a:solidFill>
          <a:ln w="12700">
            <a:solidFill>
              <a:srgbClr val="FF9D00"/>
            </a:solidFill>
            <a:prstDash val="solid"/>
          </a:ln>
        </p:spPr>
      </p:sp>
      <p:sp>
        <p:nvSpPr>
          <p:cNvPr id="29" name="Text 25"/>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The prototype runs the whole loop on synthetic data (screen, experiment, daily score, manufacturer app), and every rule in it would run unchanged on Meesho’s delivered-order and listing tables.</a:t>
            </a:r>
            <a:endParaRPr lang="en-US" sz="1400" dirty="0"/>
          </a:p>
        </p:txBody>
      </p:sp>
      <p:pic>
        <p:nvPicPr>
          <p:cNvPr id="30"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2" name="Shape 26"/>
          <p:cNvSpPr/>
          <p:nvPr/>
        </p:nvSpPr>
        <p:spPr>
          <a:xfrm>
            <a:off x="749808" y="1426464"/>
            <a:ext cx="6954012" cy="3730752"/>
          </a:xfrm>
          <a:prstGeom prst="rect">
            <a:avLst/>
          </a:prstGeom>
          <a:solidFill>
            <a:srgbClr val="FFFFFF"/>
          </a:solidFill>
          <a:ln w="9525">
            <a:solidFill>
              <a:srgbClr val="E0CEDA"/>
            </a:solidFill>
            <a:prstDash val="solid"/>
          </a:ln>
        </p:spPr>
      </p:sp>
      <p:sp>
        <p:nvSpPr>
          <p:cNvPr id="33" name="Shape 27"/>
          <p:cNvSpPr/>
          <p:nvPr/>
        </p:nvSpPr>
        <p:spPr>
          <a:xfrm>
            <a:off x="749808" y="1426464"/>
            <a:ext cx="6954012" cy="329184"/>
          </a:xfrm>
          <a:prstGeom prst="rect">
            <a:avLst/>
          </a:prstGeom>
          <a:solidFill>
            <a:srgbClr val="560547"/>
          </a:solidFill>
          <a:ln w="12700">
            <a:solidFill>
              <a:srgbClr val="560547"/>
            </a:solidFill>
            <a:prstDash val="solid"/>
          </a:ln>
        </p:spPr>
      </p:sp>
      <p:pic>
        <p:nvPicPr>
          <p:cNvPr id="34" name="Image 3" descr="/private/tmp/claude-501/-Users-prathmeshwalimbe-Downloads-Meesho/dfec39d5-f971-4a3a-8cfb-761f4ef1fedb/scratchpad/deck/assets/icons/FaCalculator_w.png">    </p:cNvPr>
          <p:cNvPicPr>
            <a:picLocks noChangeAspect="1"/>
          </p:cNvPicPr>
          <p:nvPr/>
        </p:nvPicPr>
        <p:blipFill>
          <a:blip r:embed="rId4"/>
          <a:stretch>
            <a:fillRect/>
          </a:stretch>
        </p:blipFill>
        <p:spPr>
          <a:xfrm>
            <a:off x="859536" y="1490472"/>
            <a:ext cx="201168" cy="201168"/>
          </a:xfrm>
          <a:prstGeom prst="rect">
            <a:avLst/>
          </a:prstGeom>
        </p:spPr>
      </p:pic>
      <p:sp>
        <p:nvSpPr>
          <p:cNvPr id="35" name="Text 28"/>
          <p:cNvSpPr txBox="1"/>
          <p:nvPr/>
        </p:nvSpPr>
        <p:spPr>
          <a:xfrm>
            <a:off x="1133856" y="1426464"/>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1 · PRICE TRUTH INDEX</a:t>
            </a:r>
            <a:endParaRPr lang="en-US" sz="1250" dirty="0"/>
          </a:p>
        </p:txBody>
      </p:sp>
      <p:sp>
        <p:nvSpPr>
          <p:cNvPr id="36" name="Shape 29"/>
          <p:cNvSpPr/>
          <p:nvPr/>
        </p:nvSpPr>
        <p:spPr>
          <a:xfrm>
            <a:off x="2257262" y="1837944"/>
            <a:ext cx="3939105" cy="2752344"/>
          </a:xfrm>
          <a:prstGeom prst="rect">
            <a:avLst/>
          </a:prstGeom>
          <a:solidFill>
            <a:srgbClr val="FFFFFF"/>
          </a:solidFill>
          <a:ln w="9525">
            <a:solidFill>
              <a:srgbClr val="E0CEDA"/>
            </a:solidFill>
            <a:prstDash val="solid"/>
          </a:ln>
        </p:spPr>
      </p:sp>
      <p:pic>
        <p:nvPicPr>
          <p:cNvPr id="37" name="Image 4" descr="/private/tmp/claude-501/-Users-prathmeshwalimbe-Downloads-Meesho/dfec39d5-f971-4a3a-8cfb-761f4ef1fedb/scratchpad/deck/assets/shot_pti_scatter.png">    </p:cNvPr>
          <p:cNvPicPr>
            <a:picLocks noChangeAspect="1"/>
          </p:cNvPicPr>
          <p:nvPr/>
        </p:nvPicPr>
        <p:blipFill>
          <a:blip r:embed="rId5"/>
          <a:stretch>
            <a:fillRect/>
          </a:stretch>
        </p:blipFill>
        <p:spPr>
          <a:xfrm>
            <a:off x="2266406" y="1847088"/>
            <a:ext cx="3920817" cy="2734056"/>
          </a:xfrm>
          <a:prstGeom prst="rect">
            <a:avLst/>
          </a:prstGeom>
        </p:spPr>
      </p:pic>
      <p:sp>
        <p:nvSpPr>
          <p:cNvPr id="38" name="Shape 30"/>
          <p:cNvSpPr/>
          <p:nvPr/>
        </p:nvSpPr>
        <p:spPr>
          <a:xfrm>
            <a:off x="877824" y="4672584"/>
            <a:ext cx="6697980" cy="457200"/>
          </a:xfrm>
          <a:prstGeom prst="roundRect">
            <a:avLst>
              <a:gd name="adj" fmla="val 8000"/>
            </a:avLst>
          </a:prstGeom>
          <a:solidFill>
            <a:srgbClr val="F2E4EE"/>
          </a:solidFill>
          <a:ln w="12700">
            <a:solidFill>
              <a:srgbClr val="F2E4EE"/>
            </a:solidFill>
            <a:prstDash val="solid"/>
          </a:ln>
        </p:spPr>
      </p:sp>
      <p:sp>
        <p:nvSpPr>
          <p:cNvPr id="39" name="Text 31"/>
          <p:cNvSpPr txBox="1"/>
          <p:nvPr/>
        </p:nvSpPr>
        <p:spPr>
          <a:xfrm>
            <a:off x="969264" y="4672584"/>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180 screened · 62 pass · 7 of the 10 largest fail</a:t>
            </a:r>
            <a:endParaRPr lang="en-US" sz="1100" dirty="0"/>
          </a:p>
        </p:txBody>
      </p:sp>
      <p:sp>
        <p:nvSpPr>
          <p:cNvPr id="40" name="Shape 32"/>
          <p:cNvSpPr/>
          <p:nvPr/>
        </p:nvSpPr>
        <p:spPr>
          <a:xfrm>
            <a:off x="7831836" y="1426464"/>
            <a:ext cx="6954012" cy="3730752"/>
          </a:xfrm>
          <a:prstGeom prst="rect">
            <a:avLst/>
          </a:prstGeom>
          <a:solidFill>
            <a:srgbClr val="FFFFFF"/>
          </a:solidFill>
          <a:ln w="9525">
            <a:solidFill>
              <a:srgbClr val="E0CEDA"/>
            </a:solidFill>
            <a:prstDash val="solid"/>
          </a:ln>
        </p:spPr>
      </p:sp>
      <p:sp>
        <p:nvSpPr>
          <p:cNvPr id="41" name="Shape 33"/>
          <p:cNvSpPr/>
          <p:nvPr/>
        </p:nvSpPr>
        <p:spPr>
          <a:xfrm>
            <a:off x="7831836" y="1426464"/>
            <a:ext cx="6954012" cy="329184"/>
          </a:xfrm>
          <a:prstGeom prst="rect">
            <a:avLst/>
          </a:prstGeom>
          <a:solidFill>
            <a:srgbClr val="560547"/>
          </a:solidFill>
          <a:ln w="12700">
            <a:solidFill>
              <a:srgbClr val="560547"/>
            </a:solidFill>
            <a:prstDash val="solid"/>
          </a:ln>
        </p:spPr>
      </p:sp>
      <p:pic>
        <p:nvPicPr>
          <p:cNvPr id="42" name="Image 5" descr="/private/tmp/claude-501/-Users-prathmeshwalimbe-Downloads-Meesho/dfec39d5-f971-4a3a-8cfb-761f4ef1fedb/scratchpad/deck/assets/icons/FaFlask_w.png">    </p:cNvPr>
          <p:cNvPicPr>
            <a:picLocks noChangeAspect="1"/>
          </p:cNvPicPr>
          <p:nvPr/>
        </p:nvPicPr>
        <p:blipFill>
          <a:blip r:embed="rId6"/>
          <a:stretch>
            <a:fillRect/>
          </a:stretch>
        </p:blipFill>
        <p:spPr>
          <a:xfrm>
            <a:off x="7941564" y="1490472"/>
            <a:ext cx="201168" cy="201168"/>
          </a:xfrm>
          <a:prstGeom prst="rect">
            <a:avLst/>
          </a:prstGeom>
        </p:spPr>
      </p:pic>
      <p:sp>
        <p:nvSpPr>
          <p:cNvPr id="43" name="Text 34"/>
          <p:cNvSpPr txBox="1"/>
          <p:nvPr/>
        </p:nvSpPr>
        <p:spPr>
          <a:xfrm>
            <a:off x="8215884" y="1426464"/>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2 · DAY-30 READOUT</a:t>
            </a:r>
            <a:endParaRPr lang="en-US" sz="1250" dirty="0"/>
          </a:p>
        </p:txBody>
      </p:sp>
      <p:sp>
        <p:nvSpPr>
          <p:cNvPr id="44" name="Shape 35"/>
          <p:cNvSpPr/>
          <p:nvPr/>
        </p:nvSpPr>
        <p:spPr>
          <a:xfrm>
            <a:off x="8907869" y="1837944"/>
            <a:ext cx="4801946" cy="2752344"/>
          </a:xfrm>
          <a:prstGeom prst="rect">
            <a:avLst/>
          </a:prstGeom>
          <a:solidFill>
            <a:srgbClr val="FFFFFF"/>
          </a:solidFill>
          <a:ln w="9525">
            <a:solidFill>
              <a:srgbClr val="E0CEDA"/>
            </a:solidFill>
            <a:prstDash val="solid"/>
          </a:ln>
        </p:spPr>
      </p:sp>
      <p:pic>
        <p:nvPicPr>
          <p:cNvPr id="45" name="Image 6" descr="/private/tmp/claude-501/-Users-prathmeshwalimbe-Downloads-Meesho/dfec39d5-f971-4a3a-8cfb-761f4ef1fedb/scratchpad/deck/assets/shot_day30.png">    </p:cNvPr>
          <p:cNvPicPr>
            <a:picLocks noChangeAspect="1"/>
          </p:cNvPicPr>
          <p:nvPr/>
        </p:nvPicPr>
        <p:blipFill>
          <a:blip r:embed="rId7"/>
          <a:stretch>
            <a:fillRect/>
          </a:stretch>
        </p:blipFill>
        <p:spPr>
          <a:xfrm>
            <a:off x="8917013" y="1847088"/>
            <a:ext cx="4783658" cy="2734056"/>
          </a:xfrm>
          <a:prstGeom prst="rect">
            <a:avLst/>
          </a:prstGeom>
        </p:spPr>
      </p:pic>
      <p:sp>
        <p:nvSpPr>
          <p:cNvPr id="46" name="Shape 36"/>
          <p:cNvSpPr/>
          <p:nvPr/>
        </p:nvSpPr>
        <p:spPr>
          <a:xfrm>
            <a:off x="7959852" y="4672584"/>
            <a:ext cx="6697980" cy="457200"/>
          </a:xfrm>
          <a:prstGeom prst="roundRect">
            <a:avLst>
              <a:gd name="adj" fmla="val 8000"/>
            </a:avLst>
          </a:prstGeom>
          <a:solidFill>
            <a:srgbClr val="F2E4EE"/>
          </a:solidFill>
          <a:ln w="12700">
            <a:solidFill>
              <a:srgbClr val="F2E4EE"/>
            </a:solidFill>
            <a:prstDash val="solid"/>
          </a:ln>
        </p:spPr>
      </p:sp>
      <p:sp>
        <p:nvSpPr>
          <p:cNvPr id="47" name="Text 37"/>
          <p:cNvSpPr txBox="1"/>
          <p:nvPr/>
        </p:nvSpPr>
        <p:spPr>
          <a:xfrm>
            <a:off x="8051292" y="4672584"/>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Base +18.2% (CI +15.1% to +21.5%) → fund · weak +4.7% → tighten · decay 40% retained → stop</a:t>
            </a:r>
            <a:endParaRPr lang="en-US" sz="1100" dirty="0"/>
          </a:p>
        </p:txBody>
      </p:sp>
      <p:sp>
        <p:nvSpPr>
          <p:cNvPr id="48" name="Shape 38"/>
          <p:cNvSpPr/>
          <p:nvPr/>
        </p:nvSpPr>
        <p:spPr>
          <a:xfrm>
            <a:off x="749808" y="5285232"/>
            <a:ext cx="6954012" cy="3730752"/>
          </a:xfrm>
          <a:prstGeom prst="rect">
            <a:avLst/>
          </a:prstGeom>
          <a:solidFill>
            <a:srgbClr val="FFFFFF"/>
          </a:solidFill>
          <a:ln w="9525">
            <a:solidFill>
              <a:srgbClr val="E0CEDA"/>
            </a:solidFill>
            <a:prstDash val="solid"/>
          </a:ln>
        </p:spPr>
      </p:sp>
      <p:sp>
        <p:nvSpPr>
          <p:cNvPr id="49" name="Shape 39"/>
          <p:cNvSpPr/>
          <p:nvPr/>
        </p:nvSpPr>
        <p:spPr>
          <a:xfrm>
            <a:off x="749808" y="5285232"/>
            <a:ext cx="6954012" cy="329184"/>
          </a:xfrm>
          <a:prstGeom prst="rect">
            <a:avLst/>
          </a:prstGeom>
          <a:solidFill>
            <a:srgbClr val="560547"/>
          </a:solidFill>
          <a:ln w="12700">
            <a:solidFill>
              <a:srgbClr val="560547"/>
            </a:solidFill>
            <a:prstDash val="solid"/>
          </a:ln>
        </p:spPr>
      </p:sp>
      <p:pic>
        <p:nvPicPr>
          <p:cNvPr id="50" name="Image 7" descr="/private/tmp/claude-501/-Users-prathmeshwalimbe-Downloads-Meesho/dfec39d5-f971-4a3a-8cfb-761f4ef1fedb/scratchpad/deck/assets/icons/FaGaugeHigh_w.png">    </p:cNvPr>
          <p:cNvPicPr>
            <a:picLocks noChangeAspect="1"/>
          </p:cNvPicPr>
          <p:nvPr/>
        </p:nvPicPr>
        <p:blipFill>
          <a:blip r:embed="rId8"/>
          <a:stretch>
            <a:fillRect/>
          </a:stretch>
        </p:blipFill>
        <p:spPr>
          <a:xfrm>
            <a:off x="859536" y="5349240"/>
            <a:ext cx="201168" cy="201168"/>
          </a:xfrm>
          <a:prstGeom prst="rect">
            <a:avLst/>
          </a:prstGeom>
        </p:spPr>
      </p:pic>
      <p:sp>
        <p:nvSpPr>
          <p:cNvPr id="51" name="Text 40"/>
          <p:cNvSpPr txBox="1"/>
          <p:nvPr/>
        </p:nvSpPr>
        <p:spPr>
          <a:xfrm>
            <a:off x="1133856" y="5285232"/>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3 · SELLER HEALTH</a:t>
            </a:r>
            <a:endParaRPr lang="en-US" sz="1250" dirty="0"/>
          </a:p>
        </p:txBody>
      </p:sp>
      <p:sp>
        <p:nvSpPr>
          <p:cNvPr id="52" name="Shape 41"/>
          <p:cNvSpPr/>
          <p:nvPr/>
        </p:nvSpPr>
        <p:spPr>
          <a:xfrm>
            <a:off x="2467037" y="5696712"/>
            <a:ext cx="3519554" cy="2752344"/>
          </a:xfrm>
          <a:prstGeom prst="rect">
            <a:avLst/>
          </a:prstGeom>
          <a:solidFill>
            <a:srgbClr val="FFFFFF"/>
          </a:solidFill>
          <a:ln w="9525">
            <a:solidFill>
              <a:srgbClr val="E0CEDA"/>
            </a:solidFill>
            <a:prstDash val="solid"/>
          </a:ln>
        </p:spPr>
      </p:sp>
      <p:pic>
        <p:nvPicPr>
          <p:cNvPr id="53" name="Image 8" descr="/private/tmp/claude-501/-Users-prathmeshwalimbe-Downloads-Meesho/dfec39d5-f971-4a3a-8cfb-761f4ef1fedb/scratchpad/deck/assets/shot_health_detail.png">    </p:cNvPr>
          <p:cNvPicPr>
            <a:picLocks noChangeAspect="1"/>
          </p:cNvPicPr>
          <p:nvPr/>
        </p:nvPicPr>
        <p:blipFill>
          <a:blip r:embed="rId9"/>
          <a:stretch>
            <a:fillRect/>
          </a:stretch>
        </p:blipFill>
        <p:spPr>
          <a:xfrm>
            <a:off x="2476181" y="5705856"/>
            <a:ext cx="3501266" cy="2734056"/>
          </a:xfrm>
          <a:prstGeom prst="rect">
            <a:avLst/>
          </a:prstGeom>
        </p:spPr>
      </p:pic>
      <p:sp>
        <p:nvSpPr>
          <p:cNvPr id="54" name="Shape 42"/>
          <p:cNvSpPr/>
          <p:nvPr/>
        </p:nvSpPr>
        <p:spPr>
          <a:xfrm>
            <a:off x="877824" y="8531352"/>
            <a:ext cx="6697980" cy="457200"/>
          </a:xfrm>
          <a:prstGeom prst="roundRect">
            <a:avLst>
              <a:gd name="adj" fmla="val 8000"/>
            </a:avLst>
          </a:prstGeom>
          <a:solidFill>
            <a:srgbClr val="F2E4EE"/>
          </a:solidFill>
          <a:ln w="12700">
            <a:solidFill>
              <a:srgbClr val="F2E4EE"/>
            </a:solidFill>
            <a:prstDash val="solid"/>
          </a:ln>
        </p:spPr>
      </p:sp>
      <p:sp>
        <p:nvSpPr>
          <p:cNvPr id="55" name="Text 43"/>
          <p:cNvSpPr txBox="1"/>
          <p:nvPr/>
        </p:nvSpPr>
        <p:spPr>
          <a:xfrm>
            <a:off x="969264" y="8531352"/>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60 sellers scored daily · 90 automated : 3 human · Kavin graduates on D37</a:t>
            </a:r>
            <a:endParaRPr lang="en-US" sz="1100" dirty="0"/>
          </a:p>
        </p:txBody>
      </p:sp>
      <p:sp>
        <p:nvSpPr>
          <p:cNvPr id="56" name="Shape 44"/>
          <p:cNvSpPr/>
          <p:nvPr/>
        </p:nvSpPr>
        <p:spPr>
          <a:xfrm>
            <a:off x="7831836" y="5285232"/>
            <a:ext cx="6954012" cy="3730752"/>
          </a:xfrm>
          <a:prstGeom prst="rect">
            <a:avLst/>
          </a:prstGeom>
          <a:solidFill>
            <a:srgbClr val="FFFFFF"/>
          </a:solidFill>
          <a:ln w="9525">
            <a:solidFill>
              <a:srgbClr val="E0CEDA"/>
            </a:solidFill>
            <a:prstDash val="solid"/>
          </a:ln>
        </p:spPr>
      </p:sp>
      <p:sp>
        <p:nvSpPr>
          <p:cNvPr id="57" name="Shape 45"/>
          <p:cNvSpPr/>
          <p:nvPr/>
        </p:nvSpPr>
        <p:spPr>
          <a:xfrm>
            <a:off x="7831836" y="5285232"/>
            <a:ext cx="6954012" cy="329184"/>
          </a:xfrm>
          <a:prstGeom prst="rect">
            <a:avLst/>
          </a:prstGeom>
          <a:solidFill>
            <a:srgbClr val="560547"/>
          </a:solidFill>
          <a:ln w="12700">
            <a:solidFill>
              <a:srgbClr val="560547"/>
            </a:solidFill>
            <a:prstDash val="solid"/>
          </a:ln>
        </p:spPr>
      </p:sp>
      <p:pic>
        <p:nvPicPr>
          <p:cNvPr id="58" name="Image 9" descr="/private/tmp/claude-501/-Users-prathmeshwalimbe-Downloads-Meesho/dfec39d5-f971-4a3a-8cfb-761f4ef1fedb/scratchpad/deck/assets/icons/FaWhatsapp_w.png">    </p:cNvPr>
          <p:cNvPicPr>
            <a:picLocks noChangeAspect="1"/>
          </p:cNvPicPr>
          <p:nvPr/>
        </p:nvPicPr>
        <p:blipFill>
          <a:blip r:embed="rId10"/>
          <a:stretch>
            <a:fillRect/>
          </a:stretch>
        </p:blipFill>
        <p:spPr>
          <a:xfrm>
            <a:off x="7941564" y="5349240"/>
            <a:ext cx="201168" cy="201168"/>
          </a:xfrm>
          <a:prstGeom prst="rect">
            <a:avLst/>
          </a:prstGeom>
        </p:spPr>
      </p:pic>
      <p:sp>
        <p:nvSpPr>
          <p:cNvPr id="59" name="Text 46"/>
          <p:cNvSpPr txBox="1"/>
          <p:nvPr/>
        </p:nvSpPr>
        <p:spPr>
          <a:xfrm>
            <a:off x="8215884" y="5285232"/>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4 · MANUFACTURER APP</a:t>
            </a:r>
            <a:endParaRPr lang="en-US" sz="1250" dirty="0"/>
          </a:p>
        </p:txBody>
      </p:sp>
      <p:sp>
        <p:nvSpPr>
          <p:cNvPr id="60" name="Shape 47"/>
          <p:cNvSpPr/>
          <p:nvPr/>
        </p:nvSpPr>
        <p:spPr>
          <a:xfrm>
            <a:off x="8357398" y="5696712"/>
            <a:ext cx="1376609" cy="2752344"/>
          </a:xfrm>
          <a:prstGeom prst="rect">
            <a:avLst/>
          </a:prstGeom>
          <a:solidFill>
            <a:srgbClr val="FFFFFF"/>
          </a:solidFill>
          <a:ln w="9525">
            <a:solidFill>
              <a:srgbClr val="E0CEDA"/>
            </a:solidFill>
            <a:prstDash val="solid"/>
          </a:ln>
        </p:spPr>
      </p:sp>
      <p:pic>
        <p:nvPicPr>
          <p:cNvPr id="61" name="Image 10" descr="/private/tmp/claude-501/-Users-prathmeshwalimbe-Downloads-Meesho/dfec39d5-f971-4a3a-8cfb-761f4ef1fedb/scratchpad/deck/assets/shot_phone_price.png">    </p:cNvPr>
          <p:cNvPicPr>
            <a:picLocks noChangeAspect="1"/>
          </p:cNvPicPr>
          <p:nvPr/>
        </p:nvPicPr>
        <p:blipFill>
          <a:blip r:embed="rId11"/>
          <a:stretch>
            <a:fillRect/>
          </a:stretch>
        </p:blipFill>
        <p:spPr>
          <a:xfrm>
            <a:off x="8366542" y="5705856"/>
            <a:ext cx="1358321" cy="2734056"/>
          </a:xfrm>
          <a:prstGeom prst="rect">
            <a:avLst/>
          </a:prstGeom>
        </p:spPr>
      </p:pic>
      <p:sp>
        <p:nvSpPr>
          <p:cNvPr id="62" name="Shape 48"/>
          <p:cNvSpPr/>
          <p:nvPr/>
        </p:nvSpPr>
        <p:spPr>
          <a:xfrm>
            <a:off x="10620538" y="5696712"/>
            <a:ext cx="1376609" cy="2752344"/>
          </a:xfrm>
          <a:prstGeom prst="rect">
            <a:avLst/>
          </a:prstGeom>
          <a:solidFill>
            <a:srgbClr val="FFFFFF"/>
          </a:solidFill>
          <a:ln w="9525">
            <a:solidFill>
              <a:srgbClr val="E0CEDA"/>
            </a:solidFill>
            <a:prstDash val="solid"/>
          </a:ln>
        </p:spPr>
      </p:sp>
      <p:pic>
        <p:nvPicPr>
          <p:cNvPr id="63" name="Image 11" descr="/private/tmp/claude-501/-Users-prathmeshwalimbe-Downloads-Meesho/dfec39d5-f971-4a3a-8cfb-761f4ef1fedb/scratchpad/deck/assets/shot_phone_brief.png">    </p:cNvPr>
          <p:cNvPicPr>
            <a:picLocks noChangeAspect="1"/>
          </p:cNvPicPr>
          <p:nvPr/>
        </p:nvPicPr>
        <p:blipFill>
          <a:blip r:embed="rId12"/>
          <a:stretch>
            <a:fillRect/>
          </a:stretch>
        </p:blipFill>
        <p:spPr>
          <a:xfrm>
            <a:off x="10629682" y="5705856"/>
            <a:ext cx="1358321" cy="2734056"/>
          </a:xfrm>
          <a:prstGeom prst="rect">
            <a:avLst/>
          </a:prstGeom>
        </p:spPr>
      </p:pic>
      <p:sp>
        <p:nvSpPr>
          <p:cNvPr id="64" name="Shape 49"/>
          <p:cNvSpPr/>
          <p:nvPr/>
        </p:nvSpPr>
        <p:spPr>
          <a:xfrm>
            <a:off x="12883678" y="5696712"/>
            <a:ext cx="1376609" cy="2752344"/>
          </a:xfrm>
          <a:prstGeom prst="rect">
            <a:avLst/>
          </a:prstGeom>
          <a:solidFill>
            <a:srgbClr val="FFFFFF"/>
          </a:solidFill>
          <a:ln w="9525">
            <a:solidFill>
              <a:srgbClr val="E0CEDA"/>
            </a:solidFill>
            <a:prstDash val="solid"/>
          </a:ln>
        </p:spPr>
      </p:sp>
      <p:pic>
        <p:nvPicPr>
          <p:cNvPr id="65" name="Image 12" descr="/private/tmp/claude-501/-Users-prathmeshwalimbe-Downloads-Meesho/dfec39d5-f971-4a3a-8cfb-761f4ef1fedb/scratchpad/deck/assets/shot_phone_whatsapp.png">    </p:cNvPr>
          <p:cNvPicPr>
            <a:picLocks noChangeAspect="1"/>
          </p:cNvPicPr>
          <p:nvPr/>
        </p:nvPicPr>
        <p:blipFill>
          <a:blip r:embed="rId13"/>
          <a:stretch>
            <a:fillRect/>
          </a:stretch>
        </p:blipFill>
        <p:spPr>
          <a:xfrm>
            <a:off x="12892822" y="5705856"/>
            <a:ext cx="1358321" cy="2734056"/>
          </a:xfrm>
          <a:prstGeom prst="rect">
            <a:avLst/>
          </a:prstGeom>
        </p:spPr>
      </p:pic>
      <p:sp>
        <p:nvSpPr>
          <p:cNvPr id="66" name="Shape 50"/>
          <p:cNvSpPr/>
          <p:nvPr/>
        </p:nvSpPr>
        <p:spPr>
          <a:xfrm>
            <a:off x="7959852" y="8531352"/>
            <a:ext cx="6697980" cy="457200"/>
          </a:xfrm>
          <a:prstGeom prst="roundRect">
            <a:avLst>
              <a:gd name="adj" fmla="val 8000"/>
            </a:avLst>
          </a:prstGeom>
          <a:solidFill>
            <a:srgbClr val="F2E4EE"/>
          </a:solidFill>
          <a:ln w="12700">
            <a:solidFill>
              <a:srgbClr val="F2E4EE"/>
            </a:solidFill>
            <a:prstDash val="solid"/>
          </a:ln>
        </p:spPr>
      </p:sp>
      <p:sp>
        <p:nvSpPr>
          <p:cNvPr id="67" name="Text 51"/>
          <p:cNvSpPr txBox="1"/>
          <p:nvPr/>
        </p:nvSpPr>
        <p:spPr>
          <a:xfrm>
            <a:off x="8051292" y="8531352"/>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Price check ₹213 vs ₹245 → brief → batch of 1,210 → one-tap WhatsApp commit</a:t>
            </a:r>
            <a:endParaRPr lang="en-US" sz="1100" dirty="0"/>
          </a:p>
        </p:txBody>
      </p:sp>
      <p:sp>
        <p:nvSpPr>
          <p:cNvPr id="68" name="Shape 52"/>
          <p:cNvSpPr/>
          <p:nvPr/>
        </p:nvSpPr>
        <p:spPr>
          <a:xfrm>
            <a:off x="14913864" y="1426464"/>
            <a:ext cx="3145536" cy="3730752"/>
          </a:xfrm>
          <a:prstGeom prst="rect">
            <a:avLst/>
          </a:prstGeom>
          <a:solidFill>
            <a:srgbClr val="FFFFFF"/>
          </a:solidFill>
          <a:ln w="9525">
            <a:solidFill>
              <a:srgbClr val="E0CEDA"/>
            </a:solidFill>
            <a:prstDash val="solid"/>
          </a:ln>
        </p:spPr>
      </p:sp>
      <p:sp>
        <p:nvSpPr>
          <p:cNvPr id="69" name="Shape 53"/>
          <p:cNvSpPr/>
          <p:nvPr/>
        </p:nvSpPr>
        <p:spPr>
          <a:xfrm>
            <a:off x="14913864" y="1426464"/>
            <a:ext cx="3145536" cy="329184"/>
          </a:xfrm>
          <a:prstGeom prst="rect">
            <a:avLst/>
          </a:prstGeom>
          <a:solidFill>
            <a:srgbClr val="560547"/>
          </a:solidFill>
          <a:ln w="12700">
            <a:solidFill>
              <a:srgbClr val="560547"/>
            </a:solidFill>
            <a:prstDash val="solid"/>
          </a:ln>
        </p:spPr>
      </p:sp>
      <p:pic>
        <p:nvPicPr>
          <p:cNvPr id="70" name="Image 13" descr="/private/tmp/claude-501/-Users-prathmeshwalimbe-Downloads-Meesho/dfec39d5-f971-4a3a-8cfb-761f4ef1fedb/scratchpad/deck/assets/icons/FaLink_w.png">    </p:cNvPr>
          <p:cNvPicPr>
            <a:picLocks noChangeAspect="1"/>
          </p:cNvPicPr>
          <p:nvPr/>
        </p:nvPicPr>
        <p:blipFill>
          <a:blip r:embed="rId14"/>
          <a:stretch>
            <a:fillRect/>
          </a:stretch>
        </p:blipFill>
        <p:spPr>
          <a:xfrm>
            <a:off x="15023592" y="1490472"/>
            <a:ext cx="201168" cy="201168"/>
          </a:xfrm>
          <a:prstGeom prst="rect">
            <a:avLst/>
          </a:prstGeom>
        </p:spPr>
      </p:pic>
      <p:sp>
        <p:nvSpPr>
          <p:cNvPr id="71" name="Text 54"/>
          <p:cNvSpPr txBox="1"/>
          <p:nvPr/>
        </p:nvSpPr>
        <p:spPr>
          <a:xfrm>
            <a:off x="15297912" y="1426464"/>
            <a:ext cx="26334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OPEN IT</a:t>
            </a:r>
            <a:endParaRPr lang="en-US" sz="1250" dirty="0"/>
          </a:p>
        </p:txBody>
      </p:sp>
      <p:pic>
        <p:nvPicPr>
          <p:cNvPr id="72" name="Image 14" descr="/private/tmp/claude-501/-Users-prathmeshwalimbe-Downloads-Meesho/dfec39d5-f971-4a3a-8cfb-761f4ef1fedb/scratchpad/deck/assets/qr_live.png">    </p:cNvPr>
          <p:cNvPicPr>
            <a:picLocks noChangeAspect="1"/>
          </p:cNvPicPr>
          <p:nvPr/>
        </p:nvPicPr>
        <p:blipFill>
          <a:blip r:embed="rId15"/>
          <a:stretch>
            <a:fillRect/>
          </a:stretch>
        </p:blipFill>
        <p:spPr>
          <a:xfrm>
            <a:off x="15480792" y="1865376"/>
            <a:ext cx="2011680" cy="2011680"/>
          </a:xfrm>
          <a:prstGeom prst="rect">
            <a:avLst/>
          </a:prstGeom>
        </p:spPr>
      </p:pic>
      <p:sp>
        <p:nvSpPr>
          <p:cNvPr id="73" name="Text 55"/>
          <p:cNvSpPr txBox="1"/>
          <p:nvPr/>
        </p:nvSpPr>
        <p:spPr>
          <a:xfrm>
            <a:off x="15041880" y="3950208"/>
            <a:ext cx="2889504" cy="1143000"/>
          </a:xfrm>
          <a:prstGeom prst="rect">
            <a:avLst/>
          </a:prstGeom>
          <a:noFill/>
          <a:ln/>
        </p:spPr>
        <p:txBody>
          <a:bodyPr wrap="square" lIns="0" tIns="0" rIns="0" bIns="0" rtlCol="0" anchor="t"/>
          <a:lstStyle/>
          <a:p>
            <a:pPr algn="ctr" indent="0" marL="0">
              <a:lnSpc>
                <a:spcPct val="100000"/>
              </a:lnSpc>
              <a:buNone/>
            </a:pPr>
            <a:r>
              <a:rPr lang="en-US" sz="1200" b="1" u="sng" dirty="0">
                <a:solidFill>
                  <a:srgbClr val="8A245E"/>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meesho-dice-c2m-iitb.vercel.app</a:t>
            </a:r>
            <a:endParaRPr lang="en-US" sz="1200" dirty="0"/>
          </a:p>
          <a:p>
            <a:pPr algn="ctr" indent="0" marL="0">
              <a:lnSpc>
                <a:spcPct val="100000"/>
              </a:lnSpc>
              <a:buNone/>
            </a:pPr>
            <a:r>
              <a:rPr lang="en-US" sz="1200" b="1" dirty="0">
                <a:solidFill>
                  <a:srgbClr val="7A6470"/>
                </a:solidFill>
                <a:latin typeface="Calibri" pitchFamily="34" charset="0"/>
                <a:ea typeface="Calibri" pitchFamily="34" charset="-122"/>
                <a:cs typeface="Calibri" pitchFamily="34" charset="-120"/>
              </a:rPr>
              <a:t>Mirror:</a:t>
            </a:r>
            <a:endParaRPr lang="en-US" sz="1200" dirty="0"/>
          </a:p>
          <a:p>
            <a:pPr algn="ctr" indent="0" marL="0">
              <a:lnSpc>
                <a:spcPct val="100000"/>
              </a:lnSpc>
              <a:buNone/>
            </a:pPr>
            <a:r>
              <a:rPr lang="en-US" sz="1200" dirty="0">
                <a:solidFill>
                  <a:srgbClr val="7A6470"/>
                </a:solidFill>
                <a:latin typeface="Calibri" pitchFamily="34" charset="0"/>
                <a:ea typeface="Calibri" pitchFamily="34" charset="-122"/>
                <a:cs typeface="Calibri" pitchFamily="34" charset="-120"/>
              </a:rPr>
              <a:t>prathmesh-28.github.io/c2m-control-tower</a:t>
            </a:r>
            <a:endParaRPr lang="en-US" sz="1200" dirty="0"/>
          </a:p>
          <a:p>
            <a:pPr algn="ctr" indent="0" marL="0">
              <a:lnSpc>
                <a:spcPct val="100000"/>
              </a:lnSpc>
              <a:buNone/>
            </a:pPr>
            <a:r>
              <a:rPr lang="en-US" sz="1200" dirty="0">
                <a:solidFill>
                  <a:srgbClr val="7A6470"/>
                </a:solidFill>
                <a:latin typeface="Calibri" pitchFamily="34" charset="0"/>
                <a:ea typeface="Calibri" pitchFamily="34" charset="-122"/>
                <a:cs typeface="Calibri" pitchFamily="34" charset="-120"/>
              </a:rPr>
              <a:t>Offline: one HTML file, no internet needed</a:t>
            </a:r>
            <a:endParaRPr lang="en-US" sz="1200" dirty="0"/>
          </a:p>
        </p:txBody>
      </p:sp>
      <p:sp>
        <p:nvSpPr>
          <p:cNvPr id="74" name="Shape 56"/>
          <p:cNvSpPr/>
          <p:nvPr/>
        </p:nvSpPr>
        <p:spPr>
          <a:xfrm>
            <a:off x="14913864" y="5285232"/>
            <a:ext cx="3145536" cy="3730752"/>
          </a:xfrm>
          <a:prstGeom prst="rect">
            <a:avLst/>
          </a:prstGeom>
          <a:solidFill>
            <a:srgbClr val="FFFFFF"/>
          </a:solidFill>
          <a:ln w="9525">
            <a:solidFill>
              <a:srgbClr val="E0CEDA"/>
            </a:solidFill>
            <a:prstDash val="solid"/>
          </a:ln>
        </p:spPr>
      </p:sp>
      <p:sp>
        <p:nvSpPr>
          <p:cNvPr id="75" name="Shape 57"/>
          <p:cNvSpPr/>
          <p:nvPr/>
        </p:nvSpPr>
        <p:spPr>
          <a:xfrm>
            <a:off x="14913864" y="5285232"/>
            <a:ext cx="3145536" cy="329184"/>
          </a:xfrm>
          <a:prstGeom prst="rect">
            <a:avLst/>
          </a:prstGeom>
          <a:solidFill>
            <a:srgbClr val="8A245E"/>
          </a:solidFill>
          <a:ln w="12700">
            <a:solidFill>
              <a:srgbClr val="8A245E"/>
            </a:solidFill>
            <a:prstDash val="solid"/>
          </a:ln>
        </p:spPr>
      </p:sp>
      <p:pic>
        <p:nvPicPr>
          <p:cNvPr id="76" name="Image 15" descr="/private/tmp/claude-501/-Users-prathmeshwalimbe-Downloads-Meesho/dfec39d5-f971-4a3a-8cfb-761f4ef1fedb/scratchpad/deck/assets/icons/FaWarehouse_w.png">    </p:cNvPr>
          <p:cNvPicPr>
            <a:picLocks noChangeAspect="1"/>
          </p:cNvPicPr>
          <p:nvPr/>
        </p:nvPicPr>
        <p:blipFill>
          <a:blip r:embed="rId17"/>
          <a:stretch>
            <a:fillRect/>
          </a:stretch>
        </p:blipFill>
        <p:spPr>
          <a:xfrm>
            <a:off x="15023592" y="5349240"/>
            <a:ext cx="201168" cy="201168"/>
          </a:xfrm>
          <a:prstGeom prst="rect">
            <a:avLst/>
          </a:prstGeom>
        </p:spPr>
      </p:pic>
      <p:sp>
        <p:nvSpPr>
          <p:cNvPr id="77" name="Text 58"/>
          <p:cNvSpPr txBox="1"/>
          <p:nvPr/>
        </p:nvSpPr>
        <p:spPr>
          <a:xfrm>
            <a:off x="15297912" y="5285232"/>
            <a:ext cx="26334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HOW MEESHO WOULD RUN IT</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5041880" y="5705856"/>
          <a:ext cx="2889504" cy="914400"/>
        </p:xfrm>
        <a:graphic>
          <a:graphicData uri="http://schemas.openxmlformats.org/drawingml/2006/table">
            <a:tbl>
              <a:tblPr/>
              <a:tblGrid>
                <a:gridCol w="1874520"/>
                <a:gridCol w="1014984"/>
              </a:tblGrid>
              <a:tr h="47548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Feed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Used for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Catalogue: SKU, product type, landed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Median, gate, badge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Orders: delivered, NMV, RTO, return reason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Brief, experiment, quality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Operations: dispatch time, stock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Health Score, remedies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Exposure: impressions by pin-code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Grants, 20% cap</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9" name="Text 59"/>
          <p:cNvSpPr txBox="1"/>
          <p:nvPr/>
        </p:nvSpPr>
        <p:spPr>
          <a:xfrm>
            <a:off x="15041880" y="8220456"/>
            <a:ext cx="2889504" cy="54864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One daily batch job plus event-driven rules. No new data integration.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Meesho's C2M Base · DICE S3 Round 2</dc:title>
  <dc:subject>PptxGenJS Presentation</dc:subject>
  <dc:creator>Team 23B0747 · IIT Bombay</dc:creator>
  <cp:lastModifiedBy>Team 23B0747 · IIT Bombay</cp:lastModifiedBy>
  <cp:revision>1</cp:revision>
  <dcterms:created xsi:type="dcterms:W3CDTF">2026-09-28T06:29:25Z</dcterms:created>
  <dcterms:modified xsi:type="dcterms:W3CDTF">2026-09-28T06:29:25Z</dcterms:modified>
</cp:coreProperties>
</file>