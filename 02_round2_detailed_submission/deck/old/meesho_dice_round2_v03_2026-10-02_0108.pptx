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Spend</c:v>
                </c:pt>
              </c:strCache>
            </c:strRef>
          </c:tx>
          <c:spPr>
            <a:solidFill>
              <a:srgbClr val="8A245E"/>
            </a:solidFill>
            <a:effectLst/>
          </c:spPr>
          <c:invertIfNegative val="0"/>
          <c:dLbls>
            <c:numFmt formatCode="#,##0" sourceLinked="0"/>
            <c:txPr>
              <a:bodyPr/>
              <a:lstStyle/>
              <a:p>
                <a:pPr>
                  <a:defRPr b="1" i="0" strike="noStrike" sz="1100" u="none">
                    <a:solidFill>
                      <a:srgbClr val="2B1226"/>
                    </a:solidFill>
                    <a:latin typeface="Arial"/>
                  </a:defRPr>
                </a:pPr>
              </a:p>
            </c:txPr>
            <c:showLegendKey val="0"/>
            <c:showVal val="1"/>
            <c:showCatName val="0"/>
            <c:showSerName val="0"/>
            <c:showPercent val="0"/>
            <c:showBubbleSize val="0"/>
            <c:showLeaderLines val="0"/>
          </c:dLbls>
          <c:cat>
            <c:multiLvlStrRef>
              <c:f>Sheet1!$A$2:$A$5</c:f>
              <c:multiLvlStrCache>
                <c:ptCount val="4"/>
                <c:lvl>
                  <c:pt idx="0">
                    <c:v>D0–30</c:v>
                  </c:pt>
                  <c:pt idx="1">
                    <c:v>D31–60</c:v>
                  </c:pt>
                  <c:pt idx="2">
                    <c:v>D61–90</c:v>
                  </c:pt>
                  <c:pt idx="3">
                    <c:v>Q2+</c:v>
                  </c:pt>
                </c:lvl>
              </c:multiLvlStrCache>
            </c:multiLvlStrRef>
          </c:cat>
          <c:val>
            <c:numRef>
              <c:f>Sheet1!$B$2:$B$5</c:f>
              <c:numCache>
                <c:formatCode>General</c:formatCode>
                <c:ptCount val="4"/>
                <c:pt idx="0">
                  <c:v>0</c:v>
                </c:pt>
                <c:pt idx="1">
                  <c:v>4</c:v>
                </c:pt>
                <c:pt idx="2">
                  <c:v>8</c:v>
                </c:pt>
                <c:pt idx="3">
                  <c:v>10</c:v>
                </c:pt>
              </c:numCache>
            </c:numRef>
          </c:val>
        </c:ser>
        <c:dLbls>
          <c:numFmt formatCode="#,##0" sourceLinked="0"/>
          <c:txPr>
            <a:bodyPr/>
            <a:lstStyle/>
            <a:p>
              <a:pPr>
                <a:defRPr b="1" i="0" strike="noStrike" sz="1100" u="none">
                  <a:solidFill>
                    <a:srgbClr val="2B1226"/>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A6470"/>
                </a:solidFill>
                <a:latin typeface="Arial"/>
              </a:defRPr>
            </a:pPr>
            <a:endParaRPr lang="en-US"/>
          </a:p>
        </c:txPr>
        <c:crossAx val="2094734552"/>
        <c:crosses val="autoZero"/>
        <c:auto val="1"/>
        <c:lblAlgn val="ctr"/>
        <c:noMultiLvlLbl val="1"/>
      </c:catAx>
      <c:valAx>
        <c:axId val="2094734552"/>
        <c:scaling>
          <c:orientation val="minMax"/>
          <c:max val="13"/>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Team 23B0747, IIT Bombay. The deck answers the four questions in the brief across nine sections; the live prototype runs every rule on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Cohorts come from 24 manufacturer interviews (8 per cohort). Barrier severity is scored from the objection set. Contribution margin shown is the Q4 FY26 exit rate that management called the new baseline; Q3 was 2.3% because of a one-time logistics disruption.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Funnel and AHP are Round 1 research. Price impact uses a stated formula: savings = NMV × g / (1 − g), with g between the 8% gate floor and 12%, the low end of the 12–18% integration cost edge from the Round 1 teardown.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category screen uses four cost tests. The Price Truth Index then tests each seller on delivered-order prices. The return-cost range brackets the team estimate (₹90) and published seller-guide rates (about ₹150 for a parcel up to 500 g); confirm against a supplier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ribbon follows one Cohort A manufacturer through the prototype. Node rates, prepayment share and the pre-order discount are proposal assumptions. Shein Brazil is shown as an anti-precedent: it failed because it squeezed factory prices without changing their operating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Meesho already gates visibility on quality. That protects buyers, but a new manufacturer cannot prove quality without first orders. The fix is targeted impressions in the pin-codes where the Demand Brief shows demand, capped at 20% of category impressions, never cash.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KPI tree ladders every seller-level metric up to one north star: NMV from sellers whose catalogue still clears the price gate. Guardrails protect the category and existing resellers.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follows the Round 1 RICE ranking: diagnostic and free first, capital last. Power: 62 sellers over 28 days give a standard error of about 1.6 points on the lift, so the minimum detectable lift at 80% power is about 4.5%, well under the 12% bar. Waves open only when the previous wave's Day-90 numbers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Likelihood and impact are team judgement. Compliance rows are a design response, not legal advice; Meesho legal should confirm each. Risk 8 is the Shein Brazil failure mode: the programme never asks a factory for a price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test: each bar changes one assumption and recomputes the lowest viable price for the illustrative Tiruppur seller with the prototype economics model. The base case is the Factory Node price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order for a live demo: Overview → Price Truth Index (drag the gate) → Day-30 readout (switch scenarios) → Seller Health (Kavin Knit Mills) → Manufacturer app (price check to WhatsApp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meesho-dice-c2m-iitb.vercel.app/" TargetMode="External"/><Relationship Id="rId1"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5.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6.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slideLayout" Target="../slideLayouts/slideLayout1.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8.png"/><Relationship Id="rId15" Type="http://schemas.openxmlformats.org/officeDocument/2006/relationships/image" Target="../media/image-5-11.png"/><Relationship Id="rId16" Type="http://schemas.openxmlformats.org/officeDocument/2006/relationships/slideLayout" Target="../slideLayouts/slideLayout1.xml"/><Relationship Id="rId1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6.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8.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9" Type="http://schemas.openxmlformats.org/officeDocument/2006/relationships/chart" Target="/ppt/charts/chart1.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6.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slideLayout" Target="../slideLayouts/slideLayout1.xml"/><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6" Type="http://schemas.openxmlformats.org/officeDocument/2006/relationships/hyperlink" Target="https://meesho-dice-c2m-iitb.vercel.app/" TargetMode="Externa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7" Type="http://schemas.openxmlformats.org/officeDocument/2006/relationships/image" Target="../media/image-11-16.png"/><Relationship Id="rId18" Type="http://schemas.openxmlformats.org/officeDocument/2006/relationships/slideLayout" Target="../slideLayouts/slideLayout1.xml"/><Relationship Id="rId19"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ivate/tmp/claude-501/-Users-prathmeshwalimbe-Downloads-Meesho/dfec39d5-f971-4a3a-8cfb-761f4ef1fedb/scratchpad/deck/assets/cover_banner.png">    </p:cNvPr>
          <p:cNvPicPr>
            <a:picLocks noChangeAspect="1"/>
          </p:cNvPicPr>
          <p:nvPr/>
        </p:nvPicPr>
        <p:blipFill>
          <a:blip r:embed="rId1"/>
          <a:srcRect l="0" r="0" t="0" b="0"/>
          <a:stretch/>
        </p:blipFill>
        <p:spPr>
          <a:xfrm>
            <a:off x="0" y="0"/>
            <a:ext cx="18288000" cy="10287000"/>
          </a:xfrm>
          <a:prstGeom prst="rect">
            <a:avLst/>
          </a:prstGeom>
        </p:spPr>
      </p:pic>
      <p:sp>
        <p:nvSpPr>
          <p:cNvPr id="3" name="Shape 0"/>
          <p:cNvSpPr/>
          <p:nvPr/>
        </p:nvSpPr>
        <p:spPr>
          <a:xfrm>
            <a:off x="2103120" y="5532120"/>
            <a:ext cx="14081760" cy="4343400"/>
          </a:xfrm>
          <a:prstGeom prst="rect">
            <a:avLst/>
          </a:prstGeom>
          <a:solidFill>
            <a:srgbClr val="FFF8F2">
              <a:alpha val="92000"/>
            </a:srgbClr>
          </a:solidFill>
          <a:ln w="12700">
            <a:solidFill>
              <a:srgbClr val="FFFFFF"/>
            </a:solidFill>
            <a:prstDash val="solid"/>
          </a:ln>
        </p:spPr>
      </p:sp>
      <p:sp>
        <p:nvSpPr>
          <p:cNvPr id="4" name="Text 1"/>
          <p:cNvSpPr txBox="1"/>
          <p:nvPr/>
        </p:nvSpPr>
        <p:spPr>
          <a:xfrm>
            <a:off x="2103120" y="5760720"/>
            <a:ext cx="14081760" cy="365760"/>
          </a:xfrm>
          <a:prstGeom prst="rect">
            <a:avLst/>
          </a:prstGeom>
          <a:noFill/>
          <a:ln/>
        </p:spPr>
        <p:txBody>
          <a:bodyPr wrap="square" lIns="0" tIns="0" rIns="0" bIns="0" rtlCol="0" anchor="t"/>
          <a:lstStyle/>
          <a:p>
            <a:pPr algn="ctr" indent="0" marL="0">
              <a:lnSpc>
                <a:spcPct val="100000"/>
              </a:lnSpc>
              <a:buNone/>
            </a:pPr>
            <a:r>
              <a:rPr lang="en-US" sz="1300" b="1" spc="100" kern="0" dirty="0">
                <a:solidFill>
                  <a:srgbClr val="C2185B"/>
                </a:solidFill>
                <a:latin typeface="Arial" pitchFamily="34" charset="0"/>
                <a:ea typeface="Arial" pitchFamily="34" charset="-122"/>
                <a:cs typeface="Arial" pitchFamily="34" charset="-120"/>
              </a:rPr>
              <a:t>BUSINESS TRACK  ·  DETAILED SUBMISSION ROUND  ·  8–10 SLIDE DECK + WORKING PROTOTYPE</a:t>
            </a:r>
            <a:endParaRPr lang="en-US" sz="1300" dirty="0"/>
          </a:p>
        </p:txBody>
      </p:sp>
      <p:sp>
        <p:nvSpPr>
          <p:cNvPr id="5" name="Text 2"/>
          <p:cNvSpPr txBox="1"/>
          <p:nvPr/>
        </p:nvSpPr>
        <p:spPr>
          <a:xfrm>
            <a:off x="2103120" y="6217920"/>
            <a:ext cx="14081760" cy="731520"/>
          </a:xfrm>
          <a:prstGeom prst="rect">
            <a:avLst/>
          </a:prstGeom>
          <a:noFill/>
          <a:ln/>
        </p:spPr>
        <p:txBody>
          <a:bodyPr wrap="square" lIns="0" tIns="0" rIns="0" bIns="0" rtlCol="0" anchor="ctr"/>
          <a:lstStyle/>
          <a:p>
            <a:pPr algn="ctr" indent="0" marL="0">
              <a:lnSpc>
                <a:spcPct val="100000"/>
              </a:lnSpc>
              <a:buNone/>
            </a:pPr>
            <a:r>
              <a:rPr lang="en-US" sz="3400" b="1" dirty="0">
                <a:solidFill>
                  <a:srgbClr val="560547"/>
                </a:solidFill>
                <a:latin typeface="Arial" pitchFamily="34" charset="0"/>
                <a:ea typeface="Arial" pitchFamily="34" charset="-122"/>
                <a:cs typeface="Arial" pitchFamily="34" charset="-120"/>
              </a:rPr>
              <a:t>Building Meesho's Consumer-to-Manufacturer (C2M) Base</a:t>
            </a:r>
            <a:endParaRPr lang="en-US" sz="3400" dirty="0"/>
          </a:p>
        </p:txBody>
      </p:sp>
      <p:sp>
        <p:nvSpPr>
          <p:cNvPr id="6" name="Text 3"/>
          <p:cNvSpPr txBox="1"/>
          <p:nvPr/>
        </p:nvSpPr>
        <p:spPr>
          <a:xfrm>
            <a:off x="2103120" y="6995160"/>
            <a:ext cx="14081760" cy="457200"/>
          </a:xfrm>
          <a:prstGeom prst="rect">
            <a:avLst/>
          </a:prstGeom>
          <a:noFill/>
          <a:ln/>
        </p:spPr>
        <p:txBody>
          <a:bodyPr wrap="square" lIns="0" tIns="0" rIns="0" bIns="0" rtlCol="0" anchor="t"/>
          <a:lstStyle/>
          <a:p>
            <a:pPr algn="ctr" indent="0" marL="0">
              <a:lnSpc>
                <a:spcPct val="100000"/>
              </a:lnSpc>
              <a:buNone/>
            </a:pPr>
            <a:r>
              <a:rPr lang="en-US" sz="1700" i="1" dirty="0">
                <a:solidFill>
                  <a:srgbClr val="2B1226"/>
                </a:solidFill>
                <a:latin typeface="Calibri" pitchFamily="34" charset="0"/>
                <a:ea typeface="Calibri" pitchFamily="34" charset="-122"/>
                <a:cs typeface="Calibri" pitchFamily="34" charset="-120"/>
              </a:rPr>
              <a:t>Screen on price, not scale. Pay for early conviction in impressions, not rupees. Make nothing until it is sold.</a:t>
            </a:r>
            <a:endParaRPr lang="en-US" sz="1700" dirty="0"/>
          </a:p>
        </p:txBody>
      </p:sp>
      <p:sp>
        <p:nvSpPr>
          <p:cNvPr id="7" name="Shape 4"/>
          <p:cNvSpPr/>
          <p:nvPr/>
        </p:nvSpPr>
        <p:spPr>
          <a:xfrm>
            <a:off x="8458200" y="7635240"/>
            <a:ext cx="1371600" cy="64008"/>
          </a:xfrm>
          <a:prstGeom prst="rect">
            <a:avLst/>
          </a:prstGeom>
          <a:solidFill>
            <a:srgbClr val="FF9D00"/>
          </a:solidFill>
          <a:ln w="12700">
            <a:solidFill>
              <a:srgbClr val="FF9D00"/>
            </a:solidFill>
            <a:prstDash val="solid"/>
          </a:ln>
        </p:spPr>
      </p:sp>
      <p:sp>
        <p:nvSpPr>
          <p:cNvPr id="8" name="Text 5"/>
          <p:cNvSpPr txBox="1"/>
          <p:nvPr/>
        </p:nvSpPr>
        <p:spPr>
          <a:xfrm>
            <a:off x="2743200" y="7863840"/>
            <a:ext cx="10058400" cy="411480"/>
          </a:xfrm>
          <a:prstGeom prst="rect">
            <a:avLst/>
          </a:prstGeom>
          <a:noFill/>
          <a:ln/>
        </p:spPr>
        <p:txBody>
          <a:bodyPr wrap="square" lIns="0" tIns="0" rIns="0" bIns="0" rtlCol="0" anchor="t"/>
          <a:lstStyle/>
          <a:p>
            <a:pPr algn="ctr" indent="0" marL="0">
              <a:lnSpc>
                <a:spcPct val="100000"/>
              </a:lnSpc>
              <a:buNone/>
            </a:pPr>
            <a:r>
              <a:rPr lang="en-US" sz="1600" b="1" dirty="0">
                <a:solidFill>
                  <a:srgbClr val="2B1226"/>
                </a:solidFill>
                <a:latin typeface="Arial" pitchFamily="34" charset="0"/>
                <a:ea typeface="Arial" pitchFamily="34" charset="-122"/>
                <a:cs typeface="Arial" pitchFamily="34" charset="-120"/>
              </a:rPr>
              <a:t>Team 23B0747  ·  Indian Institute of Technology Bombay</a:t>
            </a:r>
            <a:endParaRPr lang="en-US" sz="1600" dirty="0"/>
          </a:p>
        </p:txBody>
      </p:sp>
      <p:sp>
        <p:nvSpPr>
          <p:cNvPr id="9" name="Text 6"/>
          <p:cNvSpPr txBox="1"/>
          <p:nvPr/>
        </p:nvSpPr>
        <p:spPr>
          <a:xfrm>
            <a:off x="2743200" y="8302752"/>
            <a:ext cx="10058400" cy="365760"/>
          </a:xfrm>
          <a:prstGeom prst="rect">
            <a:avLst/>
          </a:prstGeom>
          <a:noFill/>
          <a:ln/>
        </p:spPr>
        <p:txBody>
          <a:bodyPr wrap="square" lIns="0" tIns="0" rIns="0" bIns="0" rtlCol="0" anchor="t"/>
          <a:lstStyle/>
          <a:p>
            <a:pPr algn="ctr" indent="0" marL="0">
              <a:lnSpc>
                <a:spcPct val="100000"/>
              </a:lnSpc>
              <a:buNone/>
            </a:pPr>
            <a:r>
              <a:rPr lang="en-US" sz="1500" dirty="0">
                <a:solidFill>
                  <a:srgbClr val="7A6470"/>
                </a:solidFill>
                <a:latin typeface="Calibri" pitchFamily="34" charset="0"/>
                <a:ea typeface="Calibri" pitchFamily="34" charset="-122"/>
                <a:cs typeface="Calibri" pitchFamily="34" charset="-120"/>
              </a:rPr>
              <a:t>Prathmesh Walimbe  ·  Krishna Kanta Mondal</a:t>
            </a:r>
            <a:endParaRPr lang="en-US" sz="1500" dirty="0"/>
          </a:p>
        </p:txBody>
      </p:sp>
      <p:sp>
        <p:nvSpPr>
          <p:cNvPr id="10" name="Text 7"/>
          <p:cNvSpPr txBox="1"/>
          <p:nvPr/>
        </p:nvSpPr>
        <p:spPr>
          <a:xfrm>
            <a:off x="2743200" y="8778240"/>
            <a:ext cx="10058400" cy="365760"/>
          </a:xfrm>
          <a:prstGeom prst="rect">
            <a:avLst/>
          </a:prstGeom>
          <a:noFill/>
          <a:ln/>
        </p:spPr>
        <p:txBody>
          <a:bodyPr wrap="square" lIns="0" tIns="0" rIns="0" bIns="0" rtlCol="0" anchor="t"/>
          <a:lstStyle/>
          <a:p>
            <a:pPr algn="ctr" indent="0" marL="0">
              <a:lnSpc>
                <a:spcPct val="100000"/>
              </a:lnSpc>
              <a:buNone/>
            </a:pPr>
            <a:r>
              <a:rPr lang="en-US" sz="1400" b="1" dirty="0">
                <a:solidFill>
                  <a:srgbClr val="560547"/>
                </a:solidFill>
                <a:latin typeface="Calibri" pitchFamily="34" charset="0"/>
                <a:ea typeface="Calibri" pitchFamily="34" charset="-122"/>
                <a:cs typeface="Calibri" pitchFamily="34" charset="-120"/>
              </a:rPr>
              <a:t>Live prototype  </a:t>
            </a:r>
            <a:pPr algn="ctr" indent="0" marL="0">
              <a:lnSpc>
                <a:spcPct val="100000"/>
              </a:lnSpc>
              <a:buNone/>
            </a:pPr>
            <a:r>
              <a:rPr lang="en-US" sz="1400" u="sng" dirty="0">
                <a:solidFill>
                  <a:srgbClr val="8A24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meesho-dice-c2m-iitb.vercel.app</a:t>
            </a:r>
            <a:endParaRPr lang="en-US" sz="1400" dirty="0"/>
          </a:p>
        </p:txBody>
      </p:sp>
      <p:pic>
        <p:nvPicPr>
          <p:cNvPr id="11" name="Image 1" descr="/private/tmp/claude-501/-Users-prathmeshwalimbe-Downloads-Meesho/dfec39d5-f971-4a3a-8cfb-761f4ef1fedb/scratchpad/deck/assets/qr_live.png">    </p:cNvPr>
          <p:cNvPicPr>
            <a:picLocks noChangeAspect="1"/>
          </p:cNvPicPr>
          <p:nvPr/>
        </p:nvPicPr>
        <p:blipFill>
          <a:blip r:embed="rId3"/>
          <a:stretch>
            <a:fillRect/>
          </a:stretch>
        </p:blipFill>
        <p:spPr>
          <a:xfrm>
            <a:off x="13761720" y="7772400"/>
            <a:ext cx="1600200" cy="1600200"/>
          </a:xfrm>
          <a:prstGeom prst="rect">
            <a:avLst/>
          </a:prstGeom>
        </p:spPr>
      </p:pic>
      <p:sp>
        <p:nvSpPr>
          <p:cNvPr id="12" name="Text 8"/>
          <p:cNvSpPr txBox="1"/>
          <p:nvPr/>
        </p:nvSpPr>
        <p:spPr>
          <a:xfrm>
            <a:off x="13761720" y="9390888"/>
            <a:ext cx="1600200" cy="274320"/>
          </a:xfrm>
          <a:prstGeom prst="rect">
            <a:avLst/>
          </a:prstGeom>
          <a:noFill/>
          <a:ln/>
        </p:spPr>
        <p:txBody>
          <a:bodyPr wrap="square" lIns="0" tIns="0" rIns="0" bIns="0" rtlCol="0" anchor="t"/>
          <a:lstStyle/>
          <a:p>
            <a:pPr algn="ctr" indent="0" marL="0">
              <a:lnSpc>
                <a:spcPct val="100000"/>
              </a:lnSpc>
              <a:buNone/>
            </a:pPr>
            <a:r>
              <a:rPr lang="en-US" sz="1050" dirty="0">
                <a:solidFill>
                  <a:srgbClr val="7A6470"/>
                </a:solidFill>
                <a:latin typeface="Calibri" pitchFamily="34" charset="0"/>
                <a:ea typeface="Calibri" pitchFamily="34" charset="-122"/>
                <a:cs typeface="Calibri" pitchFamily="34" charset="-120"/>
              </a:rPr>
              <a:t>Scan to open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413662" cy="502920"/>
          </a:xfrm>
          <a:prstGeom prst="roundRect">
            <a:avLst>
              <a:gd name="adj" fmla="val 14545"/>
            </a:avLst>
          </a:prstGeom>
          <a:solidFill>
            <a:srgbClr val="560547"/>
          </a:solidFill>
          <a:ln w="9525">
            <a:solidFill>
              <a:srgbClr val="560547"/>
            </a:solidFill>
            <a:prstDash val="solid"/>
          </a:ln>
        </p:spPr>
      </p:sp>
      <p:sp>
        <p:nvSpPr>
          <p:cNvPr id="6" name="Text 2"/>
          <p:cNvSpPr txBox="1"/>
          <p:nvPr/>
        </p:nvSpPr>
        <p:spPr>
          <a:xfrm>
            <a:off x="1865376"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297326" y="182880"/>
            <a:ext cx="1413662"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33390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4765853" y="182880"/>
            <a:ext cx="1413662"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4802429"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234379" y="182880"/>
            <a:ext cx="1413662"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270955"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7702906" y="182880"/>
            <a:ext cx="1413662"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773948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171432" y="182880"/>
            <a:ext cx="1413662"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9208008"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0639958" y="182880"/>
            <a:ext cx="1413662"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067653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2108485" y="182880"/>
            <a:ext cx="1413662"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2145061"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3577011" y="182880"/>
            <a:ext cx="1413662"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3613587"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OPERATING MODEL</a:t>
            </a:r>
            <a:endParaRPr lang="en-US" sz="950" dirty="0"/>
          </a:p>
        </p:txBody>
      </p:sp>
      <p:sp>
        <p:nvSpPr>
          <p:cNvPr id="23" name="Shape 19"/>
          <p:cNvSpPr/>
          <p:nvPr/>
        </p:nvSpPr>
        <p:spPr>
          <a:xfrm>
            <a:off x="15045538" y="182880"/>
            <a:ext cx="1413662" cy="502920"/>
          </a:xfrm>
          <a:prstGeom prst="roundRect">
            <a:avLst>
              <a:gd name="adj" fmla="val 14545"/>
            </a:avLst>
          </a:prstGeom>
          <a:solidFill>
            <a:srgbClr val="FFFFFF"/>
          </a:solidFill>
          <a:ln w="9525">
            <a:solidFill>
              <a:srgbClr val="E0CEDA"/>
            </a:solidFill>
            <a:prstDash val="solid"/>
          </a:ln>
        </p:spPr>
      </p:sp>
      <p:sp>
        <p:nvSpPr>
          <p:cNvPr id="24" name="Text 20"/>
          <p:cNvSpPr txBox="1"/>
          <p:nvPr/>
        </p:nvSpPr>
        <p:spPr>
          <a:xfrm>
            <a:off x="1508211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10 · PROTOTYPE</a:t>
            </a:r>
            <a:endParaRPr lang="en-US" sz="950" dirty="0"/>
          </a:p>
        </p:txBody>
      </p:sp>
      <p:sp>
        <p:nvSpPr>
          <p:cNvPr id="25" name="Shape 21"/>
          <p:cNvSpPr/>
          <p:nvPr/>
        </p:nvSpPr>
        <p:spPr>
          <a:xfrm>
            <a:off x="228600" y="987552"/>
            <a:ext cx="384048" cy="8083296"/>
          </a:xfrm>
          <a:prstGeom prst="rect">
            <a:avLst/>
          </a:prstGeom>
          <a:solidFill>
            <a:srgbClr val="6E1251"/>
          </a:solidFill>
          <a:ln w="12700">
            <a:solidFill>
              <a:srgbClr val="6E1251"/>
            </a:solidFill>
            <a:prstDash val="solid"/>
          </a:ln>
        </p:spPr>
      </p:sp>
      <p:sp>
        <p:nvSpPr>
          <p:cNvPr id="26" name="Text 22"/>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WHO, AND WHY NOT</a:t>
            </a:r>
            <a:endParaRPr lang="en-US" sz="1200" dirty="0"/>
          </a:p>
        </p:txBody>
      </p:sp>
      <p:sp>
        <p:nvSpPr>
          <p:cNvPr id="27" name="Text 23"/>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Q1 · Manufacturer segmentation · Which cohorts do we go after first, and what stops each of them?</a:t>
            </a:r>
            <a:endParaRPr lang="en-US" sz="1700" dirty="0"/>
          </a:p>
        </p:txBody>
      </p:sp>
      <p:sp>
        <p:nvSpPr>
          <p:cNvPr id="28" name="Text 24"/>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Sources: Meesho FY26 results and Q4 FY26 earnings call (6 May 2026); Flipkart newsroom (8 Jul 2026); Udyam Registration Portal; The Federal, Deccan Herald (Tiruppur, 2025–26); team interviews (n = 24). Cohort shares of the 11,645 addressable base.</a:t>
            </a:r>
            <a:endParaRPr lang="en-US" sz="1000" dirty="0"/>
          </a:p>
        </p:txBody>
      </p:sp>
      <p:sp>
        <p:nvSpPr>
          <p:cNvPr id="29" name="Shape 25"/>
          <p:cNvSpPr/>
          <p:nvPr/>
        </p:nvSpPr>
        <p:spPr>
          <a:xfrm>
            <a:off x="228600" y="9400032"/>
            <a:ext cx="17830800" cy="603504"/>
          </a:xfrm>
          <a:prstGeom prst="rect">
            <a:avLst/>
          </a:prstGeom>
          <a:solidFill>
            <a:srgbClr val="560547"/>
          </a:solidFill>
          <a:ln w="12700">
            <a:solidFill>
              <a:srgbClr val="560547"/>
            </a:solidFill>
            <a:prstDash val="solid"/>
          </a:ln>
        </p:spPr>
      </p:sp>
      <p:sp>
        <p:nvSpPr>
          <p:cNvPr id="30" name="Shape 26"/>
          <p:cNvSpPr/>
          <p:nvPr/>
        </p:nvSpPr>
        <p:spPr>
          <a:xfrm>
            <a:off x="411480" y="9592056"/>
            <a:ext cx="219456" cy="219456"/>
          </a:xfrm>
          <a:prstGeom prst="rect">
            <a:avLst/>
          </a:prstGeom>
          <a:solidFill>
            <a:srgbClr val="FF9D00"/>
          </a:solidFill>
          <a:ln w="12700">
            <a:solidFill>
              <a:srgbClr val="FF9D00"/>
            </a:solidFill>
            <a:prstDash val="solid"/>
          </a:ln>
        </p:spPr>
      </p:sp>
      <p:sp>
        <p:nvSpPr>
          <p:cNvPr id="31" name="Text 27"/>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Start with Cohort A in Tiruppur and Panipat: its barriers are operational, and operational barriers are the only ones Meesho can remove with infrastructure instead of subsidy.</a:t>
            </a:r>
            <a:endParaRPr lang="en-US" sz="1400" dirty="0"/>
          </a:p>
        </p:txBody>
      </p:sp>
      <p:pic>
        <p:nvPicPr>
          <p:cNvPr id="32"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4" name="Shape 28"/>
          <p:cNvSpPr/>
          <p:nvPr/>
        </p:nvSpPr>
        <p:spPr>
          <a:xfrm>
            <a:off x="749808" y="1426464"/>
            <a:ext cx="2778252" cy="749808"/>
          </a:xfrm>
          <a:prstGeom prst="rect">
            <a:avLst/>
          </a:prstGeom>
          <a:solidFill>
            <a:srgbClr val="F2E4EE"/>
          </a:solidFill>
          <a:ln w="12700">
            <a:solidFill>
              <a:srgbClr val="F2E4EE"/>
            </a:solidFill>
            <a:prstDash val="solid"/>
          </a:ln>
        </p:spPr>
      </p:sp>
      <p:sp>
        <p:nvSpPr>
          <p:cNvPr id="35" name="Text 29"/>
          <p:cNvSpPr txBox="1"/>
          <p:nvPr/>
        </p:nvSpPr>
        <p:spPr>
          <a:xfrm>
            <a:off x="859536" y="1481328"/>
            <a:ext cx="2558796" cy="389900"/>
          </a:xfrm>
          <a:prstGeom prst="rect">
            <a:avLst/>
          </a:prstGeom>
          <a:noFill/>
          <a:ln/>
        </p:spPr>
        <p:txBody>
          <a:bodyPr wrap="square" lIns="0" tIns="0" rIns="0" bIns="0" rtlCol="0" anchor="ctr"/>
          <a:lstStyle/>
          <a:p>
            <a:pPr algn="l" indent="0" marL="0">
              <a:lnSpc>
                <a:spcPct val="100000"/>
              </a:lnSpc>
              <a:buNone/>
            </a:pPr>
            <a:r>
              <a:rPr lang="en-US" sz="2000" b="1" dirty="0">
                <a:solidFill>
                  <a:srgbClr val="560547"/>
                </a:solidFill>
                <a:latin typeface="Arial" pitchFamily="34" charset="0"/>
                <a:ea typeface="Arial" pitchFamily="34" charset="-122"/>
                <a:cs typeface="Arial" pitchFamily="34" charset="-120"/>
              </a:rPr>
              <a:t>₹41,560 cr</a:t>
            </a:r>
            <a:endParaRPr lang="en-US" sz="2000" dirty="0"/>
          </a:p>
        </p:txBody>
      </p:sp>
      <p:sp>
        <p:nvSpPr>
          <p:cNvPr id="36" name="Text 30"/>
          <p:cNvSpPr txBox="1"/>
          <p:nvPr/>
        </p:nvSpPr>
        <p:spPr>
          <a:xfrm>
            <a:off x="859536" y="1838858"/>
            <a:ext cx="2558796" cy="314919"/>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FY26 NMV, +39% YoY</a:t>
            </a:r>
            <a:endParaRPr lang="en-US" sz="1050" dirty="0"/>
          </a:p>
        </p:txBody>
      </p:sp>
      <p:sp>
        <p:nvSpPr>
          <p:cNvPr id="37" name="Shape 31"/>
          <p:cNvSpPr/>
          <p:nvPr/>
        </p:nvSpPr>
        <p:spPr>
          <a:xfrm>
            <a:off x="3656076" y="1426464"/>
            <a:ext cx="2778252" cy="749808"/>
          </a:xfrm>
          <a:prstGeom prst="rect">
            <a:avLst/>
          </a:prstGeom>
          <a:solidFill>
            <a:srgbClr val="F2E4EE"/>
          </a:solidFill>
          <a:ln w="12700">
            <a:solidFill>
              <a:srgbClr val="F2E4EE"/>
            </a:solidFill>
            <a:prstDash val="solid"/>
          </a:ln>
        </p:spPr>
      </p:sp>
      <p:sp>
        <p:nvSpPr>
          <p:cNvPr id="38" name="Text 32"/>
          <p:cNvSpPr txBox="1"/>
          <p:nvPr/>
        </p:nvSpPr>
        <p:spPr>
          <a:xfrm>
            <a:off x="3765804" y="1481328"/>
            <a:ext cx="2558796" cy="389900"/>
          </a:xfrm>
          <a:prstGeom prst="rect">
            <a:avLst/>
          </a:prstGeom>
          <a:noFill/>
          <a:ln/>
        </p:spPr>
        <p:txBody>
          <a:bodyPr wrap="square" lIns="0" tIns="0" rIns="0" bIns="0" rtlCol="0" anchor="ctr"/>
          <a:lstStyle/>
          <a:p>
            <a:pPr algn="l" indent="0" marL="0">
              <a:lnSpc>
                <a:spcPct val="100000"/>
              </a:lnSpc>
              <a:buNone/>
            </a:pPr>
            <a:r>
              <a:rPr lang="en-US" sz="2000" b="1" dirty="0">
                <a:solidFill>
                  <a:srgbClr val="560547"/>
                </a:solidFill>
                <a:latin typeface="Arial" pitchFamily="34" charset="0"/>
                <a:ea typeface="Arial" pitchFamily="34" charset="-122"/>
                <a:cs typeface="Arial" pitchFamily="34" charset="-120"/>
              </a:rPr>
              <a:t>₹265</a:t>
            </a:r>
            <a:endParaRPr lang="en-US" sz="2000" dirty="0"/>
          </a:p>
        </p:txBody>
      </p:sp>
      <p:sp>
        <p:nvSpPr>
          <p:cNvPr id="39" name="Text 33"/>
          <p:cNvSpPr txBox="1"/>
          <p:nvPr/>
        </p:nvSpPr>
        <p:spPr>
          <a:xfrm>
            <a:off x="3765804" y="1838858"/>
            <a:ext cx="2558796" cy="314919"/>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FY26 AOV, down 3% YoY</a:t>
            </a:r>
            <a:endParaRPr lang="en-US" sz="1050" dirty="0"/>
          </a:p>
        </p:txBody>
      </p:sp>
      <p:sp>
        <p:nvSpPr>
          <p:cNvPr id="40" name="Shape 34"/>
          <p:cNvSpPr/>
          <p:nvPr/>
        </p:nvSpPr>
        <p:spPr>
          <a:xfrm>
            <a:off x="6562344" y="1426464"/>
            <a:ext cx="2778252" cy="749808"/>
          </a:xfrm>
          <a:prstGeom prst="rect">
            <a:avLst/>
          </a:prstGeom>
          <a:solidFill>
            <a:srgbClr val="F2E4EE"/>
          </a:solidFill>
          <a:ln w="12700">
            <a:solidFill>
              <a:srgbClr val="F2E4EE"/>
            </a:solidFill>
            <a:prstDash val="solid"/>
          </a:ln>
        </p:spPr>
      </p:sp>
      <p:sp>
        <p:nvSpPr>
          <p:cNvPr id="41" name="Text 35"/>
          <p:cNvSpPr txBox="1"/>
          <p:nvPr/>
        </p:nvSpPr>
        <p:spPr>
          <a:xfrm>
            <a:off x="6672072" y="1481328"/>
            <a:ext cx="2558796" cy="389900"/>
          </a:xfrm>
          <a:prstGeom prst="rect">
            <a:avLst/>
          </a:prstGeom>
          <a:noFill/>
          <a:ln/>
        </p:spPr>
        <p:txBody>
          <a:bodyPr wrap="square" lIns="0" tIns="0" rIns="0" bIns="0" rtlCol="0" anchor="ctr"/>
          <a:lstStyle/>
          <a:p>
            <a:pPr algn="l" indent="0" marL="0">
              <a:lnSpc>
                <a:spcPct val="100000"/>
              </a:lnSpc>
              <a:buNone/>
            </a:pPr>
            <a:r>
              <a:rPr lang="en-US" sz="2000" b="1" dirty="0">
                <a:solidFill>
                  <a:srgbClr val="560547"/>
                </a:solidFill>
                <a:latin typeface="Arial" pitchFamily="34" charset="0"/>
                <a:ea typeface="Arial" pitchFamily="34" charset="-122"/>
                <a:cs typeface="Arial" pitchFamily="34" charset="-120"/>
              </a:rPr>
              <a:t>4.0%</a:t>
            </a:r>
            <a:endParaRPr lang="en-US" sz="2000" dirty="0"/>
          </a:p>
        </p:txBody>
      </p:sp>
      <p:sp>
        <p:nvSpPr>
          <p:cNvPr id="42" name="Text 36"/>
          <p:cNvSpPr txBox="1"/>
          <p:nvPr/>
        </p:nvSpPr>
        <p:spPr>
          <a:xfrm>
            <a:off x="6672072" y="1838858"/>
            <a:ext cx="2558796" cy="314919"/>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Contribution margin, Q4 FY26 exit (2.3% in Q3)</a:t>
            </a:r>
            <a:endParaRPr lang="en-US" sz="1050" dirty="0"/>
          </a:p>
        </p:txBody>
      </p:sp>
      <p:sp>
        <p:nvSpPr>
          <p:cNvPr id="43" name="Shape 37"/>
          <p:cNvSpPr/>
          <p:nvPr/>
        </p:nvSpPr>
        <p:spPr>
          <a:xfrm>
            <a:off x="9468612" y="1426464"/>
            <a:ext cx="2778252" cy="749808"/>
          </a:xfrm>
          <a:prstGeom prst="rect">
            <a:avLst/>
          </a:prstGeom>
          <a:solidFill>
            <a:srgbClr val="F2E4EE"/>
          </a:solidFill>
          <a:ln w="12700">
            <a:solidFill>
              <a:srgbClr val="F2E4EE"/>
            </a:solidFill>
            <a:prstDash val="solid"/>
          </a:ln>
        </p:spPr>
      </p:sp>
      <p:sp>
        <p:nvSpPr>
          <p:cNvPr id="44" name="Text 38"/>
          <p:cNvSpPr txBox="1"/>
          <p:nvPr/>
        </p:nvSpPr>
        <p:spPr>
          <a:xfrm>
            <a:off x="9578340" y="1481328"/>
            <a:ext cx="2558796" cy="389900"/>
          </a:xfrm>
          <a:prstGeom prst="rect">
            <a:avLst/>
          </a:prstGeom>
          <a:noFill/>
          <a:ln/>
        </p:spPr>
        <p:txBody>
          <a:bodyPr wrap="square" lIns="0" tIns="0" rIns="0" bIns="0" rtlCol="0" anchor="ctr"/>
          <a:lstStyle/>
          <a:p>
            <a:pPr algn="l" indent="0" marL="0">
              <a:lnSpc>
                <a:spcPct val="100000"/>
              </a:lnSpc>
              <a:buNone/>
            </a:pPr>
            <a:r>
              <a:rPr lang="en-US" sz="2000" b="1" dirty="0">
                <a:solidFill>
                  <a:srgbClr val="560547"/>
                </a:solidFill>
                <a:latin typeface="Arial" pitchFamily="34" charset="0"/>
                <a:ea typeface="Arial" pitchFamily="34" charset="-122"/>
                <a:cs typeface="Arial" pitchFamily="34" charset="-120"/>
              </a:rPr>
              <a:t>9.6 lakh</a:t>
            </a:r>
            <a:endParaRPr lang="en-US" sz="2000" dirty="0"/>
          </a:p>
        </p:txBody>
      </p:sp>
      <p:sp>
        <p:nvSpPr>
          <p:cNvPr id="45" name="Text 39"/>
          <p:cNvSpPr txBox="1"/>
          <p:nvPr/>
        </p:nvSpPr>
        <p:spPr>
          <a:xfrm>
            <a:off x="9578340" y="1838858"/>
            <a:ext cx="2558796" cy="314919"/>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Transacting sellers, +87% YoY</a:t>
            </a:r>
            <a:endParaRPr lang="en-US" sz="1050" dirty="0"/>
          </a:p>
        </p:txBody>
      </p:sp>
      <p:sp>
        <p:nvSpPr>
          <p:cNvPr id="46" name="Shape 40"/>
          <p:cNvSpPr/>
          <p:nvPr/>
        </p:nvSpPr>
        <p:spPr>
          <a:xfrm>
            <a:off x="12374880" y="1426464"/>
            <a:ext cx="2778252" cy="749808"/>
          </a:xfrm>
          <a:prstGeom prst="rect">
            <a:avLst/>
          </a:prstGeom>
          <a:solidFill>
            <a:srgbClr val="F2E4EE"/>
          </a:solidFill>
          <a:ln w="12700">
            <a:solidFill>
              <a:srgbClr val="F2E4EE"/>
            </a:solidFill>
            <a:prstDash val="solid"/>
          </a:ln>
        </p:spPr>
      </p:sp>
      <p:sp>
        <p:nvSpPr>
          <p:cNvPr id="47" name="Text 41"/>
          <p:cNvSpPr txBox="1"/>
          <p:nvPr/>
        </p:nvSpPr>
        <p:spPr>
          <a:xfrm>
            <a:off x="12484608" y="1481328"/>
            <a:ext cx="2558796" cy="389900"/>
          </a:xfrm>
          <a:prstGeom prst="rect">
            <a:avLst/>
          </a:prstGeom>
          <a:noFill/>
          <a:ln/>
        </p:spPr>
        <p:txBody>
          <a:bodyPr wrap="square" lIns="0" tIns="0" rIns="0" bIns="0" rtlCol="0" anchor="ctr"/>
          <a:lstStyle/>
          <a:p>
            <a:pPr algn="l" indent="0" marL="0">
              <a:lnSpc>
                <a:spcPct val="100000"/>
              </a:lnSpc>
              <a:buNone/>
            </a:pPr>
            <a:r>
              <a:rPr lang="en-US" sz="2000" b="1" dirty="0">
                <a:solidFill>
                  <a:srgbClr val="560547"/>
                </a:solidFill>
                <a:latin typeface="Arial" pitchFamily="34" charset="0"/>
                <a:ea typeface="Arial" pitchFamily="34" charset="-122"/>
                <a:cs typeface="Arial" pitchFamily="34" charset="-120"/>
              </a:rPr>
              <a:t>0%</a:t>
            </a:r>
            <a:endParaRPr lang="en-US" sz="2000" dirty="0"/>
          </a:p>
        </p:txBody>
      </p:sp>
      <p:sp>
        <p:nvSpPr>
          <p:cNvPr id="48" name="Text 42"/>
          <p:cNvSpPr txBox="1"/>
          <p:nvPr/>
        </p:nvSpPr>
        <p:spPr>
          <a:xfrm>
            <a:off x="12484608" y="1838858"/>
            <a:ext cx="2558796" cy="314919"/>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Commission, now matched: Flipkart fashion at every price (8 Jul 2026)</a:t>
            </a:r>
            <a:endParaRPr lang="en-US" sz="1050" dirty="0"/>
          </a:p>
        </p:txBody>
      </p:sp>
      <p:sp>
        <p:nvSpPr>
          <p:cNvPr id="49" name="Shape 43"/>
          <p:cNvSpPr/>
          <p:nvPr/>
        </p:nvSpPr>
        <p:spPr>
          <a:xfrm>
            <a:off x="15281148" y="1426464"/>
            <a:ext cx="2778252" cy="749808"/>
          </a:xfrm>
          <a:prstGeom prst="rect">
            <a:avLst/>
          </a:prstGeom>
          <a:solidFill>
            <a:srgbClr val="F2E4EE"/>
          </a:solidFill>
          <a:ln w="12700">
            <a:solidFill>
              <a:srgbClr val="F2E4EE"/>
            </a:solidFill>
            <a:prstDash val="solid"/>
          </a:ln>
        </p:spPr>
      </p:sp>
      <p:sp>
        <p:nvSpPr>
          <p:cNvPr id="50" name="Text 44"/>
          <p:cNvSpPr txBox="1"/>
          <p:nvPr/>
        </p:nvSpPr>
        <p:spPr>
          <a:xfrm>
            <a:off x="15390876" y="1481328"/>
            <a:ext cx="2558796" cy="389900"/>
          </a:xfrm>
          <a:prstGeom prst="rect">
            <a:avLst/>
          </a:prstGeom>
          <a:noFill/>
          <a:ln/>
        </p:spPr>
        <p:txBody>
          <a:bodyPr wrap="square" lIns="0" tIns="0" rIns="0" bIns="0" rtlCol="0" anchor="ctr"/>
          <a:lstStyle/>
          <a:p>
            <a:pPr algn="l" indent="0" marL="0">
              <a:lnSpc>
                <a:spcPct val="100000"/>
              </a:lnSpc>
              <a:buNone/>
            </a:pPr>
            <a:r>
              <a:rPr lang="en-US" sz="2000" b="1" dirty="0">
                <a:solidFill>
                  <a:srgbClr val="560547"/>
                </a:solidFill>
                <a:latin typeface="Arial" pitchFamily="34" charset="0"/>
                <a:ea typeface="Arial" pitchFamily="34" charset="-122"/>
                <a:cs typeface="Arial" pitchFamily="34" charset="-120"/>
              </a:rPr>
              <a:t>264 mn</a:t>
            </a:r>
            <a:endParaRPr lang="en-US" sz="2000" dirty="0"/>
          </a:p>
        </p:txBody>
      </p:sp>
      <p:sp>
        <p:nvSpPr>
          <p:cNvPr id="51" name="Text 45"/>
          <p:cNvSpPr txBox="1"/>
          <p:nvPr/>
        </p:nvSpPr>
        <p:spPr>
          <a:xfrm>
            <a:off x="15390876" y="1838858"/>
            <a:ext cx="2558796" cy="314919"/>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Annual transacting users, +33%</a:t>
            </a:r>
            <a:endParaRPr lang="en-US" sz="1050" dirty="0"/>
          </a:p>
        </p:txBody>
      </p:sp>
      <p:sp>
        <p:nvSpPr>
          <p:cNvPr id="52" name="Shape 46"/>
          <p:cNvSpPr/>
          <p:nvPr/>
        </p:nvSpPr>
        <p:spPr>
          <a:xfrm>
            <a:off x="749808" y="2286000"/>
            <a:ext cx="3401568" cy="3858768"/>
          </a:xfrm>
          <a:prstGeom prst="rect">
            <a:avLst/>
          </a:prstGeom>
          <a:solidFill>
            <a:srgbClr val="FFFFFF"/>
          </a:solidFill>
          <a:ln w="9525">
            <a:solidFill>
              <a:srgbClr val="E0CEDA"/>
            </a:solidFill>
            <a:prstDash val="solid"/>
          </a:ln>
        </p:spPr>
      </p:sp>
      <p:sp>
        <p:nvSpPr>
          <p:cNvPr id="53" name="Shape 47"/>
          <p:cNvSpPr/>
          <p:nvPr/>
        </p:nvSpPr>
        <p:spPr>
          <a:xfrm>
            <a:off x="749808" y="2286000"/>
            <a:ext cx="3401568" cy="329184"/>
          </a:xfrm>
          <a:prstGeom prst="rect">
            <a:avLst/>
          </a:prstGeom>
          <a:solidFill>
            <a:srgbClr val="560547"/>
          </a:solidFill>
          <a:ln w="12700">
            <a:solidFill>
              <a:srgbClr val="560547"/>
            </a:solidFill>
            <a:prstDash val="solid"/>
          </a:ln>
        </p:spPr>
      </p:sp>
      <p:pic>
        <p:nvPicPr>
          <p:cNvPr id="54" name="Image 3" descr="/private/tmp/claude-501/-Users-prathmeshwalimbe-Downloads-Meesho/dfec39d5-f971-4a3a-8cfb-761f4ef1fedb/scratchpad/deck/assets/icons/FaIndustry_w.png">    </p:cNvPr>
          <p:cNvPicPr>
            <a:picLocks noChangeAspect="1"/>
          </p:cNvPicPr>
          <p:nvPr/>
        </p:nvPicPr>
        <p:blipFill>
          <a:blip r:embed="rId4"/>
          <a:stretch>
            <a:fillRect/>
          </a:stretch>
        </p:blipFill>
        <p:spPr>
          <a:xfrm>
            <a:off x="859536" y="2350008"/>
            <a:ext cx="201168" cy="201168"/>
          </a:xfrm>
          <a:prstGeom prst="rect">
            <a:avLst/>
          </a:prstGeom>
        </p:spPr>
      </p:pic>
      <p:sp>
        <p:nvSpPr>
          <p:cNvPr id="55" name="Text 48"/>
          <p:cNvSpPr txBox="1"/>
          <p:nvPr/>
        </p:nvSpPr>
        <p:spPr>
          <a:xfrm>
            <a:off x="1133856" y="2286000"/>
            <a:ext cx="2889504" cy="32918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COHORT A · Offline-only, B2B bulk</a:t>
            </a:r>
            <a:endParaRPr lang="en-US" sz="1150" dirty="0"/>
          </a:p>
        </p:txBody>
      </p:sp>
      <p:sp>
        <p:nvSpPr>
          <p:cNvPr id="56" name="Text 49"/>
          <p:cNvSpPr txBox="1"/>
          <p:nvPr/>
        </p:nvSpPr>
        <p:spPr>
          <a:xfrm>
            <a:off x="877824" y="2670048"/>
            <a:ext cx="1280160" cy="457200"/>
          </a:xfrm>
          <a:prstGeom prst="rect">
            <a:avLst/>
          </a:prstGeom>
          <a:noFill/>
          <a:ln/>
        </p:spPr>
        <p:txBody>
          <a:bodyPr wrap="square" lIns="0" tIns="0" rIns="0" bIns="0" rtlCol="0" anchor="t"/>
          <a:lstStyle/>
          <a:p>
            <a:pPr algn="l" indent="0" marL="0">
              <a:lnSpc>
                <a:spcPct val="100000"/>
              </a:lnSpc>
              <a:buNone/>
            </a:pPr>
            <a:r>
              <a:rPr lang="en-US" sz="2600" b="1" dirty="0">
                <a:solidFill>
                  <a:srgbClr val="560547"/>
                </a:solidFill>
                <a:latin typeface="Arial" pitchFamily="34" charset="0"/>
                <a:ea typeface="Arial" pitchFamily="34" charset="-122"/>
                <a:cs typeface="Arial" pitchFamily="34" charset="-120"/>
              </a:rPr>
              <a:t>72%</a:t>
            </a:r>
            <a:endParaRPr lang="en-US" sz="2600" dirty="0"/>
          </a:p>
        </p:txBody>
      </p:sp>
      <p:sp>
        <p:nvSpPr>
          <p:cNvPr id="57" name="Text 50"/>
          <p:cNvSpPr txBox="1"/>
          <p:nvPr/>
        </p:nvSpPr>
        <p:spPr>
          <a:xfrm>
            <a:off x="2203704" y="2743200"/>
            <a:ext cx="1819656" cy="502920"/>
          </a:xfrm>
          <a:prstGeom prst="rect">
            <a:avLst/>
          </a:prstGeom>
          <a:noFill/>
          <a:ln/>
        </p:spPr>
        <p:txBody>
          <a:bodyPr wrap="square" lIns="0" tIns="0" rIns="0" bIns="0" rtlCol="0" anchor="t"/>
          <a:lstStyle/>
          <a:p>
            <a:pPr algn="l" indent="0" marL="0">
              <a:lnSpc>
                <a:spcPct val="100000"/>
              </a:lnSpc>
              <a:buNone/>
            </a:pPr>
            <a:r>
              <a:rPr lang="en-US" sz="1200" dirty="0">
                <a:solidFill>
                  <a:srgbClr val="7A6470"/>
                </a:solidFill>
                <a:latin typeface="Calibri" pitchFamily="34" charset="0"/>
                <a:ea typeface="Calibri" pitchFamily="34" charset="-122"/>
                <a:cs typeface="Calibri" pitchFamily="34" charset="-120"/>
              </a:rPr>
              <a:t>of 11,645</a:t>
            </a:r>
            <a:endParaRPr lang="en-US" sz="1200" dirty="0"/>
          </a:p>
          <a:p>
            <a:pPr algn="l" indent="0" marL="0">
              <a:lnSpc>
                <a:spcPct val="100000"/>
              </a:lnSpc>
              <a:buNone/>
            </a:pPr>
            <a:r>
              <a:rPr lang="en-US" sz="1200" b="1" dirty="0">
                <a:solidFill>
                  <a:srgbClr val="2B1226"/>
                </a:solidFill>
                <a:latin typeface="Calibri" pitchFamily="34" charset="0"/>
                <a:ea typeface="Calibri" pitchFamily="34" charset="-122"/>
                <a:cs typeface="Calibri" pitchFamily="34" charset="-120"/>
              </a:rPr>
              <a:t>≈ 8,400 firms</a:t>
            </a:r>
            <a:endParaRPr lang="en-US" sz="1200" dirty="0"/>
          </a:p>
        </p:txBody>
      </p:sp>
      <p:sp>
        <p:nvSpPr>
          <p:cNvPr id="58" name="Text 51"/>
          <p:cNvSpPr txBox="1"/>
          <p:nvPr/>
        </p:nvSpPr>
        <p:spPr>
          <a:xfrm>
            <a:off x="877824" y="3182112"/>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PROFILE</a:t>
            </a:r>
            <a:endParaRPr lang="en-US" sz="950" dirty="0"/>
          </a:p>
        </p:txBody>
      </p:sp>
      <p:sp>
        <p:nvSpPr>
          <p:cNvPr id="59" name="Text 52"/>
          <p:cNvSpPr txBox="1"/>
          <p:nvPr/>
        </p:nvSpPr>
        <p:spPr>
          <a:xfrm>
            <a:off x="877824" y="3355848"/>
            <a:ext cx="3145536" cy="36576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Made to order, distributor-fed, zero returns, 45–60 day terms</a:t>
            </a:r>
            <a:endParaRPr lang="en-US" sz="1100" dirty="0"/>
          </a:p>
        </p:txBody>
      </p:sp>
      <p:sp>
        <p:nvSpPr>
          <p:cNvPr id="60" name="Text 53"/>
          <p:cNvSpPr txBox="1"/>
          <p:nvPr/>
        </p:nvSpPr>
        <p:spPr>
          <a:xfrm>
            <a:off x="877824" y="3739896"/>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BARRIER</a:t>
            </a:r>
            <a:endParaRPr lang="en-US" sz="950" dirty="0"/>
          </a:p>
        </p:txBody>
      </p:sp>
      <p:sp>
        <p:nvSpPr>
          <p:cNvPr id="61" name="Text 54"/>
          <p:cNvSpPr txBox="1"/>
          <p:nvPr/>
        </p:nvSpPr>
        <p:spPr>
          <a:xfrm>
            <a:off x="877824" y="3913632"/>
            <a:ext cx="3145536" cy="36576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No unit-level ops; build-to-stock is a balance-sheet change</a:t>
            </a:r>
            <a:endParaRPr lang="en-US" sz="1100" dirty="0"/>
          </a:p>
        </p:txBody>
      </p:sp>
      <p:sp>
        <p:nvSpPr>
          <p:cNvPr id="62" name="Text 55"/>
          <p:cNvSpPr txBox="1"/>
          <p:nvPr/>
        </p:nvSpPr>
        <p:spPr>
          <a:xfrm>
            <a:off x="877824" y="4297680"/>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MOTIVATION</a:t>
            </a:r>
            <a:endParaRPr lang="en-US" sz="950" dirty="0"/>
          </a:p>
        </p:txBody>
      </p:sp>
      <p:sp>
        <p:nvSpPr>
          <p:cNvPr id="63" name="Text 56"/>
          <p:cNvSpPr txBox="1"/>
          <p:nvPr/>
        </p:nvSpPr>
        <p:spPr>
          <a:xfrm>
            <a:off x="877824" y="4471416"/>
            <a:ext cx="3145536" cy="36576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Idle capacity; export shock (US tariff 50%, Aug–Dec 2025)</a:t>
            </a:r>
            <a:endParaRPr lang="en-US" sz="1100" dirty="0"/>
          </a:p>
        </p:txBody>
      </p:sp>
      <p:sp>
        <p:nvSpPr>
          <p:cNvPr id="64" name="Shape 57"/>
          <p:cNvSpPr/>
          <p:nvPr/>
        </p:nvSpPr>
        <p:spPr>
          <a:xfrm>
            <a:off x="841248" y="4828032"/>
            <a:ext cx="3218688" cy="548640"/>
          </a:xfrm>
          <a:prstGeom prst="rect">
            <a:avLst/>
          </a:prstGeom>
          <a:solidFill>
            <a:srgbClr val="FFF3D8"/>
          </a:solidFill>
          <a:ln w="12700">
            <a:solidFill>
              <a:srgbClr val="FFF3D8"/>
            </a:solidFill>
            <a:prstDash val="solid"/>
          </a:ln>
        </p:spPr>
      </p:sp>
      <p:sp>
        <p:nvSpPr>
          <p:cNvPr id="65" name="Text 58"/>
          <p:cNvSpPr txBox="1"/>
          <p:nvPr/>
        </p:nvSpPr>
        <p:spPr>
          <a:xfrm>
            <a:off x="877824" y="4855464"/>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D68200"/>
                </a:solidFill>
                <a:latin typeface="Arial" pitchFamily="34" charset="0"/>
                <a:ea typeface="Arial" pitchFamily="34" charset="-122"/>
                <a:cs typeface="Arial" pitchFamily="34" charset="-120"/>
              </a:rPr>
              <a:t>LEVER</a:t>
            </a:r>
            <a:endParaRPr lang="en-US" sz="950" dirty="0"/>
          </a:p>
        </p:txBody>
      </p:sp>
      <p:sp>
        <p:nvSpPr>
          <p:cNvPr id="66" name="Text 59"/>
          <p:cNvSpPr txBox="1"/>
          <p:nvPr/>
        </p:nvSpPr>
        <p:spPr>
          <a:xfrm>
            <a:off x="877824" y="5029200"/>
            <a:ext cx="3145536" cy="365760"/>
          </a:xfrm>
          <a:prstGeom prst="rect">
            <a:avLst/>
          </a:prstGeom>
          <a:noFill/>
          <a:ln/>
        </p:spPr>
        <p:txBody>
          <a:bodyPr wrap="square" lIns="0" tIns="0" rIns="0" bIns="0" rtlCol="0" anchor="t"/>
          <a:lstStyle/>
          <a:p>
            <a:pPr algn="l" indent="0" marL="0">
              <a:lnSpc>
                <a:spcPct val="100000"/>
              </a:lnSpc>
              <a:buNone/>
            </a:pPr>
            <a:r>
              <a:rPr lang="en-US" sz="1100" b="1" dirty="0">
                <a:solidFill>
                  <a:srgbClr val="2B1226"/>
                </a:solidFill>
                <a:latin typeface="Calibri" pitchFamily="34" charset="0"/>
                <a:ea typeface="Calibri" pitchFamily="34" charset="-122"/>
                <a:cs typeface="Calibri" pitchFamily="34" charset="-120"/>
              </a:rPr>
              <a:t>Factory Node + demand-confirmed batches</a:t>
            </a:r>
            <a:endParaRPr lang="en-US" sz="1100" dirty="0"/>
          </a:p>
        </p:txBody>
      </p:sp>
      <p:sp>
        <p:nvSpPr>
          <p:cNvPr id="67" name="Text 60"/>
          <p:cNvSpPr txBox="1"/>
          <p:nvPr/>
        </p:nvSpPr>
        <p:spPr>
          <a:xfrm>
            <a:off x="877824" y="5413248"/>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REACH</a:t>
            </a:r>
            <a:endParaRPr lang="en-US" sz="950" dirty="0"/>
          </a:p>
        </p:txBody>
      </p:sp>
      <p:sp>
        <p:nvSpPr>
          <p:cNvPr id="68" name="Text 61"/>
          <p:cNvSpPr txBox="1"/>
          <p:nvPr/>
        </p:nvSpPr>
        <p:spPr>
          <a:xfrm>
            <a:off x="877824" y="5586984"/>
            <a:ext cx="3145536" cy="36576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Cluster associations (e.g., Tiruppur Exporters’ Association), 40–60 factories a drive</a:t>
            </a:r>
            <a:endParaRPr lang="en-US" sz="1100" dirty="0"/>
          </a:p>
        </p:txBody>
      </p:sp>
      <p:sp>
        <p:nvSpPr>
          <p:cNvPr id="69" name="Shape 62"/>
          <p:cNvSpPr/>
          <p:nvPr/>
        </p:nvSpPr>
        <p:spPr>
          <a:xfrm>
            <a:off x="4279392" y="2286000"/>
            <a:ext cx="3401568" cy="3858768"/>
          </a:xfrm>
          <a:prstGeom prst="rect">
            <a:avLst/>
          </a:prstGeom>
          <a:solidFill>
            <a:srgbClr val="FFFFFF"/>
          </a:solidFill>
          <a:ln w="9525">
            <a:solidFill>
              <a:srgbClr val="E0CEDA"/>
            </a:solidFill>
            <a:prstDash val="solid"/>
          </a:ln>
        </p:spPr>
      </p:sp>
      <p:sp>
        <p:nvSpPr>
          <p:cNvPr id="70" name="Shape 63"/>
          <p:cNvSpPr/>
          <p:nvPr/>
        </p:nvSpPr>
        <p:spPr>
          <a:xfrm>
            <a:off x="4279392" y="2286000"/>
            <a:ext cx="3401568" cy="329184"/>
          </a:xfrm>
          <a:prstGeom prst="rect">
            <a:avLst/>
          </a:prstGeom>
          <a:solidFill>
            <a:srgbClr val="560547"/>
          </a:solidFill>
          <a:ln w="12700">
            <a:solidFill>
              <a:srgbClr val="560547"/>
            </a:solidFill>
            <a:prstDash val="solid"/>
          </a:ln>
        </p:spPr>
      </p:sp>
      <p:pic>
        <p:nvPicPr>
          <p:cNvPr id="71" name="Image 4" descr="/private/tmp/claude-501/-Users-prathmeshwalimbe-Downloads-Meesho/dfec39d5-f971-4a3a-8cfb-761f4ef1fedb/scratchpad/deck/assets/icons/FaGlobe_w.png">    </p:cNvPr>
          <p:cNvPicPr>
            <a:picLocks noChangeAspect="1"/>
          </p:cNvPicPr>
          <p:nvPr/>
        </p:nvPicPr>
        <p:blipFill>
          <a:blip r:embed="rId5"/>
          <a:stretch>
            <a:fillRect/>
          </a:stretch>
        </p:blipFill>
        <p:spPr>
          <a:xfrm>
            <a:off x="4389120" y="2350008"/>
            <a:ext cx="201168" cy="201168"/>
          </a:xfrm>
          <a:prstGeom prst="rect">
            <a:avLst/>
          </a:prstGeom>
        </p:spPr>
      </p:pic>
      <p:sp>
        <p:nvSpPr>
          <p:cNvPr id="72" name="Text 64"/>
          <p:cNvSpPr txBox="1"/>
          <p:nvPr/>
        </p:nvSpPr>
        <p:spPr>
          <a:xfrm>
            <a:off x="4663440" y="2286000"/>
            <a:ext cx="2889504" cy="32918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COHORT B · Online, active elsewhere</a:t>
            </a:r>
            <a:endParaRPr lang="en-US" sz="1150" dirty="0"/>
          </a:p>
        </p:txBody>
      </p:sp>
      <p:sp>
        <p:nvSpPr>
          <p:cNvPr id="73" name="Text 65"/>
          <p:cNvSpPr txBox="1"/>
          <p:nvPr/>
        </p:nvSpPr>
        <p:spPr>
          <a:xfrm>
            <a:off x="4407408" y="2670048"/>
            <a:ext cx="1280160" cy="457200"/>
          </a:xfrm>
          <a:prstGeom prst="rect">
            <a:avLst/>
          </a:prstGeom>
          <a:noFill/>
          <a:ln/>
        </p:spPr>
        <p:txBody>
          <a:bodyPr wrap="square" lIns="0" tIns="0" rIns="0" bIns="0" rtlCol="0" anchor="t"/>
          <a:lstStyle/>
          <a:p>
            <a:pPr algn="l" indent="0" marL="0">
              <a:lnSpc>
                <a:spcPct val="100000"/>
              </a:lnSpc>
              <a:buNone/>
            </a:pPr>
            <a:r>
              <a:rPr lang="en-US" sz="2600" b="1" dirty="0">
                <a:solidFill>
                  <a:srgbClr val="560547"/>
                </a:solidFill>
                <a:latin typeface="Arial" pitchFamily="34" charset="0"/>
                <a:ea typeface="Arial" pitchFamily="34" charset="-122"/>
                <a:cs typeface="Arial" pitchFamily="34" charset="-120"/>
              </a:rPr>
              <a:t>19%</a:t>
            </a:r>
            <a:endParaRPr lang="en-US" sz="2600" dirty="0"/>
          </a:p>
        </p:txBody>
      </p:sp>
      <p:sp>
        <p:nvSpPr>
          <p:cNvPr id="74" name="Text 66"/>
          <p:cNvSpPr txBox="1"/>
          <p:nvPr/>
        </p:nvSpPr>
        <p:spPr>
          <a:xfrm>
            <a:off x="5733288" y="2743200"/>
            <a:ext cx="1819656" cy="502920"/>
          </a:xfrm>
          <a:prstGeom prst="rect">
            <a:avLst/>
          </a:prstGeom>
          <a:noFill/>
          <a:ln/>
        </p:spPr>
        <p:txBody>
          <a:bodyPr wrap="square" lIns="0" tIns="0" rIns="0" bIns="0" rtlCol="0" anchor="t"/>
          <a:lstStyle/>
          <a:p>
            <a:pPr algn="l" indent="0" marL="0">
              <a:lnSpc>
                <a:spcPct val="100000"/>
              </a:lnSpc>
              <a:buNone/>
            </a:pPr>
            <a:r>
              <a:rPr lang="en-US" sz="1200" dirty="0">
                <a:solidFill>
                  <a:srgbClr val="7A6470"/>
                </a:solidFill>
                <a:latin typeface="Calibri" pitchFamily="34" charset="0"/>
                <a:ea typeface="Calibri" pitchFamily="34" charset="-122"/>
                <a:cs typeface="Calibri" pitchFamily="34" charset="-120"/>
              </a:rPr>
              <a:t>of 11,645</a:t>
            </a:r>
            <a:endParaRPr lang="en-US" sz="1200" dirty="0"/>
          </a:p>
          <a:p>
            <a:pPr algn="l" indent="0" marL="0">
              <a:lnSpc>
                <a:spcPct val="100000"/>
              </a:lnSpc>
              <a:buNone/>
            </a:pPr>
            <a:r>
              <a:rPr lang="en-US" sz="1200" b="1" dirty="0">
                <a:solidFill>
                  <a:srgbClr val="2B1226"/>
                </a:solidFill>
                <a:latin typeface="Calibri" pitchFamily="34" charset="0"/>
                <a:ea typeface="Calibri" pitchFamily="34" charset="-122"/>
                <a:cs typeface="Calibri" pitchFamily="34" charset="-120"/>
              </a:rPr>
              <a:t>≈ 2,200 firms</a:t>
            </a:r>
            <a:endParaRPr lang="en-US" sz="1200" dirty="0"/>
          </a:p>
        </p:txBody>
      </p:sp>
      <p:sp>
        <p:nvSpPr>
          <p:cNvPr id="75" name="Text 67"/>
          <p:cNvSpPr txBox="1"/>
          <p:nvPr/>
        </p:nvSpPr>
        <p:spPr>
          <a:xfrm>
            <a:off x="4407408" y="3182112"/>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PROFILE</a:t>
            </a:r>
            <a:endParaRPr lang="en-US" sz="950" dirty="0"/>
          </a:p>
        </p:txBody>
      </p:sp>
      <p:sp>
        <p:nvSpPr>
          <p:cNvPr id="76" name="Text 68"/>
          <p:cNvSpPr txBox="1"/>
          <p:nvPr/>
        </p:nvSpPr>
        <p:spPr>
          <a:xfrm>
            <a:off x="4407408" y="3355848"/>
            <a:ext cx="3145536" cy="36576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On Amazon, Flipkart or own D2C; GST and catalogue done</a:t>
            </a:r>
            <a:endParaRPr lang="en-US" sz="1100" dirty="0"/>
          </a:p>
        </p:txBody>
      </p:sp>
      <p:sp>
        <p:nvSpPr>
          <p:cNvPr id="77" name="Text 69"/>
          <p:cNvSpPr txBox="1"/>
          <p:nvPr/>
        </p:nvSpPr>
        <p:spPr>
          <a:xfrm>
            <a:off x="4407408" y="3739896"/>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BARRIER</a:t>
            </a:r>
            <a:endParaRPr lang="en-US" sz="950" dirty="0"/>
          </a:p>
        </p:txBody>
      </p:sp>
      <p:sp>
        <p:nvSpPr>
          <p:cNvPr id="78" name="Text 70"/>
          <p:cNvSpPr txBox="1"/>
          <p:nvPr/>
        </p:nvSpPr>
        <p:spPr>
          <a:xfrm>
            <a:off x="4407408" y="3913632"/>
            <a:ext cx="3145536" cy="36576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₹800+ basket catalogue loses money at a ₹265 AOV</a:t>
            </a:r>
            <a:endParaRPr lang="en-US" sz="1100" dirty="0"/>
          </a:p>
        </p:txBody>
      </p:sp>
      <p:sp>
        <p:nvSpPr>
          <p:cNvPr id="79" name="Text 71"/>
          <p:cNvSpPr txBox="1"/>
          <p:nvPr/>
        </p:nvSpPr>
        <p:spPr>
          <a:xfrm>
            <a:off x="4407408" y="4297680"/>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MOTIVATION</a:t>
            </a:r>
            <a:endParaRPr lang="en-US" sz="950" dirty="0"/>
          </a:p>
        </p:txBody>
      </p:sp>
      <p:sp>
        <p:nvSpPr>
          <p:cNvPr id="80" name="Text 72"/>
          <p:cNvSpPr txBox="1"/>
          <p:nvPr/>
        </p:nvSpPr>
        <p:spPr>
          <a:xfrm>
            <a:off x="4407408" y="4471416"/>
            <a:ext cx="3145536" cy="36576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264 mn buyers and a Tier-2+ base it cannot reach elsewhere</a:t>
            </a:r>
            <a:endParaRPr lang="en-US" sz="1100" dirty="0"/>
          </a:p>
        </p:txBody>
      </p:sp>
      <p:sp>
        <p:nvSpPr>
          <p:cNvPr id="81" name="Shape 73"/>
          <p:cNvSpPr/>
          <p:nvPr/>
        </p:nvSpPr>
        <p:spPr>
          <a:xfrm>
            <a:off x="4370832" y="4828032"/>
            <a:ext cx="3218688" cy="548640"/>
          </a:xfrm>
          <a:prstGeom prst="rect">
            <a:avLst/>
          </a:prstGeom>
          <a:solidFill>
            <a:srgbClr val="FFF3D8"/>
          </a:solidFill>
          <a:ln w="12700">
            <a:solidFill>
              <a:srgbClr val="FFF3D8"/>
            </a:solidFill>
            <a:prstDash val="solid"/>
          </a:ln>
        </p:spPr>
      </p:sp>
      <p:sp>
        <p:nvSpPr>
          <p:cNvPr id="82" name="Text 74"/>
          <p:cNvSpPr txBox="1"/>
          <p:nvPr/>
        </p:nvSpPr>
        <p:spPr>
          <a:xfrm>
            <a:off x="4407408" y="4855464"/>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D68200"/>
                </a:solidFill>
                <a:latin typeface="Arial" pitchFamily="34" charset="0"/>
                <a:ea typeface="Arial" pitchFamily="34" charset="-122"/>
                <a:cs typeface="Arial" pitchFamily="34" charset="-120"/>
              </a:rPr>
              <a:t>LEVER</a:t>
            </a:r>
            <a:endParaRPr lang="en-US" sz="950" dirty="0"/>
          </a:p>
        </p:txBody>
      </p:sp>
      <p:sp>
        <p:nvSpPr>
          <p:cNvPr id="83" name="Text 75"/>
          <p:cNvSpPr txBox="1"/>
          <p:nvPr/>
        </p:nvSpPr>
        <p:spPr>
          <a:xfrm>
            <a:off x="4407408" y="5029200"/>
            <a:ext cx="3145536" cy="365760"/>
          </a:xfrm>
          <a:prstGeom prst="rect">
            <a:avLst/>
          </a:prstGeom>
          <a:noFill/>
          <a:ln/>
        </p:spPr>
        <p:txBody>
          <a:bodyPr wrap="square" lIns="0" tIns="0" rIns="0" bIns="0" rtlCol="0" anchor="t"/>
          <a:lstStyle/>
          <a:p>
            <a:pPr algn="l" indent="0" marL="0">
              <a:lnSpc>
                <a:spcPct val="100000"/>
              </a:lnSpc>
              <a:buNone/>
            </a:pPr>
            <a:r>
              <a:rPr lang="en-US" sz="1100" b="1" dirty="0">
                <a:solidFill>
                  <a:srgbClr val="2B1226"/>
                </a:solidFill>
                <a:latin typeface="Calibri" pitchFamily="34" charset="0"/>
                <a:ea typeface="Calibri" pitchFamily="34" charset="-122"/>
                <a:cs typeface="Calibri" pitchFamily="34" charset="-120"/>
              </a:rPr>
              <a:t>Price check + value-tier catalogue, not a discount</a:t>
            </a:r>
            <a:endParaRPr lang="en-US" sz="1100" dirty="0"/>
          </a:p>
        </p:txBody>
      </p:sp>
      <p:sp>
        <p:nvSpPr>
          <p:cNvPr id="84" name="Text 76"/>
          <p:cNvSpPr txBox="1"/>
          <p:nvPr/>
        </p:nvSpPr>
        <p:spPr>
          <a:xfrm>
            <a:off x="4407408" y="5413248"/>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REACH</a:t>
            </a:r>
            <a:endParaRPr lang="en-US" sz="950" dirty="0"/>
          </a:p>
        </p:txBody>
      </p:sp>
      <p:sp>
        <p:nvSpPr>
          <p:cNvPr id="85" name="Text 77"/>
          <p:cNvSpPr txBox="1"/>
          <p:nvPr/>
        </p:nvSpPr>
        <p:spPr>
          <a:xfrm>
            <a:off x="4407408" y="5586984"/>
            <a:ext cx="3145536" cy="36576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Price-check link via seller agencies and associations; no cold sales calls</a:t>
            </a:r>
            <a:endParaRPr lang="en-US" sz="1100" dirty="0"/>
          </a:p>
        </p:txBody>
      </p:sp>
      <p:sp>
        <p:nvSpPr>
          <p:cNvPr id="86" name="Shape 78"/>
          <p:cNvSpPr/>
          <p:nvPr/>
        </p:nvSpPr>
        <p:spPr>
          <a:xfrm>
            <a:off x="7808976" y="2286000"/>
            <a:ext cx="3401568" cy="3858768"/>
          </a:xfrm>
          <a:prstGeom prst="rect">
            <a:avLst/>
          </a:prstGeom>
          <a:solidFill>
            <a:srgbClr val="FFFFFF"/>
          </a:solidFill>
          <a:ln w="9525">
            <a:solidFill>
              <a:srgbClr val="E0CEDA"/>
            </a:solidFill>
            <a:prstDash val="solid"/>
          </a:ln>
        </p:spPr>
      </p:sp>
      <p:sp>
        <p:nvSpPr>
          <p:cNvPr id="87" name="Shape 79"/>
          <p:cNvSpPr/>
          <p:nvPr/>
        </p:nvSpPr>
        <p:spPr>
          <a:xfrm>
            <a:off x="7808976" y="2286000"/>
            <a:ext cx="3401568" cy="329184"/>
          </a:xfrm>
          <a:prstGeom prst="rect">
            <a:avLst/>
          </a:prstGeom>
          <a:solidFill>
            <a:srgbClr val="560547"/>
          </a:solidFill>
          <a:ln w="12700">
            <a:solidFill>
              <a:srgbClr val="560547"/>
            </a:solidFill>
            <a:prstDash val="solid"/>
          </a:ln>
        </p:spPr>
      </p:sp>
      <p:pic>
        <p:nvPicPr>
          <p:cNvPr id="88" name="Image 5" descr="/private/tmp/claude-501/-Users-prathmeshwalimbe-Downloads-Meesho/dfec39d5-f971-4a3a-8cfb-761f4ef1fedb/scratchpad/deck/assets/icons/FaUserClock_w.png">    </p:cNvPr>
          <p:cNvPicPr>
            <a:picLocks noChangeAspect="1"/>
          </p:cNvPicPr>
          <p:nvPr/>
        </p:nvPicPr>
        <p:blipFill>
          <a:blip r:embed="rId6"/>
          <a:stretch>
            <a:fillRect/>
          </a:stretch>
        </p:blipFill>
        <p:spPr>
          <a:xfrm>
            <a:off x="7918704" y="2350008"/>
            <a:ext cx="201168" cy="201168"/>
          </a:xfrm>
          <a:prstGeom prst="rect">
            <a:avLst/>
          </a:prstGeom>
        </p:spPr>
      </p:pic>
      <p:sp>
        <p:nvSpPr>
          <p:cNvPr id="89" name="Text 80"/>
          <p:cNvSpPr txBox="1"/>
          <p:nvPr/>
        </p:nvSpPr>
        <p:spPr>
          <a:xfrm>
            <a:off x="8193024" y="2286000"/>
            <a:ext cx="2889504" cy="32918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COHORT C · Churned from Meesho</a:t>
            </a:r>
            <a:endParaRPr lang="en-US" sz="1150" dirty="0"/>
          </a:p>
        </p:txBody>
      </p:sp>
      <p:sp>
        <p:nvSpPr>
          <p:cNvPr id="90" name="Text 81"/>
          <p:cNvSpPr txBox="1"/>
          <p:nvPr/>
        </p:nvSpPr>
        <p:spPr>
          <a:xfrm>
            <a:off x="7936992" y="2670048"/>
            <a:ext cx="1280160" cy="457200"/>
          </a:xfrm>
          <a:prstGeom prst="rect">
            <a:avLst/>
          </a:prstGeom>
          <a:noFill/>
          <a:ln/>
        </p:spPr>
        <p:txBody>
          <a:bodyPr wrap="square" lIns="0" tIns="0" rIns="0" bIns="0" rtlCol="0" anchor="t"/>
          <a:lstStyle/>
          <a:p>
            <a:pPr algn="l" indent="0" marL="0">
              <a:lnSpc>
                <a:spcPct val="100000"/>
              </a:lnSpc>
              <a:buNone/>
            </a:pPr>
            <a:r>
              <a:rPr lang="en-US" sz="2600" b="1" dirty="0">
                <a:solidFill>
                  <a:srgbClr val="560547"/>
                </a:solidFill>
                <a:latin typeface="Arial" pitchFamily="34" charset="0"/>
                <a:ea typeface="Arial" pitchFamily="34" charset="-122"/>
                <a:cs typeface="Arial" pitchFamily="34" charset="-120"/>
              </a:rPr>
              <a:t>9%</a:t>
            </a:r>
            <a:endParaRPr lang="en-US" sz="2600" dirty="0"/>
          </a:p>
        </p:txBody>
      </p:sp>
      <p:sp>
        <p:nvSpPr>
          <p:cNvPr id="91" name="Text 82"/>
          <p:cNvSpPr txBox="1"/>
          <p:nvPr/>
        </p:nvSpPr>
        <p:spPr>
          <a:xfrm>
            <a:off x="9262872" y="2743200"/>
            <a:ext cx="1819656" cy="502920"/>
          </a:xfrm>
          <a:prstGeom prst="rect">
            <a:avLst/>
          </a:prstGeom>
          <a:noFill/>
          <a:ln/>
        </p:spPr>
        <p:txBody>
          <a:bodyPr wrap="square" lIns="0" tIns="0" rIns="0" bIns="0" rtlCol="0" anchor="t"/>
          <a:lstStyle/>
          <a:p>
            <a:pPr algn="l" indent="0" marL="0">
              <a:lnSpc>
                <a:spcPct val="100000"/>
              </a:lnSpc>
              <a:buNone/>
            </a:pPr>
            <a:r>
              <a:rPr lang="en-US" sz="1200" dirty="0">
                <a:solidFill>
                  <a:srgbClr val="7A6470"/>
                </a:solidFill>
                <a:latin typeface="Calibri" pitchFamily="34" charset="0"/>
                <a:ea typeface="Calibri" pitchFamily="34" charset="-122"/>
                <a:cs typeface="Calibri" pitchFamily="34" charset="-120"/>
              </a:rPr>
              <a:t>of 11,645</a:t>
            </a:r>
            <a:endParaRPr lang="en-US" sz="1200" dirty="0"/>
          </a:p>
          <a:p>
            <a:pPr algn="l" indent="0" marL="0">
              <a:lnSpc>
                <a:spcPct val="100000"/>
              </a:lnSpc>
              <a:buNone/>
            </a:pPr>
            <a:r>
              <a:rPr lang="en-US" sz="1200" b="1" dirty="0">
                <a:solidFill>
                  <a:srgbClr val="2B1226"/>
                </a:solidFill>
                <a:latin typeface="Calibri" pitchFamily="34" charset="0"/>
                <a:ea typeface="Calibri" pitchFamily="34" charset="-122"/>
                <a:cs typeface="Calibri" pitchFamily="34" charset="-120"/>
              </a:rPr>
              <a:t>≈ 1,050 firms</a:t>
            </a:r>
            <a:endParaRPr lang="en-US" sz="1200" dirty="0"/>
          </a:p>
        </p:txBody>
      </p:sp>
      <p:sp>
        <p:nvSpPr>
          <p:cNvPr id="92" name="Text 83"/>
          <p:cNvSpPr txBox="1"/>
          <p:nvPr/>
        </p:nvSpPr>
        <p:spPr>
          <a:xfrm>
            <a:off x="7936992" y="3182112"/>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PROFILE</a:t>
            </a:r>
            <a:endParaRPr lang="en-US" sz="950" dirty="0"/>
          </a:p>
        </p:txBody>
      </p:sp>
      <p:sp>
        <p:nvSpPr>
          <p:cNvPr id="93" name="Text 84"/>
          <p:cNvSpPr txBox="1"/>
          <p:nvPr/>
        </p:nvSpPr>
        <p:spPr>
          <a:xfrm>
            <a:off x="7936992" y="3355848"/>
            <a:ext cx="3145536" cy="36576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Listed, exited inside two quarters; catalogue dormant</a:t>
            </a:r>
            <a:endParaRPr lang="en-US" sz="1100" dirty="0"/>
          </a:p>
        </p:txBody>
      </p:sp>
      <p:sp>
        <p:nvSpPr>
          <p:cNvPr id="94" name="Text 85"/>
          <p:cNvSpPr txBox="1"/>
          <p:nvPr/>
        </p:nvSpPr>
        <p:spPr>
          <a:xfrm>
            <a:off x="7936992" y="3739896"/>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BARRIER</a:t>
            </a:r>
            <a:endParaRPr lang="en-US" sz="950" dirty="0"/>
          </a:p>
        </p:txBody>
      </p:sp>
      <p:sp>
        <p:nvSpPr>
          <p:cNvPr id="95" name="Text 86"/>
          <p:cNvSpPr txBox="1"/>
          <p:nvPr/>
        </p:nvSpPr>
        <p:spPr>
          <a:xfrm>
            <a:off x="7936992" y="3913632"/>
            <a:ext cx="3145536" cy="36576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Weak first 30 orders, then an RTO or returns shock</a:t>
            </a:r>
            <a:endParaRPr lang="en-US" sz="1100" dirty="0"/>
          </a:p>
        </p:txBody>
      </p:sp>
      <p:sp>
        <p:nvSpPr>
          <p:cNvPr id="96" name="Text 87"/>
          <p:cNvSpPr txBox="1"/>
          <p:nvPr/>
        </p:nvSpPr>
        <p:spPr>
          <a:xfrm>
            <a:off x="7936992" y="4297680"/>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MOTIVATION</a:t>
            </a:r>
            <a:endParaRPr lang="en-US" sz="950" dirty="0"/>
          </a:p>
        </p:txBody>
      </p:sp>
      <p:sp>
        <p:nvSpPr>
          <p:cNvPr id="97" name="Text 88"/>
          <p:cNvSpPr txBox="1"/>
          <p:nvPr/>
        </p:nvSpPr>
        <p:spPr>
          <a:xfrm>
            <a:off x="7936992" y="4471416"/>
            <a:ext cx="3145536" cy="36576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Sunk catalogue cost; KYC and price history already exist</a:t>
            </a:r>
            <a:endParaRPr lang="en-US" sz="1100" dirty="0"/>
          </a:p>
        </p:txBody>
      </p:sp>
      <p:sp>
        <p:nvSpPr>
          <p:cNvPr id="98" name="Shape 89"/>
          <p:cNvSpPr/>
          <p:nvPr/>
        </p:nvSpPr>
        <p:spPr>
          <a:xfrm>
            <a:off x="7900416" y="4828032"/>
            <a:ext cx="3218688" cy="548640"/>
          </a:xfrm>
          <a:prstGeom prst="rect">
            <a:avLst/>
          </a:prstGeom>
          <a:solidFill>
            <a:srgbClr val="FFF3D8"/>
          </a:solidFill>
          <a:ln w="12700">
            <a:solidFill>
              <a:srgbClr val="FFF3D8"/>
            </a:solidFill>
            <a:prstDash val="solid"/>
          </a:ln>
        </p:spPr>
      </p:sp>
      <p:sp>
        <p:nvSpPr>
          <p:cNvPr id="99" name="Text 90"/>
          <p:cNvSpPr txBox="1"/>
          <p:nvPr/>
        </p:nvSpPr>
        <p:spPr>
          <a:xfrm>
            <a:off x="7936992" y="4855464"/>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D68200"/>
                </a:solidFill>
                <a:latin typeface="Arial" pitchFamily="34" charset="0"/>
                <a:ea typeface="Arial" pitchFamily="34" charset="-122"/>
                <a:cs typeface="Arial" pitchFamily="34" charset="-120"/>
              </a:rPr>
              <a:t>LEVER</a:t>
            </a:r>
            <a:endParaRPr lang="en-US" sz="950" dirty="0"/>
          </a:p>
        </p:txBody>
      </p:sp>
      <p:sp>
        <p:nvSpPr>
          <p:cNvPr id="100" name="Text 91"/>
          <p:cNvSpPr txBox="1"/>
          <p:nvPr/>
        </p:nvSpPr>
        <p:spPr>
          <a:xfrm>
            <a:off x="7936992" y="5029200"/>
            <a:ext cx="3145536" cy="365760"/>
          </a:xfrm>
          <a:prstGeom prst="rect">
            <a:avLst/>
          </a:prstGeom>
          <a:noFill/>
          <a:ln/>
        </p:spPr>
        <p:txBody>
          <a:bodyPr wrap="square" lIns="0" tIns="0" rIns="0" bIns="0" rtlCol="0" anchor="t"/>
          <a:lstStyle/>
          <a:p>
            <a:pPr algn="l" indent="0" marL="0">
              <a:lnSpc>
                <a:spcPct val="100000"/>
              </a:lnSpc>
              <a:buNone/>
            </a:pPr>
            <a:r>
              <a:rPr lang="en-US" sz="1100" b="1" dirty="0">
                <a:solidFill>
                  <a:srgbClr val="2B1226"/>
                </a:solidFill>
                <a:latin typeface="Calibri" pitchFamily="34" charset="0"/>
                <a:ea typeface="Calibri" pitchFamily="34" charset="-122"/>
                <a:cs typeface="Calibri" pitchFamily="34" charset="-120"/>
              </a:rPr>
              <a:t>Returns firewall + health-score re-entry</a:t>
            </a:r>
            <a:endParaRPr lang="en-US" sz="1100" dirty="0"/>
          </a:p>
        </p:txBody>
      </p:sp>
      <p:sp>
        <p:nvSpPr>
          <p:cNvPr id="101" name="Text 92"/>
          <p:cNvSpPr txBox="1"/>
          <p:nvPr/>
        </p:nvSpPr>
        <p:spPr>
          <a:xfrm>
            <a:off x="7936992" y="5413248"/>
            <a:ext cx="3145536" cy="182880"/>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8A245E"/>
                </a:solidFill>
                <a:latin typeface="Arial" pitchFamily="34" charset="0"/>
                <a:ea typeface="Arial" pitchFamily="34" charset="-122"/>
                <a:cs typeface="Arial" pitchFamily="34" charset="-120"/>
              </a:rPr>
              <a:t>REACH</a:t>
            </a:r>
            <a:endParaRPr lang="en-US" sz="950" dirty="0"/>
          </a:p>
        </p:txBody>
      </p:sp>
      <p:sp>
        <p:nvSpPr>
          <p:cNvPr id="102" name="Text 93"/>
          <p:cNvSpPr txBox="1"/>
          <p:nvPr/>
        </p:nvSpPr>
        <p:spPr>
          <a:xfrm>
            <a:off x="7936992" y="5586984"/>
            <a:ext cx="3145536" cy="36576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Meesho’s own dormant-seller list; one WhatsApp re-invite, KYC already on file</a:t>
            </a:r>
            <a:endParaRPr lang="en-US" sz="1100" dirty="0"/>
          </a:p>
        </p:txBody>
      </p:sp>
      <p:sp>
        <p:nvSpPr>
          <p:cNvPr id="103" name="Shape 94"/>
          <p:cNvSpPr/>
          <p:nvPr/>
        </p:nvSpPr>
        <p:spPr>
          <a:xfrm>
            <a:off x="11338560" y="2286000"/>
            <a:ext cx="6720840" cy="3858768"/>
          </a:xfrm>
          <a:prstGeom prst="rect">
            <a:avLst/>
          </a:prstGeom>
          <a:solidFill>
            <a:srgbClr val="FFFFFF"/>
          </a:solidFill>
          <a:ln w="9525">
            <a:solidFill>
              <a:srgbClr val="E0CEDA"/>
            </a:solidFill>
            <a:prstDash val="solid"/>
          </a:ln>
        </p:spPr>
      </p:sp>
      <p:sp>
        <p:nvSpPr>
          <p:cNvPr id="104" name="Shape 95"/>
          <p:cNvSpPr/>
          <p:nvPr/>
        </p:nvSpPr>
        <p:spPr>
          <a:xfrm>
            <a:off x="11338560" y="2286000"/>
            <a:ext cx="6720840" cy="329184"/>
          </a:xfrm>
          <a:prstGeom prst="rect">
            <a:avLst/>
          </a:prstGeom>
          <a:solidFill>
            <a:srgbClr val="560547"/>
          </a:solidFill>
          <a:ln w="12700">
            <a:solidFill>
              <a:srgbClr val="560547"/>
            </a:solidFill>
            <a:prstDash val="solid"/>
          </a:ln>
        </p:spPr>
      </p:sp>
      <p:sp>
        <p:nvSpPr>
          <p:cNvPr id="105" name="Text 96"/>
          <p:cNvSpPr txBox="1"/>
          <p:nvPr/>
        </p:nvSpPr>
        <p:spPr>
          <a:xfrm>
            <a:off x="11466576" y="2286000"/>
            <a:ext cx="6464808"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BARRIER SEVERITY × COHORT</a:t>
            </a:r>
            <a:endParaRPr lang="en-US" sz="1250" dirty="0"/>
          </a:p>
        </p:txBody>
      </p:sp>
      <p:sp>
        <p:nvSpPr>
          <p:cNvPr id="106" name="Text 97"/>
          <p:cNvSpPr txBox="1"/>
          <p:nvPr/>
        </p:nvSpPr>
        <p:spPr>
          <a:xfrm>
            <a:off x="14218920" y="2286000"/>
            <a:ext cx="3712464" cy="329184"/>
          </a:xfrm>
          <a:prstGeom prst="rect">
            <a:avLst/>
          </a:prstGeom>
          <a:noFill/>
          <a:ln/>
        </p:spPr>
        <p:txBody>
          <a:bodyPr wrap="square" lIns="0" tIns="0" rIns="0" bIns="0" rtlCol="0" anchor="ctr"/>
          <a:lstStyle/>
          <a:p>
            <a:pPr algn="r" indent="0" marL="0">
              <a:lnSpc>
                <a:spcPct val="100000"/>
              </a:lnSpc>
              <a:buNone/>
            </a:pPr>
            <a:r>
              <a:rPr lang="en-US" sz="1050" i="1" dirty="0">
                <a:solidFill>
                  <a:srgbClr val="F3D6E6"/>
                </a:solidFill>
                <a:latin typeface="Calibri" pitchFamily="34" charset="0"/>
                <a:ea typeface="Calibri" pitchFamily="34" charset="-122"/>
                <a:cs typeface="Calibri" pitchFamily="34" charset="-120"/>
              </a:rPr>
              <a:t>from the 24-interview objection set</a:t>
            </a:r>
            <a:endParaRPr lang="en-US" sz="10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11466576" y="2706624"/>
          <a:ext cx="6464808" cy="914400"/>
        </p:xfrm>
        <a:graphic>
          <a:graphicData uri="http://schemas.openxmlformats.org/drawingml/2006/table">
            <a:tbl>
              <a:tblPr/>
              <a:tblGrid>
                <a:gridCol w="3218688"/>
                <a:gridCol w="685800"/>
                <a:gridCol w="685800"/>
                <a:gridCol w="685800"/>
                <a:gridCol w="1188720"/>
              </a:tblGrid>
              <a:tr h="329184">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Barrier</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A</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B</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C</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Meesho can fix</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29184">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Unit-level fulfilment</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150" b="1" dirty="0">
                          <a:solidFill>
                            <a:srgbClr val="D68200"/>
                          </a:solidFill>
                          <a:latin typeface="Calibri" pitchFamily="34" charset="0"/>
                          <a:ea typeface="Calibri" pitchFamily="34" charset="-122"/>
                          <a:cs typeface="Calibri" pitchFamily="34" charset="-120"/>
                        </a:rPr>
                        <a:t>MED</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Inventory risk, build-to-stock</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D68200"/>
                          </a:solidFill>
                          <a:latin typeface="Calibri" pitchFamily="34" charset="0"/>
                          <a:ea typeface="Calibri" pitchFamily="34" charset="-122"/>
                          <a:cs typeface="Calibri" pitchFamily="34" charset="-120"/>
                        </a:rPr>
                        <a:t>MED</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Returns and RTO exposure</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D68200"/>
                          </a:solidFill>
                          <a:latin typeface="Calibri" pitchFamily="34" charset="0"/>
                          <a:ea typeface="Calibri" pitchFamily="34" charset="-122"/>
                          <a:cs typeface="Calibri" pitchFamily="34" charset="-120"/>
                        </a:rPr>
                        <a:t>MED</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Unproven demand</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D68200"/>
                          </a:solidFill>
                          <a:latin typeface="Calibri" pitchFamily="34" charset="0"/>
                          <a:ea typeface="Calibri" pitchFamily="34" charset="-122"/>
                          <a:cs typeface="Calibri" pitchFamily="34" charset="-120"/>
                        </a:rPr>
                        <a:t>MED</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Cash cycle, settlement lag</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D68200"/>
                          </a:solidFill>
                          <a:latin typeface="Calibri" pitchFamily="34" charset="0"/>
                          <a:ea typeface="Calibri" pitchFamily="34" charset="-122"/>
                          <a:cs typeface="Calibri" pitchFamily="34" charset="-120"/>
                        </a:rPr>
                        <a:t>MED</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150" b="1" dirty="0">
                          <a:solidFill>
                            <a:srgbClr val="D68200"/>
                          </a:solidFill>
                          <a:latin typeface="Calibri" pitchFamily="34" charset="0"/>
                          <a:ea typeface="Calibri" pitchFamily="34" charset="-122"/>
                          <a:cs typeface="Calibri" pitchFamily="34" charset="-120"/>
                        </a:rPr>
                        <a:t>MED</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150" b="1" dirty="0">
                          <a:solidFill>
                            <a:srgbClr val="D68200"/>
                          </a:solidFill>
                          <a:latin typeface="Calibri" pitchFamily="34" charset="0"/>
                          <a:ea typeface="Calibri" pitchFamily="34" charset="-122"/>
                          <a:cs typeface="Calibri" pitchFamily="34" charset="-120"/>
                        </a:rPr>
                        <a:t>PART</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Channel conflict, brand dilution</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150" b="1" dirty="0">
                          <a:solidFill>
                            <a:srgbClr val="D68200"/>
                          </a:solidFill>
                          <a:latin typeface="Calibri" pitchFamily="34" charset="0"/>
                          <a:ea typeface="Calibri" pitchFamily="34" charset="-122"/>
                          <a:cs typeface="Calibri" pitchFamily="34" charset="-120"/>
                        </a:rPr>
                        <a:t>PART</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108" name="Text 98"/>
          <p:cNvSpPr txBox="1"/>
          <p:nvPr/>
        </p:nvSpPr>
        <p:spPr>
          <a:xfrm>
            <a:off x="11466576" y="5193792"/>
            <a:ext cx="6464808" cy="68580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Four of six barriers are HIGH for Cohort A and all four are fixable with infrastructure. </a:t>
            </a:r>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Brand dilution at a ₹265 AOV is not fixable, which is why Cohort B gets a separate value-tier catalogue rather than a discount.</a:t>
            </a:r>
            <a:endParaRPr lang="en-US" sz="1150" dirty="0"/>
          </a:p>
        </p:txBody>
      </p:sp>
      <p:sp>
        <p:nvSpPr>
          <p:cNvPr id="109" name="Shape 99"/>
          <p:cNvSpPr/>
          <p:nvPr/>
        </p:nvSpPr>
        <p:spPr>
          <a:xfrm>
            <a:off x="749808" y="6272784"/>
            <a:ext cx="6675120" cy="2743200"/>
          </a:xfrm>
          <a:prstGeom prst="rect">
            <a:avLst/>
          </a:prstGeom>
          <a:solidFill>
            <a:srgbClr val="FFFFFF"/>
          </a:solidFill>
          <a:ln w="9525">
            <a:solidFill>
              <a:srgbClr val="E0CEDA"/>
            </a:solidFill>
            <a:prstDash val="solid"/>
          </a:ln>
        </p:spPr>
      </p:sp>
      <p:sp>
        <p:nvSpPr>
          <p:cNvPr id="110" name="Shape 100"/>
          <p:cNvSpPr/>
          <p:nvPr/>
        </p:nvSpPr>
        <p:spPr>
          <a:xfrm>
            <a:off x="749808" y="6272784"/>
            <a:ext cx="6675120" cy="329184"/>
          </a:xfrm>
          <a:prstGeom prst="rect">
            <a:avLst/>
          </a:prstGeom>
          <a:solidFill>
            <a:srgbClr val="560547"/>
          </a:solidFill>
          <a:ln w="12700">
            <a:solidFill>
              <a:srgbClr val="560547"/>
            </a:solidFill>
            <a:prstDash val="solid"/>
          </a:ln>
        </p:spPr>
      </p:sp>
      <p:pic>
        <p:nvPicPr>
          <p:cNvPr id="111" name="Image 6" descr="/private/tmp/claude-501/-Users-prathmeshwalimbe-Downloads-Meesho/dfec39d5-f971-4a3a-8cfb-761f4ef1fedb/scratchpad/deck/assets/icons/FaMagnifyingGlassChart_w.png">    </p:cNvPr>
          <p:cNvPicPr>
            <a:picLocks noChangeAspect="1"/>
          </p:cNvPicPr>
          <p:nvPr/>
        </p:nvPicPr>
        <p:blipFill>
          <a:blip r:embed="rId7"/>
          <a:stretch>
            <a:fillRect/>
          </a:stretch>
        </p:blipFill>
        <p:spPr>
          <a:xfrm>
            <a:off x="859536" y="6336792"/>
            <a:ext cx="201168" cy="201168"/>
          </a:xfrm>
          <a:prstGeom prst="rect">
            <a:avLst/>
          </a:prstGeom>
        </p:spPr>
      </p:pic>
      <p:sp>
        <p:nvSpPr>
          <p:cNvPr id="112" name="Text 101"/>
          <p:cNvSpPr txBox="1"/>
          <p:nvPr/>
        </p:nvSpPr>
        <p:spPr>
          <a:xfrm>
            <a:off x="1133856" y="6272784"/>
            <a:ext cx="616305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FIELD EVIDENCE · TIRUPPUR, THE PILOT CLUSTER</a:t>
            </a:r>
            <a:endParaRPr lang="en-US" sz="1250" dirty="0"/>
          </a:p>
        </p:txBody>
      </p:sp>
      <p:sp>
        <p:nvSpPr>
          <p:cNvPr id="113" name="Text 102"/>
          <p:cNvSpPr txBox="1"/>
          <p:nvPr/>
        </p:nvSpPr>
        <p:spPr>
          <a:xfrm>
            <a:off x="877824" y="6693408"/>
            <a:ext cx="3118104" cy="411480"/>
          </a:xfrm>
          <a:prstGeom prst="rect">
            <a:avLst/>
          </a:prstGeom>
          <a:noFill/>
          <a:ln/>
        </p:spPr>
        <p:txBody>
          <a:bodyPr wrap="square" lIns="0" tIns="0" rIns="0" bIns="0" rtlCol="0" anchor="t"/>
          <a:lstStyle/>
          <a:p>
            <a:pPr algn="l" indent="0" marL="0">
              <a:lnSpc>
                <a:spcPct val="100000"/>
              </a:lnSpc>
              <a:buNone/>
            </a:pPr>
            <a:r>
              <a:rPr lang="en-US" sz="2000" b="1" dirty="0">
                <a:solidFill>
                  <a:srgbClr val="560547"/>
                </a:solidFill>
                <a:latin typeface="Arial" pitchFamily="34" charset="0"/>
                <a:ea typeface="Arial" pitchFamily="34" charset="-122"/>
                <a:cs typeface="Arial" pitchFamily="34" charset="-120"/>
              </a:rPr>
              <a:t>3,200</a:t>
            </a:r>
            <a:endParaRPr lang="en-US" sz="2000" dirty="0"/>
          </a:p>
        </p:txBody>
      </p:sp>
      <p:sp>
        <p:nvSpPr>
          <p:cNvPr id="114" name="Text 103"/>
          <p:cNvSpPr txBox="1"/>
          <p:nvPr/>
        </p:nvSpPr>
        <p:spPr>
          <a:xfrm>
            <a:off x="877824" y="7104888"/>
            <a:ext cx="3072384" cy="45720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knitwear manufacturers</a:t>
            </a:r>
            <a:endParaRPr lang="en-US" sz="1100" dirty="0"/>
          </a:p>
        </p:txBody>
      </p:sp>
      <p:sp>
        <p:nvSpPr>
          <p:cNvPr id="115" name="Text 104"/>
          <p:cNvSpPr txBox="1"/>
          <p:nvPr/>
        </p:nvSpPr>
        <p:spPr>
          <a:xfrm>
            <a:off x="4087368" y="6693408"/>
            <a:ext cx="3118104" cy="411480"/>
          </a:xfrm>
          <a:prstGeom prst="rect">
            <a:avLst/>
          </a:prstGeom>
          <a:noFill/>
          <a:ln/>
        </p:spPr>
        <p:txBody>
          <a:bodyPr wrap="square" lIns="0" tIns="0" rIns="0" bIns="0" rtlCol="0" anchor="t"/>
          <a:lstStyle/>
          <a:p>
            <a:pPr algn="l" indent="0" marL="0">
              <a:lnSpc>
                <a:spcPct val="100000"/>
              </a:lnSpc>
              <a:buNone/>
            </a:pPr>
            <a:r>
              <a:rPr lang="en-US" sz="2000" b="1" dirty="0">
                <a:solidFill>
                  <a:srgbClr val="560547"/>
                </a:solidFill>
                <a:latin typeface="Arial" pitchFamily="34" charset="0"/>
                <a:ea typeface="Arial" pitchFamily="34" charset="-122"/>
                <a:cs typeface="Arial" pitchFamily="34" charset="-120"/>
              </a:rPr>
              <a:t>₹74,747 cr</a:t>
            </a:r>
            <a:endParaRPr lang="en-US" sz="2000" dirty="0"/>
          </a:p>
        </p:txBody>
      </p:sp>
      <p:sp>
        <p:nvSpPr>
          <p:cNvPr id="116" name="Text 105"/>
          <p:cNvSpPr txBox="1"/>
          <p:nvPr/>
        </p:nvSpPr>
        <p:spPr>
          <a:xfrm>
            <a:off x="4087368" y="7104888"/>
            <a:ext cx="3072384" cy="45720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FY26 output; ₹44,747 cr exported, ≈₹30,000 cr domestic</a:t>
            </a:r>
            <a:endParaRPr lang="en-US" sz="1100" dirty="0"/>
          </a:p>
        </p:txBody>
      </p:sp>
      <p:sp>
        <p:nvSpPr>
          <p:cNvPr id="117" name="Text 106"/>
          <p:cNvSpPr txBox="1"/>
          <p:nvPr/>
        </p:nvSpPr>
        <p:spPr>
          <a:xfrm>
            <a:off x="877824" y="7562088"/>
            <a:ext cx="3118104" cy="411480"/>
          </a:xfrm>
          <a:prstGeom prst="rect">
            <a:avLst/>
          </a:prstGeom>
          <a:noFill/>
          <a:ln/>
        </p:spPr>
        <p:txBody>
          <a:bodyPr wrap="square" lIns="0" tIns="0" rIns="0" bIns="0" rtlCol="0" anchor="t"/>
          <a:lstStyle/>
          <a:p>
            <a:pPr algn="l" indent="0" marL="0">
              <a:lnSpc>
                <a:spcPct val="100000"/>
              </a:lnSpc>
              <a:buNone/>
            </a:pPr>
            <a:r>
              <a:rPr lang="en-US" sz="2000" b="1" dirty="0">
                <a:solidFill>
                  <a:srgbClr val="560547"/>
                </a:solidFill>
                <a:latin typeface="Arial" pitchFamily="34" charset="0"/>
                <a:ea typeface="Arial" pitchFamily="34" charset="-122"/>
                <a:cs typeface="Arial" pitchFamily="34" charset="-120"/>
              </a:rPr>
              <a:t>−60 to −70%</a:t>
            </a:r>
            <a:endParaRPr lang="en-US" sz="2000" dirty="0"/>
          </a:p>
        </p:txBody>
      </p:sp>
      <p:sp>
        <p:nvSpPr>
          <p:cNvPr id="118" name="Text 107"/>
          <p:cNvSpPr txBox="1"/>
          <p:nvPr/>
        </p:nvSpPr>
        <p:spPr>
          <a:xfrm>
            <a:off x="877824" y="7973568"/>
            <a:ext cx="3072384" cy="45720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US orders under the 50% tariff, Aug–Dec 2025</a:t>
            </a:r>
            <a:endParaRPr lang="en-US" sz="1100" dirty="0"/>
          </a:p>
        </p:txBody>
      </p:sp>
      <p:sp>
        <p:nvSpPr>
          <p:cNvPr id="119" name="Text 108"/>
          <p:cNvSpPr txBox="1"/>
          <p:nvPr/>
        </p:nvSpPr>
        <p:spPr>
          <a:xfrm>
            <a:off x="4087368" y="7562088"/>
            <a:ext cx="3118104" cy="411480"/>
          </a:xfrm>
          <a:prstGeom prst="rect">
            <a:avLst/>
          </a:prstGeom>
          <a:noFill/>
          <a:ln/>
        </p:spPr>
        <p:txBody>
          <a:bodyPr wrap="square" lIns="0" tIns="0" rIns="0" bIns="0" rtlCol="0" anchor="t"/>
          <a:lstStyle/>
          <a:p>
            <a:pPr algn="l" indent="0" marL="0">
              <a:lnSpc>
                <a:spcPct val="100000"/>
              </a:lnSpc>
              <a:buNone/>
            </a:pPr>
            <a:r>
              <a:rPr lang="en-US" sz="2000" b="1" dirty="0">
                <a:solidFill>
                  <a:srgbClr val="560547"/>
                </a:solidFill>
                <a:latin typeface="Arial" pitchFamily="34" charset="0"/>
                <a:ea typeface="Arial" pitchFamily="34" charset="-122"/>
                <a:cs typeface="Arial" pitchFamily="34" charset="-120"/>
              </a:rPr>
              <a:t>750–1,000</a:t>
            </a:r>
            <a:endParaRPr lang="en-US" sz="2000" dirty="0"/>
          </a:p>
        </p:txBody>
      </p:sp>
      <p:sp>
        <p:nvSpPr>
          <p:cNvPr id="120" name="Text 109"/>
          <p:cNvSpPr txBox="1"/>
          <p:nvPr/>
        </p:nvSpPr>
        <p:spPr>
          <a:xfrm>
            <a:off x="4087368" y="7973568"/>
            <a:ext cx="3072384" cy="45720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units shut; tariff now 18%, plus an India–EU trade deal</a:t>
            </a:r>
            <a:endParaRPr lang="en-US" sz="1100" dirty="0"/>
          </a:p>
        </p:txBody>
      </p:sp>
      <p:sp>
        <p:nvSpPr>
          <p:cNvPr id="121" name="Text 110"/>
          <p:cNvSpPr txBox="1"/>
          <p:nvPr/>
        </p:nvSpPr>
        <p:spPr>
          <a:xfrm>
            <a:off x="877824" y="8458200"/>
            <a:ext cx="6419088" cy="502920"/>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Calibri" pitchFamily="34" charset="0"/>
                <a:ea typeface="Calibri" pitchFamily="34" charset="-122"/>
                <a:cs typeface="Calibri" pitchFamily="34" charset="-120"/>
              </a:rPr>
              <a:t>So what: </a:t>
            </a:r>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the export shock proved the motivation, and the rollback is closing the window. Pilot now, and sell C2M as a permanent hedge, not a rescue.</a:t>
            </a:r>
            <a:endParaRPr lang="en-US" sz="1150" dirty="0"/>
          </a:p>
        </p:txBody>
      </p:sp>
      <p:sp>
        <p:nvSpPr>
          <p:cNvPr id="122" name="Shape 111"/>
          <p:cNvSpPr/>
          <p:nvPr/>
        </p:nvSpPr>
        <p:spPr>
          <a:xfrm>
            <a:off x="7552944" y="6272784"/>
            <a:ext cx="5486400" cy="2743200"/>
          </a:xfrm>
          <a:prstGeom prst="rect">
            <a:avLst/>
          </a:prstGeom>
          <a:solidFill>
            <a:srgbClr val="FFFFFF"/>
          </a:solidFill>
          <a:ln w="9525">
            <a:solidFill>
              <a:srgbClr val="E0CEDA"/>
            </a:solidFill>
            <a:prstDash val="solid"/>
          </a:ln>
        </p:spPr>
      </p:sp>
      <p:sp>
        <p:nvSpPr>
          <p:cNvPr id="123" name="Shape 112"/>
          <p:cNvSpPr/>
          <p:nvPr/>
        </p:nvSpPr>
        <p:spPr>
          <a:xfrm>
            <a:off x="7552944" y="6272784"/>
            <a:ext cx="5486400" cy="329184"/>
          </a:xfrm>
          <a:prstGeom prst="rect">
            <a:avLst/>
          </a:prstGeom>
          <a:solidFill>
            <a:srgbClr val="560547"/>
          </a:solidFill>
          <a:ln w="12700">
            <a:solidFill>
              <a:srgbClr val="560547"/>
            </a:solidFill>
            <a:prstDash val="solid"/>
          </a:ln>
        </p:spPr>
      </p:sp>
      <p:pic>
        <p:nvPicPr>
          <p:cNvPr id="124" name="Image 7" descr="/private/tmp/claude-501/-Users-prathmeshwalimbe-Downloads-Meesho/dfec39d5-f971-4a3a-8cfb-761f4ef1fedb/scratchpad/deck/assets/icons/FaFlask_w.png">    </p:cNvPr>
          <p:cNvPicPr>
            <a:picLocks noChangeAspect="1"/>
          </p:cNvPicPr>
          <p:nvPr/>
        </p:nvPicPr>
        <p:blipFill>
          <a:blip r:embed="rId8"/>
          <a:stretch>
            <a:fillRect/>
          </a:stretch>
        </p:blipFill>
        <p:spPr>
          <a:xfrm>
            <a:off x="7662672" y="6336792"/>
            <a:ext cx="201168" cy="201168"/>
          </a:xfrm>
          <a:prstGeom prst="rect">
            <a:avLst/>
          </a:prstGeom>
        </p:spPr>
      </p:pic>
      <p:sp>
        <p:nvSpPr>
          <p:cNvPr id="125" name="Text 113"/>
          <p:cNvSpPr txBox="1"/>
          <p:nvPr/>
        </p:nvSpPr>
        <p:spPr>
          <a:xfrm>
            <a:off x="7936992" y="6272784"/>
            <a:ext cx="497433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RESEARCH DESIGN · METHODS, COVERAGE</a:t>
            </a:r>
            <a:endParaRPr lang="en-US" sz="125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7680960" y="6693408"/>
          <a:ext cx="5230368" cy="914400"/>
        </p:xfrm>
        <a:graphic>
          <a:graphicData uri="http://schemas.openxmlformats.org/drawingml/2006/table">
            <a:tbl>
              <a:tblPr/>
              <a:tblGrid>
                <a:gridCol w="2514600"/>
                <a:gridCol w="1051560"/>
                <a:gridCol w="1664208"/>
              </a:tblGrid>
              <a:tr h="256032">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Method</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n</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Output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25603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Manufacturer interviews, 3 cohorts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8 each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Objection set, barrier grid</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5603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Cluster walk-throughs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Cost Ownership Index</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5603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Platform teardown: fees, feed, panel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4 cats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Landed-price medians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5603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Filings, earnings calls, Udyam, cluster studies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FY26 baseline, addressable base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5603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Global C2M teardowns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7 · 5 mkts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Copy / avoid library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5603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Round 2 fact-check: results, earnings call, Reuters, trade press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Corrected margin, precedents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5603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Prototype simulation (synthetic, seeded)</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261 · 4,415 SKUs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Rules tested end to end</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127" name="Shape 114"/>
          <p:cNvSpPr/>
          <p:nvPr/>
        </p:nvSpPr>
        <p:spPr>
          <a:xfrm>
            <a:off x="13167360" y="6272784"/>
            <a:ext cx="4892040" cy="2743200"/>
          </a:xfrm>
          <a:prstGeom prst="rect">
            <a:avLst/>
          </a:prstGeom>
          <a:solidFill>
            <a:srgbClr val="FFFFFF"/>
          </a:solidFill>
          <a:ln w="9525">
            <a:solidFill>
              <a:srgbClr val="E0CEDA"/>
            </a:solidFill>
            <a:prstDash val="solid"/>
          </a:ln>
        </p:spPr>
      </p:sp>
      <p:sp>
        <p:nvSpPr>
          <p:cNvPr id="128" name="Shape 115"/>
          <p:cNvSpPr/>
          <p:nvPr/>
        </p:nvSpPr>
        <p:spPr>
          <a:xfrm>
            <a:off x="13167360" y="6272784"/>
            <a:ext cx="4892040" cy="329184"/>
          </a:xfrm>
          <a:prstGeom prst="rect">
            <a:avLst/>
          </a:prstGeom>
          <a:solidFill>
            <a:srgbClr val="8A245E"/>
          </a:solidFill>
          <a:ln w="12700">
            <a:solidFill>
              <a:srgbClr val="8A245E"/>
            </a:solidFill>
            <a:prstDash val="solid"/>
          </a:ln>
        </p:spPr>
      </p:sp>
      <p:pic>
        <p:nvPicPr>
          <p:cNvPr id="129" name="Image 8" descr="/private/tmp/claude-501/-Users-prathmeshwalimbe-Downloads-Meesho/dfec39d5-f971-4a3a-8cfb-761f4ef1fedb/scratchpad/deck/assets/icons/FaScaleUnbalanced_w.png">    </p:cNvPr>
          <p:cNvPicPr>
            <a:picLocks noChangeAspect="1"/>
          </p:cNvPicPr>
          <p:nvPr/>
        </p:nvPicPr>
        <p:blipFill>
          <a:blip r:embed="rId9"/>
          <a:stretch>
            <a:fillRect/>
          </a:stretch>
        </p:blipFill>
        <p:spPr>
          <a:xfrm>
            <a:off x="13277088" y="6336792"/>
            <a:ext cx="201168" cy="201168"/>
          </a:xfrm>
          <a:prstGeom prst="rect">
            <a:avLst/>
          </a:prstGeom>
        </p:spPr>
      </p:pic>
      <p:sp>
        <p:nvSpPr>
          <p:cNvPr id="130" name="Text 116"/>
          <p:cNvSpPr txBox="1"/>
          <p:nvPr/>
        </p:nvSpPr>
        <p:spPr>
          <a:xfrm>
            <a:off x="13551408" y="6272784"/>
            <a:ext cx="43799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DELIBERATELY NOT NOW</a:t>
            </a:r>
            <a:endParaRPr lang="en-US" sz="1250" dirty="0"/>
          </a:p>
        </p:txBody>
      </p:sp>
      <p:sp>
        <p:nvSpPr>
          <p:cNvPr id="131" name="Text 117"/>
          <p:cNvSpPr txBox="1"/>
          <p:nvPr/>
        </p:nvSpPr>
        <p:spPr>
          <a:xfrm>
            <a:off x="13295376" y="6693408"/>
            <a:ext cx="4636008" cy="2249424"/>
          </a:xfrm>
          <a:prstGeom prst="rect">
            <a:avLst/>
          </a:prstGeom>
          <a:noFill/>
          <a:ln/>
        </p:spPr>
        <p:txBody>
          <a:bodyPr wrap="square" lIns="0" tIns="0" rIns="0" bIns="0" rtlCol="0" anchor="t"/>
          <a:lstStyle/>
          <a:p>
            <a:pPr algn="l" indent="0" marL="0">
              <a:lnSpc>
                <a:spcPct val="100000"/>
              </a:lnSpc>
              <a:buNone/>
            </a:pPr>
            <a:r>
              <a:rPr lang="en-US" sz="1150" b="1" dirty="0">
                <a:solidFill>
                  <a:srgbClr val="C0392B"/>
                </a:solidFill>
                <a:latin typeface="Calibri" pitchFamily="34" charset="0"/>
                <a:ea typeface="Calibri" pitchFamily="34" charset="-122"/>
                <a:cs typeface="Calibri" pitchFamily="34" charset="-120"/>
              </a:rPr>
              <a:t>Fashion-led ethnic wear, Surat</a:t>
            </a:r>
            <a:endParaRPr lang="en-US" sz="1150" dirty="0"/>
          </a:p>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India’s largest textile cluster (₹1 lakh cr+) ranks last on our cluster AHP (3.28): traders job out weaving, dyeing and stitching, and it sits in the worst return band.</a:t>
            </a:r>
            <a:endParaRPr lang="en-US" sz="1150" dirty="0"/>
          </a:p>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 </a:t>
            </a:r>
            <a:endParaRPr lang="en-US" sz="1150" dirty="0"/>
          </a:p>
          <a:p>
            <a:pPr algn="l" indent="0" marL="0">
              <a:lnSpc>
                <a:spcPct val="100000"/>
              </a:lnSpc>
              <a:buNone/>
            </a:pPr>
            <a:r>
              <a:rPr lang="en-US" sz="1150" b="1" dirty="0">
                <a:solidFill>
                  <a:srgbClr val="C0392B"/>
                </a:solidFill>
                <a:latin typeface="Calibri" pitchFamily="34" charset="0"/>
                <a:ea typeface="Calibri" pitchFamily="34" charset="-122"/>
                <a:cs typeface="Calibri" pitchFamily="34" charset="-120"/>
              </a:rPr>
              <a:t>Electronics accessories, import-assembly</a:t>
            </a:r>
            <a:endParaRPr lang="en-US" sz="1150" dirty="0"/>
          </a:p>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No cost ownership, so any price gap has to be funded, and a funded gap is a subsidy with a different name.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413662"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297326" y="182880"/>
            <a:ext cx="1413662" cy="502920"/>
          </a:xfrm>
          <a:prstGeom prst="roundRect">
            <a:avLst>
              <a:gd name="adj" fmla="val 14545"/>
            </a:avLst>
          </a:prstGeom>
          <a:solidFill>
            <a:srgbClr val="560547"/>
          </a:solidFill>
          <a:ln w="9525">
            <a:solidFill>
              <a:srgbClr val="560547"/>
            </a:solidFill>
            <a:prstDash val="solid"/>
          </a:ln>
        </p:spPr>
      </p:sp>
      <p:sp>
        <p:nvSpPr>
          <p:cNvPr id="8" name="Text 4"/>
          <p:cNvSpPr txBox="1"/>
          <p:nvPr/>
        </p:nvSpPr>
        <p:spPr>
          <a:xfrm>
            <a:off x="333390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4765853" y="182880"/>
            <a:ext cx="1413662"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4802429"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234379" y="182880"/>
            <a:ext cx="1413662"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270955"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7702906" y="182880"/>
            <a:ext cx="1413662"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773948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171432" y="182880"/>
            <a:ext cx="1413662"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9208008"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0639958" y="182880"/>
            <a:ext cx="1413662"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067653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2108485" y="182880"/>
            <a:ext cx="1413662"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2145061"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3577011" y="182880"/>
            <a:ext cx="1413662"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3613587"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OPERATING MODEL</a:t>
            </a:r>
            <a:endParaRPr lang="en-US" sz="950" dirty="0"/>
          </a:p>
        </p:txBody>
      </p:sp>
      <p:sp>
        <p:nvSpPr>
          <p:cNvPr id="23" name="Shape 19"/>
          <p:cNvSpPr/>
          <p:nvPr/>
        </p:nvSpPr>
        <p:spPr>
          <a:xfrm>
            <a:off x="15045538" y="182880"/>
            <a:ext cx="1413662" cy="502920"/>
          </a:xfrm>
          <a:prstGeom prst="roundRect">
            <a:avLst>
              <a:gd name="adj" fmla="val 14545"/>
            </a:avLst>
          </a:prstGeom>
          <a:solidFill>
            <a:srgbClr val="FFFFFF"/>
          </a:solidFill>
          <a:ln w="9525">
            <a:solidFill>
              <a:srgbClr val="E0CEDA"/>
            </a:solidFill>
            <a:prstDash val="solid"/>
          </a:ln>
        </p:spPr>
      </p:sp>
      <p:sp>
        <p:nvSpPr>
          <p:cNvPr id="24" name="Text 20"/>
          <p:cNvSpPr txBox="1"/>
          <p:nvPr/>
        </p:nvSpPr>
        <p:spPr>
          <a:xfrm>
            <a:off x="1508211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10 · PROTOTYPE</a:t>
            </a:r>
            <a:endParaRPr lang="en-US" sz="950" dirty="0"/>
          </a:p>
        </p:txBody>
      </p:sp>
      <p:sp>
        <p:nvSpPr>
          <p:cNvPr id="25" name="Shape 21"/>
          <p:cNvSpPr/>
          <p:nvPr/>
        </p:nvSpPr>
        <p:spPr>
          <a:xfrm>
            <a:off x="228600" y="987552"/>
            <a:ext cx="384048" cy="8083296"/>
          </a:xfrm>
          <a:prstGeom prst="rect">
            <a:avLst/>
          </a:prstGeom>
          <a:solidFill>
            <a:srgbClr val="6E1251"/>
          </a:solidFill>
          <a:ln w="12700">
            <a:solidFill>
              <a:srgbClr val="6E1251"/>
            </a:solidFill>
            <a:prstDash val="solid"/>
          </a:ln>
        </p:spPr>
      </p:sp>
      <p:sp>
        <p:nvSpPr>
          <p:cNvPr id="26" name="Text 22"/>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HOW BIG, HOW CHEAP</a:t>
            </a:r>
            <a:endParaRPr lang="en-US" sz="1200" dirty="0"/>
          </a:p>
        </p:txBody>
      </p:sp>
      <p:sp>
        <p:nvSpPr>
          <p:cNvPr id="27" name="Text 23"/>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Q2 · Market sizing and opportunity · How big is the base, and what does closing the price gap do for buyers and NMV?</a:t>
            </a:r>
            <a:endParaRPr lang="en-US" sz="1700" dirty="0"/>
          </a:p>
        </p:txBody>
      </p:sp>
      <p:sp>
        <p:nvSpPr>
          <p:cNvPr id="28" name="Text 24"/>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Sources: Udyam Registration Portal (team pull; 7.83 cr incl. Udyam Assist, PIB Feb 2026); Meesho FY26 results; Flipkart, Amazon, Business Standard, Outlook Business (2025–26); Round 1 cluster AHP and teardown. Run-rate NMV assumes the Round 1 Year-4 yield of ₹1.43 cr per seller.</a:t>
            </a:r>
            <a:endParaRPr lang="en-US" sz="1000" dirty="0"/>
          </a:p>
        </p:txBody>
      </p:sp>
      <p:sp>
        <p:nvSpPr>
          <p:cNvPr id="29" name="Shape 25"/>
          <p:cNvSpPr/>
          <p:nvPr/>
        </p:nvSpPr>
        <p:spPr>
          <a:xfrm>
            <a:off x="228600" y="9400032"/>
            <a:ext cx="17830800" cy="603504"/>
          </a:xfrm>
          <a:prstGeom prst="rect">
            <a:avLst/>
          </a:prstGeom>
          <a:solidFill>
            <a:srgbClr val="560547"/>
          </a:solidFill>
          <a:ln w="12700">
            <a:solidFill>
              <a:srgbClr val="560547"/>
            </a:solidFill>
            <a:prstDash val="solid"/>
          </a:ln>
        </p:spPr>
      </p:sp>
      <p:sp>
        <p:nvSpPr>
          <p:cNvPr id="30" name="Shape 26"/>
          <p:cNvSpPr/>
          <p:nvPr/>
        </p:nvSpPr>
        <p:spPr>
          <a:xfrm>
            <a:off x="411480" y="9592056"/>
            <a:ext cx="219456" cy="219456"/>
          </a:xfrm>
          <a:prstGeom prst="rect">
            <a:avLst/>
          </a:prstGeom>
          <a:solidFill>
            <a:srgbClr val="FF9D00"/>
          </a:solidFill>
          <a:ln w="12700">
            <a:solidFill>
              <a:srgbClr val="FF9D00"/>
            </a:solidFill>
            <a:prstDash val="solid"/>
          </a:ln>
        </p:spPr>
      </p:sp>
      <p:sp>
        <p:nvSpPr>
          <p:cNvPr id="31" name="Text 27"/>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11,645 manufacturers in 12 clusters can carry a real price gap. Capturing 12% by Year 4 adds ₹1,995 cr of NMV priced at least 8% below today’s market: ₹173 cr to ₹272 cr a year back to buyers.</a:t>
            </a:r>
            <a:endParaRPr lang="en-US" sz="1400" dirty="0"/>
          </a:p>
        </p:txBody>
      </p:sp>
      <p:pic>
        <p:nvPicPr>
          <p:cNvPr id="32"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4" name="Shape 28"/>
          <p:cNvSpPr/>
          <p:nvPr/>
        </p:nvSpPr>
        <p:spPr>
          <a:xfrm>
            <a:off x="749808" y="1426464"/>
            <a:ext cx="5577840" cy="7589520"/>
          </a:xfrm>
          <a:prstGeom prst="rect">
            <a:avLst/>
          </a:prstGeom>
          <a:solidFill>
            <a:srgbClr val="FFFFFF"/>
          </a:solidFill>
          <a:ln w="9525">
            <a:solidFill>
              <a:srgbClr val="E0CEDA"/>
            </a:solidFill>
            <a:prstDash val="solid"/>
          </a:ln>
        </p:spPr>
      </p:sp>
      <p:sp>
        <p:nvSpPr>
          <p:cNvPr id="35" name="Shape 29"/>
          <p:cNvSpPr/>
          <p:nvPr/>
        </p:nvSpPr>
        <p:spPr>
          <a:xfrm>
            <a:off x="749808" y="1426464"/>
            <a:ext cx="5577840" cy="329184"/>
          </a:xfrm>
          <a:prstGeom prst="rect">
            <a:avLst/>
          </a:prstGeom>
          <a:solidFill>
            <a:srgbClr val="560547"/>
          </a:solidFill>
          <a:ln w="12700">
            <a:solidFill>
              <a:srgbClr val="560547"/>
            </a:solidFill>
            <a:prstDash val="solid"/>
          </a:ln>
        </p:spPr>
      </p:sp>
      <p:pic>
        <p:nvPicPr>
          <p:cNvPr id="36" name="Image 3" descr="/private/tmp/claude-501/-Users-prathmeshwalimbe-Downloads-Meesho/dfec39d5-f971-4a3a-8cfb-761f4ef1fedb/scratchpad/deck/assets/icons/FaIndustry_w.png">    </p:cNvPr>
          <p:cNvPicPr>
            <a:picLocks noChangeAspect="1"/>
          </p:cNvPicPr>
          <p:nvPr/>
        </p:nvPicPr>
        <p:blipFill>
          <a:blip r:embed="rId4"/>
          <a:stretch>
            <a:fillRect/>
          </a:stretch>
        </p:blipFill>
        <p:spPr>
          <a:xfrm>
            <a:off x="859536" y="1490472"/>
            <a:ext cx="201168" cy="201168"/>
          </a:xfrm>
          <a:prstGeom prst="rect">
            <a:avLst/>
          </a:prstGeom>
        </p:spPr>
      </p:pic>
      <p:sp>
        <p:nvSpPr>
          <p:cNvPr id="37" name="Text 30"/>
          <p:cNvSpPr txBox="1"/>
          <p:nvPr/>
        </p:nvSpPr>
        <p:spPr>
          <a:xfrm>
            <a:off x="1133856" y="1426464"/>
            <a:ext cx="50657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ADDRESSABLE BASE · BOTTOM-UP</a:t>
            </a:r>
            <a:endParaRPr lang="en-US" sz="1250" dirty="0"/>
          </a:p>
        </p:txBody>
      </p:sp>
      <p:sp>
        <p:nvSpPr>
          <p:cNvPr id="38" name="Shape 31"/>
          <p:cNvSpPr/>
          <p:nvPr/>
        </p:nvSpPr>
        <p:spPr>
          <a:xfrm>
            <a:off x="877824" y="1847088"/>
            <a:ext cx="5321808" cy="786384"/>
          </a:xfrm>
          <a:prstGeom prst="roundRect">
            <a:avLst>
              <a:gd name="adj" fmla="val 5814"/>
            </a:avLst>
          </a:prstGeom>
          <a:solidFill>
            <a:srgbClr val="560547"/>
          </a:solidFill>
          <a:ln w="12700">
            <a:solidFill>
              <a:srgbClr val="560547"/>
            </a:solidFill>
            <a:prstDash val="solid"/>
          </a:ln>
        </p:spPr>
      </p:sp>
      <p:sp>
        <p:nvSpPr>
          <p:cNvPr id="39" name="Text 32"/>
          <p:cNvSpPr txBox="1"/>
          <p:nvPr/>
        </p:nvSpPr>
        <p:spPr>
          <a:xfrm>
            <a:off x="987552" y="1847088"/>
            <a:ext cx="1417320" cy="786384"/>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Arial" pitchFamily="34" charset="0"/>
                <a:ea typeface="Arial" pitchFamily="34" charset="-122"/>
                <a:cs typeface="Arial" pitchFamily="34" charset="-120"/>
              </a:rPr>
              <a:t>4.72 cr</a:t>
            </a:r>
            <a:endParaRPr lang="en-US" sz="1700" dirty="0"/>
          </a:p>
        </p:txBody>
      </p:sp>
      <p:sp>
        <p:nvSpPr>
          <p:cNvPr id="40" name="Text 33"/>
          <p:cNvSpPr txBox="1"/>
          <p:nvPr/>
        </p:nvSpPr>
        <p:spPr>
          <a:xfrm>
            <a:off x="2432304" y="1847088"/>
            <a:ext cx="3172968" cy="786384"/>
          </a:xfrm>
          <a:prstGeom prst="rect">
            <a:avLst/>
          </a:prstGeom>
          <a:noFill/>
          <a:ln/>
        </p:spPr>
        <p:txBody>
          <a:bodyPr wrap="square" lIns="0" tIns="0" rIns="0" bIns="0" rtlCol="0" anchor="ctr"/>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Udyam-registered MSMEs, 98.9% micro</a:t>
            </a:r>
            <a:endParaRPr lang="en-US" sz="1150" dirty="0"/>
          </a:p>
        </p:txBody>
      </p:sp>
      <p:sp>
        <p:nvSpPr>
          <p:cNvPr id="41" name="Shape 34"/>
          <p:cNvSpPr/>
          <p:nvPr/>
        </p:nvSpPr>
        <p:spPr>
          <a:xfrm>
            <a:off x="996696" y="2743200"/>
            <a:ext cx="5084064" cy="786384"/>
          </a:xfrm>
          <a:prstGeom prst="roundRect">
            <a:avLst>
              <a:gd name="adj" fmla="val 5814"/>
            </a:avLst>
          </a:prstGeom>
          <a:solidFill>
            <a:srgbClr val="63104F"/>
          </a:solidFill>
          <a:ln w="12700">
            <a:solidFill>
              <a:srgbClr val="63104F"/>
            </a:solidFill>
            <a:prstDash val="solid"/>
          </a:ln>
        </p:spPr>
      </p:sp>
      <p:sp>
        <p:nvSpPr>
          <p:cNvPr id="42" name="Text 35"/>
          <p:cNvSpPr txBox="1"/>
          <p:nvPr/>
        </p:nvSpPr>
        <p:spPr>
          <a:xfrm>
            <a:off x="1106424" y="2743200"/>
            <a:ext cx="1417320" cy="786384"/>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Arial" pitchFamily="34" charset="0"/>
                <a:ea typeface="Arial" pitchFamily="34" charset="-122"/>
                <a:cs typeface="Arial" pitchFamily="34" charset="-120"/>
              </a:rPr>
              <a:t>5.28 lakh</a:t>
            </a:r>
            <a:endParaRPr lang="en-US" sz="1700" dirty="0"/>
          </a:p>
        </p:txBody>
      </p:sp>
      <p:sp>
        <p:nvSpPr>
          <p:cNvPr id="43" name="Text 36"/>
          <p:cNvSpPr txBox="1"/>
          <p:nvPr/>
        </p:nvSpPr>
        <p:spPr>
          <a:xfrm>
            <a:off x="2551176" y="2743200"/>
            <a:ext cx="2935224" cy="786384"/>
          </a:xfrm>
          <a:prstGeom prst="rect">
            <a:avLst/>
          </a:prstGeom>
          <a:noFill/>
          <a:ln/>
        </p:spPr>
        <p:txBody>
          <a:bodyPr wrap="square" lIns="0" tIns="0" rIns="0" bIns="0" rtlCol="0" anchor="ctr"/>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above micro (small + medium)</a:t>
            </a:r>
            <a:endParaRPr lang="en-US" sz="1150" dirty="0"/>
          </a:p>
        </p:txBody>
      </p:sp>
      <p:sp>
        <p:nvSpPr>
          <p:cNvPr id="44" name="Text 37"/>
          <p:cNvSpPr txBox="1"/>
          <p:nvPr/>
        </p:nvSpPr>
        <p:spPr>
          <a:xfrm>
            <a:off x="5440680" y="2743200"/>
            <a:ext cx="548640" cy="786384"/>
          </a:xfrm>
          <a:prstGeom prst="rect">
            <a:avLst/>
          </a:prstGeom>
          <a:noFill/>
          <a:ln/>
        </p:spPr>
        <p:txBody>
          <a:bodyPr wrap="square" lIns="0" tIns="0" rIns="0" bIns="0" rtlCol="0" anchor="ctr"/>
          <a:lstStyle/>
          <a:p>
            <a:pPr algn="r" indent="0" marL="0">
              <a:lnSpc>
                <a:spcPct val="100000"/>
              </a:lnSpc>
              <a:buNone/>
            </a:pPr>
            <a:r>
              <a:rPr lang="en-US" sz="1100" b="1" dirty="0">
                <a:solidFill>
                  <a:srgbClr val="F7C9E0"/>
                </a:solidFill>
                <a:latin typeface="Arial" pitchFamily="34" charset="0"/>
                <a:ea typeface="Arial" pitchFamily="34" charset="-122"/>
                <a:cs typeface="Arial" pitchFamily="34" charset="-120"/>
              </a:rPr>
              <a:t>1.1%</a:t>
            </a:r>
            <a:endParaRPr lang="en-US" sz="1100" dirty="0"/>
          </a:p>
        </p:txBody>
      </p:sp>
      <p:sp>
        <p:nvSpPr>
          <p:cNvPr id="45" name="Shape 38"/>
          <p:cNvSpPr/>
          <p:nvPr/>
        </p:nvSpPr>
        <p:spPr>
          <a:xfrm>
            <a:off x="1115568" y="3639312"/>
            <a:ext cx="4846320" cy="786384"/>
          </a:xfrm>
          <a:prstGeom prst="roundRect">
            <a:avLst>
              <a:gd name="adj" fmla="val 5814"/>
            </a:avLst>
          </a:prstGeom>
          <a:solidFill>
            <a:srgbClr val="6E1251"/>
          </a:solidFill>
          <a:ln w="12700">
            <a:solidFill>
              <a:srgbClr val="6E1251"/>
            </a:solidFill>
            <a:prstDash val="solid"/>
          </a:ln>
        </p:spPr>
      </p:sp>
      <p:sp>
        <p:nvSpPr>
          <p:cNvPr id="46" name="Text 39"/>
          <p:cNvSpPr txBox="1"/>
          <p:nvPr/>
        </p:nvSpPr>
        <p:spPr>
          <a:xfrm>
            <a:off x="1225296" y="3639312"/>
            <a:ext cx="1417320" cy="786384"/>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Arial" pitchFamily="34" charset="0"/>
                <a:ea typeface="Arial" pitchFamily="34" charset="-122"/>
                <a:cs typeface="Arial" pitchFamily="34" charset="-120"/>
              </a:rPr>
              <a:t>1.85 lakh</a:t>
            </a:r>
            <a:endParaRPr lang="en-US" sz="1700" dirty="0"/>
          </a:p>
        </p:txBody>
      </p:sp>
      <p:sp>
        <p:nvSpPr>
          <p:cNvPr id="47" name="Text 40"/>
          <p:cNvSpPr txBox="1"/>
          <p:nvPr/>
        </p:nvSpPr>
        <p:spPr>
          <a:xfrm>
            <a:off x="2670048" y="3639312"/>
            <a:ext cx="2697480" cy="786384"/>
          </a:xfrm>
          <a:prstGeom prst="rect">
            <a:avLst/>
          </a:prstGeom>
          <a:noFill/>
          <a:ln/>
        </p:spPr>
        <p:txBody>
          <a:bodyPr wrap="square" lIns="0" tIns="0" rIns="0" bIns="0" rtlCol="0" anchor="ctr"/>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in manufacturing</a:t>
            </a:r>
            <a:endParaRPr lang="en-US" sz="1150" dirty="0"/>
          </a:p>
        </p:txBody>
      </p:sp>
      <p:sp>
        <p:nvSpPr>
          <p:cNvPr id="48" name="Text 41"/>
          <p:cNvSpPr txBox="1"/>
          <p:nvPr/>
        </p:nvSpPr>
        <p:spPr>
          <a:xfrm>
            <a:off x="5321808" y="3639312"/>
            <a:ext cx="548640" cy="786384"/>
          </a:xfrm>
          <a:prstGeom prst="rect">
            <a:avLst/>
          </a:prstGeom>
          <a:noFill/>
          <a:ln/>
        </p:spPr>
        <p:txBody>
          <a:bodyPr wrap="square" lIns="0" tIns="0" rIns="0" bIns="0" rtlCol="0" anchor="ctr"/>
          <a:lstStyle/>
          <a:p>
            <a:pPr algn="r" indent="0" marL="0">
              <a:lnSpc>
                <a:spcPct val="100000"/>
              </a:lnSpc>
              <a:buNone/>
            </a:pPr>
            <a:r>
              <a:rPr lang="en-US" sz="1100" b="1" dirty="0">
                <a:solidFill>
                  <a:srgbClr val="F7C9E0"/>
                </a:solidFill>
                <a:latin typeface="Arial" pitchFamily="34" charset="0"/>
                <a:ea typeface="Arial" pitchFamily="34" charset="-122"/>
                <a:cs typeface="Arial" pitchFamily="34" charset="-120"/>
              </a:rPr>
              <a:t>35%</a:t>
            </a:r>
            <a:endParaRPr lang="en-US" sz="1100" dirty="0"/>
          </a:p>
        </p:txBody>
      </p:sp>
      <p:sp>
        <p:nvSpPr>
          <p:cNvPr id="49" name="Shape 42"/>
          <p:cNvSpPr/>
          <p:nvPr/>
        </p:nvSpPr>
        <p:spPr>
          <a:xfrm>
            <a:off x="1234440" y="4535424"/>
            <a:ext cx="4608576" cy="786384"/>
          </a:xfrm>
          <a:prstGeom prst="roundRect">
            <a:avLst>
              <a:gd name="adj" fmla="val 5814"/>
            </a:avLst>
          </a:prstGeom>
          <a:solidFill>
            <a:srgbClr val="7A1A58"/>
          </a:solidFill>
          <a:ln w="12700">
            <a:solidFill>
              <a:srgbClr val="7A1A58"/>
            </a:solidFill>
            <a:prstDash val="solid"/>
          </a:ln>
        </p:spPr>
      </p:sp>
      <p:sp>
        <p:nvSpPr>
          <p:cNvPr id="50" name="Text 43"/>
          <p:cNvSpPr txBox="1"/>
          <p:nvPr/>
        </p:nvSpPr>
        <p:spPr>
          <a:xfrm>
            <a:off x="1344168" y="4535424"/>
            <a:ext cx="1417320" cy="786384"/>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Arial" pitchFamily="34" charset="0"/>
                <a:ea typeface="Arial" pitchFamily="34" charset="-122"/>
                <a:cs typeface="Arial" pitchFamily="34" charset="-120"/>
              </a:rPr>
              <a:t>55,451</a:t>
            </a:r>
            <a:endParaRPr lang="en-US" sz="1700" dirty="0"/>
          </a:p>
        </p:txBody>
      </p:sp>
      <p:sp>
        <p:nvSpPr>
          <p:cNvPr id="51" name="Text 44"/>
          <p:cNvSpPr txBox="1"/>
          <p:nvPr/>
        </p:nvSpPr>
        <p:spPr>
          <a:xfrm>
            <a:off x="2788920" y="4535424"/>
            <a:ext cx="2459736" cy="786384"/>
          </a:xfrm>
          <a:prstGeom prst="rect">
            <a:avLst/>
          </a:prstGeom>
          <a:noFill/>
          <a:ln/>
        </p:spPr>
        <p:txBody>
          <a:bodyPr wrap="square" lIns="0" tIns="0" rIns="0" bIns="0" rtlCol="0" anchor="ctr"/>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making Meesho’s categories</a:t>
            </a:r>
            <a:endParaRPr lang="en-US" sz="1150" dirty="0"/>
          </a:p>
        </p:txBody>
      </p:sp>
      <p:sp>
        <p:nvSpPr>
          <p:cNvPr id="52" name="Text 45"/>
          <p:cNvSpPr txBox="1"/>
          <p:nvPr/>
        </p:nvSpPr>
        <p:spPr>
          <a:xfrm>
            <a:off x="5202936" y="4535424"/>
            <a:ext cx="548640" cy="786384"/>
          </a:xfrm>
          <a:prstGeom prst="rect">
            <a:avLst/>
          </a:prstGeom>
          <a:noFill/>
          <a:ln/>
        </p:spPr>
        <p:txBody>
          <a:bodyPr wrap="square" lIns="0" tIns="0" rIns="0" bIns="0" rtlCol="0" anchor="ctr"/>
          <a:lstStyle/>
          <a:p>
            <a:pPr algn="r" indent="0" marL="0">
              <a:lnSpc>
                <a:spcPct val="100000"/>
              </a:lnSpc>
              <a:buNone/>
            </a:pPr>
            <a:r>
              <a:rPr lang="en-US" sz="1100" b="1" dirty="0">
                <a:solidFill>
                  <a:srgbClr val="F7C9E0"/>
                </a:solidFill>
                <a:latin typeface="Arial" pitchFamily="34" charset="0"/>
                <a:ea typeface="Arial" pitchFamily="34" charset="-122"/>
                <a:cs typeface="Arial" pitchFamily="34" charset="-120"/>
              </a:rPr>
              <a:t>30%</a:t>
            </a:r>
            <a:endParaRPr lang="en-US" sz="1100" dirty="0"/>
          </a:p>
        </p:txBody>
      </p:sp>
      <p:sp>
        <p:nvSpPr>
          <p:cNvPr id="53" name="Shape 46"/>
          <p:cNvSpPr/>
          <p:nvPr/>
        </p:nvSpPr>
        <p:spPr>
          <a:xfrm>
            <a:off x="1353312" y="5431536"/>
            <a:ext cx="4370832" cy="786384"/>
          </a:xfrm>
          <a:prstGeom prst="roundRect">
            <a:avLst>
              <a:gd name="adj" fmla="val 5814"/>
            </a:avLst>
          </a:prstGeom>
          <a:solidFill>
            <a:srgbClr val="8A245E"/>
          </a:solidFill>
          <a:ln w="12700">
            <a:solidFill>
              <a:srgbClr val="8A245E"/>
            </a:solidFill>
            <a:prstDash val="solid"/>
          </a:ln>
        </p:spPr>
      </p:sp>
      <p:sp>
        <p:nvSpPr>
          <p:cNvPr id="54" name="Text 47"/>
          <p:cNvSpPr txBox="1"/>
          <p:nvPr/>
        </p:nvSpPr>
        <p:spPr>
          <a:xfrm>
            <a:off x="1463040" y="5431536"/>
            <a:ext cx="1417320" cy="786384"/>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Arial" pitchFamily="34" charset="0"/>
                <a:ea typeface="Arial" pitchFamily="34" charset="-122"/>
                <a:cs typeface="Arial" pitchFamily="34" charset="-120"/>
              </a:rPr>
              <a:t>19,408</a:t>
            </a:r>
            <a:endParaRPr lang="en-US" sz="1700" dirty="0"/>
          </a:p>
        </p:txBody>
      </p:sp>
      <p:sp>
        <p:nvSpPr>
          <p:cNvPr id="55" name="Text 48"/>
          <p:cNvSpPr txBox="1"/>
          <p:nvPr/>
        </p:nvSpPr>
        <p:spPr>
          <a:xfrm>
            <a:off x="2907792" y="5431536"/>
            <a:ext cx="2221992" cy="786384"/>
          </a:xfrm>
          <a:prstGeom prst="rect">
            <a:avLst/>
          </a:prstGeom>
          <a:noFill/>
          <a:ln/>
        </p:spPr>
        <p:txBody>
          <a:bodyPr wrap="square" lIns="0" tIns="0" rIns="0" bIns="0" rtlCol="0" anchor="ctr"/>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own ≥ 3 of 4 cost levers (COI)</a:t>
            </a:r>
            <a:endParaRPr lang="en-US" sz="1150" dirty="0"/>
          </a:p>
        </p:txBody>
      </p:sp>
      <p:sp>
        <p:nvSpPr>
          <p:cNvPr id="56" name="Text 49"/>
          <p:cNvSpPr txBox="1"/>
          <p:nvPr/>
        </p:nvSpPr>
        <p:spPr>
          <a:xfrm>
            <a:off x="5084064" y="5431536"/>
            <a:ext cx="548640" cy="786384"/>
          </a:xfrm>
          <a:prstGeom prst="rect">
            <a:avLst/>
          </a:prstGeom>
          <a:noFill/>
          <a:ln/>
        </p:spPr>
        <p:txBody>
          <a:bodyPr wrap="square" lIns="0" tIns="0" rIns="0" bIns="0" rtlCol="0" anchor="ctr"/>
          <a:lstStyle/>
          <a:p>
            <a:pPr algn="r" indent="0" marL="0">
              <a:lnSpc>
                <a:spcPct val="100000"/>
              </a:lnSpc>
              <a:buNone/>
            </a:pPr>
            <a:r>
              <a:rPr lang="en-US" sz="1100" b="1" dirty="0">
                <a:solidFill>
                  <a:srgbClr val="F7C9E0"/>
                </a:solidFill>
                <a:latin typeface="Arial" pitchFamily="34" charset="0"/>
                <a:ea typeface="Arial" pitchFamily="34" charset="-122"/>
                <a:cs typeface="Arial" pitchFamily="34" charset="-120"/>
              </a:rPr>
              <a:t>35%</a:t>
            </a:r>
            <a:endParaRPr lang="en-US" sz="1100" dirty="0"/>
          </a:p>
        </p:txBody>
      </p:sp>
      <p:sp>
        <p:nvSpPr>
          <p:cNvPr id="57" name="Shape 50"/>
          <p:cNvSpPr/>
          <p:nvPr/>
        </p:nvSpPr>
        <p:spPr>
          <a:xfrm>
            <a:off x="1472184" y="6327648"/>
            <a:ext cx="4133088" cy="786384"/>
          </a:xfrm>
          <a:prstGeom prst="roundRect">
            <a:avLst>
              <a:gd name="adj" fmla="val 5814"/>
            </a:avLst>
          </a:prstGeom>
          <a:solidFill>
            <a:srgbClr val="9A3A70"/>
          </a:solidFill>
          <a:ln w="12700">
            <a:solidFill>
              <a:srgbClr val="9A3A70"/>
            </a:solidFill>
            <a:prstDash val="solid"/>
          </a:ln>
        </p:spPr>
      </p:sp>
      <p:sp>
        <p:nvSpPr>
          <p:cNvPr id="58" name="Text 51"/>
          <p:cNvSpPr txBox="1"/>
          <p:nvPr/>
        </p:nvSpPr>
        <p:spPr>
          <a:xfrm>
            <a:off x="1581912" y="6327648"/>
            <a:ext cx="1417320" cy="786384"/>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Arial" pitchFamily="34" charset="0"/>
                <a:ea typeface="Arial" pitchFamily="34" charset="-122"/>
                <a:cs typeface="Arial" pitchFamily="34" charset="-120"/>
              </a:rPr>
              <a:t>11,645</a:t>
            </a:r>
            <a:endParaRPr lang="en-US" sz="1700" dirty="0"/>
          </a:p>
        </p:txBody>
      </p:sp>
      <p:sp>
        <p:nvSpPr>
          <p:cNvPr id="59" name="Text 52"/>
          <p:cNvSpPr txBox="1"/>
          <p:nvPr/>
        </p:nvSpPr>
        <p:spPr>
          <a:xfrm>
            <a:off x="3026664" y="6327648"/>
            <a:ext cx="1984248" cy="786384"/>
          </a:xfrm>
          <a:prstGeom prst="rect">
            <a:avLst/>
          </a:prstGeom>
          <a:noFill/>
          <a:ln/>
        </p:spPr>
        <p:txBody>
          <a:bodyPr wrap="square" lIns="0" tIns="0" rIns="0" bIns="0" rtlCol="0" anchor="ctr"/>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inside the 12 screened clusters</a:t>
            </a:r>
            <a:endParaRPr lang="en-US" sz="1150" dirty="0"/>
          </a:p>
        </p:txBody>
      </p:sp>
      <p:sp>
        <p:nvSpPr>
          <p:cNvPr id="60" name="Text 53"/>
          <p:cNvSpPr txBox="1"/>
          <p:nvPr/>
        </p:nvSpPr>
        <p:spPr>
          <a:xfrm>
            <a:off x="4965192" y="6327648"/>
            <a:ext cx="548640" cy="786384"/>
          </a:xfrm>
          <a:prstGeom prst="rect">
            <a:avLst/>
          </a:prstGeom>
          <a:noFill/>
          <a:ln/>
        </p:spPr>
        <p:txBody>
          <a:bodyPr wrap="square" lIns="0" tIns="0" rIns="0" bIns="0" rtlCol="0" anchor="ctr"/>
          <a:lstStyle/>
          <a:p>
            <a:pPr algn="r" indent="0" marL="0">
              <a:lnSpc>
                <a:spcPct val="100000"/>
              </a:lnSpc>
              <a:buNone/>
            </a:pPr>
            <a:r>
              <a:rPr lang="en-US" sz="1100" b="1" dirty="0">
                <a:solidFill>
                  <a:srgbClr val="F7C9E0"/>
                </a:solidFill>
                <a:latin typeface="Arial" pitchFamily="34" charset="0"/>
                <a:ea typeface="Arial" pitchFamily="34" charset="-122"/>
                <a:cs typeface="Arial" pitchFamily="34" charset="-120"/>
              </a:rPr>
              <a:t>60%</a:t>
            </a:r>
            <a:endParaRPr lang="en-US" sz="1100" dirty="0"/>
          </a:p>
        </p:txBody>
      </p:sp>
      <p:sp>
        <p:nvSpPr>
          <p:cNvPr id="61" name="Shape 54"/>
          <p:cNvSpPr/>
          <p:nvPr/>
        </p:nvSpPr>
        <p:spPr>
          <a:xfrm>
            <a:off x="1591056" y="7223760"/>
            <a:ext cx="3895344" cy="786384"/>
          </a:xfrm>
          <a:prstGeom prst="roundRect">
            <a:avLst>
              <a:gd name="adj" fmla="val 5814"/>
            </a:avLst>
          </a:prstGeom>
          <a:solidFill>
            <a:srgbClr val="FF9D00"/>
          </a:solidFill>
          <a:ln w="12700">
            <a:solidFill>
              <a:srgbClr val="FF9D00"/>
            </a:solidFill>
            <a:prstDash val="solid"/>
          </a:ln>
        </p:spPr>
      </p:sp>
      <p:sp>
        <p:nvSpPr>
          <p:cNvPr id="62" name="Text 55"/>
          <p:cNvSpPr txBox="1"/>
          <p:nvPr/>
        </p:nvSpPr>
        <p:spPr>
          <a:xfrm>
            <a:off x="1700784" y="7223760"/>
            <a:ext cx="1417320" cy="786384"/>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1,400</a:t>
            </a:r>
            <a:endParaRPr lang="en-US" sz="1700" dirty="0"/>
          </a:p>
        </p:txBody>
      </p:sp>
      <p:sp>
        <p:nvSpPr>
          <p:cNvPr id="63" name="Text 56"/>
          <p:cNvSpPr txBox="1"/>
          <p:nvPr/>
        </p:nvSpPr>
        <p:spPr>
          <a:xfrm>
            <a:off x="3145536" y="7223760"/>
            <a:ext cx="1746504" cy="786384"/>
          </a:xfrm>
          <a:prstGeom prst="rect">
            <a:avLst/>
          </a:prstGeom>
          <a:noFill/>
          <a:ln/>
        </p:spPr>
        <p:txBody>
          <a:bodyPr wrap="square" lIns="0" tIns="0" rIns="0" bIns="0" rtlCol="0" anchor="ctr"/>
          <a:lstStyle/>
          <a:p>
            <a:pPr algn="l" indent="0" marL="0">
              <a:lnSpc>
                <a:spcPct val="100000"/>
              </a:lnSpc>
              <a:buNone/>
            </a:pPr>
            <a:r>
              <a:rPr lang="en-US" sz="1150" b="1" dirty="0">
                <a:solidFill>
                  <a:srgbClr val="560547"/>
                </a:solidFill>
                <a:latin typeface="Calibri" pitchFamily="34" charset="0"/>
                <a:ea typeface="Calibri" pitchFamily="34" charset="-122"/>
                <a:cs typeface="Calibri" pitchFamily="34" charset="-120"/>
              </a:rPr>
              <a:t>active C2M sellers by Year 4</a:t>
            </a:r>
            <a:endParaRPr lang="en-US" sz="1150" dirty="0"/>
          </a:p>
        </p:txBody>
      </p:sp>
      <p:sp>
        <p:nvSpPr>
          <p:cNvPr id="64" name="Text 57"/>
          <p:cNvSpPr txBox="1"/>
          <p:nvPr/>
        </p:nvSpPr>
        <p:spPr>
          <a:xfrm>
            <a:off x="4846320" y="7223760"/>
            <a:ext cx="548640" cy="786384"/>
          </a:xfrm>
          <a:prstGeom prst="rect">
            <a:avLst/>
          </a:prstGeom>
          <a:noFill/>
          <a:ln/>
        </p:spPr>
        <p:txBody>
          <a:bodyPr wrap="square" lIns="0" tIns="0" rIns="0" bIns="0" rtlCol="0" anchor="ctr"/>
          <a:lstStyle/>
          <a:p>
            <a:pPr algn="r" indent="0" marL="0">
              <a:lnSpc>
                <a:spcPct val="100000"/>
              </a:lnSpc>
              <a:buNone/>
            </a:pPr>
            <a:r>
              <a:rPr lang="en-US" sz="1100" b="1" dirty="0">
                <a:solidFill>
                  <a:srgbClr val="560547"/>
                </a:solidFill>
                <a:latin typeface="Arial" pitchFamily="34" charset="0"/>
                <a:ea typeface="Arial" pitchFamily="34" charset="-122"/>
                <a:cs typeface="Arial" pitchFamily="34" charset="-120"/>
              </a:rPr>
              <a:t>12%</a:t>
            </a:r>
            <a:endParaRPr lang="en-US" sz="1100" dirty="0"/>
          </a:p>
        </p:txBody>
      </p:sp>
      <p:sp>
        <p:nvSpPr>
          <p:cNvPr id="65" name="Text 58"/>
          <p:cNvSpPr txBox="1"/>
          <p:nvPr/>
        </p:nvSpPr>
        <p:spPr>
          <a:xfrm>
            <a:off x="877824" y="8138160"/>
            <a:ext cx="5321808" cy="411480"/>
          </a:xfrm>
          <a:prstGeom prst="rect">
            <a:avLst/>
          </a:prstGeom>
          <a:noFill/>
          <a:ln/>
        </p:spPr>
        <p:txBody>
          <a:bodyPr wrap="square" lIns="0" tIns="0" rIns="0" bIns="0" rtlCol="0" anchor="t"/>
          <a:lstStyle/>
          <a:p>
            <a:pPr algn="l" indent="0" marL="0">
              <a:lnSpc>
                <a:spcPct val="100000"/>
              </a:lnSpc>
              <a:buNone/>
            </a:pPr>
            <a:r>
              <a:rPr lang="en-US" sz="1050" i="1" dirty="0">
                <a:solidFill>
                  <a:srgbClr val="7A6470"/>
                </a:solidFill>
                <a:latin typeface="Calibri" pitchFamily="34" charset="0"/>
                <a:ea typeface="Calibri" pitchFamily="34" charset="-122"/>
                <a:cs typeface="Calibri" pitchFamily="34" charset="-120"/>
              </a:rPr>
              <a:t>Right-hand figure = conversion from the row above. COI = Cost Ownership Index: raw material, production, scale, automation.</a:t>
            </a:r>
            <a:endParaRPr lang="en-US" sz="1050" dirty="0"/>
          </a:p>
        </p:txBody>
      </p:sp>
      <p:sp>
        <p:nvSpPr>
          <p:cNvPr id="66" name="Shape 59"/>
          <p:cNvSpPr/>
          <p:nvPr/>
        </p:nvSpPr>
        <p:spPr>
          <a:xfrm>
            <a:off x="6455664" y="1426464"/>
            <a:ext cx="6309360" cy="4160520"/>
          </a:xfrm>
          <a:prstGeom prst="rect">
            <a:avLst/>
          </a:prstGeom>
          <a:solidFill>
            <a:srgbClr val="FFFFFF"/>
          </a:solidFill>
          <a:ln w="9525">
            <a:solidFill>
              <a:srgbClr val="E0CEDA"/>
            </a:solidFill>
            <a:prstDash val="solid"/>
          </a:ln>
        </p:spPr>
      </p:sp>
      <p:sp>
        <p:nvSpPr>
          <p:cNvPr id="67" name="Shape 60"/>
          <p:cNvSpPr/>
          <p:nvPr/>
        </p:nvSpPr>
        <p:spPr>
          <a:xfrm>
            <a:off x="6455664" y="1426464"/>
            <a:ext cx="6309360" cy="329184"/>
          </a:xfrm>
          <a:prstGeom prst="rect">
            <a:avLst/>
          </a:prstGeom>
          <a:solidFill>
            <a:srgbClr val="560547"/>
          </a:solidFill>
          <a:ln w="12700">
            <a:solidFill>
              <a:srgbClr val="560547"/>
            </a:solidFill>
            <a:prstDash val="solid"/>
          </a:ln>
        </p:spPr>
      </p:sp>
      <p:pic>
        <p:nvPicPr>
          <p:cNvPr id="68" name="Image 4" descr="/private/tmp/claude-501/-Users-prathmeshwalimbe-Downloads-Meesho/dfec39d5-f971-4a3a-8cfb-761f4ef1fedb/scratchpad/deck/assets/icons/FaRocket_w.png">    </p:cNvPr>
          <p:cNvPicPr>
            <a:picLocks noChangeAspect="1"/>
          </p:cNvPicPr>
          <p:nvPr/>
        </p:nvPicPr>
        <p:blipFill>
          <a:blip r:embed="rId5"/>
          <a:stretch>
            <a:fillRect/>
          </a:stretch>
        </p:blipFill>
        <p:spPr>
          <a:xfrm>
            <a:off x="6565392" y="1490472"/>
            <a:ext cx="201168" cy="201168"/>
          </a:xfrm>
          <a:prstGeom prst="rect">
            <a:avLst/>
          </a:prstGeom>
        </p:spPr>
      </p:pic>
      <p:sp>
        <p:nvSpPr>
          <p:cNvPr id="69" name="Text 61"/>
          <p:cNvSpPr txBox="1"/>
          <p:nvPr/>
        </p:nvSpPr>
        <p:spPr>
          <a:xfrm>
            <a:off x="6839712" y="1426464"/>
            <a:ext cx="579729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OPPORTUNITY LADDER · PRICE AND NMV IMPACT</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0" y="1847088"/>
          <a:ext cx="6053328" cy="914400"/>
        </p:xfrm>
        <a:graphic>
          <a:graphicData uri="http://schemas.openxmlformats.org/drawingml/2006/table">
            <a:tbl>
              <a:tblPr/>
              <a:tblGrid>
                <a:gridCol w="2148840"/>
                <a:gridCol w="1301496"/>
                <a:gridCol w="1301496"/>
                <a:gridCol w="1301496"/>
              </a:tblGrid>
              <a:tr h="402336">
                <a:tc>
                  <a:txBody>
                    <a:bodyPr/>
                    <a:lstStyle/>
                    <a:p>
                      <a:pPr algn="l" indent="0" marL="0">
                        <a:buNone/>
                      </a:pP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Pilot · Day 90</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Scale · Q2+</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Target · Year 4</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402336">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Clusters · Factory Nodes</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2 · 1</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5 · 6</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12 · 12</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02336">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Active C2M sellers</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450</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1,400</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02336">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Run-rate NMV</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B1226"/>
                          </a:solidFill>
                          <a:latin typeface="Calibri" pitchFamily="34" charset="0"/>
                          <a:ea typeface="Calibri" pitchFamily="34" charset="-122"/>
                          <a:cs typeface="Calibri" pitchFamily="34" charset="-120"/>
                        </a:rPr>
                        <a:t>₹86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B1226"/>
                          </a:solidFill>
                          <a:latin typeface="Calibri" pitchFamily="34" charset="0"/>
                          <a:ea typeface="Calibri" pitchFamily="34" charset="-122"/>
                          <a:cs typeface="Calibri" pitchFamily="34" charset="-120"/>
                        </a:rPr>
                        <a:t>₹641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B1226"/>
                          </a:solidFill>
                          <a:latin typeface="Calibri" pitchFamily="34" charset="0"/>
                          <a:ea typeface="Calibri" pitchFamily="34" charset="-122"/>
                          <a:cs typeface="Calibri" pitchFamily="34" charset="-120"/>
                        </a:rPr>
                        <a:t>₹1,995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02336">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Share of FY26 NMV</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0.2%</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4.8%</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02336">
                <a:tc>
                  <a:txBody>
                    <a:bodyPr/>
                    <a:lstStyle/>
                    <a:p>
                      <a:pPr algn="l" indent="0" marL="0">
                        <a:buNone/>
                      </a:pPr>
                      <a:r>
                        <a:rPr lang="en-US" sz="1150" b="1" dirty="0">
                          <a:solidFill>
                            <a:srgbClr val="560547"/>
                          </a:solidFill>
                          <a:latin typeface="Calibri" pitchFamily="34" charset="0"/>
                          <a:ea typeface="Calibri" pitchFamily="34" charset="-122"/>
                          <a:cs typeface="Calibri" pitchFamily="34" charset="-120"/>
                        </a:rPr>
                        <a:t>Buyer savings / yr, gap 8–12%</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560547"/>
                          </a:solidFill>
                          <a:latin typeface="Calibri" pitchFamily="34" charset="0"/>
                          <a:ea typeface="Calibri" pitchFamily="34" charset="-122"/>
                          <a:cs typeface="Calibri" pitchFamily="34" charset="-120"/>
                        </a:rPr>
                        <a:t>₹7.4–₹12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2E4EE"/>
                    </a:solidFill>
                  </a:tcPr>
                </a:tc>
                <a:tc>
                  <a:txBody>
                    <a:bodyPr/>
                    <a:lstStyle/>
                    <a:p>
                      <a:pPr algn="l" indent="0" marL="0">
                        <a:buNone/>
                      </a:pPr>
                      <a:r>
                        <a:rPr lang="en-US" sz="1150" b="1" dirty="0">
                          <a:solidFill>
                            <a:srgbClr val="560547"/>
                          </a:solidFill>
                          <a:latin typeface="Calibri" pitchFamily="34" charset="0"/>
                          <a:ea typeface="Calibri" pitchFamily="34" charset="-122"/>
                          <a:cs typeface="Calibri" pitchFamily="34" charset="-120"/>
                        </a:rPr>
                        <a:t>₹56–₹87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2E4EE"/>
                    </a:solidFill>
                  </a:tcPr>
                </a:tc>
                <a:tc>
                  <a:txBody>
                    <a:bodyPr/>
                    <a:lstStyle/>
                    <a:p>
                      <a:pPr algn="l" indent="0" marL="0">
                        <a:buNone/>
                      </a:pPr>
                      <a:r>
                        <a:rPr lang="en-US" sz="1150" b="1" dirty="0">
                          <a:solidFill>
                            <a:srgbClr val="560547"/>
                          </a:solidFill>
                          <a:latin typeface="Calibri" pitchFamily="34" charset="0"/>
                          <a:ea typeface="Calibri" pitchFamily="34" charset="-122"/>
                          <a:cs typeface="Calibri" pitchFamily="34" charset="-120"/>
                        </a:rPr>
                        <a:t>₹173–₹272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2E4EE"/>
                    </a:solidFill>
                  </a:tcPr>
                </a:tc>
              </a:tr>
              <a:tr h="402336">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Contribution at 4.0% CM</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₹3.4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₹26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1226"/>
                          </a:solidFill>
                          <a:latin typeface="Calibri" pitchFamily="34" charset="0"/>
                          <a:ea typeface="Calibri" pitchFamily="34" charset="-122"/>
                          <a:cs typeface="Calibri" pitchFamily="34" charset="-120"/>
                        </a:rPr>
                        <a:t>₹80 cr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71" name="Text 62"/>
          <p:cNvSpPr txBox="1"/>
          <p:nvPr/>
        </p:nvSpPr>
        <p:spPr>
          <a:xfrm>
            <a:off x="6583680" y="4773168"/>
            <a:ext cx="6053328" cy="658368"/>
          </a:xfrm>
          <a:prstGeom prst="rect">
            <a:avLst/>
          </a:prstGeom>
          <a:noFill/>
          <a:ln/>
        </p:spPr>
        <p:txBody>
          <a:bodyPr wrap="square" lIns="0" tIns="0" rIns="0" bIns="0" rtlCol="0" anchor="t"/>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Buyer savings = NMV × g ÷ (1 − g)</a:t>
            </a:r>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  ·  g from the 8% gate floor to 12%, the low end of the 12–18% cost edge integration buys. Contribution uses the 4.0% Q4 FY26 exit rate.</a:t>
            </a:r>
            <a:endParaRPr lang="en-US" sz="1100" dirty="0"/>
          </a:p>
        </p:txBody>
      </p:sp>
      <p:sp>
        <p:nvSpPr>
          <p:cNvPr id="72" name="Shape 63"/>
          <p:cNvSpPr/>
          <p:nvPr/>
        </p:nvSpPr>
        <p:spPr>
          <a:xfrm>
            <a:off x="6455664" y="5715000"/>
            <a:ext cx="2017776" cy="1097280"/>
          </a:xfrm>
          <a:prstGeom prst="rect">
            <a:avLst/>
          </a:prstGeom>
          <a:solidFill>
            <a:srgbClr val="FFF3D8"/>
          </a:solidFill>
          <a:ln w="12700">
            <a:solidFill>
              <a:srgbClr val="FFF3D8"/>
            </a:solidFill>
            <a:prstDash val="solid"/>
          </a:ln>
        </p:spPr>
      </p:sp>
      <p:sp>
        <p:nvSpPr>
          <p:cNvPr id="73" name="Text 64"/>
          <p:cNvSpPr txBox="1"/>
          <p:nvPr/>
        </p:nvSpPr>
        <p:spPr>
          <a:xfrm>
            <a:off x="6565392" y="5769864"/>
            <a:ext cx="1798320" cy="570586"/>
          </a:xfrm>
          <a:prstGeom prst="rect">
            <a:avLst/>
          </a:prstGeom>
          <a:noFill/>
          <a:ln/>
        </p:spPr>
        <p:txBody>
          <a:bodyPr wrap="square" lIns="0" tIns="0" rIns="0" bIns="0" rtlCol="0" anchor="ctr"/>
          <a:lstStyle/>
          <a:p>
            <a:pPr algn="l" indent="0" marL="0">
              <a:lnSpc>
                <a:spcPct val="100000"/>
              </a:lnSpc>
              <a:buNone/>
            </a:pPr>
            <a:r>
              <a:rPr lang="en-US" sz="2200" b="1" dirty="0">
                <a:solidFill>
                  <a:srgbClr val="560547"/>
                </a:solidFill>
                <a:latin typeface="Arial" pitchFamily="34" charset="0"/>
                <a:ea typeface="Arial" pitchFamily="34" charset="-122"/>
                <a:cs typeface="Arial" pitchFamily="34" charset="-120"/>
              </a:rPr>
              <a:t>4.8%</a:t>
            </a:r>
            <a:endParaRPr lang="en-US" sz="2200" dirty="0"/>
          </a:p>
        </p:txBody>
      </p:sp>
      <p:sp>
        <p:nvSpPr>
          <p:cNvPr id="74" name="Text 65"/>
          <p:cNvSpPr txBox="1"/>
          <p:nvPr/>
        </p:nvSpPr>
        <p:spPr>
          <a:xfrm>
            <a:off x="6565392" y="6318504"/>
            <a:ext cx="1798320" cy="460858"/>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of FY26 NMV becomes structurally cheaper</a:t>
            </a:r>
            <a:endParaRPr lang="en-US" sz="1050" dirty="0"/>
          </a:p>
        </p:txBody>
      </p:sp>
      <p:sp>
        <p:nvSpPr>
          <p:cNvPr id="75" name="Shape 66"/>
          <p:cNvSpPr/>
          <p:nvPr/>
        </p:nvSpPr>
        <p:spPr>
          <a:xfrm>
            <a:off x="8601456" y="5715000"/>
            <a:ext cx="2017776" cy="1097280"/>
          </a:xfrm>
          <a:prstGeom prst="rect">
            <a:avLst/>
          </a:prstGeom>
          <a:solidFill>
            <a:srgbClr val="FFF3D8"/>
          </a:solidFill>
          <a:ln w="12700">
            <a:solidFill>
              <a:srgbClr val="FFF3D8"/>
            </a:solidFill>
            <a:prstDash val="solid"/>
          </a:ln>
        </p:spPr>
      </p:sp>
      <p:sp>
        <p:nvSpPr>
          <p:cNvPr id="76" name="Text 67"/>
          <p:cNvSpPr txBox="1"/>
          <p:nvPr/>
        </p:nvSpPr>
        <p:spPr>
          <a:xfrm>
            <a:off x="8711184" y="5769864"/>
            <a:ext cx="1798320" cy="570586"/>
          </a:xfrm>
          <a:prstGeom prst="rect">
            <a:avLst/>
          </a:prstGeom>
          <a:noFill/>
          <a:ln/>
        </p:spPr>
        <p:txBody>
          <a:bodyPr wrap="square" lIns="0" tIns="0" rIns="0" bIns="0" rtlCol="0" anchor="ctr"/>
          <a:lstStyle/>
          <a:p>
            <a:pPr algn="l" indent="0" marL="0">
              <a:lnSpc>
                <a:spcPct val="100000"/>
              </a:lnSpc>
              <a:buNone/>
            </a:pPr>
            <a:r>
              <a:rPr lang="en-US" sz="2200" b="1" dirty="0">
                <a:solidFill>
                  <a:srgbClr val="560547"/>
                </a:solidFill>
                <a:latin typeface="Arial" pitchFamily="34" charset="0"/>
                <a:ea typeface="Arial" pitchFamily="34" charset="-122"/>
                <a:cs typeface="Arial" pitchFamily="34" charset="-120"/>
              </a:rPr>
              <a:t>₹173–272</a:t>
            </a:r>
            <a:endParaRPr lang="en-US" sz="2200" dirty="0"/>
          </a:p>
        </p:txBody>
      </p:sp>
      <p:sp>
        <p:nvSpPr>
          <p:cNvPr id="77" name="Text 68"/>
          <p:cNvSpPr txBox="1"/>
          <p:nvPr/>
        </p:nvSpPr>
        <p:spPr>
          <a:xfrm>
            <a:off x="8711184" y="6318504"/>
            <a:ext cx="1798320" cy="460858"/>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 cr a year returned to buyers</a:t>
            </a:r>
            <a:endParaRPr lang="en-US" sz="1050" dirty="0"/>
          </a:p>
        </p:txBody>
      </p:sp>
      <p:sp>
        <p:nvSpPr>
          <p:cNvPr id="78" name="Shape 69"/>
          <p:cNvSpPr/>
          <p:nvPr/>
        </p:nvSpPr>
        <p:spPr>
          <a:xfrm>
            <a:off x="10747248" y="5715000"/>
            <a:ext cx="2017776" cy="1097280"/>
          </a:xfrm>
          <a:prstGeom prst="rect">
            <a:avLst/>
          </a:prstGeom>
          <a:solidFill>
            <a:srgbClr val="FFF3D8"/>
          </a:solidFill>
          <a:ln w="12700">
            <a:solidFill>
              <a:srgbClr val="FFF3D8"/>
            </a:solidFill>
            <a:prstDash val="solid"/>
          </a:ln>
        </p:spPr>
      </p:sp>
      <p:sp>
        <p:nvSpPr>
          <p:cNvPr id="79" name="Text 70"/>
          <p:cNvSpPr txBox="1"/>
          <p:nvPr/>
        </p:nvSpPr>
        <p:spPr>
          <a:xfrm>
            <a:off x="10856976" y="5769864"/>
            <a:ext cx="1798320" cy="570586"/>
          </a:xfrm>
          <a:prstGeom prst="rect">
            <a:avLst/>
          </a:prstGeom>
          <a:noFill/>
          <a:ln/>
        </p:spPr>
        <p:txBody>
          <a:bodyPr wrap="square" lIns="0" tIns="0" rIns="0" bIns="0" rtlCol="0" anchor="ctr"/>
          <a:lstStyle/>
          <a:p>
            <a:pPr algn="l" indent="0" marL="0">
              <a:lnSpc>
                <a:spcPct val="100000"/>
              </a:lnSpc>
              <a:buNone/>
            </a:pPr>
            <a:r>
              <a:rPr lang="en-US" sz="2200" b="1" dirty="0">
                <a:solidFill>
                  <a:srgbClr val="560547"/>
                </a:solidFill>
                <a:latin typeface="Arial" pitchFamily="34" charset="0"/>
                <a:ea typeface="Arial" pitchFamily="34" charset="-122"/>
                <a:cs typeface="Arial" pitchFamily="34" charset="-120"/>
              </a:rPr>
              <a:t>₹80 cr</a:t>
            </a:r>
            <a:endParaRPr lang="en-US" sz="2200" dirty="0"/>
          </a:p>
        </p:txBody>
      </p:sp>
      <p:sp>
        <p:nvSpPr>
          <p:cNvPr id="80" name="Text 71"/>
          <p:cNvSpPr txBox="1"/>
          <p:nvPr/>
        </p:nvSpPr>
        <p:spPr>
          <a:xfrm>
            <a:off x="10856976" y="6318504"/>
            <a:ext cx="1798320" cy="460858"/>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contribution a year at today’s margin</a:t>
            </a:r>
            <a:endParaRPr lang="en-US" sz="1050" dirty="0"/>
          </a:p>
        </p:txBody>
      </p:sp>
      <p:sp>
        <p:nvSpPr>
          <p:cNvPr id="81" name="Shape 72"/>
          <p:cNvSpPr/>
          <p:nvPr/>
        </p:nvSpPr>
        <p:spPr>
          <a:xfrm>
            <a:off x="6455664" y="6949440"/>
            <a:ext cx="6309360" cy="2066544"/>
          </a:xfrm>
          <a:prstGeom prst="rect">
            <a:avLst/>
          </a:prstGeom>
          <a:solidFill>
            <a:srgbClr val="FFFFFF"/>
          </a:solidFill>
          <a:ln w="9525">
            <a:solidFill>
              <a:srgbClr val="E0CEDA"/>
            </a:solidFill>
            <a:prstDash val="solid"/>
          </a:ln>
        </p:spPr>
      </p:sp>
      <p:sp>
        <p:nvSpPr>
          <p:cNvPr id="82" name="Shape 73"/>
          <p:cNvSpPr/>
          <p:nvPr/>
        </p:nvSpPr>
        <p:spPr>
          <a:xfrm>
            <a:off x="6455664" y="6949440"/>
            <a:ext cx="6309360" cy="329184"/>
          </a:xfrm>
          <a:prstGeom prst="rect">
            <a:avLst/>
          </a:prstGeom>
          <a:solidFill>
            <a:srgbClr val="8A245E"/>
          </a:solidFill>
          <a:ln w="12700">
            <a:solidFill>
              <a:srgbClr val="8A245E"/>
            </a:solidFill>
            <a:prstDash val="solid"/>
          </a:ln>
        </p:spPr>
      </p:sp>
      <p:pic>
        <p:nvPicPr>
          <p:cNvPr id="83" name="Image 5" descr="/private/tmp/claude-501/-Users-prathmeshwalimbe-Downloads-Meesho/dfec39d5-f971-4a3a-8cfb-761f4ef1fedb/scratchpad/deck/assets/icons/FaBolt_w.png">    </p:cNvPr>
          <p:cNvPicPr>
            <a:picLocks noChangeAspect="1"/>
          </p:cNvPicPr>
          <p:nvPr/>
        </p:nvPicPr>
        <p:blipFill>
          <a:blip r:embed="rId6"/>
          <a:stretch>
            <a:fillRect/>
          </a:stretch>
        </p:blipFill>
        <p:spPr>
          <a:xfrm>
            <a:off x="6565392" y="7013448"/>
            <a:ext cx="201168" cy="201168"/>
          </a:xfrm>
          <a:prstGeom prst="rect">
            <a:avLst/>
          </a:prstGeom>
        </p:spPr>
      </p:pic>
      <p:sp>
        <p:nvSpPr>
          <p:cNvPr id="84" name="Text 74"/>
          <p:cNvSpPr txBox="1"/>
          <p:nvPr/>
        </p:nvSpPr>
        <p:spPr>
          <a:xfrm>
            <a:off x="6839712" y="6949440"/>
            <a:ext cx="579729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WHY NOW · THE RATE-CARD MOAT IS GONE</a:t>
            </a:r>
            <a:endParaRPr lang="en-US" sz="1250" dirty="0"/>
          </a:p>
        </p:txBody>
      </p:sp>
      <p:sp>
        <p:nvSpPr>
          <p:cNvPr id="85" name="Shape 75"/>
          <p:cNvSpPr/>
          <p:nvPr/>
        </p:nvSpPr>
        <p:spPr>
          <a:xfrm>
            <a:off x="6675120" y="7680960"/>
            <a:ext cx="5870448" cy="914"/>
          </a:xfrm>
          <a:prstGeom prst="line">
            <a:avLst/>
          </a:prstGeom>
          <a:noFill/>
          <a:ln w="19050">
            <a:solidFill>
              <a:srgbClr val="8A245E"/>
            </a:solidFill>
            <a:prstDash val="solid"/>
          </a:ln>
        </p:spPr>
      </p:sp>
      <p:sp>
        <p:nvSpPr>
          <p:cNvPr id="86" name="Shape 76"/>
          <p:cNvSpPr/>
          <p:nvPr/>
        </p:nvSpPr>
        <p:spPr>
          <a:xfrm>
            <a:off x="7106717" y="7598664"/>
            <a:ext cx="164592" cy="164592"/>
          </a:xfrm>
          <a:prstGeom prst="ellipse">
            <a:avLst/>
          </a:prstGeom>
          <a:solidFill>
            <a:srgbClr val="8A245E"/>
          </a:solidFill>
          <a:ln w="19050">
            <a:solidFill>
              <a:srgbClr val="FFFFFF"/>
            </a:solidFill>
            <a:prstDash val="solid"/>
          </a:ln>
        </p:spPr>
      </p:sp>
      <p:sp>
        <p:nvSpPr>
          <p:cNvPr id="87" name="Text 77"/>
          <p:cNvSpPr txBox="1"/>
          <p:nvPr/>
        </p:nvSpPr>
        <p:spPr>
          <a:xfrm>
            <a:off x="6583680" y="7370064"/>
            <a:ext cx="1210666" cy="201168"/>
          </a:xfrm>
          <a:prstGeom prst="rect">
            <a:avLst/>
          </a:prstGeom>
          <a:noFill/>
          <a:ln/>
        </p:spPr>
        <p:txBody>
          <a:bodyPr wrap="square" lIns="0" tIns="0" rIns="0" bIns="0" rtlCol="0" anchor="t"/>
          <a:lstStyle/>
          <a:p>
            <a:pPr algn="ctr" indent="0" marL="0">
              <a:lnSpc>
                <a:spcPct val="100000"/>
              </a:lnSpc>
              <a:buNone/>
            </a:pPr>
            <a:r>
              <a:rPr lang="en-US" sz="1000" b="1" dirty="0">
                <a:solidFill>
                  <a:srgbClr val="560547"/>
                </a:solidFill>
                <a:latin typeface="Arial" pitchFamily="34" charset="0"/>
                <a:ea typeface="Arial" pitchFamily="34" charset="-122"/>
                <a:cs typeface="Arial" pitchFamily="34" charset="-120"/>
              </a:rPr>
              <a:t>Apr 2025</a:t>
            </a:r>
            <a:endParaRPr lang="en-US" sz="1000" dirty="0"/>
          </a:p>
        </p:txBody>
      </p:sp>
      <p:sp>
        <p:nvSpPr>
          <p:cNvPr id="88" name="Text 78"/>
          <p:cNvSpPr txBox="1"/>
          <p:nvPr/>
        </p:nvSpPr>
        <p:spPr>
          <a:xfrm>
            <a:off x="6620256" y="7827264"/>
            <a:ext cx="1137514" cy="566928"/>
          </a:xfrm>
          <a:prstGeom prst="rect">
            <a:avLst/>
          </a:prstGeom>
          <a:noFill/>
          <a:ln/>
        </p:spPr>
        <p:txBody>
          <a:bodyPr wrap="square" lIns="0" tIns="0" rIns="0" bIns="0" rtlCol="0" anchor="t"/>
          <a:lstStyle/>
          <a:p>
            <a:pPr algn="ctr" indent="0" marL="0">
              <a:lnSpc>
                <a:spcPct val="100000"/>
              </a:lnSpc>
              <a:buNone/>
            </a:pPr>
            <a:r>
              <a:rPr lang="en-US" sz="1050" dirty="0">
                <a:solidFill>
                  <a:srgbClr val="2B1226"/>
                </a:solidFill>
                <a:latin typeface="Calibri" pitchFamily="34" charset="0"/>
                <a:ea typeface="Calibri" pitchFamily="34" charset="-122"/>
                <a:cs typeface="Calibri" pitchFamily="34" charset="-120"/>
              </a:rPr>
              <a:t>Amazon: no referral fee &lt; ₹300</a:t>
            </a:r>
            <a:endParaRPr lang="en-US" sz="1050" dirty="0"/>
          </a:p>
        </p:txBody>
      </p:sp>
      <p:sp>
        <p:nvSpPr>
          <p:cNvPr id="89" name="Shape 79"/>
          <p:cNvSpPr/>
          <p:nvPr/>
        </p:nvSpPr>
        <p:spPr>
          <a:xfrm>
            <a:off x="8317382" y="7598664"/>
            <a:ext cx="164592" cy="164592"/>
          </a:xfrm>
          <a:prstGeom prst="ellipse">
            <a:avLst/>
          </a:prstGeom>
          <a:solidFill>
            <a:srgbClr val="8A245E"/>
          </a:solidFill>
          <a:ln w="19050">
            <a:solidFill>
              <a:srgbClr val="FFFFFF"/>
            </a:solidFill>
            <a:prstDash val="solid"/>
          </a:ln>
        </p:spPr>
      </p:sp>
      <p:sp>
        <p:nvSpPr>
          <p:cNvPr id="90" name="Text 80"/>
          <p:cNvSpPr txBox="1"/>
          <p:nvPr/>
        </p:nvSpPr>
        <p:spPr>
          <a:xfrm>
            <a:off x="7794346" y="7370064"/>
            <a:ext cx="1210666" cy="201168"/>
          </a:xfrm>
          <a:prstGeom prst="rect">
            <a:avLst/>
          </a:prstGeom>
          <a:noFill/>
          <a:ln/>
        </p:spPr>
        <p:txBody>
          <a:bodyPr wrap="square" lIns="0" tIns="0" rIns="0" bIns="0" rtlCol="0" anchor="t"/>
          <a:lstStyle/>
          <a:p>
            <a:pPr algn="ctr" indent="0" marL="0">
              <a:lnSpc>
                <a:spcPct val="100000"/>
              </a:lnSpc>
              <a:buNone/>
            </a:pPr>
            <a:r>
              <a:rPr lang="en-US" sz="1000" b="1" dirty="0">
                <a:solidFill>
                  <a:srgbClr val="560547"/>
                </a:solidFill>
                <a:latin typeface="Arial" pitchFamily="34" charset="0"/>
                <a:ea typeface="Arial" pitchFamily="34" charset="-122"/>
                <a:cs typeface="Arial" pitchFamily="34" charset="-120"/>
              </a:rPr>
              <a:t>Nov 2025</a:t>
            </a:r>
            <a:endParaRPr lang="en-US" sz="1000" dirty="0"/>
          </a:p>
        </p:txBody>
      </p:sp>
      <p:sp>
        <p:nvSpPr>
          <p:cNvPr id="91" name="Text 81"/>
          <p:cNvSpPr txBox="1"/>
          <p:nvPr/>
        </p:nvSpPr>
        <p:spPr>
          <a:xfrm>
            <a:off x="7830922" y="7827264"/>
            <a:ext cx="1137514" cy="566928"/>
          </a:xfrm>
          <a:prstGeom prst="rect">
            <a:avLst/>
          </a:prstGeom>
          <a:noFill/>
          <a:ln/>
        </p:spPr>
        <p:txBody>
          <a:bodyPr wrap="square" lIns="0" tIns="0" rIns="0" bIns="0" rtlCol="0" anchor="t"/>
          <a:lstStyle/>
          <a:p>
            <a:pPr algn="ctr" indent="0" marL="0">
              <a:lnSpc>
                <a:spcPct val="100000"/>
              </a:lnSpc>
              <a:buNone/>
            </a:pPr>
            <a:r>
              <a:rPr lang="en-US" sz="1050" dirty="0">
                <a:solidFill>
                  <a:srgbClr val="2B1226"/>
                </a:solidFill>
                <a:latin typeface="Calibri" pitchFamily="34" charset="0"/>
                <a:ea typeface="Calibri" pitchFamily="34" charset="-122"/>
                <a:cs typeface="Calibri" pitchFamily="34" charset="-120"/>
              </a:rPr>
              <a:t>Flipkart: 0% &lt; ₹1,000; Shopsy 0%</a:t>
            </a:r>
            <a:endParaRPr lang="en-US" sz="1050" dirty="0"/>
          </a:p>
        </p:txBody>
      </p:sp>
      <p:sp>
        <p:nvSpPr>
          <p:cNvPr id="92" name="Shape 82"/>
          <p:cNvSpPr/>
          <p:nvPr/>
        </p:nvSpPr>
        <p:spPr>
          <a:xfrm>
            <a:off x="9528048" y="7598664"/>
            <a:ext cx="164592" cy="164592"/>
          </a:xfrm>
          <a:prstGeom prst="ellipse">
            <a:avLst/>
          </a:prstGeom>
          <a:solidFill>
            <a:srgbClr val="8A245E"/>
          </a:solidFill>
          <a:ln w="19050">
            <a:solidFill>
              <a:srgbClr val="FFFFFF"/>
            </a:solidFill>
            <a:prstDash val="solid"/>
          </a:ln>
        </p:spPr>
      </p:sp>
      <p:sp>
        <p:nvSpPr>
          <p:cNvPr id="93" name="Text 83"/>
          <p:cNvSpPr txBox="1"/>
          <p:nvPr/>
        </p:nvSpPr>
        <p:spPr>
          <a:xfrm>
            <a:off x="9005011" y="7370064"/>
            <a:ext cx="1210666" cy="201168"/>
          </a:xfrm>
          <a:prstGeom prst="rect">
            <a:avLst/>
          </a:prstGeom>
          <a:noFill/>
          <a:ln/>
        </p:spPr>
        <p:txBody>
          <a:bodyPr wrap="square" lIns="0" tIns="0" rIns="0" bIns="0" rtlCol="0" anchor="t"/>
          <a:lstStyle/>
          <a:p>
            <a:pPr algn="ctr" indent="0" marL="0">
              <a:lnSpc>
                <a:spcPct val="100000"/>
              </a:lnSpc>
              <a:buNone/>
            </a:pPr>
            <a:r>
              <a:rPr lang="en-US" sz="1000" b="1" dirty="0">
                <a:solidFill>
                  <a:srgbClr val="560547"/>
                </a:solidFill>
                <a:latin typeface="Arial" pitchFamily="34" charset="0"/>
                <a:ea typeface="Arial" pitchFamily="34" charset="-122"/>
                <a:cs typeface="Arial" pitchFamily="34" charset="-120"/>
              </a:rPr>
              <a:t>Nov 2025</a:t>
            </a:r>
            <a:endParaRPr lang="en-US" sz="1000" dirty="0"/>
          </a:p>
        </p:txBody>
      </p:sp>
      <p:sp>
        <p:nvSpPr>
          <p:cNvPr id="94" name="Text 84"/>
          <p:cNvSpPr txBox="1"/>
          <p:nvPr/>
        </p:nvSpPr>
        <p:spPr>
          <a:xfrm>
            <a:off x="9041587" y="7827264"/>
            <a:ext cx="1137514" cy="566928"/>
          </a:xfrm>
          <a:prstGeom prst="rect">
            <a:avLst/>
          </a:prstGeom>
          <a:noFill/>
          <a:ln/>
        </p:spPr>
        <p:txBody>
          <a:bodyPr wrap="square" lIns="0" tIns="0" rIns="0" bIns="0" rtlCol="0" anchor="t"/>
          <a:lstStyle/>
          <a:p>
            <a:pPr algn="ctr" indent="0" marL="0">
              <a:lnSpc>
                <a:spcPct val="100000"/>
              </a:lnSpc>
              <a:buNone/>
            </a:pPr>
            <a:r>
              <a:rPr lang="en-US" sz="1050" dirty="0">
                <a:solidFill>
                  <a:srgbClr val="2B1226"/>
                </a:solidFill>
                <a:latin typeface="Calibri" pitchFamily="34" charset="0"/>
                <a:ea typeface="Calibri" pitchFamily="34" charset="-122"/>
                <a:cs typeface="Calibri" pitchFamily="34" charset="-120"/>
              </a:rPr>
              <a:t>Amazon: 0% referral &lt; ₹1,000</a:t>
            </a:r>
            <a:endParaRPr lang="en-US" sz="1050" dirty="0"/>
          </a:p>
        </p:txBody>
      </p:sp>
      <p:sp>
        <p:nvSpPr>
          <p:cNvPr id="95" name="Shape 85"/>
          <p:cNvSpPr/>
          <p:nvPr/>
        </p:nvSpPr>
        <p:spPr>
          <a:xfrm>
            <a:off x="10738714" y="7598664"/>
            <a:ext cx="164592" cy="164592"/>
          </a:xfrm>
          <a:prstGeom prst="ellipse">
            <a:avLst/>
          </a:prstGeom>
          <a:solidFill>
            <a:srgbClr val="8A245E"/>
          </a:solidFill>
          <a:ln w="19050">
            <a:solidFill>
              <a:srgbClr val="FFFFFF"/>
            </a:solidFill>
            <a:prstDash val="solid"/>
          </a:ln>
        </p:spPr>
      </p:sp>
      <p:sp>
        <p:nvSpPr>
          <p:cNvPr id="96" name="Text 86"/>
          <p:cNvSpPr txBox="1"/>
          <p:nvPr/>
        </p:nvSpPr>
        <p:spPr>
          <a:xfrm>
            <a:off x="10215677" y="7370064"/>
            <a:ext cx="1210666" cy="201168"/>
          </a:xfrm>
          <a:prstGeom prst="rect">
            <a:avLst/>
          </a:prstGeom>
          <a:noFill/>
          <a:ln/>
        </p:spPr>
        <p:txBody>
          <a:bodyPr wrap="square" lIns="0" tIns="0" rIns="0" bIns="0" rtlCol="0" anchor="t"/>
          <a:lstStyle/>
          <a:p>
            <a:pPr algn="ctr" indent="0" marL="0">
              <a:lnSpc>
                <a:spcPct val="100000"/>
              </a:lnSpc>
              <a:buNone/>
            </a:pPr>
            <a:r>
              <a:rPr lang="en-US" sz="1000" b="1" dirty="0">
                <a:solidFill>
                  <a:srgbClr val="560547"/>
                </a:solidFill>
                <a:latin typeface="Arial" pitchFamily="34" charset="0"/>
                <a:ea typeface="Arial" pitchFamily="34" charset="-122"/>
                <a:cs typeface="Arial" pitchFamily="34" charset="-120"/>
              </a:rPr>
              <a:t>Mar 2026</a:t>
            </a:r>
            <a:endParaRPr lang="en-US" sz="1000" dirty="0"/>
          </a:p>
        </p:txBody>
      </p:sp>
      <p:sp>
        <p:nvSpPr>
          <p:cNvPr id="97" name="Text 87"/>
          <p:cNvSpPr txBox="1"/>
          <p:nvPr/>
        </p:nvSpPr>
        <p:spPr>
          <a:xfrm>
            <a:off x="10252253" y="7827264"/>
            <a:ext cx="1137514" cy="566928"/>
          </a:xfrm>
          <a:prstGeom prst="rect">
            <a:avLst/>
          </a:prstGeom>
          <a:noFill/>
          <a:ln/>
        </p:spPr>
        <p:txBody>
          <a:bodyPr wrap="square" lIns="0" tIns="0" rIns="0" bIns="0" rtlCol="0" anchor="t"/>
          <a:lstStyle/>
          <a:p>
            <a:pPr algn="ctr" indent="0" marL="0">
              <a:lnSpc>
                <a:spcPct val="100000"/>
              </a:lnSpc>
              <a:buNone/>
            </a:pPr>
            <a:r>
              <a:rPr lang="en-US" sz="1050" dirty="0">
                <a:solidFill>
                  <a:srgbClr val="2B1226"/>
                </a:solidFill>
                <a:latin typeface="Calibri" pitchFamily="34" charset="0"/>
                <a:ea typeface="Calibri" pitchFamily="34" charset="-122"/>
                <a:cs typeface="Calibri" pitchFamily="34" charset="-120"/>
              </a:rPr>
              <a:t>Amazon expands zero fees</a:t>
            </a:r>
            <a:endParaRPr lang="en-US" sz="1050" dirty="0"/>
          </a:p>
        </p:txBody>
      </p:sp>
      <p:sp>
        <p:nvSpPr>
          <p:cNvPr id="98" name="Shape 88"/>
          <p:cNvSpPr/>
          <p:nvPr/>
        </p:nvSpPr>
        <p:spPr>
          <a:xfrm>
            <a:off x="11949379" y="7598664"/>
            <a:ext cx="164592" cy="164592"/>
          </a:xfrm>
          <a:prstGeom prst="ellipse">
            <a:avLst/>
          </a:prstGeom>
          <a:solidFill>
            <a:srgbClr val="C0392B"/>
          </a:solidFill>
          <a:ln w="19050">
            <a:solidFill>
              <a:srgbClr val="FFFFFF"/>
            </a:solidFill>
            <a:prstDash val="solid"/>
          </a:ln>
        </p:spPr>
      </p:sp>
      <p:sp>
        <p:nvSpPr>
          <p:cNvPr id="99" name="Text 89"/>
          <p:cNvSpPr txBox="1"/>
          <p:nvPr/>
        </p:nvSpPr>
        <p:spPr>
          <a:xfrm>
            <a:off x="11426342" y="7370064"/>
            <a:ext cx="1210666" cy="201168"/>
          </a:xfrm>
          <a:prstGeom prst="rect">
            <a:avLst/>
          </a:prstGeom>
          <a:noFill/>
          <a:ln/>
        </p:spPr>
        <p:txBody>
          <a:bodyPr wrap="square" lIns="0" tIns="0" rIns="0" bIns="0" rtlCol="0" anchor="t"/>
          <a:lstStyle/>
          <a:p>
            <a:pPr algn="ctr" indent="0" marL="0">
              <a:lnSpc>
                <a:spcPct val="100000"/>
              </a:lnSpc>
              <a:buNone/>
            </a:pPr>
            <a:r>
              <a:rPr lang="en-US" sz="1000" b="1" dirty="0">
                <a:solidFill>
                  <a:srgbClr val="560547"/>
                </a:solidFill>
                <a:latin typeface="Arial" pitchFamily="34" charset="0"/>
                <a:ea typeface="Arial" pitchFamily="34" charset="-122"/>
                <a:cs typeface="Arial" pitchFamily="34" charset="-120"/>
              </a:rPr>
              <a:t>8 Jul 2026</a:t>
            </a:r>
            <a:endParaRPr lang="en-US" sz="1000" dirty="0"/>
          </a:p>
        </p:txBody>
      </p:sp>
      <p:sp>
        <p:nvSpPr>
          <p:cNvPr id="100" name="Text 90"/>
          <p:cNvSpPr txBox="1"/>
          <p:nvPr/>
        </p:nvSpPr>
        <p:spPr>
          <a:xfrm>
            <a:off x="11462918" y="7827264"/>
            <a:ext cx="1137514" cy="566928"/>
          </a:xfrm>
          <a:prstGeom prst="rect">
            <a:avLst/>
          </a:prstGeom>
          <a:noFill/>
          <a:ln/>
        </p:spPr>
        <p:txBody>
          <a:bodyPr wrap="square" lIns="0" tIns="0" rIns="0" bIns="0" rtlCol="0" anchor="t"/>
          <a:lstStyle/>
          <a:p>
            <a:pPr algn="ctr" indent="0" marL="0">
              <a:lnSpc>
                <a:spcPct val="100000"/>
              </a:lnSpc>
              <a:buNone/>
            </a:pPr>
            <a:r>
              <a:rPr lang="en-US" sz="1050" dirty="0">
                <a:solidFill>
                  <a:srgbClr val="2B1226"/>
                </a:solidFill>
                <a:latin typeface="Calibri" pitchFamily="34" charset="0"/>
                <a:ea typeface="Calibri" pitchFamily="34" charset="-122"/>
                <a:cs typeface="Calibri" pitchFamily="34" charset="-120"/>
              </a:rPr>
              <a:t>Flipkart: 0% on all fashion, any price</a:t>
            </a:r>
            <a:endParaRPr lang="en-US" sz="1050" dirty="0"/>
          </a:p>
        </p:txBody>
      </p:sp>
      <p:sp>
        <p:nvSpPr>
          <p:cNvPr id="101" name="Text 91"/>
          <p:cNvSpPr txBox="1"/>
          <p:nvPr/>
        </p:nvSpPr>
        <p:spPr>
          <a:xfrm>
            <a:off x="6583680" y="8467344"/>
            <a:ext cx="6053328" cy="411480"/>
          </a:xfrm>
          <a:prstGeom prst="rect">
            <a:avLst/>
          </a:prstGeom>
          <a:noFill/>
          <a:ln/>
        </p:spPr>
        <p:txBody>
          <a:bodyPr wrap="square" lIns="0" tIns="0" rIns="0" bIns="0" rtlCol="0" anchor="t"/>
          <a:lstStyle/>
          <a:p>
            <a:pPr algn="l" indent="0" marL="0">
              <a:lnSpc>
                <a:spcPct val="100000"/>
              </a:lnSpc>
              <a:buNone/>
            </a:pPr>
            <a:r>
              <a:rPr lang="en-US" sz="1150" b="1" dirty="0">
                <a:solidFill>
                  <a:srgbClr val="C0392B"/>
                </a:solidFill>
                <a:latin typeface="Calibri" pitchFamily="34" charset="0"/>
                <a:ea typeface="Calibri" pitchFamily="34" charset="-122"/>
                <a:cs typeface="Calibri" pitchFamily="34" charset="-120"/>
              </a:rPr>
              <a:t>Fees converge to zero. </a:t>
            </a:r>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The only price advantage a competitor’s rate card cannot copy is a cost-structure advantage.</a:t>
            </a:r>
            <a:endParaRPr lang="en-US" sz="1150" dirty="0"/>
          </a:p>
        </p:txBody>
      </p:sp>
      <p:sp>
        <p:nvSpPr>
          <p:cNvPr id="102" name="Shape 92"/>
          <p:cNvSpPr/>
          <p:nvPr/>
        </p:nvSpPr>
        <p:spPr>
          <a:xfrm>
            <a:off x="12893040" y="1426464"/>
            <a:ext cx="5166360" cy="4572000"/>
          </a:xfrm>
          <a:prstGeom prst="rect">
            <a:avLst/>
          </a:prstGeom>
          <a:solidFill>
            <a:srgbClr val="FFFFFF"/>
          </a:solidFill>
          <a:ln w="9525">
            <a:solidFill>
              <a:srgbClr val="E0CEDA"/>
            </a:solidFill>
            <a:prstDash val="solid"/>
          </a:ln>
        </p:spPr>
      </p:sp>
      <p:sp>
        <p:nvSpPr>
          <p:cNvPr id="103" name="Shape 93"/>
          <p:cNvSpPr/>
          <p:nvPr/>
        </p:nvSpPr>
        <p:spPr>
          <a:xfrm>
            <a:off x="12893040" y="1426464"/>
            <a:ext cx="5166360" cy="329184"/>
          </a:xfrm>
          <a:prstGeom prst="rect">
            <a:avLst/>
          </a:prstGeom>
          <a:solidFill>
            <a:srgbClr val="560547"/>
          </a:solidFill>
          <a:ln w="12700">
            <a:solidFill>
              <a:srgbClr val="560547"/>
            </a:solidFill>
            <a:prstDash val="solid"/>
          </a:ln>
        </p:spPr>
      </p:sp>
      <p:pic>
        <p:nvPicPr>
          <p:cNvPr id="104" name="Image 6" descr="/private/tmp/claude-501/-Users-prathmeshwalimbe-Downloads-Meesho/dfec39d5-f971-4a3a-8cfb-761f4ef1fedb/scratchpad/deck/assets/icons/FaMapLocationDot_w.png">    </p:cNvPr>
          <p:cNvPicPr>
            <a:picLocks noChangeAspect="1"/>
          </p:cNvPicPr>
          <p:nvPr/>
        </p:nvPicPr>
        <p:blipFill>
          <a:blip r:embed="rId7"/>
          <a:stretch>
            <a:fillRect/>
          </a:stretch>
        </p:blipFill>
        <p:spPr>
          <a:xfrm>
            <a:off x="13002768" y="1490472"/>
            <a:ext cx="201168" cy="201168"/>
          </a:xfrm>
          <a:prstGeom prst="rect">
            <a:avLst/>
          </a:prstGeom>
        </p:spPr>
      </p:pic>
      <p:sp>
        <p:nvSpPr>
          <p:cNvPr id="105" name="Text 94"/>
          <p:cNvSpPr txBox="1"/>
          <p:nvPr/>
        </p:nvSpPr>
        <p:spPr>
          <a:xfrm>
            <a:off x="13277088" y="1426464"/>
            <a:ext cx="465429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WHERE TO PILOT · CLUSTER AHP</a:t>
            </a:r>
            <a:endParaRPr lang="en-US" sz="125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13021056" y="1847088"/>
          <a:ext cx="4910328" cy="914400"/>
        </p:xfrm>
        <a:graphic>
          <a:graphicData uri="http://schemas.openxmlformats.org/drawingml/2006/table">
            <a:tbl>
              <a:tblPr/>
              <a:tblGrid>
                <a:gridCol w="1234440"/>
                <a:gridCol w="579730"/>
                <a:gridCol w="579730"/>
                <a:gridCol w="579730"/>
                <a:gridCol w="579730"/>
                <a:gridCol w="579730"/>
                <a:gridCol w="777240"/>
              </a:tblGrid>
              <a:tr h="420624">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Cluster</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Cost</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Dem</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Ret</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Node</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Inst</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Score</a:t>
                      </a:r>
                      <a:endParaRPr lang="en-US" sz="11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420624">
                <a:tc>
                  <a:txBody>
                    <a:bodyPr/>
                    <a:lstStyle/>
                    <a:p>
                      <a:pPr algn="ctr" indent="0" marL="0">
                        <a:buNone/>
                      </a:pPr>
                      <a:r>
                        <a:rPr lang="en-US" sz="1150" b="1" dirty="0">
                          <a:solidFill>
                            <a:srgbClr val="2B1226"/>
                          </a:solidFill>
                          <a:latin typeface="Calibri" pitchFamily="34" charset="0"/>
                          <a:ea typeface="Calibri" pitchFamily="34" charset="-122"/>
                          <a:cs typeface="Calibri" pitchFamily="34" charset="-120"/>
                        </a:rPr>
                        <a:t>Tiruppur</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4.68</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420624">
                <a:tc>
                  <a:txBody>
                    <a:bodyPr/>
                    <a:lstStyle/>
                    <a:p>
                      <a:pPr algn="ctr" indent="0" marL="0">
                        <a:buNone/>
                      </a:pPr>
                      <a:r>
                        <a:rPr lang="en-US" sz="1150" b="1" dirty="0">
                          <a:solidFill>
                            <a:srgbClr val="2B1226"/>
                          </a:solidFill>
                          <a:latin typeface="Calibri" pitchFamily="34" charset="0"/>
                          <a:ea typeface="Calibri" pitchFamily="34" charset="-122"/>
                          <a:cs typeface="Calibri" pitchFamily="34" charset="-120"/>
                        </a:rPr>
                        <a:t>Panipat</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8E5A"/>
                          </a:solidFill>
                          <a:latin typeface="Calibri" pitchFamily="34" charset="0"/>
                          <a:ea typeface="Calibri" pitchFamily="34" charset="-122"/>
                          <a:cs typeface="Calibri" pitchFamily="34" charset="-120"/>
                        </a:rPr>
                        <a:t>4.52</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420624">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Ludhiana</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3.74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20624">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Rajkot</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3.70</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20624">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Surat</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1226"/>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3.28</a:t>
                      </a:r>
                      <a:endParaRPr lang="en-US" sz="11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r>
            </a:tbl>
          </a:graphicData>
        </a:graphic>
      </p:graphicFrame>
      <p:sp>
        <p:nvSpPr>
          <p:cNvPr id="107" name="Text 95"/>
          <p:cNvSpPr txBox="1"/>
          <p:nvPr/>
        </p:nvSpPr>
        <p:spPr>
          <a:xfrm>
            <a:off x="13021056" y="4544568"/>
            <a:ext cx="4910328" cy="1463040"/>
          </a:xfrm>
          <a:prstGeom prst="rect">
            <a:avLst/>
          </a:prstGeom>
          <a:noFill/>
          <a:ln/>
        </p:spPr>
        <p:txBody>
          <a:bodyPr wrap="square" lIns="0" tIns="0" rIns="0" bIns="0" rtlCol="0" anchor="t"/>
          <a:lstStyle/>
          <a:p>
            <a:pPr algn="l" indent="0" marL="0">
              <a:lnSpc>
                <a:spcPct val="100000"/>
              </a:lnSpc>
              <a:buNone/>
            </a:pPr>
            <a:r>
              <a:rPr lang="en-US" sz="1150" i="1" dirty="0">
                <a:solidFill>
                  <a:srgbClr val="7A6470"/>
                </a:solidFill>
                <a:latin typeface="Calibri" pitchFamily="34" charset="0"/>
                <a:ea typeface="Calibri" pitchFamily="34" charset="-122"/>
                <a:cs typeface="Calibri" pitchFamily="34" charset="-120"/>
              </a:rPr>
              <a:t>Criteria: cost ownership, demand on Meesho, returns band, node feasibility, institutional partner (association).</a:t>
            </a:r>
            <a:endParaRPr lang="en-US" sz="1150" dirty="0"/>
          </a:p>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 </a:t>
            </a:r>
            <a:endParaRPr lang="en-US" sz="1150" dirty="0"/>
          </a:p>
          <a:p>
            <a:pPr algn="l" indent="0" marL="0">
              <a:lnSpc>
                <a:spcPct val="100000"/>
              </a:lnSpc>
              <a:buNone/>
            </a:pPr>
            <a:r>
              <a:rPr lang="en-US" sz="1150" b="1" dirty="0">
                <a:solidFill>
                  <a:srgbClr val="560547"/>
                </a:solidFill>
                <a:latin typeface="Calibri" pitchFamily="34" charset="0"/>
                <a:ea typeface="Calibri" pitchFamily="34" charset="-122"/>
                <a:cs typeface="Calibri" pitchFamily="34" charset="-120"/>
              </a:rPr>
              <a:t>Surat passes a scale screen and fails the price screen. </a:t>
            </a:r>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Pilot where cost ownership, low returns and an association to recruit through coincide: Tiruppur (hosiery) and Panipat (home textiles).</a:t>
            </a:r>
            <a:endParaRPr lang="en-US" sz="1150" dirty="0"/>
          </a:p>
        </p:txBody>
      </p:sp>
      <p:sp>
        <p:nvSpPr>
          <p:cNvPr id="108" name="Shape 96"/>
          <p:cNvSpPr/>
          <p:nvPr/>
        </p:nvSpPr>
        <p:spPr>
          <a:xfrm>
            <a:off x="12893040" y="6126480"/>
            <a:ext cx="5166360" cy="2889504"/>
          </a:xfrm>
          <a:prstGeom prst="rect">
            <a:avLst/>
          </a:prstGeom>
          <a:solidFill>
            <a:srgbClr val="FFFFFF"/>
          </a:solidFill>
          <a:ln w="9525">
            <a:solidFill>
              <a:srgbClr val="E0CEDA"/>
            </a:solidFill>
            <a:prstDash val="solid"/>
          </a:ln>
        </p:spPr>
      </p:sp>
      <p:sp>
        <p:nvSpPr>
          <p:cNvPr id="109" name="Shape 97"/>
          <p:cNvSpPr/>
          <p:nvPr/>
        </p:nvSpPr>
        <p:spPr>
          <a:xfrm>
            <a:off x="12893040" y="6126480"/>
            <a:ext cx="5166360" cy="329184"/>
          </a:xfrm>
          <a:prstGeom prst="rect">
            <a:avLst/>
          </a:prstGeom>
          <a:solidFill>
            <a:srgbClr val="8A245E"/>
          </a:solidFill>
          <a:ln w="12700">
            <a:solidFill>
              <a:srgbClr val="8A245E"/>
            </a:solidFill>
            <a:prstDash val="solid"/>
          </a:ln>
        </p:spPr>
      </p:sp>
      <p:pic>
        <p:nvPicPr>
          <p:cNvPr id="110" name="Image 7" descr="/private/tmp/claude-501/-Users-prathmeshwalimbe-Downloads-Meesho/dfec39d5-f971-4a3a-8cfb-761f4ef1fedb/scratchpad/deck/assets/icons/FaRocket_w.png">    </p:cNvPr>
          <p:cNvPicPr>
            <a:picLocks noChangeAspect="1"/>
          </p:cNvPicPr>
          <p:nvPr/>
        </p:nvPicPr>
        <p:blipFill>
          <a:blip r:embed="rId8"/>
          <a:stretch>
            <a:fillRect/>
          </a:stretch>
        </p:blipFill>
        <p:spPr>
          <a:xfrm>
            <a:off x="13002768" y="6190488"/>
            <a:ext cx="201168" cy="201168"/>
          </a:xfrm>
          <a:prstGeom prst="rect">
            <a:avLst/>
          </a:prstGeom>
        </p:spPr>
      </p:pic>
      <p:sp>
        <p:nvSpPr>
          <p:cNvPr id="111" name="Text 98"/>
          <p:cNvSpPr txBox="1"/>
          <p:nvPr/>
        </p:nvSpPr>
        <p:spPr>
          <a:xfrm>
            <a:off x="13277088" y="6126480"/>
            <a:ext cx="465429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10X · THE C2M FLYWHEEL</a:t>
            </a:r>
            <a:endParaRPr lang="en-US" sz="1250" dirty="0"/>
          </a:p>
        </p:txBody>
      </p:sp>
      <p:sp>
        <p:nvSpPr>
          <p:cNvPr id="112" name="Shape 99"/>
          <p:cNvSpPr/>
          <p:nvPr/>
        </p:nvSpPr>
        <p:spPr>
          <a:xfrm>
            <a:off x="16271748" y="7027394"/>
            <a:ext cx="104754" cy="34346"/>
          </a:xfrm>
          <a:prstGeom prst="line">
            <a:avLst/>
          </a:prstGeom>
          <a:noFill/>
          <a:ln w="19050">
            <a:solidFill>
              <a:srgbClr val="8A245E"/>
            </a:solidFill>
            <a:prstDash val="solid"/>
            <a:tailEnd type="triangle"/>
          </a:ln>
        </p:spPr>
      </p:sp>
      <p:sp>
        <p:nvSpPr>
          <p:cNvPr id="113" name="Shape 100"/>
          <p:cNvSpPr/>
          <p:nvPr/>
        </p:nvSpPr>
        <p:spPr>
          <a:xfrm flipH="1">
            <a:off x="16728380" y="7606039"/>
            <a:ext cx="239558" cy="332723"/>
          </a:xfrm>
          <a:prstGeom prst="line">
            <a:avLst/>
          </a:prstGeom>
          <a:noFill/>
          <a:ln w="19050">
            <a:solidFill>
              <a:srgbClr val="8A245E"/>
            </a:solidFill>
            <a:prstDash val="solid"/>
            <a:tailEnd type="triangle"/>
          </a:ln>
        </p:spPr>
      </p:sp>
      <p:sp>
        <p:nvSpPr>
          <p:cNvPr id="114" name="Shape 101"/>
          <p:cNvSpPr/>
          <p:nvPr/>
        </p:nvSpPr>
        <p:spPr>
          <a:xfrm flipH="1">
            <a:off x="15223680" y="8222225"/>
            <a:ext cx="505080" cy="914"/>
          </a:xfrm>
          <a:prstGeom prst="line">
            <a:avLst/>
          </a:prstGeom>
          <a:noFill/>
          <a:ln w="19050">
            <a:solidFill>
              <a:srgbClr val="8A245E"/>
            </a:solidFill>
            <a:prstDash val="solid"/>
            <a:tailEnd type="triangle"/>
          </a:ln>
        </p:spPr>
      </p:sp>
      <p:sp>
        <p:nvSpPr>
          <p:cNvPr id="115" name="Shape 102"/>
          <p:cNvSpPr/>
          <p:nvPr/>
        </p:nvSpPr>
        <p:spPr>
          <a:xfrm flipH="1" flipV="1">
            <a:off x="13984502" y="7606039"/>
            <a:ext cx="239558" cy="332723"/>
          </a:xfrm>
          <a:prstGeom prst="line">
            <a:avLst/>
          </a:prstGeom>
          <a:noFill/>
          <a:ln w="19050">
            <a:solidFill>
              <a:srgbClr val="8A245E"/>
            </a:solidFill>
            <a:prstDash val="solid"/>
            <a:tailEnd type="triangle"/>
          </a:ln>
        </p:spPr>
      </p:sp>
      <p:sp>
        <p:nvSpPr>
          <p:cNvPr id="116" name="Shape 103"/>
          <p:cNvSpPr/>
          <p:nvPr/>
        </p:nvSpPr>
        <p:spPr>
          <a:xfrm flipV="1">
            <a:off x="14575938" y="7027394"/>
            <a:ext cx="104754" cy="34346"/>
          </a:xfrm>
          <a:prstGeom prst="line">
            <a:avLst/>
          </a:prstGeom>
          <a:noFill/>
          <a:ln w="19050">
            <a:solidFill>
              <a:srgbClr val="8A245E"/>
            </a:solidFill>
            <a:prstDash val="solid"/>
            <a:tailEnd type="triangle"/>
          </a:ln>
        </p:spPr>
      </p:sp>
      <p:sp>
        <p:nvSpPr>
          <p:cNvPr id="117" name="Shape 104"/>
          <p:cNvSpPr/>
          <p:nvPr/>
        </p:nvSpPr>
        <p:spPr>
          <a:xfrm>
            <a:off x="14735556" y="6537960"/>
            <a:ext cx="1481328" cy="457200"/>
          </a:xfrm>
          <a:prstGeom prst="roundRect">
            <a:avLst>
              <a:gd name="adj" fmla="val 12000"/>
            </a:avLst>
          </a:prstGeom>
          <a:solidFill>
            <a:srgbClr val="FF9D00"/>
          </a:solidFill>
          <a:ln w="12700">
            <a:solidFill>
              <a:srgbClr val="FF9D00"/>
            </a:solidFill>
            <a:prstDash val="solid"/>
          </a:ln>
        </p:spPr>
      </p:sp>
      <p:sp>
        <p:nvSpPr>
          <p:cNvPr id="118" name="Text 105"/>
          <p:cNvSpPr txBox="1"/>
          <p:nvPr/>
        </p:nvSpPr>
        <p:spPr>
          <a:xfrm>
            <a:off x="14781276" y="6537960"/>
            <a:ext cx="1389888" cy="457200"/>
          </a:xfrm>
          <a:prstGeom prst="rect">
            <a:avLst/>
          </a:prstGeom>
          <a:noFill/>
          <a:ln/>
        </p:spPr>
        <p:txBody>
          <a:bodyPr wrap="square" lIns="0" tIns="0" rIns="0" bIns="0" rtlCol="0" anchor="ctr"/>
          <a:lstStyle/>
          <a:p>
            <a:pPr algn="ctr" indent="0" marL="0">
              <a:lnSpc>
                <a:spcPct val="100000"/>
              </a:lnSpc>
              <a:buNone/>
            </a:pPr>
            <a:r>
              <a:rPr lang="en-US" sz="1000" b="1" dirty="0">
                <a:solidFill>
                  <a:srgbClr val="560547"/>
                </a:solidFill>
                <a:latin typeface="Calibri" pitchFamily="34" charset="0"/>
                <a:ea typeface="Calibri" pitchFamily="34" charset="-122"/>
                <a:cs typeface="Calibri" pitchFamily="34" charset="-120"/>
              </a:rPr>
              <a:t>Factories price 8%+ below market</a:t>
            </a:r>
            <a:endParaRPr lang="en-US" sz="1000" dirty="0"/>
          </a:p>
        </p:txBody>
      </p:sp>
      <p:sp>
        <p:nvSpPr>
          <p:cNvPr id="119" name="Shape 106"/>
          <p:cNvSpPr/>
          <p:nvPr/>
        </p:nvSpPr>
        <p:spPr>
          <a:xfrm>
            <a:off x="16431366" y="7093975"/>
            <a:ext cx="1481328" cy="457200"/>
          </a:xfrm>
          <a:prstGeom prst="roundRect">
            <a:avLst>
              <a:gd name="adj" fmla="val 12000"/>
            </a:avLst>
          </a:prstGeom>
          <a:solidFill>
            <a:srgbClr val="F2E4EE"/>
          </a:solidFill>
          <a:ln w="12700">
            <a:solidFill>
              <a:srgbClr val="F2E4EE"/>
            </a:solidFill>
            <a:prstDash val="solid"/>
          </a:ln>
        </p:spPr>
      </p:sp>
      <p:sp>
        <p:nvSpPr>
          <p:cNvPr id="120" name="Text 107"/>
          <p:cNvSpPr txBox="1"/>
          <p:nvPr/>
        </p:nvSpPr>
        <p:spPr>
          <a:xfrm>
            <a:off x="16477086" y="7093975"/>
            <a:ext cx="1389888" cy="457200"/>
          </a:xfrm>
          <a:prstGeom prst="rect">
            <a:avLst/>
          </a:prstGeom>
          <a:noFill/>
          <a:ln/>
        </p:spPr>
        <p:txBody>
          <a:bodyPr wrap="square" lIns="0" tIns="0" rIns="0" bIns="0" rtlCol="0" anchor="ctr"/>
          <a:lstStyle/>
          <a:p>
            <a:pPr algn="ctr" indent="0" marL="0">
              <a:lnSpc>
                <a:spcPct val="100000"/>
              </a:lnSpc>
              <a:buNone/>
            </a:pPr>
            <a:r>
              <a:rPr lang="en-US" sz="1000" b="1" dirty="0">
                <a:solidFill>
                  <a:srgbClr val="560547"/>
                </a:solidFill>
                <a:latin typeface="Calibri" pitchFamily="34" charset="0"/>
                <a:ea typeface="Calibri" pitchFamily="34" charset="-122"/>
                <a:cs typeface="Calibri" pitchFamily="34" charset="-120"/>
              </a:rPr>
              <a:t>Badge + briefs bring orders</a:t>
            </a:r>
            <a:endParaRPr lang="en-US" sz="1000" dirty="0"/>
          </a:p>
        </p:txBody>
      </p:sp>
      <p:sp>
        <p:nvSpPr>
          <p:cNvPr id="121" name="Shape 108"/>
          <p:cNvSpPr/>
          <p:nvPr/>
        </p:nvSpPr>
        <p:spPr>
          <a:xfrm>
            <a:off x="15783624" y="7993625"/>
            <a:ext cx="1481328" cy="457200"/>
          </a:xfrm>
          <a:prstGeom prst="roundRect">
            <a:avLst>
              <a:gd name="adj" fmla="val 12000"/>
            </a:avLst>
          </a:prstGeom>
          <a:solidFill>
            <a:srgbClr val="F2E4EE"/>
          </a:solidFill>
          <a:ln w="12700">
            <a:solidFill>
              <a:srgbClr val="F2E4EE"/>
            </a:solidFill>
            <a:prstDash val="solid"/>
          </a:ln>
        </p:spPr>
      </p:sp>
      <p:sp>
        <p:nvSpPr>
          <p:cNvPr id="122" name="Text 109"/>
          <p:cNvSpPr txBox="1"/>
          <p:nvPr/>
        </p:nvSpPr>
        <p:spPr>
          <a:xfrm>
            <a:off x="15829344" y="7993625"/>
            <a:ext cx="1389888" cy="457200"/>
          </a:xfrm>
          <a:prstGeom prst="rect">
            <a:avLst/>
          </a:prstGeom>
          <a:noFill/>
          <a:ln/>
        </p:spPr>
        <p:txBody>
          <a:bodyPr wrap="square" lIns="0" tIns="0" rIns="0" bIns="0" rtlCol="0" anchor="ctr"/>
          <a:lstStyle/>
          <a:p>
            <a:pPr algn="ctr" indent="0" marL="0">
              <a:lnSpc>
                <a:spcPct val="100000"/>
              </a:lnSpc>
              <a:buNone/>
            </a:pPr>
            <a:r>
              <a:rPr lang="en-US" sz="1000" b="1" dirty="0">
                <a:solidFill>
                  <a:srgbClr val="560547"/>
                </a:solidFill>
                <a:latin typeface="Calibri" pitchFamily="34" charset="0"/>
                <a:ea typeface="Calibri" pitchFamily="34" charset="-122"/>
                <a:cs typeface="Calibri" pitchFamily="34" charset="-120"/>
              </a:rPr>
              <a:t>Batches fill idle capacity</a:t>
            </a:r>
            <a:endParaRPr lang="en-US" sz="1000" dirty="0"/>
          </a:p>
        </p:txBody>
      </p:sp>
      <p:sp>
        <p:nvSpPr>
          <p:cNvPr id="123" name="Shape 110"/>
          <p:cNvSpPr/>
          <p:nvPr/>
        </p:nvSpPr>
        <p:spPr>
          <a:xfrm>
            <a:off x="13687488" y="7993625"/>
            <a:ext cx="1481328" cy="457200"/>
          </a:xfrm>
          <a:prstGeom prst="roundRect">
            <a:avLst>
              <a:gd name="adj" fmla="val 12000"/>
            </a:avLst>
          </a:prstGeom>
          <a:solidFill>
            <a:srgbClr val="F2E4EE"/>
          </a:solidFill>
          <a:ln w="12700">
            <a:solidFill>
              <a:srgbClr val="F2E4EE"/>
            </a:solidFill>
            <a:prstDash val="solid"/>
          </a:ln>
        </p:spPr>
      </p:sp>
      <p:sp>
        <p:nvSpPr>
          <p:cNvPr id="124" name="Text 111"/>
          <p:cNvSpPr txBox="1"/>
          <p:nvPr/>
        </p:nvSpPr>
        <p:spPr>
          <a:xfrm>
            <a:off x="13733208" y="7993625"/>
            <a:ext cx="1389888" cy="457200"/>
          </a:xfrm>
          <a:prstGeom prst="rect">
            <a:avLst/>
          </a:prstGeom>
          <a:noFill/>
          <a:ln/>
        </p:spPr>
        <p:txBody>
          <a:bodyPr wrap="square" lIns="0" tIns="0" rIns="0" bIns="0" rtlCol="0" anchor="ctr"/>
          <a:lstStyle/>
          <a:p>
            <a:pPr algn="ctr" indent="0" marL="0">
              <a:lnSpc>
                <a:spcPct val="100000"/>
              </a:lnSpc>
              <a:buNone/>
            </a:pPr>
            <a:r>
              <a:rPr lang="en-US" sz="1000" b="1" dirty="0">
                <a:solidFill>
                  <a:srgbClr val="560547"/>
                </a:solidFill>
                <a:latin typeface="Calibri" pitchFamily="34" charset="0"/>
                <a:ea typeface="Calibri" pitchFamily="34" charset="-122"/>
                <a:cs typeface="Calibri" pitchFamily="34" charset="-120"/>
              </a:rPr>
              <a:t>Volume lowers unit cost</a:t>
            </a:r>
            <a:endParaRPr lang="en-US" sz="1000" dirty="0"/>
          </a:p>
        </p:txBody>
      </p:sp>
      <p:sp>
        <p:nvSpPr>
          <p:cNvPr id="125" name="Shape 112"/>
          <p:cNvSpPr/>
          <p:nvPr/>
        </p:nvSpPr>
        <p:spPr>
          <a:xfrm>
            <a:off x="13039746" y="7093975"/>
            <a:ext cx="1481328" cy="457200"/>
          </a:xfrm>
          <a:prstGeom prst="roundRect">
            <a:avLst>
              <a:gd name="adj" fmla="val 12000"/>
            </a:avLst>
          </a:prstGeom>
          <a:solidFill>
            <a:srgbClr val="F2E4EE"/>
          </a:solidFill>
          <a:ln w="12700">
            <a:solidFill>
              <a:srgbClr val="F2E4EE"/>
            </a:solidFill>
            <a:prstDash val="solid"/>
          </a:ln>
        </p:spPr>
      </p:sp>
      <p:sp>
        <p:nvSpPr>
          <p:cNvPr id="126" name="Text 113"/>
          <p:cNvSpPr txBox="1"/>
          <p:nvPr/>
        </p:nvSpPr>
        <p:spPr>
          <a:xfrm>
            <a:off x="13085466" y="7093975"/>
            <a:ext cx="1389888" cy="457200"/>
          </a:xfrm>
          <a:prstGeom prst="rect">
            <a:avLst/>
          </a:prstGeom>
          <a:noFill/>
          <a:ln/>
        </p:spPr>
        <p:txBody>
          <a:bodyPr wrap="square" lIns="0" tIns="0" rIns="0" bIns="0" rtlCol="0" anchor="ctr"/>
          <a:lstStyle/>
          <a:p>
            <a:pPr algn="ctr" indent="0" marL="0">
              <a:lnSpc>
                <a:spcPct val="100000"/>
              </a:lnSpc>
              <a:buNone/>
            </a:pPr>
            <a:r>
              <a:rPr lang="en-US" sz="1000" b="1" dirty="0">
                <a:solidFill>
                  <a:srgbClr val="560547"/>
                </a:solidFill>
                <a:latin typeface="Calibri" pitchFamily="34" charset="0"/>
                <a:ea typeface="Calibri" pitchFamily="34" charset="-122"/>
                <a:cs typeface="Calibri" pitchFamily="34" charset="-120"/>
              </a:rPr>
              <a:t>Market median falls for everyone</a:t>
            </a:r>
            <a:endParaRPr lang="en-US" sz="1000" dirty="0"/>
          </a:p>
        </p:txBody>
      </p:sp>
      <p:sp>
        <p:nvSpPr>
          <p:cNvPr id="127" name="Text 114"/>
          <p:cNvSpPr txBox="1"/>
          <p:nvPr/>
        </p:nvSpPr>
        <p:spPr>
          <a:xfrm>
            <a:off x="14836140" y="7443216"/>
            <a:ext cx="1280160" cy="256032"/>
          </a:xfrm>
          <a:prstGeom prst="rect">
            <a:avLst/>
          </a:prstGeom>
          <a:noFill/>
          <a:ln/>
        </p:spPr>
        <p:txBody>
          <a:bodyPr wrap="square" lIns="0" tIns="0" rIns="0" bIns="0" rtlCol="0" anchor="ctr"/>
          <a:lstStyle/>
          <a:p>
            <a:pPr algn="ctr" indent="0" marL="0">
              <a:lnSpc>
                <a:spcPct val="100000"/>
              </a:lnSpc>
              <a:buNone/>
            </a:pPr>
            <a:r>
              <a:rPr lang="en-US" sz="1000" b="1" spc="200" kern="0" dirty="0">
                <a:solidFill>
                  <a:srgbClr val="7A6470"/>
                </a:solidFill>
                <a:latin typeface="Arial" pitchFamily="34" charset="0"/>
                <a:ea typeface="Arial" pitchFamily="34" charset="-122"/>
                <a:cs typeface="Arial" pitchFamily="34" charset="-120"/>
              </a:rPr>
              <a:t>COMPOUNDS</a:t>
            </a:r>
            <a:endParaRPr lang="en-US" sz="1000" dirty="0"/>
          </a:p>
        </p:txBody>
      </p:sp>
      <p:sp>
        <p:nvSpPr>
          <p:cNvPr id="128" name="Text 115"/>
          <p:cNvSpPr txBox="1"/>
          <p:nvPr/>
        </p:nvSpPr>
        <p:spPr>
          <a:xfrm>
            <a:off x="13021056" y="8577072"/>
            <a:ext cx="4910328" cy="457200"/>
          </a:xfrm>
          <a:prstGeom prst="rect">
            <a:avLst/>
          </a:prstGeom>
          <a:noFill/>
          <a:ln/>
        </p:spPr>
        <p:txBody>
          <a:bodyPr wrap="square" lIns="0" tIns="0" rIns="0" bIns="0" rtlCol="0" anchor="t"/>
          <a:lstStyle/>
          <a:p>
            <a:pPr algn="l" indent="0" marL="0">
              <a:lnSpc>
                <a:spcPct val="100000"/>
              </a:lnSpc>
              <a:buNone/>
            </a:pPr>
            <a:r>
              <a:rPr lang="en-US" sz="1050" b="1" dirty="0">
                <a:solidFill>
                  <a:srgbClr val="560547"/>
                </a:solidFill>
                <a:latin typeface="Calibri" pitchFamily="34" charset="0"/>
                <a:ea typeface="Calibri" pitchFamily="34" charset="-122"/>
                <a:cs typeface="Calibri" pitchFamily="34" charset="-120"/>
              </a:rPr>
              <a:t>Every lap lowers the median resellers are measured against. </a:t>
            </a:r>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The price edge compounds instead of being paid for.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413662"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297326" y="182880"/>
            <a:ext cx="1413662"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33390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4765853" y="182880"/>
            <a:ext cx="1413662" cy="502920"/>
          </a:xfrm>
          <a:prstGeom prst="roundRect">
            <a:avLst>
              <a:gd name="adj" fmla="val 14545"/>
            </a:avLst>
          </a:prstGeom>
          <a:solidFill>
            <a:srgbClr val="560547"/>
          </a:solidFill>
          <a:ln w="9525">
            <a:solidFill>
              <a:srgbClr val="560547"/>
            </a:solidFill>
            <a:prstDash val="solid"/>
          </a:ln>
        </p:spPr>
      </p:sp>
      <p:sp>
        <p:nvSpPr>
          <p:cNvPr id="10" name="Text 6"/>
          <p:cNvSpPr txBox="1"/>
          <p:nvPr/>
        </p:nvSpPr>
        <p:spPr>
          <a:xfrm>
            <a:off x="4802429"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234379" y="182880"/>
            <a:ext cx="1413662"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270955"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7702906" y="182880"/>
            <a:ext cx="1413662"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773948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171432" y="182880"/>
            <a:ext cx="1413662"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9208008"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0639958" y="182880"/>
            <a:ext cx="1413662"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067653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2108485" y="182880"/>
            <a:ext cx="1413662"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2145061"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3577011" y="182880"/>
            <a:ext cx="1413662"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3613587"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OPERATING MODEL</a:t>
            </a:r>
            <a:endParaRPr lang="en-US" sz="950" dirty="0"/>
          </a:p>
        </p:txBody>
      </p:sp>
      <p:sp>
        <p:nvSpPr>
          <p:cNvPr id="23" name="Shape 19"/>
          <p:cNvSpPr/>
          <p:nvPr/>
        </p:nvSpPr>
        <p:spPr>
          <a:xfrm>
            <a:off x="15045538" y="182880"/>
            <a:ext cx="1413662" cy="502920"/>
          </a:xfrm>
          <a:prstGeom prst="roundRect">
            <a:avLst>
              <a:gd name="adj" fmla="val 14545"/>
            </a:avLst>
          </a:prstGeom>
          <a:solidFill>
            <a:srgbClr val="FFFFFF"/>
          </a:solidFill>
          <a:ln w="9525">
            <a:solidFill>
              <a:srgbClr val="E0CEDA"/>
            </a:solidFill>
            <a:prstDash val="solid"/>
          </a:ln>
        </p:spPr>
      </p:sp>
      <p:sp>
        <p:nvSpPr>
          <p:cNvPr id="24" name="Text 20"/>
          <p:cNvSpPr txBox="1"/>
          <p:nvPr/>
        </p:nvSpPr>
        <p:spPr>
          <a:xfrm>
            <a:off x="1508211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10 · PROTOTYPE</a:t>
            </a:r>
            <a:endParaRPr lang="en-US" sz="950" dirty="0"/>
          </a:p>
        </p:txBody>
      </p:sp>
      <p:sp>
        <p:nvSpPr>
          <p:cNvPr id="25" name="Shape 21"/>
          <p:cNvSpPr/>
          <p:nvPr/>
        </p:nvSpPr>
        <p:spPr>
          <a:xfrm>
            <a:off x="228600" y="987552"/>
            <a:ext cx="384048" cy="8083296"/>
          </a:xfrm>
          <a:prstGeom prst="rect">
            <a:avLst/>
          </a:prstGeom>
          <a:solidFill>
            <a:srgbClr val="6E1251"/>
          </a:solidFill>
          <a:ln w="12700">
            <a:solidFill>
              <a:srgbClr val="6E1251"/>
            </a:solidFill>
            <a:prstDash val="solid"/>
          </a:ln>
        </p:spPr>
      </p:sp>
      <p:sp>
        <p:nvSpPr>
          <p:cNvPr id="26" name="Text 22"/>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WHERE PRICE IS REAL</a:t>
            </a:r>
            <a:endParaRPr lang="en-US" sz="1200" dirty="0"/>
          </a:p>
        </p:txBody>
      </p:sp>
      <p:sp>
        <p:nvSpPr>
          <p:cNvPr id="27" name="Text 23"/>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Q3 · Which manufacturers and categories carry a genuine, defensible price advantage, and which do not despite scale?</a:t>
            </a:r>
            <a:endParaRPr lang="en-US" sz="1700" dirty="0"/>
          </a:p>
        </p:txBody>
      </p:sp>
      <p:sp>
        <p:nvSpPr>
          <p:cNvPr id="28" name="Text 24"/>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Sources: Round 1 segment scorecard and platform teardown; seller-guide return fees (Shiprocket, Robnu, 2026). Prototype figures come from synthetic, seeded data (fictional sellers) and demonstrate the method, not Meesho’s actual distribution.</a:t>
            </a:r>
            <a:endParaRPr lang="en-US" sz="1000" dirty="0"/>
          </a:p>
        </p:txBody>
      </p:sp>
      <p:sp>
        <p:nvSpPr>
          <p:cNvPr id="29" name="Shape 25"/>
          <p:cNvSpPr/>
          <p:nvPr/>
        </p:nvSpPr>
        <p:spPr>
          <a:xfrm>
            <a:off x="228600" y="9400032"/>
            <a:ext cx="17830800" cy="603504"/>
          </a:xfrm>
          <a:prstGeom prst="rect">
            <a:avLst/>
          </a:prstGeom>
          <a:solidFill>
            <a:srgbClr val="560547"/>
          </a:solidFill>
          <a:ln w="12700">
            <a:solidFill>
              <a:srgbClr val="560547"/>
            </a:solidFill>
            <a:prstDash val="solid"/>
          </a:ln>
        </p:spPr>
      </p:sp>
      <p:sp>
        <p:nvSpPr>
          <p:cNvPr id="30" name="Shape 26"/>
          <p:cNvSpPr/>
          <p:nvPr/>
        </p:nvSpPr>
        <p:spPr>
          <a:xfrm>
            <a:off x="411480" y="9592056"/>
            <a:ext cx="219456" cy="219456"/>
          </a:xfrm>
          <a:prstGeom prst="rect">
            <a:avLst/>
          </a:prstGeom>
          <a:solidFill>
            <a:srgbClr val="FF9D00"/>
          </a:solidFill>
          <a:ln w="12700">
            <a:solidFill>
              <a:srgbClr val="FF9D00"/>
            </a:solidFill>
            <a:prstDash val="solid"/>
          </a:ln>
        </p:spPr>
      </p:sp>
      <p:sp>
        <p:nvSpPr>
          <p:cNvPr id="31" name="Text 27"/>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Screen on price, not size: badge a catalogue only when ≥ 60% of its live SKUs sit ≥ 8% below the comparable-set median. In the prototype, 7 of the 10 largest sellers fail that test.</a:t>
            </a:r>
            <a:endParaRPr lang="en-US" sz="1400" dirty="0"/>
          </a:p>
        </p:txBody>
      </p:sp>
      <p:pic>
        <p:nvPicPr>
          <p:cNvPr id="32"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4" name="Shape 28"/>
          <p:cNvSpPr/>
          <p:nvPr/>
        </p:nvSpPr>
        <p:spPr>
          <a:xfrm>
            <a:off x="749808" y="1426464"/>
            <a:ext cx="6629400" cy="5074920"/>
          </a:xfrm>
          <a:prstGeom prst="rect">
            <a:avLst/>
          </a:prstGeom>
          <a:solidFill>
            <a:srgbClr val="FFFFFF"/>
          </a:solidFill>
          <a:ln w="9525">
            <a:solidFill>
              <a:srgbClr val="E0CEDA"/>
            </a:solidFill>
            <a:prstDash val="solid"/>
          </a:ln>
        </p:spPr>
      </p:sp>
      <p:sp>
        <p:nvSpPr>
          <p:cNvPr id="35" name="Shape 29"/>
          <p:cNvSpPr/>
          <p:nvPr/>
        </p:nvSpPr>
        <p:spPr>
          <a:xfrm>
            <a:off x="749808" y="1426464"/>
            <a:ext cx="6629400" cy="329184"/>
          </a:xfrm>
          <a:prstGeom prst="rect">
            <a:avLst/>
          </a:prstGeom>
          <a:solidFill>
            <a:srgbClr val="560547"/>
          </a:solidFill>
          <a:ln w="12700">
            <a:solidFill>
              <a:srgbClr val="560547"/>
            </a:solidFill>
            <a:prstDash val="solid"/>
          </a:ln>
        </p:spPr>
      </p:sp>
      <p:pic>
        <p:nvPicPr>
          <p:cNvPr id="36" name="Image 3" descr="/private/tmp/claude-501/-Users-prathmeshwalimbe-Downloads-Meesho/dfec39d5-f971-4a3a-8cfb-761f4ef1fedb/scratchpad/deck/assets/icons/FaMagnifyingGlassChart_w.png">    </p:cNvPr>
          <p:cNvPicPr>
            <a:picLocks noChangeAspect="1"/>
          </p:cNvPicPr>
          <p:nvPr/>
        </p:nvPicPr>
        <p:blipFill>
          <a:blip r:embed="rId4"/>
          <a:stretch>
            <a:fillRect/>
          </a:stretch>
        </p:blipFill>
        <p:spPr>
          <a:xfrm>
            <a:off x="859536" y="1490472"/>
            <a:ext cx="201168" cy="201168"/>
          </a:xfrm>
          <a:prstGeom prst="rect">
            <a:avLst/>
          </a:prstGeom>
        </p:spPr>
      </p:pic>
      <p:sp>
        <p:nvSpPr>
          <p:cNvPr id="37" name="Text 30"/>
          <p:cNvSpPr txBox="1"/>
          <p:nvPr/>
        </p:nvSpPr>
        <p:spPr>
          <a:xfrm>
            <a:off x="1133856" y="1426464"/>
            <a:ext cx="611733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CATEGORY SCREEN · 12 SCREENED, 9 IN SCOPE</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77824" y="1847088"/>
          <a:ext cx="6373368" cy="914400"/>
        </p:xfrm>
        <a:graphic>
          <a:graphicData uri="http://schemas.openxmlformats.org/drawingml/2006/table">
            <a:tbl>
              <a:tblPr/>
              <a:tblGrid>
                <a:gridCol w="2606040"/>
                <a:gridCol w="1783080"/>
                <a:gridCol w="502920"/>
                <a:gridCol w="502920"/>
                <a:gridCol w="502920"/>
                <a:gridCol w="475488"/>
              </a:tblGrid>
              <a:tr h="310896">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Category</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Cluster</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Floor</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Idle</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Frt.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Unstitched saree &amp; dress material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Erode, Bhiwandi</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Home textiles: sheets, towels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Panipat, Solapur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Hosiery, innerwear, socks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Tiruppur, Ludhiana</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Moulded plastic housewares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Rajkot, Daman</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Imitation jewellery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Rajkot, Coimbatore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Steel kitchenware, utensils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Jagadhri, Wazirpur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Basic footwear, PU/EVA</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Agra, Bahadurgarh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Brass décor &amp; lighting</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Moradabad</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r>
              <a:tr h="310896">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Bags, school bags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Nangloi, Kolkata</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10896">
                <a:tc>
                  <a:txBody>
                    <a:bodyPr/>
                    <a:lstStyle/>
                    <a:p>
                      <a:pPr algn="l" indent="0" marL="0">
                        <a:buNone/>
                      </a:pPr>
                      <a:r>
                        <a:rPr lang="en-US" sz="1050" dirty="0">
                          <a:solidFill>
                            <a:srgbClr val="C0392B"/>
                          </a:solidFill>
                          <a:latin typeface="Calibri" pitchFamily="34" charset="0"/>
                          <a:ea typeface="Calibri" pitchFamily="34" charset="-122"/>
                          <a:cs typeface="Calibri" pitchFamily="34" charset="-120"/>
                        </a:rPr>
                        <a:t>Ethnic wear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Surat (largest)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10896">
                <a:tc>
                  <a:txBody>
                    <a:bodyPr/>
                    <a:lstStyle/>
                    <a:p>
                      <a:pPr algn="l" indent="0" marL="0">
                        <a:buNone/>
                      </a:pPr>
                      <a:r>
                        <a:rPr lang="en-US" sz="1050" dirty="0">
                          <a:solidFill>
                            <a:srgbClr val="C0392B"/>
                          </a:solidFill>
                          <a:latin typeface="Calibri" pitchFamily="34" charset="0"/>
                          <a:ea typeface="Calibri" pitchFamily="34" charset="-122"/>
                          <a:cs typeface="Calibri" pitchFamily="34" charset="-120"/>
                        </a:rPr>
                        <a:t>Fitted western, jeans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Gandhi Nagar, Bengaluru</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10896">
                <a:tc>
                  <a:txBody>
                    <a:bodyPr/>
                    <a:lstStyle/>
                    <a:p>
                      <a:pPr algn="l" indent="0" marL="0">
                        <a:buNone/>
                      </a:pPr>
                      <a:r>
                        <a:rPr lang="en-US" sz="1050" dirty="0">
                          <a:solidFill>
                            <a:srgbClr val="C0392B"/>
                          </a:solidFill>
                          <a:latin typeface="Calibri" pitchFamily="34" charset="0"/>
                          <a:ea typeface="Calibri" pitchFamily="34" charset="-122"/>
                          <a:cs typeface="Calibri" pitchFamily="34" charset="-120"/>
                        </a:rPr>
                        <a:t>Electronics accessories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import-assembly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bl>
          </a:graphicData>
        </a:graphic>
      </p:graphicFrame>
      <p:sp>
        <p:nvSpPr>
          <p:cNvPr id="39" name="Text 31"/>
          <p:cNvSpPr txBox="1"/>
          <p:nvPr/>
        </p:nvSpPr>
        <p:spPr>
          <a:xfrm>
            <a:off x="877824" y="5943600"/>
            <a:ext cx="6373368" cy="457200"/>
          </a:xfrm>
          <a:prstGeom prst="rect">
            <a:avLst/>
          </a:prstGeom>
          <a:noFill/>
          <a:ln/>
        </p:spPr>
        <p:txBody>
          <a:bodyPr wrap="square" lIns="0" tIns="0" rIns="0" bIns="0" rtlCol="0" anchor="t"/>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Floor = cost floor below the market median · Idle = spare capacity · Ret. = low return band · Frt. = freight per rupee of value. Rows 10–12 fail two tests: not now.</a:t>
            </a:r>
            <a:endParaRPr lang="en-US" sz="1000" dirty="0"/>
          </a:p>
        </p:txBody>
      </p:sp>
      <p:sp>
        <p:nvSpPr>
          <p:cNvPr id="40" name="Shape 32"/>
          <p:cNvSpPr/>
          <p:nvPr/>
        </p:nvSpPr>
        <p:spPr>
          <a:xfrm>
            <a:off x="749808" y="6620256"/>
            <a:ext cx="6629400" cy="2395728"/>
          </a:xfrm>
          <a:prstGeom prst="rect">
            <a:avLst/>
          </a:prstGeom>
          <a:solidFill>
            <a:srgbClr val="FFFFFF"/>
          </a:solidFill>
          <a:ln w="9525">
            <a:solidFill>
              <a:srgbClr val="E0CEDA"/>
            </a:solidFill>
            <a:prstDash val="solid"/>
          </a:ln>
        </p:spPr>
      </p:sp>
      <p:sp>
        <p:nvSpPr>
          <p:cNvPr id="41" name="Shape 33"/>
          <p:cNvSpPr/>
          <p:nvPr/>
        </p:nvSpPr>
        <p:spPr>
          <a:xfrm>
            <a:off x="749808" y="6620256"/>
            <a:ext cx="6629400" cy="329184"/>
          </a:xfrm>
          <a:prstGeom prst="rect">
            <a:avLst/>
          </a:prstGeom>
          <a:solidFill>
            <a:srgbClr val="8A245E"/>
          </a:solidFill>
          <a:ln w="12700">
            <a:solidFill>
              <a:srgbClr val="8A245E"/>
            </a:solidFill>
            <a:prstDash val="solid"/>
          </a:ln>
        </p:spPr>
      </p:sp>
      <p:pic>
        <p:nvPicPr>
          <p:cNvPr id="42" name="Image 4" descr="/private/tmp/claude-501/-Users-prathmeshwalimbe-Downloads-Meesho/dfec39d5-f971-4a3a-8cfb-761f4ef1fedb/scratchpad/deck/assets/icons/FaRotateLeft_w.png">    </p:cNvPr>
          <p:cNvPicPr>
            <a:picLocks noChangeAspect="1"/>
          </p:cNvPicPr>
          <p:nvPr/>
        </p:nvPicPr>
        <p:blipFill>
          <a:blip r:embed="rId5"/>
          <a:stretch>
            <a:fillRect/>
          </a:stretch>
        </p:blipFill>
        <p:spPr>
          <a:xfrm>
            <a:off x="859536" y="6684264"/>
            <a:ext cx="201168" cy="201168"/>
          </a:xfrm>
          <a:prstGeom prst="rect">
            <a:avLst/>
          </a:prstGeom>
        </p:spPr>
      </p:pic>
      <p:sp>
        <p:nvSpPr>
          <p:cNvPr id="43" name="Text 34"/>
          <p:cNvSpPr txBox="1"/>
          <p:nvPr/>
        </p:nvSpPr>
        <p:spPr>
          <a:xfrm>
            <a:off x="1133856" y="6620256"/>
            <a:ext cx="611733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WHY CATEGORY BEATS SCALE · THE RETURN MATH</a:t>
            </a:r>
            <a:endParaRPr lang="en-US" sz="125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877824" y="7040880"/>
          <a:ext cx="6373368" cy="914400"/>
        </p:xfrm>
        <a:graphic>
          <a:graphicData uri="http://schemas.openxmlformats.org/drawingml/2006/table">
            <a:tbl>
              <a:tblPr/>
              <a:tblGrid>
                <a:gridCol w="2560320"/>
                <a:gridCol w="1906524"/>
                <a:gridCol w="1906524"/>
              </a:tblGrid>
              <a:tr h="310896">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Return cost per unit kept</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at ₹90 / return</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at ₹150 / return</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10896">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30% returns (fitted ethnic)</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₹39 · 14.6% of AOV</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₹64 · 24.3% of AOV</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5% returns (home textiles)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₹5 · 1.8% of AOV</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₹8 · 3.0% of AOV</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10896">
                <a:tc>
                  <a:txBody>
                    <a:bodyPr/>
                    <a:lstStyle/>
                    <a:p>
                      <a:pPr algn="l" indent="0" marL="0">
                        <a:buNone/>
                      </a:pPr>
                      <a:r>
                        <a:rPr lang="en-US" sz="1100" b="1" dirty="0">
                          <a:solidFill>
                            <a:srgbClr val="560547"/>
                          </a:solidFill>
                          <a:latin typeface="Calibri" pitchFamily="34" charset="0"/>
                          <a:ea typeface="Calibri" pitchFamily="34" charset="-122"/>
                          <a:cs typeface="Calibri" pitchFamily="34" charset="-120"/>
                        </a:rPr>
                        <a:t>Gap between the two categories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C0392B"/>
                          </a:solidFill>
                          <a:latin typeface="Calibri" pitchFamily="34" charset="0"/>
                          <a:ea typeface="Calibri" pitchFamily="34" charset="-122"/>
                          <a:cs typeface="Calibri" pitchFamily="34" charset="-120"/>
                        </a:rPr>
                        <a:t>13 pp of AOV</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C0392B"/>
                          </a:solidFill>
                          <a:latin typeface="Calibri" pitchFamily="34" charset="0"/>
                          <a:ea typeface="Calibri" pitchFamily="34" charset="-122"/>
                          <a:cs typeface="Calibri" pitchFamily="34" charset="-120"/>
                        </a:rPr>
                        <a:t>21 pp of AOV</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45" name="Text 35"/>
          <p:cNvSpPr txBox="1"/>
          <p:nvPr/>
        </p:nvSpPr>
        <p:spPr>
          <a:xfrm>
            <a:off x="877824" y="8366760"/>
            <a:ext cx="6373368" cy="502920"/>
          </a:xfrm>
          <a:prstGeom prst="rect">
            <a:avLst/>
          </a:prstGeom>
          <a:noFill/>
          <a:ln/>
        </p:spPr>
        <p:txBody>
          <a:bodyPr wrap="square" lIns="0" tIns="0" rIns="0" bIns="0" rtlCol="0" anchor="t"/>
          <a:lstStyle/>
          <a:p>
            <a:pPr algn="l" indent="0" marL="0">
              <a:lnSpc>
                <a:spcPct val="100000"/>
              </a:lnSpc>
              <a:buNone/>
            </a:pPr>
            <a:r>
              <a:rPr lang="en-US" sz="1050" i="1" dirty="0">
                <a:solidFill>
                  <a:srgbClr val="7A6470"/>
                </a:solidFill>
                <a:latin typeface="Calibri" pitchFamily="34" charset="0"/>
                <a:ea typeface="Calibri" pitchFamily="34" charset="-122"/>
                <a:cs typeface="Calibri" pitchFamily="34" charset="-120"/>
              </a:rPr>
              <a:t>Returns × fee ÷ units kept. A wrong category swallows the whole 12–18% cost edge before a buyer sees it. ₹90 is our estimate; ₹150 is the seller-guide rate for ≤ 500 g.</a:t>
            </a:r>
            <a:endParaRPr lang="en-US" sz="1050" dirty="0"/>
          </a:p>
        </p:txBody>
      </p:sp>
      <p:sp>
        <p:nvSpPr>
          <p:cNvPr id="46" name="Shape 36"/>
          <p:cNvSpPr/>
          <p:nvPr/>
        </p:nvSpPr>
        <p:spPr>
          <a:xfrm>
            <a:off x="7507224" y="1426464"/>
            <a:ext cx="4892040" cy="5074920"/>
          </a:xfrm>
          <a:prstGeom prst="rect">
            <a:avLst/>
          </a:prstGeom>
          <a:solidFill>
            <a:srgbClr val="FFFFFF"/>
          </a:solidFill>
          <a:ln w="9525">
            <a:solidFill>
              <a:srgbClr val="E0CEDA"/>
            </a:solidFill>
            <a:prstDash val="solid"/>
          </a:ln>
        </p:spPr>
      </p:sp>
      <p:sp>
        <p:nvSpPr>
          <p:cNvPr id="47" name="Shape 37"/>
          <p:cNvSpPr/>
          <p:nvPr/>
        </p:nvSpPr>
        <p:spPr>
          <a:xfrm>
            <a:off x="7507224" y="1426464"/>
            <a:ext cx="4892040" cy="329184"/>
          </a:xfrm>
          <a:prstGeom prst="rect">
            <a:avLst/>
          </a:prstGeom>
          <a:solidFill>
            <a:srgbClr val="560547"/>
          </a:solidFill>
          <a:ln w="12700">
            <a:solidFill>
              <a:srgbClr val="560547"/>
            </a:solidFill>
            <a:prstDash val="solid"/>
          </a:ln>
        </p:spPr>
      </p:sp>
      <p:pic>
        <p:nvPicPr>
          <p:cNvPr id="48" name="Image 5" descr="/private/tmp/claude-501/-Users-prathmeshwalimbe-Downloads-Meesho/dfec39d5-f971-4a3a-8cfb-761f4ef1fedb/scratchpad/deck/assets/icons/FaCalculator_w.png">    </p:cNvPr>
          <p:cNvPicPr>
            <a:picLocks noChangeAspect="1"/>
          </p:cNvPicPr>
          <p:nvPr/>
        </p:nvPicPr>
        <p:blipFill>
          <a:blip r:embed="rId6"/>
          <a:stretch>
            <a:fillRect/>
          </a:stretch>
        </p:blipFill>
        <p:spPr>
          <a:xfrm>
            <a:off x="7616952" y="1490472"/>
            <a:ext cx="201168" cy="201168"/>
          </a:xfrm>
          <a:prstGeom prst="rect">
            <a:avLst/>
          </a:prstGeom>
        </p:spPr>
      </p:pic>
      <p:sp>
        <p:nvSpPr>
          <p:cNvPr id="49" name="Text 38"/>
          <p:cNvSpPr txBox="1"/>
          <p:nvPr/>
        </p:nvSpPr>
        <p:spPr>
          <a:xfrm>
            <a:off x="7891272" y="1426464"/>
            <a:ext cx="43799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PRICE TRUTH INDEX · THE SCREEN</a:t>
            </a:r>
            <a:endParaRPr lang="en-US" sz="1250" dirty="0"/>
          </a:p>
        </p:txBody>
      </p:sp>
      <p:sp>
        <p:nvSpPr>
          <p:cNvPr id="50" name="Shape 39"/>
          <p:cNvSpPr/>
          <p:nvPr/>
        </p:nvSpPr>
        <p:spPr>
          <a:xfrm>
            <a:off x="7635240" y="1883664"/>
            <a:ext cx="457200" cy="457200"/>
          </a:xfrm>
          <a:prstGeom prst="ellipse">
            <a:avLst/>
          </a:prstGeom>
          <a:solidFill>
            <a:srgbClr val="560547"/>
          </a:solidFill>
          <a:ln w="12700">
            <a:solidFill>
              <a:srgbClr val="560547"/>
            </a:solidFill>
            <a:prstDash val="solid"/>
          </a:ln>
        </p:spPr>
      </p:sp>
      <p:pic>
        <p:nvPicPr>
          <p:cNvPr id="51" name="Image 6" descr="/private/tmp/claude-501/-Users-prathmeshwalimbe-Downloads-Meesho/dfec39d5-f971-4a3a-8cfb-761f4ef1fedb/scratchpad/deck/assets/icons/FaMapLocationDot_w.png">    </p:cNvPr>
          <p:cNvPicPr>
            <a:picLocks noChangeAspect="1"/>
          </p:cNvPicPr>
          <p:nvPr/>
        </p:nvPicPr>
        <p:blipFill>
          <a:blip r:embed="rId7"/>
          <a:stretch>
            <a:fillRect/>
          </a:stretch>
        </p:blipFill>
        <p:spPr>
          <a:xfrm>
            <a:off x="7744968" y="1993392"/>
            <a:ext cx="237744" cy="237744"/>
          </a:xfrm>
          <a:prstGeom prst="rect">
            <a:avLst/>
          </a:prstGeom>
        </p:spPr>
      </p:pic>
      <p:sp>
        <p:nvSpPr>
          <p:cNvPr id="52" name="Text 40"/>
          <p:cNvSpPr txBox="1"/>
          <p:nvPr/>
        </p:nvSpPr>
        <p:spPr>
          <a:xfrm>
            <a:off x="8202168" y="1847088"/>
            <a:ext cx="4069080" cy="256032"/>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Comparable-set median</a:t>
            </a:r>
            <a:endParaRPr lang="en-US" sz="1150" dirty="0"/>
          </a:p>
        </p:txBody>
      </p:sp>
      <p:sp>
        <p:nvSpPr>
          <p:cNvPr id="53" name="Text 41"/>
          <p:cNvSpPr txBox="1"/>
          <p:nvPr/>
        </p:nvSpPr>
        <p:spPr>
          <a:xfrm>
            <a:off x="8202168" y="2103120"/>
            <a:ext cx="4069080" cy="54864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Order-weighted landed price on delivered orders, per product type. SKUs need ≥ 10 orders.</a:t>
            </a:r>
            <a:endParaRPr lang="en-US" sz="1100" dirty="0"/>
          </a:p>
        </p:txBody>
      </p:sp>
      <p:sp>
        <p:nvSpPr>
          <p:cNvPr id="54" name="Shape 42"/>
          <p:cNvSpPr/>
          <p:nvPr/>
        </p:nvSpPr>
        <p:spPr>
          <a:xfrm>
            <a:off x="7863840" y="2359152"/>
            <a:ext cx="914" cy="201168"/>
          </a:xfrm>
          <a:prstGeom prst="line">
            <a:avLst/>
          </a:prstGeom>
          <a:noFill/>
          <a:ln w="12700">
            <a:solidFill>
              <a:srgbClr val="8A245E"/>
            </a:solidFill>
            <a:prstDash val="dash"/>
            <a:tailEnd type="triangle"/>
          </a:ln>
        </p:spPr>
      </p:sp>
      <p:sp>
        <p:nvSpPr>
          <p:cNvPr id="55" name="Shape 43"/>
          <p:cNvSpPr/>
          <p:nvPr/>
        </p:nvSpPr>
        <p:spPr>
          <a:xfrm>
            <a:off x="7635240" y="2615184"/>
            <a:ext cx="457200" cy="457200"/>
          </a:xfrm>
          <a:prstGeom prst="ellipse">
            <a:avLst/>
          </a:prstGeom>
          <a:solidFill>
            <a:srgbClr val="560547"/>
          </a:solidFill>
          <a:ln w="12700">
            <a:solidFill>
              <a:srgbClr val="560547"/>
            </a:solidFill>
            <a:prstDash val="solid"/>
          </a:ln>
        </p:spPr>
      </p:sp>
      <p:pic>
        <p:nvPicPr>
          <p:cNvPr id="56" name="Image 7" descr="/private/tmp/claude-501/-Users-prathmeshwalimbe-Downloads-Meesho/dfec39d5-f971-4a3a-8cfb-761f4ef1fedb/scratchpad/deck/assets/icons/FaCalculator_w.png">    </p:cNvPr>
          <p:cNvPicPr>
            <a:picLocks noChangeAspect="1"/>
          </p:cNvPicPr>
          <p:nvPr/>
        </p:nvPicPr>
        <p:blipFill>
          <a:blip r:embed="rId8"/>
          <a:stretch>
            <a:fillRect/>
          </a:stretch>
        </p:blipFill>
        <p:spPr>
          <a:xfrm>
            <a:off x="7744968" y="2724912"/>
            <a:ext cx="237744" cy="237744"/>
          </a:xfrm>
          <a:prstGeom prst="rect">
            <a:avLst/>
          </a:prstGeom>
        </p:spPr>
      </p:pic>
      <p:sp>
        <p:nvSpPr>
          <p:cNvPr id="57" name="Text 44"/>
          <p:cNvSpPr txBox="1"/>
          <p:nvPr/>
        </p:nvSpPr>
        <p:spPr>
          <a:xfrm>
            <a:off x="8202168" y="2578608"/>
            <a:ext cx="4069080" cy="256032"/>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SKU price gap</a:t>
            </a:r>
            <a:endParaRPr lang="en-US" sz="1150" dirty="0"/>
          </a:p>
        </p:txBody>
      </p:sp>
      <p:sp>
        <p:nvSpPr>
          <p:cNvPr id="58" name="Text 45"/>
          <p:cNvSpPr txBox="1"/>
          <p:nvPr/>
        </p:nvSpPr>
        <p:spPr>
          <a:xfrm>
            <a:off x="8202168" y="2834640"/>
            <a:ext cx="4069080" cy="54864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gap = (median − seller landed price) ÷ median</a:t>
            </a:r>
            <a:endParaRPr lang="en-US" sz="1100" dirty="0"/>
          </a:p>
        </p:txBody>
      </p:sp>
      <p:sp>
        <p:nvSpPr>
          <p:cNvPr id="59" name="Shape 46"/>
          <p:cNvSpPr/>
          <p:nvPr/>
        </p:nvSpPr>
        <p:spPr>
          <a:xfrm>
            <a:off x="7863840" y="3090672"/>
            <a:ext cx="914" cy="201168"/>
          </a:xfrm>
          <a:prstGeom prst="line">
            <a:avLst/>
          </a:prstGeom>
          <a:noFill/>
          <a:ln w="12700">
            <a:solidFill>
              <a:srgbClr val="8A245E"/>
            </a:solidFill>
            <a:prstDash val="dash"/>
            <a:tailEnd type="triangle"/>
          </a:ln>
        </p:spPr>
      </p:sp>
      <p:sp>
        <p:nvSpPr>
          <p:cNvPr id="60" name="Shape 47"/>
          <p:cNvSpPr/>
          <p:nvPr/>
        </p:nvSpPr>
        <p:spPr>
          <a:xfrm>
            <a:off x="7635240" y="3346704"/>
            <a:ext cx="457200" cy="457200"/>
          </a:xfrm>
          <a:prstGeom prst="ellipse">
            <a:avLst/>
          </a:prstGeom>
          <a:solidFill>
            <a:srgbClr val="560547"/>
          </a:solidFill>
          <a:ln w="12700">
            <a:solidFill>
              <a:srgbClr val="560547"/>
            </a:solidFill>
            <a:prstDash val="solid"/>
          </a:ln>
        </p:spPr>
      </p:sp>
      <p:pic>
        <p:nvPicPr>
          <p:cNvPr id="61" name="Image 8" descr="/private/tmp/claude-501/-Users-prathmeshwalimbe-Downloads-Meesho/dfec39d5-f971-4a3a-8cfb-761f4ef1fedb/scratchpad/deck/assets/icons/FaScaleUnbalanced_w.png">    </p:cNvPr>
          <p:cNvPicPr>
            <a:picLocks noChangeAspect="1"/>
          </p:cNvPicPr>
          <p:nvPr/>
        </p:nvPicPr>
        <p:blipFill>
          <a:blip r:embed="rId9"/>
          <a:stretch>
            <a:fillRect/>
          </a:stretch>
        </p:blipFill>
        <p:spPr>
          <a:xfrm>
            <a:off x="7744968" y="3456432"/>
            <a:ext cx="237744" cy="237744"/>
          </a:xfrm>
          <a:prstGeom prst="rect">
            <a:avLst/>
          </a:prstGeom>
        </p:spPr>
      </p:pic>
      <p:sp>
        <p:nvSpPr>
          <p:cNvPr id="62" name="Text 48"/>
          <p:cNvSpPr txBox="1"/>
          <p:nvPr/>
        </p:nvSpPr>
        <p:spPr>
          <a:xfrm>
            <a:off x="8202168" y="3310128"/>
            <a:ext cx="4069080" cy="256032"/>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Dominant-seller fix</a:t>
            </a:r>
            <a:endParaRPr lang="en-US" sz="1150" dirty="0"/>
          </a:p>
        </p:txBody>
      </p:sp>
      <p:sp>
        <p:nvSpPr>
          <p:cNvPr id="63" name="Text 49"/>
          <p:cNvSpPr txBox="1"/>
          <p:nvPr/>
        </p:nvSpPr>
        <p:spPr>
          <a:xfrm>
            <a:off x="8202168" y="3566160"/>
            <a:ext cx="4069080" cy="54864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A seller with &gt; 30% of a set’s orders is scored against the median without its own orders.</a:t>
            </a:r>
            <a:endParaRPr lang="en-US" sz="1100" dirty="0"/>
          </a:p>
        </p:txBody>
      </p:sp>
      <p:sp>
        <p:nvSpPr>
          <p:cNvPr id="64" name="Shape 50"/>
          <p:cNvSpPr/>
          <p:nvPr/>
        </p:nvSpPr>
        <p:spPr>
          <a:xfrm>
            <a:off x="7863840" y="3822192"/>
            <a:ext cx="914" cy="201168"/>
          </a:xfrm>
          <a:prstGeom prst="line">
            <a:avLst/>
          </a:prstGeom>
          <a:noFill/>
          <a:ln w="12700">
            <a:solidFill>
              <a:srgbClr val="8A245E"/>
            </a:solidFill>
            <a:prstDash val="dash"/>
            <a:tailEnd type="triangle"/>
          </a:ln>
        </p:spPr>
      </p:sp>
      <p:sp>
        <p:nvSpPr>
          <p:cNvPr id="65" name="Shape 51"/>
          <p:cNvSpPr/>
          <p:nvPr/>
        </p:nvSpPr>
        <p:spPr>
          <a:xfrm>
            <a:off x="7635240" y="4078224"/>
            <a:ext cx="457200" cy="457200"/>
          </a:xfrm>
          <a:prstGeom prst="ellipse">
            <a:avLst/>
          </a:prstGeom>
          <a:solidFill>
            <a:srgbClr val="560547"/>
          </a:solidFill>
          <a:ln w="12700">
            <a:solidFill>
              <a:srgbClr val="560547"/>
            </a:solidFill>
            <a:prstDash val="solid"/>
          </a:ln>
        </p:spPr>
      </p:sp>
      <p:pic>
        <p:nvPicPr>
          <p:cNvPr id="66" name="Image 9" descr="/private/tmp/claude-501/-Users-prathmeshwalimbe-Downloads-Meesho/dfec39d5-f971-4a3a-8cfb-761f4ef1fedb/scratchpad/deck/assets/icons/FaShieldHalved_w.png">    </p:cNvPr>
          <p:cNvPicPr>
            <a:picLocks noChangeAspect="1"/>
          </p:cNvPicPr>
          <p:nvPr/>
        </p:nvPicPr>
        <p:blipFill>
          <a:blip r:embed="rId10"/>
          <a:stretch>
            <a:fillRect/>
          </a:stretch>
        </p:blipFill>
        <p:spPr>
          <a:xfrm>
            <a:off x="7744968" y="4187952"/>
            <a:ext cx="237744" cy="237744"/>
          </a:xfrm>
          <a:prstGeom prst="rect">
            <a:avLst/>
          </a:prstGeom>
        </p:spPr>
      </p:pic>
      <p:sp>
        <p:nvSpPr>
          <p:cNvPr id="67" name="Text 52"/>
          <p:cNvSpPr txBox="1"/>
          <p:nvPr/>
        </p:nvSpPr>
        <p:spPr>
          <a:xfrm>
            <a:off x="8202168" y="4041648"/>
            <a:ext cx="4069080" cy="256032"/>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Catalogue gate</a:t>
            </a:r>
            <a:endParaRPr lang="en-US" sz="1150" dirty="0"/>
          </a:p>
        </p:txBody>
      </p:sp>
      <p:sp>
        <p:nvSpPr>
          <p:cNvPr id="68" name="Text 53"/>
          <p:cNvSpPr txBox="1"/>
          <p:nvPr/>
        </p:nvSpPr>
        <p:spPr>
          <a:xfrm>
            <a:off x="8202168" y="4297680"/>
            <a:ext cx="4069080" cy="54864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 8% gap on ≥ 60% of live SKUs, sellers above ₹5 cr GMV. One loss-leader cannot buy the badge.</a:t>
            </a:r>
            <a:endParaRPr lang="en-US" sz="1100" dirty="0"/>
          </a:p>
        </p:txBody>
      </p:sp>
      <p:sp>
        <p:nvSpPr>
          <p:cNvPr id="69" name="Shape 54"/>
          <p:cNvSpPr/>
          <p:nvPr/>
        </p:nvSpPr>
        <p:spPr>
          <a:xfrm>
            <a:off x="7863840" y="4553712"/>
            <a:ext cx="914" cy="201168"/>
          </a:xfrm>
          <a:prstGeom prst="line">
            <a:avLst/>
          </a:prstGeom>
          <a:noFill/>
          <a:ln w="12700">
            <a:solidFill>
              <a:srgbClr val="8A245E"/>
            </a:solidFill>
            <a:prstDash val="dash"/>
            <a:tailEnd type="triangle"/>
          </a:ln>
        </p:spPr>
      </p:sp>
      <p:sp>
        <p:nvSpPr>
          <p:cNvPr id="70" name="Shape 55"/>
          <p:cNvSpPr/>
          <p:nvPr/>
        </p:nvSpPr>
        <p:spPr>
          <a:xfrm>
            <a:off x="7635240" y="4809744"/>
            <a:ext cx="457200" cy="457200"/>
          </a:xfrm>
          <a:prstGeom prst="ellipse">
            <a:avLst/>
          </a:prstGeom>
          <a:solidFill>
            <a:srgbClr val="560547"/>
          </a:solidFill>
          <a:ln w="12700">
            <a:solidFill>
              <a:srgbClr val="560547"/>
            </a:solidFill>
            <a:prstDash val="solid"/>
          </a:ln>
        </p:spPr>
      </p:sp>
      <p:pic>
        <p:nvPicPr>
          <p:cNvPr id="71" name="Image 10" descr="/private/tmp/claude-501/-Users-prathmeshwalimbe-Downloads-Meesho/dfec39d5-f971-4a3a-8cfb-761f4ef1fedb/scratchpad/deck/assets/icons/FaFlask_w.png">    </p:cNvPr>
          <p:cNvPicPr>
            <a:picLocks noChangeAspect="1"/>
          </p:cNvPicPr>
          <p:nvPr/>
        </p:nvPicPr>
        <p:blipFill>
          <a:blip r:embed="rId11"/>
          <a:stretch>
            <a:fillRect/>
          </a:stretch>
        </p:blipFill>
        <p:spPr>
          <a:xfrm>
            <a:off x="7744968" y="4919472"/>
            <a:ext cx="237744" cy="237744"/>
          </a:xfrm>
          <a:prstGeom prst="rect">
            <a:avLst/>
          </a:prstGeom>
        </p:spPr>
      </p:pic>
      <p:sp>
        <p:nvSpPr>
          <p:cNvPr id="72" name="Text 56"/>
          <p:cNvSpPr txBox="1"/>
          <p:nvPr/>
        </p:nvSpPr>
        <p:spPr>
          <a:xfrm>
            <a:off x="8202168" y="4773168"/>
            <a:ext cx="4069080" cy="256032"/>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Badge + re-rank, with a holdout</a:t>
            </a:r>
            <a:endParaRPr lang="en-US" sz="1150" dirty="0"/>
          </a:p>
        </p:txBody>
      </p:sp>
      <p:sp>
        <p:nvSpPr>
          <p:cNvPr id="73" name="Text 57"/>
          <p:cNvSpPr txBox="1"/>
          <p:nvPr/>
        </p:nvSpPr>
        <p:spPr>
          <a:xfrm>
            <a:off x="8202168" y="5029200"/>
            <a:ext cx="4069080" cy="54864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Matched control, read at Day 30 (see Roadmap).</a:t>
            </a:r>
            <a:endParaRPr lang="en-US" sz="1100" dirty="0"/>
          </a:p>
        </p:txBody>
      </p:sp>
      <p:sp>
        <p:nvSpPr>
          <p:cNvPr id="74" name="Shape 58"/>
          <p:cNvSpPr/>
          <p:nvPr/>
        </p:nvSpPr>
        <p:spPr>
          <a:xfrm>
            <a:off x="7635240" y="5577840"/>
            <a:ext cx="4636008" cy="822960"/>
          </a:xfrm>
          <a:prstGeom prst="roundRect">
            <a:avLst>
              <a:gd name="adj" fmla="val 5556"/>
            </a:avLst>
          </a:prstGeom>
          <a:solidFill>
            <a:srgbClr val="FFF3D8"/>
          </a:solidFill>
          <a:ln w="12700">
            <a:solidFill>
              <a:srgbClr val="FFF3D8"/>
            </a:solidFill>
            <a:prstDash val="solid"/>
          </a:ln>
        </p:spPr>
      </p:sp>
      <p:sp>
        <p:nvSpPr>
          <p:cNvPr id="75" name="Text 59"/>
          <p:cNvSpPr txBox="1"/>
          <p:nvPr/>
        </p:nvSpPr>
        <p:spPr>
          <a:xfrm>
            <a:off x="7726680" y="5614416"/>
            <a:ext cx="4453128" cy="768096"/>
          </a:xfrm>
          <a:prstGeom prst="rect">
            <a:avLst/>
          </a:prstGeom>
          <a:noFill/>
          <a:ln/>
        </p:spPr>
        <p:txBody>
          <a:bodyPr wrap="square" lIns="0" tIns="0" rIns="0" bIns="0" rtlCol="0" anchor="t"/>
          <a:lstStyle/>
          <a:p>
            <a:pPr algn="l" indent="0" marL="0">
              <a:lnSpc>
                <a:spcPct val="100000"/>
              </a:lnSpc>
              <a:buNone/>
            </a:pPr>
            <a:r>
              <a:rPr lang="en-US" sz="1200" b="1" dirty="0">
                <a:solidFill>
                  <a:srgbClr val="D68200"/>
                </a:solidFill>
                <a:latin typeface="Calibri" pitchFamily="34" charset="0"/>
                <a:ea typeface="Calibri" pitchFamily="34" charset="-122"/>
                <a:cs typeface="Calibri" pitchFamily="34" charset="-120"/>
              </a:rPr>
              <a:t>Worked example</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SKU landed at ₹212 vs a ₹245 median → gap 13.5% ✓. Catalogue: 18 of 24 live SKUs clear = 75% ≥ 60% → badge. A seller with 3 SKUs at −30% and 21 at market clears 13% → no badge.</a:t>
            </a:r>
            <a:endParaRPr lang="en-US" sz="1200" dirty="0"/>
          </a:p>
        </p:txBody>
      </p:sp>
      <p:sp>
        <p:nvSpPr>
          <p:cNvPr id="76" name="Shape 60"/>
          <p:cNvSpPr/>
          <p:nvPr/>
        </p:nvSpPr>
        <p:spPr>
          <a:xfrm>
            <a:off x="7507224" y="6620256"/>
            <a:ext cx="4892040" cy="2395728"/>
          </a:xfrm>
          <a:prstGeom prst="rect">
            <a:avLst/>
          </a:prstGeom>
          <a:solidFill>
            <a:srgbClr val="FFFFFF"/>
          </a:solidFill>
          <a:ln w="9525">
            <a:solidFill>
              <a:srgbClr val="E0CEDA"/>
            </a:solidFill>
            <a:prstDash val="solid"/>
          </a:ln>
        </p:spPr>
      </p:sp>
      <p:sp>
        <p:nvSpPr>
          <p:cNvPr id="77" name="Shape 61"/>
          <p:cNvSpPr/>
          <p:nvPr/>
        </p:nvSpPr>
        <p:spPr>
          <a:xfrm>
            <a:off x="7507224" y="6620256"/>
            <a:ext cx="4892040" cy="329184"/>
          </a:xfrm>
          <a:prstGeom prst="rect">
            <a:avLst/>
          </a:prstGeom>
          <a:solidFill>
            <a:srgbClr val="8A245E"/>
          </a:solidFill>
          <a:ln w="12700">
            <a:solidFill>
              <a:srgbClr val="8A245E"/>
            </a:solidFill>
            <a:prstDash val="solid"/>
          </a:ln>
        </p:spPr>
      </p:sp>
      <p:pic>
        <p:nvPicPr>
          <p:cNvPr id="78" name="Image 11" descr="/private/tmp/claude-501/-Users-prathmeshwalimbe-Downloads-Meesho/dfec39d5-f971-4a3a-8cfb-761f4ef1fedb/scratchpad/deck/assets/icons/FaCircleCheck_w.png">    </p:cNvPr>
          <p:cNvPicPr>
            <a:picLocks noChangeAspect="1"/>
          </p:cNvPicPr>
          <p:nvPr/>
        </p:nvPicPr>
        <p:blipFill>
          <a:blip r:embed="rId12"/>
          <a:stretch>
            <a:fillRect/>
          </a:stretch>
        </p:blipFill>
        <p:spPr>
          <a:xfrm>
            <a:off x="7616952" y="6684264"/>
            <a:ext cx="201168" cy="201168"/>
          </a:xfrm>
          <a:prstGeom prst="rect">
            <a:avLst/>
          </a:prstGeom>
        </p:spPr>
      </p:pic>
      <p:sp>
        <p:nvSpPr>
          <p:cNvPr id="79" name="Text 62"/>
          <p:cNvSpPr txBox="1"/>
          <p:nvPr/>
        </p:nvSpPr>
        <p:spPr>
          <a:xfrm>
            <a:off x="7891272" y="6620256"/>
            <a:ext cx="43799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FOUR VERDICTS, FOUR ACTIONS</a:t>
            </a:r>
            <a:endParaRPr lang="en-US" sz="1250" dirty="0"/>
          </a:p>
        </p:txBody>
      </p:sp>
      <p:graphicFrame>
        <p:nvGraphicFramePr>
          <p:cNvPr id="13" name="Table 2"/>
          <p:cNvGraphicFramePr>
            <a:graphicFrameLocks noGrp="1"/>
          </p:cNvGraphicFramePr>
          <p:nvPr>
            <p:extLst>
              <p:ext uri="{D42A27DB-BD31-4B8C-83A1-F6EECF244321}">
                <p14:modId xmlns:p14="http://schemas.microsoft.com/office/powerpoint/2010/main" val="1579011935"/>
              </p:ext>
            </p:extLst>
          </p:nvPr>
        </p:nvGraphicFramePr>
        <p:xfrm>
          <a:off x="7635240" y="7040880"/>
          <a:ext cx="4636008" cy="914400"/>
        </p:xfrm>
        <a:graphic>
          <a:graphicData uri="http://schemas.openxmlformats.org/drawingml/2006/table">
            <a:tbl>
              <a:tblPr/>
              <a:tblGrid>
                <a:gridCol w="2148840"/>
                <a:gridCol w="2487168"/>
              </a:tblGrid>
              <a:tr h="32918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Verdict</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Action</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29184">
                <a:tc>
                  <a:txBody>
                    <a:bodyPr/>
                    <a:lstStyle/>
                    <a:p>
                      <a:pPr algn="l" indent="0" marL="0">
                        <a:buNone/>
                      </a:pPr>
                      <a:r>
                        <a:rPr lang="en-US" sz="1100" b="1" dirty="0">
                          <a:solidFill>
                            <a:srgbClr val="1E8E5A"/>
                          </a:solidFill>
                          <a:latin typeface="Calibri" pitchFamily="34" charset="0"/>
                          <a:ea typeface="Calibri" pitchFamily="34" charset="-122"/>
                          <a:cs typeface="Calibri" pitchFamily="34" charset="-120"/>
                        </a:rPr>
                        <a:t>C2M-ready (62)</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Badge + re-rank + Demand Brief</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100" b="1" dirty="0">
                          <a:solidFill>
                            <a:srgbClr val="C0392B"/>
                          </a:solidFill>
                          <a:latin typeface="Calibri" pitchFamily="34" charset="0"/>
                          <a:ea typeface="Calibri" pitchFamily="34" charset="-122"/>
                          <a:cs typeface="Calibri" pitchFamily="34" charset="-120"/>
                        </a:rPr>
                        <a:t>Scale without price (84)</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No badge; offer a value-tier catalogue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100" b="1" dirty="0">
                          <a:solidFill>
                            <a:srgbClr val="C0392B"/>
                          </a:solidFill>
                          <a:latin typeface="Calibri" pitchFamily="34" charset="0"/>
                          <a:ea typeface="Calibri" pitchFamily="34" charset="-122"/>
                          <a:cs typeface="Calibri" pitchFamily="34" charset="-120"/>
                        </a:rPr>
                        <a:t>Loss-leader pattern (18)</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No badge; the catalogue gate holds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100" b="1" dirty="0">
                          <a:solidFill>
                            <a:srgbClr val="D68200"/>
                          </a:solidFill>
                          <a:latin typeface="Calibri" pitchFamily="34" charset="0"/>
                          <a:ea typeface="Calibri" pitchFamily="34" charset="-122"/>
                          <a:cs typeface="Calibri" pitchFamily="34" charset="-120"/>
                        </a:rPr>
                        <a:t>Near miss (16)</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Factory Node cost help; re-score in 28 days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81" name="Shape 63"/>
          <p:cNvSpPr/>
          <p:nvPr/>
        </p:nvSpPr>
        <p:spPr>
          <a:xfrm>
            <a:off x="12527280" y="1426464"/>
            <a:ext cx="5532120" cy="7589520"/>
          </a:xfrm>
          <a:prstGeom prst="rect">
            <a:avLst/>
          </a:prstGeom>
          <a:solidFill>
            <a:srgbClr val="FFFFFF"/>
          </a:solidFill>
          <a:ln w="9525">
            <a:solidFill>
              <a:srgbClr val="E0CEDA"/>
            </a:solidFill>
            <a:prstDash val="solid"/>
          </a:ln>
        </p:spPr>
      </p:sp>
      <p:sp>
        <p:nvSpPr>
          <p:cNvPr id="82" name="Shape 64"/>
          <p:cNvSpPr/>
          <p:nvPr/>
        </p:nvSpPr>
        <p:spPr>
          <a:xfrm>
            <a:off x="12527280" y="1426464"/>
            <a:ext cx="5532120" cy="329184"/>
          </a:xfrm>
          <a:prstGeom prst="rect">
            <a:avLst/>
          </a:prstGeom>
          <a:solidFill>
            <a:srgbClr val="560547"/>
          </a:solidFill>
          <a:ln w="12700">
            <a:solidFill>
              <a:srgbClr val="560547"/>
            </a:solidFill>
            <a:prstDash val="solid"/>
          </a:ln>
        </p:spPr>
      </p:sp>
      <p:pic>
        <p:nvPicPr>
          <p:cNvPr id="83" name="Image 12" descr="/private/tmp/claude-501/-Users-prathmeshwalimbe-Downloads-Meesho/dfec39d5-f971-4a3a-8cfb-761f4ef1fedb/scratchpad/deck/assets/icons/FaGaugeHigh_w.png">    </p:cNvPr>
          <p:cNvPicPr>
            <a:picLocks noChangeAspect="1"/>
          </p:cNvPicPr>
          <p:nvPr/>
        </p:nvPicPr>
        <p:blipFill>
          <a:blip r:embed="rId13"/>
          <a:stretch>
            <a:fillRect/>
          </a:stretch>
        </p:blipFill>
        <p:spPr>
          <a:xfrm>
            <a:off x="12637008" y="1490472"/>
            <a:ext cx="201168" cy="201168"/>
          </a:xfrm>
          <a:prstGeom prst="rect">
            <a:avLst/>
          </a:prstGeom>
        </p:spPr>
      </p:pic>
      <p:sp>
        <p:nvSpPr>
          <p:cNvPr id="84" name="Text 65"/>
          <p:cNvSpPr txBox="1"/>
          <p:nvPr/>
        </p:nvSpPr>
        <p:spPr>
          <a:xfrm>
            <a:off x="12911328" y="1426464"/>
            <a:ext cx="502005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BIGGER IS NOT CHEAPER · FROM THE WORKING PROTOTYPE</a:t>
            </a:r>
            <a:endParaRPr lang="en-US" sz="1250" dirty="0"/>
          </a:p>
        </p:txBody>
      </p:sp>
      <p:sp>
        <p:nvSpPr>
          <p:cNvPr id="85" name="Shape 66"/>
          <p:cNvSpPr/>
          <p:nvPr/>
        </p:nvSpPr>
        <p:spPr>
          <a:xfrm>
            <a:off x="12646152" y="1837944"/>
            <a:ext cx="5294376" cy="3697399"/>
          </a:xfrm>
          <a:prstGeom prst="rect">
            <a:avLst/>
          </a:prstGeom>
          <a:solidFill>
            <a:srgbClr val="FFFFFF"/>
          </a:solidFill>
          <a:ln w="9525">
            <a:solidFill>
              <a:srgbClr val="E0CEDA"/>
            </a:solidFill>
            <a:prstDash val="solid"/>
          </a:ln>
        </p:spPr>
      </p:sp>
      <p:pic>
        <p:nvPicPr>
          <p:cNvPr id="86" name="Image 13" descr="/private/tmp/claude-501/-Users-prathmeshwalimbe-Downloads-Meesho/dfec39d5-f971-4a3a-8cfb-761f4ef1fedb/scratchpad/deck/assets/shot_pti_scatter.png">    </p:cNvPr>
          <p:cNvPicPr>
            <a:picLocks noChangeAspect="1"/>
          </p:cNvPicPr>
          <p:nvPr/>
        </p:nvPicPr>
        <p:blipFill>
          <a:blip r:embed="rId14"/>
          <a:stretch>
            <a:fillRect/>
          </a:stretch>
        </p:blipFill>
        <p:spPr>
          <a:xfrm>
            <a:off x="12655296" y="1847088"/>
            <a:ext cx="5276088" cy="3679111"/>
          </a:xfrm>
          <a:prstGeom prst="rect">
            <a:avLst/>
          </a:prstGeom>
        </p:spPr>
      </p:pic>
      <p:sp>
        <p:nvSpPr>
          <p:cNvPr id="87" name="Shape 67"/>
          <p:cNvSpPr/>
          <p:nvPr/>
        </p:nvSpPr>
        <p:spPr>
          <a:xfrm>
            <a:off x="12655296" y="5663359"/>
            <a:ext cx="1250442" cy="868680"/>
          </a:xfrm>
          <a:prstGeom prst="rect">
            <a:avLst/>
          </a:prstGeom>
          <a:solidFill>
            <a:srgbClr val="F2E4EE"/>
          </a:solidFill>
          <a:ln w="12700">
            <a:solidFill>
              <a:srgbClr val="F2E4EE"/>
            </a:solidFill>
            <a:prstDash val="solid"/>
          </a:ln>
        </p:spPr>
      </p:sp>
      <p:sp>
        <p:nvSpPr>
          <p:cNvPr id="88" name="Text 68"/>
          <p:cNvSpPr txBox="1"/>
          <p:nvPr/>
        </p:nvSpPr>
        <p:spPr>
          <a:xfrm>
            <a:off x="12765024" y="5718223"/>
            <a:ext cx="1030986" cy="451714"/>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180</a:t>
            </a:r>
            <a:endParaRPr lang="en-US" sz="1700" dirty="0"/>
          </a:p>
        </p:txBody>
      </p:sp>
      <p:sp>
        <p:nvSpPr>
          <p:cNvPr id="89" name="Text 69"/>
          <p:cNvSpPr txBox="1"/>
          <p:nvPr/>
        </p:nvSpPr>
        <p:spPr>
          <a:xfrm>
            <a:off x="12765024" y="6141133"/>
            <a:ext cx="1030986" cy="364846"/>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sellers above ₹5 cr screened</a:t>
            </a:r>
            <a:endParaRPr lang="en-US" sz="1050" dirty="0"/>
          </a:p>
        </p:txBody>
      </p:sp>
      <p:sp>
        <p:nvSpPr>
          <p:cNvPr id="90" name="Shape 70"/>
          <p:cNvSpPr/>
          <p:nvPr/>
        </p:nvSpPr>
        <p:spPr>
          <a:xfrm>
            <a:off x="13997178" y="5663359"/>
            <a:ext cx="1250442" cy="868680"/>
          </a:xfrm>
          <a:prstGeom prst="rect">
            <a:avLst/>
          </a:prstGeom>
          <a:solidFill>
            <a:srgbClr val="F2E4EE"/>
          </a:solidFill>
          <a:ln w="12700">
            <a:solidFill>
              <a:srgbClr val="F2E4EE"/>
            </a:solidFill>
            <a:prstDash val="solid"/>
          </a:ln>
        </p:spPr>
      </p:sp>
      <p:sp>
        <p:nvSpPr>
          <p:cNvPr id="91" name="Text 71"/>
          <p:cNvSpPr txBox="1"/>
          <p:nvPr/>
        </p:nvSpPr>
        <p:spPr>
          <a:xfrm>
            <a:off x="14106906" y="5718223"/>
            <a:ext cx="1030986" cy="451714"/>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62 · 34%</a:t>
            </a:r>
            <a:endParaRPr lang="en-US" sz="1700" dirty="0"/>
          </a:p>
        </p:txBody>
      </p:sp>
      <p:sp>
        <p:nvSpPr>
          <p:cNvPr id="92" name="Text 72"/>
          <p:cNvSpPr txBox="1"/>
          <p:nvPr/>
        </p:nvSpPr>
        <p:spPr>
          <a:xfrm>
            <a:off x="14106906" y="6141133"/>
            <a:ext cx="1030986" cy="364846"/>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pass the gate</a:t>
            </a:r>
            <a:endParaRPr lang="en-US" sz="1050" dirty="0"/>
          </a:p>
        </p:txBody>
      </p:sp>
      <p:sp>
        <p:nvSpPr>
          <p:cNvPr id="93" name="Shape 73"/>
          <p:cNvSpPr/>
          <p:nvPr/>
        </p:nvSpPr>
        <p:spPr>
          <a:xfrm>
            <a:off x="15339060" y="5663359"/>
            <a:ext cx="1250442" cy="868680"/>
          </a:xfrm>
          <a:prstGeom prst="rect">
            <a:avLst/>
          </a:prstGeom>
          <a:solidFill>
            <a:srgbClr val="F2E4EE"/>
          </a:solidFill>
          <a:ln w="12700">
            <a:solidFill>
              <a:srgbClr val="F2E4EE"/>
            </a:solidFill>
            <a:prstDash val="solid"/>
          </a:ln>
        </p:spPr>
      </p:sp>
      <p:sp>
        <p:nvSpPr>
          <p:cNvPr id="94" name="Text 74"/>
          <p:cNvSpPr txBox="1"/>
          <p:nvPr/>
        </p:nvSpPr>
        <p:spPr>
          <a:xfrm>
            <a:off x="15448788" y="5718223"/>
            <a:ext cx="1030986" cy="451714"/>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84 · 47%</a:t>
            </a:r>
            <a:endParaRPr lang="en-US" sz="1700" dirty="0"/>
          </a:p>
        </p:txBody>
      </p:sp>
      <p:sp>
        <p:nvSpPr>
          <p:cNvPr id="95" name="Text 75"/>
          <p:cNvSpPr txBox="1"/>
          <p:nvPr/>
        </p:nvSpPr>
        <p:spPr>
          <a:xfrm>
            <a:off x="15448788" y="6141133"/>
            <a:ext cx="1030986" cy="364846"/>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scale without price</a:t>
            </a:r>
            <a:endParaRPr lang="en-US" sz="1050" dirty="0"/>
          </a:p>
        </p:txBody>
      </p:sp>
      <p:sp>
        <p:nvSpPr>
          <p:cNvPr id="96" name="Shape 76"/>
          <p:cNvSpPr/>
          <p:nvPr/>
        </p:nvSpPr>
        <p:spPr>
          <a:xfrm>
            <a:off x="16680942" y="5663359"/>
            <a:ext cx="1250442" cy="868680"/>
          </a:xfrm>
          <a:prstGeom prst="rect">
            <a:avLst/>
          </a:prstGeom>
          <a:solidFill>
            <a:srgbClr val="F2E4EE"/>
          </a:solidFill>
          <a:ln w="12700">
            <a:solidFill>
              <a:srgbClr val="F2E4EE"/>
            </a:solidFill>
            <a:prstDash val="solid"/>
          </a:ln>
        </p:spPr>
      </p:sp>
      <p:sp>
        <p:nvSpPr>
          <p:cNvPr id="97" name="Text 77"/>
          <p:cNvSpPr txBox="1"/>
          <p:nvPr/>
        </p:nvSpPr>
        <p:spPr>
          <a:xfrm>
            <a:off x="16790670" y="5718223"/>
            <a:ext cx="1030986" cy="451714"/>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r = -0.18</a:t>
            </a:r>
            <a:endParaRPr lang="en-US" sz="1700" dirty="0"/>
          </a:p>
        </p:txBody>
      </p:sp>
      <p:sp>
        <p:nvSpPr>
          <p:cNvPr id="98" name="Text 78"/>
          <p:cNvSpPr txBox="1"/>
          <p:nvPr/>
        </p:nvSpPr>
        <p:spPr>
          <a:xfrm>
            <a:off x="16790670" y="6141133"/>
            <a:ext cx="1030986" cy="364846"/>
          </a:xfrm>
          <a:prstGeom prst="rect">
            <a:avLst/>
          </a:prstGeom>
          <a:noFill/>
          <a:ln/>
        </p:spPr>
        <p:txBody>
          <a:bodyPr wrap="square" lIns="0" tIns="0" rIns="0" bIns="0" rtlCol="0" anchor="t"/>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size vs price gap</a:t>
            </a:r>
            <a:endParaRPr lang="en-US" sz="1050" dirty="0"/>
          </a:p>
        </p:txBody>
      </p:sp>
      <p:sp>
        <p:nvSpPr>
          <p:cNvPr id="99" name="Text 79"/>
          <p:cNvSpPr txBox="1"/>
          <p:nvPr/>
        </p:nvSpPr>
        <p:spPr>
          <a:xfrm>
            <a:off x="12655296" y="6586903"/>
            <a:ext cx="5276088" cy="237744"/>
          </a:xfrm>
          <a:prstGeom prst="rect">
            <a:avLst/>
          </a:prstGeom>
          <a:noFill/>
          <a:ln/>
        </p:spPr>
        <p:txBody>
          <a:bodyPr wrap="square" lIns="0" tIns="0" rIns="0" bIns="0" rtlCol="0" anchor="t"/>
          <a:lstStyle/>
          <a:p>
            <a:pPr algn="l" indent="0" marL="0">
              <a:lnSpc>
                <a:spcPct val="100000"/>
              </a:lnSpc>
              <a:buNone/>
            </a:pPr>
            <a:r>
              <a:rPr lang="en-US" sz="1100" b="1" dirty="0">
                <a:solidFill>
                  <a:srgbClr val="560547"/>
                </a:solidFill>
                <a:latin typeface="Arial" pitchFamily="34" charset="0"/>
                <a:ea typeface="Arial" pitchFamily="34" charset="-122"/>
                <a:cs typeface="Arial" pitchFamily="34" charset="-120"/>
              </a:rPr>
              <a:t>The six largest sellers screened (prototype, fictional names)</a:t>
            </a:r>
            <a:endParaRPr lang="en-US" sz="1100" dirty="0"/>
          </a:p>
        </p:txBody>
      </p:sp>
      <p:graphicFrame>
        <p:nvGraphicFramePr>
          <p:cNvPr id="17" name="Table 3"/>
          <p:cNvGraphicFramePr>
            <a:graphicFrameLocks noGrp="1"/>
          </p:cNvGraphicFramePr>
          <p:nvPr>
            <p:extLst>
              <p:ext uri="{D42A27DB-BD31-4B8C-83A1-F6EECF244321}">
                <p14:modId xmlns:p14="http://schemas.microsoft.com/office/powerpoint/2010/main" val="1579011935"/>
              </p:ext>
            </p:extLst>
          </p:nvPr>
        </p:nvGraphicFramePr>
        <p:xfrm>
          <a:off x="12655296" y="6842935"/>
          <a:ext cx="5276088" cy="914400"/>
        </p:xfrm>
        <a:graphic>
          <a:graphicData uri="http://schemas.openxmlformats.org/drawingml/2006/table">
            <a:tbl>
              <a:tblPr/>
              <a:tblGrid>
                <a:gridCol w="2331720"/>
                <a:gridCol w="731520"/>
                <a:gridCol w="868680"/>
                <a:gridCol w="1344168"/>
              </a:tblGrid>
              <a:tr h="237744">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Seller</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GMV</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Median gap</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Verdict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23774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Moti Sarees · Indore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₹80 cr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1226"/>
                          </a:solidFill>
                          <a:latin typeface="Calibri" pitchFamily="34" charset="0"/>
                          <a:ea typeface="Calibri" pitchFamily="34" charset="-122"/>
                          <a:cs typeface="Calibri" pitchFamily="34" charset="-120"/>
                        </a:rPr>
                        <a:t>-0.9%</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C0392B"/>
                          </a:solidFill>
                          <a:latin typeface="Calibri" pitchFamily="34" charset="0"/>
                          <a:ea typeface="Calibri" pitchFamily="34" charset="-122"/>
                          <a:cs typeface="Calibri" pitchFamily="34" charset="-120"/>
                        </a:rPr>
                        <a:t>Scale without price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3774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Surya Distributors · Delhi</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₹72 cr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1226"/>
                          </a:solidFill>
                          <a:latin typeface="Calibri" pitchFamily="34" charset="0"/>
                          <a:ea typeface="Calibri" pitchFamily="34" charset="-122"/>
                          <a:cs typeface="Calibri" pitchFamily="34" charset="-120"/>
                        </a:rPr>
                        <a:t>-1.7%</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C0392B"/>
                          </a:solidFill>
                          <a:latin typeface="Calibri" pitchFamily="34" charset="0"/>
                          <a:ea typeface="Calibri" pitchFamily="34" charset="-122"/>
                          <a:cs typeface="Calibri" pitchFamily="34" charset="-120"/>
                        </a:rPr>
                        <a:t>Scale without price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3774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Prem Footwear · Ahmedabad</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₹65 cr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1226"/>
                          </a:solidFill>
                          <a:latin typeface="Calibri" pitchFamily="34" charset="0"/>
                          <a:ea typeface="Calibri" pitchFamily="34" charset="-122"/>
                          <a:cs typeface="Calibri" pitchFamily="34" charset="-120"/>
                        </a:rPr>
                        <a:t>-7.9%</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C0392B"/>
                          </a:solidFill>
                          <a:latin typeface="Calibri" pitchFamily="34" charset="0"/>
                          <a:ea typeface="Calibri" pitchFamily="34" charset="-122"/>
                          <a:cs typeface="Calibri" pitchFamily="34" charset="-120"/>
                        </a:rPr>
                        <a:t>Scale without price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3774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Bharat Shoe Co. · Bahadurgarh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₹60 cr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1226"/>
                          </a:solidFill>
                          <a:latin typeface="Calibri" pitchFamily="34" charset="0"/>
                          <a:ea typeface="Calibri" pitchFamily="34" charset="-122"/>
                          <a:cs typeface="Calibri" pitchFamily="34" charset="-120"/>
                        </a:rPr>
                        <a:t>14.1%</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8E5A"/>
                          </a:solidFill>
                          <a:latin typeface="Calibri" pitchFamily="34" charset="0"/>
                          <a:ea typeface="Calibri" pitchFamily="34" charset="-122"/>
                          <a:cs typeface="Calibri" pitchFamily="34" charset="-120"/>
                        </a:rPr>
                        <a:t>C2M-ready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3774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Neel Travel Gear · Surat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₹52 cr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1226"/>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C0392B"/>
                          </a:solidFill>
                          <a:latin typeface="Calibri" pitchFamily="34" charset="0"/>
                          <a:ea typeface="Calibri" pitchFamily="34" charset="-122"/>
                          <a:cs typeface="Calibri" pitchFamily="34" charset="-120"/>
                        </a:rPr>
                        <a:t>Scale without price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3774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Annapurna Knitwear · Ludhiana</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₹51 cr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1226"/>
                          </a:solidFill>
                          <a:latin typeface="Calibri" pitchFamily="34" charset="0"/>
                          <a:ea typeface="Calibri" pitchFamily="34" charset="-122"/>
                          <a:cs typeface="Calibri" pitchFamily="34" charset="-120"/>
                        </a:rPr>
                        <a:t>12.1%</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8E5A"/>
                          </a:solidFill>
                          <a:latin typeface="Calibri" pitchFamily="34" charset="0"/>
                          <a:ea typeface="Calibri" pitchFamily="34" charset="-122"/>
                          <a:cs typeface="Calibri" pitchFamily="34" charset="-120"/>
                        </a:rPr>
                        <a:t>C2M-ready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101" name="Text 80"/>
          <p:cNvSpPr txBox="1"/>
          <p:nvPr/>
        </p:nvSpPr>
        <p:spPr>
          <a:xfrm>
            <a:off x="12655296" y="8543719"/>
            <a:ext cx="5276088" cy="256032"/>
          </a:xfrm>
          <a:prstGeom prst="rect">
            <a:avLst/>
          </a:prstGeom>
          <a:noFill/>
          <a:ln/>
        </p:spPr>
        <p:txBody>
          <a:bodyPr wrap="square" lIns="0" tIns="0" rIns="0" bIns="0" rtlCol="0" anchor="t"/>
          <a:lstStyle/>
          <a:p>
            <a:pPr algn="l" indent="0" marL="0">
              <a:lnSpc>
                <a:spcPct val="100000"/>
              </a:lnSpc>
              <a:buNone/>
            </a:pPr>
            <a:r>
              <a:rPr lang="en-US" sz="1050" i="1" dirty="0">
                <a:solidFill>
                  <a:srgbClr val="7A6470"/>
                </a:solidFill>
                <a:latin typeface="Calibri" pitchFamily="34" charset="0"/>
                <a:ea typeface="Calibri" pitchFamily="34" charset="-122"/>
                <a:cs typeface="Calibri" pitchFamily="34" charset="-120"/>
              </a:rPr>
              <a:t>7 of the 10 largest fail: they are traders, and scale never became price.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413662"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297326" y="182880"/>
            <a:ext cx="1413662"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33390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4765853" y="182880"/>
            <a:ext cx="1413662"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4802429"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234379" y="182880"/>
            <a:ext cx="1413662" cy="502920"/>
          </a:xfrm>
          <a:prstGeom prst="roundRect">
            <a:avLst>
              <a:gd name="adj" fmla="val 14545"/>
            </a:avLst>
          </a:prstGeom>
          <a:solidFill>
            <a:srgbClr val="560547"/>
          </a:solidFill>
          <a:ln w="9525">
            <a:solidFill>
              <a:srgbClr val="560547"/>
            </a:solidFill>
            <a:prstDash val="solid"/>
          </a:ln>
        </p:spPr>
      </p:sp>
      <p:sp>
        <p:nvSpPr>
          <p:cNvPr id="12" name="Text 8"/>
          <p:cNvSpPr txBox="1"/>
          <p:nvPr/>
        </p:nvSpPr>
        <p:spPr>
          <a:xfrm>
            <a:off x="6270955"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7702906" y="182880"/>
            <a:ext cx="1413662"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773948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171432" y="182880"/>
            <a:ext cx="1413662"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9208008"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0639958" y="182880"/>
            <a:ext cx="1413662"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067653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2108485" y="182880"/>
            <a:ext cx="1413662"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2145061"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3577011" y="182880"/>
            <a:ext cx="1413662"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3613587"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OPERATING MODEL</a:t>
            </a:r>
            <a:endParaRPr lang="en-US" sz="950" dirty="0"/>
          </a:p>
        </p:txBody>
      </p:sp>
      <p:sp>
        <p:nvSpPr>
          <p:cNvPr id="23" name="Shape 19"/>
          <p:cNvSpPr/>
          <p:nvPr/>
        </p:nvSpPr>
        <p:spPr>
          <a:xfrm>
            <a:off x="15045538" y="182880"/>
            <a:ext cx="1413662" cy="502920"/>
          </a:xfrm>
          <a:prstGeom prst="roundRect">
            <a:avLst>
              <a:gd name="adj" fmla="val 14545"/>
            </a:avLst>
          </a:prstGeom>
          <a:solidFill>
            <a:srgbClr val="FFFFFF"/>
          </a:solidFill>
          <a:ln w="9525">
            <a:solidFill>
              <a:srgbClr val="E0CEDA"/>
            </a:solidFill>
            <a:prstDash val="solid"/>
          </a:ln>
        </p:spPr>
      </p:sp>
      <p:sp>
        <p:nvSpPr>
          <p:cNvPr id="24" name="Text 20"/>
          <p:cNvSpPr txBox="1"/>
          <p:nvPr/>
        </p:nvSpPr>
        <p:spPr>
          <a:xfrm>
            <a:off x="1508211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10 · PROTOTYPE</a:t>
            </a:r>
            <a:endParaRPr lang="en-US" sz="950" dirty="0"/>
          </a:p>
        </p:txBody>
      </p:sp>
      <p:sp>
        <p:nvSpPr>
          <p:cNvPr id="25" name="Shape 21"/>
          <p:cNvSpPr/>
          <p:nvPr/>
        </p:nvSpPr>
        <p:spPr>
          <a:xfrm>
            <a:off x="228600" y="987552"/>
            <a:ext cx="384048" cy="8083296"/>
          </a:xfrm>
          <a:prstGeom prst="rect">
            <a:avLst/>
          </a:prstGeom>
          <a:solidFill>
            <a:srgbClr val="6E1251"/>
          </a:solidFill>
          <a:ln w="12700">
            <a:solidFill>
              <a:srgbClr val="6E1251"/>
            </a:solidFill>
            <a:prstDash val="solid"/>
          </a:ln>
        </p:spPr>
      </p:sp>
      <p:sp>
        <p:nvSpPr>
          <p:cNvPr id="26" name="Text 22"/>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GETTING THEM ON</a:t>
            </a:r>
            <a:endParaRPr lang="en-US" sz="1200" dirty="0"/>
          </a:p>
        </p:txBody>
      </p:sp>
      <p:sp>
        <p:nvSpPr>
          <p:cNvPr id="27" name="Text 23"/>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Q4 · Onboarding model · Support stack, risk-sharing and assisted operations for reluctant manufacturers</a:t>
            </a:r>
            <a:endParaRPr lang="en-US" sz="1700" dirty="0"/>
          </a:p>
        </p:txBody>
      </p:sp>
      <p:sp>
        <p:nvSpPr>
          <p:cNvPr id="28" name="Text 24"/>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Sources: prototype manufacturer app (illustrative seller Kavin Knit Mills, fictional; ₹98 making cost; assumptions in src/config.js); Reuters via FashionNetwork (Feb 2026); KrASIA (Pinduoduo, 2019 data); Tech Buzz China (Temu, 2025).</a:t>
            </a:r>
            <a:endParaRPr lang="en-US" sz="1000" dirty="0"/>
          </a:p>
        </p:txBody>
      </p:sp>
      <p:sp>
        <p:nvSpPr>
          <p:cNvPr id="29" name="Shape 25"/>
          <p:cNvSpPr/>
          <p:nvPr/>
        </p:nvSpPr>
        <p:spPr>
          <a:xfrm>
            <a:off x="228600" y="9400032"/>
            <a:ext cx="17830800" cy="603504"/>
          </a:xfrm>
          <a:prstGeom prst="rect">
            <a:avLst/>
          </a:prstGeom>
          <a:solidFill>
            <a:srgbClr val="560547"/>
          </a:solidFill>
          <a:ln w="12700">
            <a:solidFill>
              <a:srgbClr val="560547"/>
            </a:solidFill>
            <a:prstDash val="solid"/>
          </a:ln>
        </p:spPr>
      </p:sp>
      <p:sp>
        <p:nvSpPr>
          <p:cNvPr id="30" name="Shape 26"/>
          <p:cNvSpPr/>
          <p:nvPr/>
        </p:nvSpPr>
        <p:spPr>
          <a:xfrm>
            <a:off x="411480" y="9592056"/>
            <a:ext cx="219456" cy="219456"/>
          </a:xfrm>
          <a:prstGeom prst="rect">
            <a:avLst/>
          </a:prstGeom>
          <a:solidFill>
            <a:srgbClr val="FF9D00"/>
          </a:solidFill>
          <a:ln w="12700">
            <a:solidFill>
              <a:srgbClr val="FF9D00"/>
            </a:solidFill>
            <a:prstDash val="solid"/>
          </a:ln>
        </p:spPr>
      </p:sp>
      <p:sp>
        <p:nvSpPr>
          <p:cNvPr id="31" name="Text 27"/>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Keep the B2B risk model: price-check before listing, show demand by pin-code, make only what is pre-ordered, and hand over in bulk to a Factory Node that runs unit operations.</a:t>
            </a:r>
            <a:endParaRPr lang="en-US" sz="1400" dirty="0"/>
          </a:p>
        </p:txBody>
      </p:sp>
      <p:pic>
        <p:nvPicPr>
          <p:cNvPr id="32"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4" name="Shape 28"/>
          <p:cNvSpPr/>
          <p:nvPr/>
        </p:nvSpPr>
        <p:spPr>
          <a:xfrm>
            <a:off x="749808" y="1426464"/>
            <a:ext cx="17309592" cy="2103120"/>
          </a:xfrm>
          <a:prstGeom prst="rect">
            <a:avLst/>
          </a:prstGeom>
          <a:solidFill>
            <a:srgbClr val="FFFFFF"/>
          </a:solidFill>
          <a:ln w="9525">
            <a:solidFill>
              <a:srgbClr val="E0CEDA"/>
            </a:solidFill>
            <a:prstDash val="solid"/>
          </a:ln>
        </p:spPr>
      </p:sp>
      <p:sp>
        <p:nvSpPr>
          <p:cNvPr id="35" name="Shape 29"/>
          <p:cNvSpPr/>
          <p:nvPr/>
        </p:nvSpPr>
        <p:spPr>
          <a:xfrm>
            <a:off x="749808" y="1426464"/>
            <a:ext cx="17309592" cy="329184"/>
          </a:xfrm>
          <a:prstGeom prst="rect">
            <a:avLst/>
          </a:prstGeom>
          <a:solidFill>
            <a:srgbClr val="560547"/>
          </a:solidFill>
          <a:ln w="12700">
            <a:solidFill>
              <a:srgbClr val="560547"/>
            </a:solidFill>
            <a:prstDash val="solid"/>
          </a:ln>
        </p:spPr>
      </p:sp>
      <p:pic>
        <p:nvPicPr>
          <p:cNvPr id="36" name="Image 3" descr="/private/tmp/claude-501/-Users-prathmeshwalimbe-Downloads-Meesho/dfec39d5-f971-4a3a-8cfb-761f4ef1fedb/scratchpad/deck/assets/icons/FaIndustry_w.png">    </p:cNvPr>
          <p:cNvPicPr>
            <a:picLocks noChangeAspect="1"/>
          </p:cNvPicPr>
          <p:nvPr/>
        </p:nvPicPr>
        <p:blipFill>
          <a:blip r:embed="rId4"/>
          <a:stretch>
            <a:fillRect/>
          </a:stretch>
        </p:blipFill>
        <p:spPr>
          <a:xfrm>
            <a:off x="859536" y="1490472"/>
            <a:ext cx="201168" cy="201168"/>
          </a:xfrm>
          <a:prstGeom prst="rect">
            <a:avLst/>
          </a:prstGeom>
        </p:spPr>
      </p:pic>
      <p:sp>
        <p:nvSpPr>
          <p:cNvPr id="37" name="Text 30"/>
          <p:cNvSpPr txBox="1"/>
          <p:nvPr/>
        </p:nvSpPr>
        <p:spPr>
          <a:xfrm>
            <a:off x="1133856" y="1426464"/>
            <a:ext cx="16797528"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THE MADE-TO-MEESHO FLOW · ONE MANUFACTURER, END TO END</a:t>
            </a:r>
            <a:endParaRPr lang="en-US" sz="1250" dirty="0"/>
          </a:p>
        </p:txBody>
      </p:sp>
      <p:sp>
        <p:nvSpPr>
          <p:cNvPr id="38" name="Text 31"/>
          <p:cNvSpPr txBox="1"/>
          <p:nvPr/>
        </p:nvSpPr>
        <p:spPr>
          <a:xfrm>
            <a:off x="14218920" y="1426464"/>
            <a:ext cx="3712464" cy="329184"/>
          </a:xfrm>
          <a:prstGeom prst="rect">
            <a:avLst/>
          </a:prstGeom>
          <a:noFill/>
          <a:ln/>
        </p:spPr>
        <p:txBody>
          <a:bodyPr wrap="square" lIns="0" tIns="0" rIns="0" bIns="0" rtlCol="0" anchor="ctr"/>
          <a:lstStyle/>
          <a:p>
            <a:pPr algn="r" indent="0" marL="0">
              <a:lnSpc>
                <a:spcPct val="100000"/>
              </a:lnSpc>
              <a:buNone/>
            </a:pPr>
            <a:r>
              <a:rPr lang="en-US" sz="1050" i="1" dirty="0">
                <a:solidFill>
                  <a:srgbClr val="F3D6E6"/>
                </a:solidFill>
                <a:latin typeface="Calibri" pitchFamily="34" charset="0"/>
                <a:ea typeface="Calibri" pitchFamily="34" charset="-122"/>
                <a:cs typeface="Calibri" pitchFamily="34" charset="-120"/>
              </a:rPr>
              <a:t>numbers from the working prototype</a:t>
            </a:r>
            <a:endParaRPr lang="en-US" sz="1050" dirty="0"/>
          </a:p>
        </p:txBody>
      </p:sp>
      <p:sp>
        <p:nvSpPr>
          <p:cNvPr id="39" name="Shape 32"/>
          <p:cNvSpPr/>
          <p:nvPr/>
        </p:nvSpPr>
        <p:spPr>
          <a:xfrm>
            <a:off x="1969770" y="1865376"/>
            <a:ext cx="658368" cy="658368"/>
          </a:xfrm>
          <a:prstGeom prst="ellipse">
            <a:avLst/>
          </a:prstGeom>
          <a:solidFill>
            <a:srgbClr val="560547"/>
          </a:solidFill>
          <a:ln w="12700">
            <a:solidFill>
              <a:srgbClr val="560547"/>
            </a:solidFill>
            <a:prstDash val="solid"/>
          </a:ln>
        </p:spPr>
      </p:sp>
      <p:pic>
        <p:nvPicPr>
          <p:cNvPr id="40" name="Image 4" descr="/private/tmp/claude-501/-Users-prathmeshwalimbe-Downloads-Meesho/dfec39d5-f971-4a3a-8cfb-761f4ef1fedb/scratchpad/deck/assets/icons/FaCalculator_w.png">    </p:cNvPr>
          <p:cNvPicPr>
            <a:picLocks noChangeAspect="1"/>
          </p:cNvPicPr>
          <p:nvPr/>
        </p:nvPicPr>
        <p:blipFill>
          <a:blip r:embed="rId5"/>
          <a:stretch>
            <a:fillRect/>
          </a:stretch>
        </p:blipFill>
        <p:spPr>
          <a:xfrm>
            <a:off x="2127778" y="2023384"/>
            <a:ext cx="342351" cy="342351"/>
          </a:xfrm>
          <a:prstGeom prst="rect">
            <a:avLst/>
          </a:prstGeom>
        </p:spPr>
      </p:pic>
      <p:sp>
        <p:nvSpPr>
          <p:cNvPr id="41" name="Shape 33"/>
          <p:cNvSpPr/>
          <p:nvPr/>
        </p:nvSpPr>
        <p:spPr>
          <a:xfrm>
            <a:off x="2710434" y="2194560"/>
            <a:ext cx="2019300" cy="914"/>
          </a:xfrm>
          <a:prstGeom prst="line">
            <a:avLst/>
          </a:prstGeom>
          <a:noFill/>
          <a:ln w="19050">
            <a:solidFill>
              <a:srgbClr val="8A245E"/>
            </a:solidFill>
            <a:prstDash val="dash"/>
            <a:tailEnd type="triangle"/>
          </a:ln>
        </p:spPr>
      </p:sp>
      <p:sp>
        <p:nvSpPr>
          <p:cNvPr id="42" name="Text 34"/>
          <p:cNvSpPr txBox="1"/>
          <p:nvPr/>
        </p:nvSpPr>
        <p:spPr>
          <a:xfrm>
            <a:off x="932688" y="2596896"/>
            <a:ext cx="2732532" cy="274320"/>
          </a:xfrm>
          <a:prstGeom prst="rect">
            <a:avLst/>
          </a:prstGeom>
          <a:noFill/>
          <a:ln/>
        </p:spPr>
        <p:txBody>
          <a:bodyPr wrap="square" lIns="0" tIns="0" rIns="0" bIns="0" rtlCol="0" anchor="t"/>
          <a:lstStyle/>
          <a:p>
            <a:pPr algn="ctr" indent="0" marL="0">
              <a:lnSpc>
                <a:spcPct val="100000"/>
              </a:lnSpc>
              <a:buNone/>
            </a:pPr>
            <a:r>
              <a:rPr lang="en-US" sz="1200" b="1" dirty="0">
                <a:solidFill>
                  <a:srgbClr val="560547"/>
                </a:solidFill>
                <a:latin typeface="Arial" pitchFamily="34" charset="0"/>
                <a:ea typeface="Arial" pitchFamily="34" charset="-122"/>
                <a:cs typeface="Arial" pitchFamily="34" charset="-120"/>
              </a:rPr>
              <a:t>1 · Price check</a:t>
            </a:r>
            <a:endParaRPr lang="en-US" sz="1200" dirty="0"/>
          </a:p>
        </p:txBody>
      </p:sp>
      <p:sp>
        <p:nvSpPr>
          <p:cNvPr id="43" name="Text 35"/>
          <p:cNvSpPr txBox="1"/>
          <p:nvPr/>
        </p:nvSpPr>
        <p:spPr>
          <a:xfrm>
            <a:off x="969264" y="2880360"/>
            <a:ext cx="2659380" cy="502920"/>
          </a:xfrm>
          <a:prstGeom prst="rect">
            <a:avLst/>
          </a:prstGeom>
          <a:noFill/>
          <a:ln/>
        </p:spPr>
        <p:txBody>
          <a:bodyPr wrap="square" lIns="0" tIns="0" rIns="0" bIns="0" rtlCol="0" anchor="t"/>
          <a:lstStyle/>
          <a:p>
            <a:pPr algn="ctr" indent="0" marL="0">
              <a:lnSpc>
                <a:spcPct val="100000"/>
              </a:lnSpc>
              <a:buNone/>
            </a:pPr>
            <a:r>
              <a:rPr lang="en-US" sz="1100" dirty="0">
                <a:solidFill>
                  <a:srgbClr val="2B1226"/>
                </a:solidFill>
                <a:latin typeface="Calibri" pitchFamily="34" charset="0"/>
                <a:ea typeface="Calibri" pitchFamily="34" charset="-122"/>
                <a:cs typeface="Calibri" pitchFamily="34" charset="-120"/>
              </a:rPr>
              <a:t>Lowest price at 9% margin ₹213 vs ₹245 median: 13.3% below, qualifies before listing</a:t>
            </a:r>
            <a:endParaRPr lang="en-US" sz="1100" dirty="0"/>
          </a:p>
        </p:txBody>
      </p:sp>
      <p:sp>
        <p:nvSpPr>
          <p:cNvPr id="44" name="Shape 36"/>
          <p:cNvSpPr/>
          <p:nvPr/>
        </p:nvSpPr>
        <p:spPr>
          <a:xfrm>
            <a:off x="4812030" y="1865376"/>
            <a:ext cx="658368" cy="658368"/>
          </a:xfrm>
          <a:prstGeom prst="ellipse">
            <a:avLst/>
          </a:prstGeom>
          <a:solidFill>
            <a:srgbClr val="560547"/>
          </a:solidFill>
          <a:ln w="12700">
            <a:solidFill>
              <a:srgbClr val="560547"/>
            </a:solidFill>
            <a:prstDash val="solid"/>
          </a:ln>
        </p:spPr>
      </p:sp>
      <p:pic>
        <p:nvPicPr>
          <p:cNvPr id="45" name="Image 5" descr="/private/tmp/claude-501/-Users-prathmeshwalimbe-Downloads-Meesho/dfec39d5-f971-4a3a-8cfb-761f4ef1fedb/scratchpad/deck/assets/icons/FaMapLocationDot_w.png">    </p:cNvPr>
          <p:cNvPicPr>
            <a:picLocks noChangeAspect="1"/>
          </p:cNvPicPr>
          <p:nvPr/>
        </p:nvPicPr>
        <p:blipFill>
          <a:blip r:embed="rId6"/>
          <a:stretch>
            <a:fillRect/>
          </a:stretch>
        </p:blipFill>
        <p:spPr>
          <a:xfrm>
            <a:off x="4970038" y="2023384"/>
            <a:ext cx="342351" cy="342351"/>
          </a:xfrm>
          <a:prstGeom prst="rect">
            <a:avLst/>
          </a:prstGeom>
        </p:spPr>
      </p:pic>
      <p:sp>
        <p:nvSpPr>
          <p:cNvPr id="46" name="Shape 37"/>
          <p:cNvSpPr/>
          <p:nvPr/>
        </p:nvSpPr>
        <p:spPr>
          <a:xfrm>
            <a:off x="5552694" y="2194560"/>
            <a:ext cx="2019300" cy="914"/>
          </a:xfrm>
          <a:prstGeom prst="line">
            <a:avLst/>
          </a:prstGeom>
          <a:noFill/>
          <a:ln w="19050">
            <a:solidFill>
              <a:srgbClr val="8A245E"/>
            </a:solidFill>
            <a:prstDash val="dash"/>
            <a:tailEnd type="triangle"/>
          </a:ln>
        </p:spPr>
      </p:sp>
      <p:sp>
        <p:nvSpPr>
          <p:cNvPr id="47" name="Text 38"/>
          <p:cNvSpPr txBox="1"/>
          <p:nvPr/>
        </p:nvSpPr>
        <p:spPr>
          <a:xfrm>
            <a:off x="3774948" y="2596896"/>
            <a:ext cx="2732532" cy="274320"/>
          </a:xfrm>
          <a:prstGeom prst="rect">
            <a:avLst/>
          </a:prstGeom>
          <a:noFill/>
          <a:ln/>
        </p:spPr>
        <p:txBody>
          <a:bodyPr wrap="square" lIns="0" tIns="0" rIns="0" bIns="0" rtlCol="0" anchor="t"/>
          <a:lstStyle/>
          <a:p>
            <a:pPr algn="ctr" indent="0" marL="0">
              <a:lnSpc>
                <a:spcPct val="100000"/>
              </a:lnSpc>
              <a:buNone/>
            </a:pPr>
            <a:r>
              <a:rPr lang="en-US" sz="1200" b="1" dirty="0">
                <a:solidFill>
                  <a:srgbClr val="560547"/>
                </a:solidFill>
                <a:latin typeface="Arial" pitchFamily="34" charset="0"/>
                <a:ea typeface="Arial" pitchFamily="34" charset="-122"/>
                <a:cs typeface="Arial" pitchFamily="34" charset="-120"/>
              </a:rPr>
              <a:t>2 · Demand Brief</a:t>
            </a:r>
            <a:endParaRPr lang="en-US" sz="1200" dirty="0"/>
          </a:p>
        </p:txBody>
      </p:sp>
      <p:sp>
        <p:nvSpPr>
          <p:cNvPr id="48" name="Text 39"/>
          <p:cNvSpPr txBox="1"/>
          <p:nvPr/>
        </p:nvSpPr>
        <p:spPr>
          <a:xfrm>
            <a:off x="3811524" y="2880360"/>
            <a:ext cx="2659380" cy="502920"/>
          </a:xfrm>
          <a:prstGeom prst="rect">
            <a:avLst/>
          </a:prstGeom>
          <a:noFill/>
          <a:ln/>
        </p:spPr>
        <p:txBody>
          <a:bodyPr wrap="square" lIns="0" tIns="0" rIns="0" bIns="0" rtlCol="0" anchor="t"/>
          <a:lstStyle/>
          <a:p>
            <a:pPr algn="ctr" indent="0" marL="0">
              <a:lnSpc>
                <a:spcPct val="100000"/>
              </a:lnSpc>
              <a:buNone/>
            </a:pPr>
            <a:r>
              <a:rPr lang="en-US" sz="1100" dirty="0">
                <a:solidFill>
                  <a:srgbClr val="2B1226"/>
                </a:solidFill>
                <a:latin typeface="Calibri" pitchFamily="34" charset="0"/>
                <a:ea typeface="Calibri" pitchFamily="34" charset="-122"/>
                <a:cs typeface="Calibri" pitchFamily="34" charset="-120"/>
              </a:rPr>
              <a:t>12 districts, 15,630 orders a week, price band and size mix; first batch 1,900 units</a:t>
            </a:r>
            <a:endParaRPr lang="en-US" sz="1100" dirty="0"/>
          </a:p>
        </p:txBody>
      </p:sp>
      <p:sp>
        <p:nvSpPr>
          <p:cNvPr id="49" name="Shape 40"/>
          <p:cNvSpPr/>
          <p:nvPr/>
        </p:nvSpPr>
        <p:spPr>
          <a:xfrm>
            <a:off x="7654290" y="1865376"/>
            <a:ext cx="658368" cy="658368"/>
          </a:xfrm>
          <a:prstGeom prst="ellipse">
            <a:avLst/>
          </a:prstGeom>
          <a:solidFill>
            <a:srgbClr val="560547"/>
          </a:solidFill>
          <a:ln w="12700">
            <a:solidFill>
              <a:srgbClr val="560547"/>
            </a:solidFill>
            <a:prstDash val="solid"/>
          </a:ln>
        </p:spPr>
      </p:sp>
      <p:pic>
        <p:nvPicPr>
          <p:cNvPr id="50" name="Image 6" descr="/private/tmp/claude-501/-Users-prathmeshwalimbe-Downloads-Meesho/dfec39d5-f971-4a3a-8cfb-761f4ef1fedb/scratchpad/deck/assets/icons/FaClipboardCheck_w.png">    </p:cNvPr>
          <p:cNvPicPr>
            <a:picLocks noChangeAspect="1"/>
          </p:cNvPicPr>
          <p:nvPr/>
        </p:nvPicPr>
        <p:blipFill>
          <a:blip r:embed="rId7"/>
          <a:stretch>
            <a:fillRect/>
          </a:stretch>
        </p:blipFill>
        <p:spPr>
          <a:xfrm>
            <a:off x="7812298" y="2023384"/>
            <a:ext cx="342351" cy="342351"/>
          </a:xfrm>
          <a:prstGeom prst="rect">
            <a:avLst/>
          </a:prstGeom>
        </p:spPr>
      </p:pic>
      <p:sp>
        <p:nvSpPr>
          <p:cNvPr id="51" name="Shape 41"/>
          <p:cNvSpPr/>
          <p:nvPr/>
        </p:nvSpPr>
        <p:spPr>
          <a:xfrm>
            <a:off x="8394954" y="2194560"/>
            <a:ext cx="2019300" cy="914"/>
          </a:xfrm>
          <a:prstGeom prst="line">
            <a:avLst/>
          </a:prstGeom>
          <a:noFill/>
          <a:ln w="19050">
            <a:solidFill>
              <a:srgbClr val="8A245E"/>
            </a:solidFill>
            <a:prstDash val="dash"/>
            <a:tailEnd type="triangle"/>
          </a:ln>
        </p:spPr>
      </p:sp>
      <p:sp>
        <p:nvSpPr>
          <p:cNvPr id="52" name="Text 42"/>
          <p:cNvSpPr txBox="1"/>
          <p:nvPr/>
        </p:nvSpPr>
        <p:spPr>
          <a:xfrm>
            <a:off x="6617208" y="2596896"/>
            <a:ext cx="2732532" cy="274320"/>
          </a:xfrm>
          <a:prstGeom prst="rect">
            <a:avLst/>
          </a:prstGeom>
          <a:noFill/>
          <a:ln/>
        </p:spPr>
        <p:txBody>
          <a:bodyPr wrap="square" lIns="0" tIns="0" rIns="0" bIns="0" rtlCol="0" anchor="t"/>
          <a:lstStyle/>
          <a:p>
            <a:pPr algn="ctr" indent="0" marL="0">
              <a:lnSpc>
                <a:spcPct val="100000"/>
              </a:lnSpc>
              <a:buNone/>
            </a:pPr>
            <a:r>
              <a:rPr lang="en-US" sz="1200" b="1" dirty="0">
                <a:solidFill>
                  <a:srgbClr val="560547"/>
                </a:solidFill>
                <a:latin typeface="Arial" pitchFamily="34" charset="0"/>
                <a:ea typeface="Arial" pitchFamily="34" charset="-122"/>
                <a:cs typeface="Arial" pitchFamily="34" charset="-120"/>
              </a:rPr>
              <a:t>3 · Batch window</a:t>
            </a:r>
            <a:endParaRPr lang="en-US" sz="1200" dirty="0"/>
          </a:p>
        </p:txBody>
      </p:sp>
      <p:sp>
        <p:nvSpPr>
          <p:cNvPr id="53" name="Text 43"/>
          <p:cNvSpPr txBox="1"/>
          <p:nvPr/>
        </p:nvSpPr>
        <p:spPr>
          <a:xfrm>
            <a:off x="6653784" y="2880360"/>
            <a:ext cx="2659380" cy="502920"/>
          </a:xfrm>
          <a:prstGeom prst="rect">
            <a:avLst/>
          </a:prstGeom>
          <a:noFill/>
          <a:ln/>
        </p:spPr>
        <p:txBody>
          <a:bodyPr wrap="square" lIns="0" tIns="0" rIns="0" bIns="0" rtlCol="0" anchor="t"/>
          <a:lstStyle/>
          <a:p>
            <a:pPr algn="ctr" indent="0" marL="0">
              <a:lnSpc>
                <a:spcPct val="100000"/>
              </a:lnSpc>
              <a:buNone/>
            </a:pPr>
            <a:r>
              <a:rPr lang="en-US" sz="1100" dirty="0">
                <a:solidFill>
                  <a:srgbClr val="2B1226"/>
                </a:solidFill>
                <a:latin typeface="Calibri" pitchFamily="34" charset="0"/>
                <a:ea typeface="Calibri" pitchFamily="34" charset="-122"/>
                <a:cs typeface="Calibri" pitchFamily="34" charset="-120"/>
              </a:rPr>
              <a:t>Buyers pre-order (ships in 7 days); 1,052 confirmed, make 1,210 (+15% buffer)</a:t>
            </a:r>
            <a:endParaRPr lang="en-US" sz="1100" dirty="0"/>
          </a:p>
        </p:txBody>
      </p:sp>
      <p:sp>
        <p:nvSpPr>
          <p:cNvPr id="54" name="Shape 44"/>
          <p:cNvSpPr/>
          <p:nvPr/>
        </p:nvSpPr>
        <p:spPr>
          <a:xfrm>
            <a:off x="10496550" y="1865376"/>
            <a:ext cx="658368" cy="658368"/>
          </a:xfrm>
          <a:prstGeom prst="ellipse">
            <a:avLst/>
          </a:prstGeom>
          <a:solidFill>
            <a:srgbClr val="FF9D00"/>
          </a:solidFill>
          <a:ln w="12700">
            <a:solidFill>
              <a:srgbClr val="FF9D00"/>
            </a:solidFill>
            <a:prstDash val="solid"/>
          </a:ln>
        </p:spPr>
      </p:sp>
      <p:pic>
        <p:nvPicPr>
          <p:cNvPr id="55" name="Image 7" descr="/private/tmp/claude-501/-Users-prathmeshwalimbe-Downloads-Meesho/dfec39d5-f971-4a3a-8cfb-761f4ef1fedb/scratchpad/deck/assets/icons/FaWarehouse_w.png">    </p:cNvPr>
          <p:cNvPicPr>
            <a:picLocks noChangeAspect="1"/>
          </p:cNvPicPr>
          <p:nvPr/>
        </p:nvPicPr>
        <p:blipFill>
          <a:blip r:embed="rId8"/>
          <a:stretch>
            <a:fillRect/>
          </a:stretch>
        </p:blipFill>
        <p:spPr>
          <a:xfrm>
            <a:off x="10654558" y="2023384"/>
            <a:ext cx="342351" cy="342351"/>
          </a:xfrm>
          <a:prstGeom prst="rect">
            <a:avLst/>
          </a:prstGeom>
        </p:spPr>
      </p:pic>
      <p:sp>
        <p:nvSpPr>
          <p:cNvPr id="56" name="Shape 45"/>
          <p:cNvSpPr/>
          <p:nvPr/>
        </p:nvSpPr>
        <p:spPr>
          <a:xfrm>
            <a:off x="11237214" y="2194560"/>
            <a:ext cx="2019300" cy="914"/>
          </a:xfrm>
          <a:prstGeom prst="line">
            <a:avLst/>
          </a:prstGeom>
          <a:noFill/>
          <a:ln w="19050">
            <a:solidFill>
              <a:srgbClr val="8A245E"/>
            </a:solidFill>
            <a:prstDash val="dash"/>
            <a:tailEnd type="triangle"/>
          </a:ln>
        </p:spPr>
      </p:sp>
      <p:sp>
        <p:nvSpPr>
          <p:cNvPr id="57" name="Text 46"/>
          <p:cNvSpPr txBox="1"/>
          <p:nvPr/>
        </p:nvSpPr>
        <p:spPr>
          <a:xfrm>
            <a:off x="9459468" y="2596896"/>
            <a:ext cx="2732532" cy="274320"/>
          </a:xfrm>
          <a:prstGeom prst="rect">
            <a:avLst/>
          </a:prstGeom>
          <a:noFill/>
          <a:ln/>
        </p:spPr>
        <p:txBody>
          <a:bodyPr wrap="square" lIns="0" tIns="0" rIns="0" bIns="0" rtlCol="0" anchor="t"/>
          <a:lstStyle/>
          <a:p>
            <a:pPr algn="ctr" indent="0" marL="0">
              <a:lnSpc>
                <a:spcPct val="100000"/>
              </a:lnSpc>
              <a:buNone/>
            </a:pPr>
            <a:r>
              <a:rPr lang="en-US" sz="1200" b="1" dirty="0">
                <a:solidFill>
                  <a:srgbClr val="560547"/>
                </a:solidFill>
                <a:latin typeface="Arial" pitchFamily="34" charset="0"/>
                <a:ea typeface="Arial" pitchFamily="34" charset="-122"/>
                <a:cs typeface="Arial" pitchFamily="34" charset="-120"/>
              </a:rPr>
              <a:t>4 · Bulk handover</a:t>
            </a:r>
            <a:endParaRPr lang="en-US" sz="1200" dirty="0"/>
          </a:p>
        </p:txBody>
      </p:sp>
      <p:sp>
        <p:nvSpPr>
          <p:cNvPr id="58" name="Text 47"/>
          <p:cNvSpPr txBox="1"/>
          <p:nvPr/>
        </p:nvSpPr>
        <p:spPr>
          <a:xfrm>
            <a:off x="9496044" y="2880360"/>
            <a:ext cx="2659380" cy="502920"/>
          </a:xfrm>
          <a:prstGeom prst="rect">
            <a:avLst/>
          </a:prstGeom>
          <a:noFill/>
          <a:ln/>
        </p:spPr>
        <p:txBody>
          <a:bodyPr wrap="square" lIns="0" tIns="0" rIns="0" bIns="0" rtlCol="0" anchor="t"/>
          <a:lstStyle/>
          <a:p>
            <a:pPr algn="ctr" indent="0" marL="0">
              <a:lnSpc>
                <a:spcPct val="100000"/>
              </a:lnSpc>
              <a:buNone/>
            </a:pPr>
            <a:r>
              <a:rPr lang="en-US" sz="1100" dirty="0">
                <a:solidFill>
                  <a:srgbClr val="2B1226"/>
                </a:solidFill>
                <a:latin typeface="Calibri" pitchFamily="34" charset="0"/>
                <a:ea typeface="Calibri" pitchFamily="34" charset="-122"/>
                <a:cs typeface="Calibri" pitchFamily="34" charset="-120"/>
              </a:rPr>
              <a:t>One drop at the cluster Factory Node; 30% of confirmed value, ₹67,223, paid at handover</a:t>
            </a:r>
            <a:endParaRPr lang="en-US" sz="1100" dirty="0"/>
          </a:p>
        </p:txBody>
      </p:sp>
      <p:sp>
        <p:nvSpPr>
          <p:cNvPr id="59" name="Shape 48"/>
          <p:cNvSpPr/>
          <p:nvPr/>
        </p:nvSpPr>
        <p:spPr>
          <a:xfrm>
            <a:off x="13338810" y="1865376"/>
            <a:ext cx="658368" cy="658368"/>
          </a:xfrm>
          <a:prstGeom prst="ellipse">
            <a:avLst/>
          </a:prstGeom>
          <a:solidFill>
            <a:srgbClr val="560547"/>
          </a:solidFill>
          <a:ln w="12700">
            <a:solidFill>
              <a:srgbClr val="560547"/>
            </a:solidFill>
            <a:prstDash val="solid"/>
          </a:ln>
        </p:spPr>
      </p:sp>
      <p:pic>
        <p:nvPicPr>
          <p:cNvPr id="60" name="Image 8" descr="/private/tmp/claude-501/-Users-prathmeshwalimbe-Downloads-Meesho/dfec39d5-f971-4a3a-8cfb-761f4ef1fedb/scratchpad/deck/assets/icons/FaTruckFast_w.png">    </p:cNvPr>
          <p:cNvPicPr>
            <a:picLocks noChangeAspect="1"/>
          </p:cNvPicPr>
          <p:nvPr/>
        </p:nvPicPr>
        <p:blipFill>
          <a:blip r:embed="rId9"/>
          <a:stretch>
            <a:fillRect/>
          </a:stretch>
        </p:blipFill>
        <p:spPr>
          <a:xfrm>
            <a:off x="13496818" y="2023384"/>
            <a:ext cx="342351" cy="342351"/>
          </a:xfrm>
          <a:prstGeom prst="rect">
            <a:avLst/>
          </a:prstGeom>
        </p:spPr>
      </p:pic>
      <p:sp>
        <p:nvSpPr>
          <p:cNvPr id="61" name="Shape 49"/>
          <p:cNvSpPr/>
          <p:nvPr/>
        </p:nvSpPr>
        <p:spPr>
          <a:xfrm>
            <a:off x="14079474" y="2194560"/>
            <a:ext cx="2019300" cy="914"/>
          </a:xfrm>
          <a:prstGeom prst="line">
            <a:avLst/>
          </a:prstGeom>
          <a:noFill/>
          <a:ln w="19050">
            <a:solidFill>
              <a:srgbClr val="8A245E"/>
            </a:solidFill>
            <a:prstDash val="dash"/>
            <a:tailEnd type="triangle"/>
          </a:ln>
        </p:spPr>
      </p:sp>
      <p:sp>
        <p:nvSpPr>
          <p:cNvPr id="62" name="Text 50"/>
          <p:cNvSpPr txBox="1"/>
          <p:nvPr/>
        </p:nvSpPr>
        <p:spPr>
          <a:xfrm>
            <a:off x="12301728" y="2596896"/>
            <a:ext cx="2732532" cy="274320"/>
          </a:xfrm>
          <a:prstGeom prst="rect">
            <a:avLst/>
          </a:prstGeom>
          <a:noFill/>
          <a:ln/>
        </p:spPr>
        <p:txBody>
          <a:bodyPr wrap="square" lIns="0" tIns="0" rIns="0" bIns="0" rtlCol="0" anchor="t"/>
          <a:lstStyle/>
          <a:p>
            <a:pPr algn="ctr" indent="0" marL="0">
              <a:lnSpc>
                <a:spcPct val="100000"/>
              </a:lnSpc>
              <a:buNone/>
            </a:pPr>
            <a:r>
              <a:rPr lang="en-US" sz="1200" b="1" dirty="0">
                <a:solidFill>
                  <a:srgbClr val="560547"/>
                </a:solidFill>
                <a:latin typeface="Arial" pitchFamily="34" charset="0"/>
                <a:ea typeface="Arial" pitchFamily="34" charset="-122"/>
                <a:cs typeface="Arial" pitchFamily="34" charset="-120"/>
              </a:rPr>
              <a:t>5 · Node runs unit ops</a:t>
            </a:r>
            <a:endParaRPr lang="en-US" sz="1200" dirty="0"/>
          </a:p>
        </p:txBody>
      </p:sp>
      <p:sp>
        <p:nvSpPr>
          <p:cNvPr id="63" name="Text 51"/>
          <p:cNvSpPr txBox="1"/>
          <p:nvPr/>
        </p:nvSpPr>
        <p:spPr>
          <a:xfrm>
            <a:off x="12338304" y="2880360"/>
            <a:ext cx="2659380" cy="502920"/>
          </a:xfrm>
          <a:prstGeom prst="rect">
            <a:avLst/>
          </a:prstGeom>
          <a:noFill/>
          <a:ln/>
        </p:spPr>
        <p:txBody>
          <a:bodyPr wrap="square" lIns="0" tIns="0" rIns="0" bIns="0" rtlCol="0" anchor="t"/>
          <a:lstStyle/>
          <a:p>
            <a:pPr algn="ctr" indent="0" marL="0">
              <a:lnSpc>
                <a:spcPct val="100000"/>
              </a:lnSpc>
              <a:buNone/>
            </a:pPr>
            <a:r>
              <a:rPr lang="en-US" sz="1100" dirty="0">
                <a:solidFill>
                  <a:srgbClr val="2B1226"/>
                </a:solidFill>
                <a:latin typeface="Calibri" pitchFamily="34" charset="0"/>
                <a:ea typeface="Calibri" pitchFamily="34" charset="-122"/>
                <a:cs typeface="Calibri" pitchFamily="34" charset="-120"/>
              </a:rPr>
              <a:t>Pick, pack, ship each order; returns terminate at the node, not the factory</a:t>
            </a:r>
            <a:endParaRPr lang="en-US" sz="1100" dirty="0"/>
          </a:p>
        </p:txBody>
      </p:sp>
      <p:sp>
        <p:nvSpPr>
          <p:cNvPr id="64" name="Shape 52"/>
          <p:cNvSpPr/>
          <p:nvPr/>
        </p:nvSpPr>
        <p:spPr>
          <a:xfrm>
            <a:off x="16181070" y="1865376"/>
            <a:ext cx="658368" cy="658368"/>
          </a:xfrm>
          <a:prstGeom prst="ellipse">
            <a:avLst/>
          </a:prstGeom>
          <a:solidFill>
            <a:srgbClr val="560547"/>
          </a:solidFill>
          <a:ln w="12700">
            <a:solidFill>
              <a:srgbClr val="560547"/>
            </a:solidFill>
            <a:prstDash val="solid"/>
          </a:ln>
        </p:spPr>
      </p:sp>
      <p:pic>
        <p:nvPicPr>
          <p:cNvPr id="65" name="Image 9" descr="/private/tmp/claude-501/-Users-prathmeshwalimbe-Downloads-Meesho/dfec39d5-f971-4a3a-8cfb-761f4ef1fedb/scratchpad/deck/assets/icons/FaIndianRupeeSign_w.png">    </p:cNvPr>
          <p:cNvPicPr>
            <a:picLocks noChangeAspect="1"/>
          </p:cNvPicPr>
          <p:nvPr/>
        </p:nvPicPr>
        <p:blipFill>
          <a:blip r:embed="rId10"/>
          <a:stretch>
            <a:fillRect/>
          </a:stretch>
        </p:blipFill>
        <p:spPr>
          <a:xfrm>
            <a:off x="16339078" y="2023384"/>
            <a:ext cx="342351" cy="342351"/>
          </a:xfrm>
          <a:prstGeom prst="rect">
            <a:avLst/>
          </a:prstGeom>
        </p:spPr>
      </p:pic>
      <p:sp>
        <p:nvSpPr>
          <p:cNvPr id="66" name="Text 53"/>
          <p:cNvSpPr txBox="1"/>
          <p:nvPr/>
        </p:nvSpPr>
        <p:spPr>
          <a:xfrm>
            <a:off x="15143988" y="2596896"/>
            <a:ext cx="2732532" cy="274320"/>
          </a:xfrm>
          <a:prstGeom prst="rect">
            <a:avLst/>
          </a:prstGeom>
          <a:noFill/>
          <a:ln/>
        </p:spPr>
        <p:txBody>
          <a:bodyPr wrap="square" lIns="0" tIns="0" rIns="0" bIns="0" rtlCol="0" anchor="t"/>
          <a:lstStyle/>
          <a:p>
            <a:pPr algn="ctr" indent="0" marL="0">
              <a:lnSpc>
                <a:spcPct val="100000"/>
              </a:lnSpc>
              <a:buNone/>
            </a:pPr>
            <a:r>
              <a:rPr lang="en-US" sz="1200" b="1" dirty="0">
                <a:solidFill>
                  <a:srgbClr val="560547"/>
                </a:solidFill>
                <a:latin typeface="Arial" pitchFamily="34" charset="0"/>
                <a:ea typeface="Arial" pitchFamily="34" charset="-122"/>
                <a:cs typeface="Arial" pitchFamily="34" charset="-120"/>
              </a:rPr>
              <a:t>6 · Settlement</a:t>
            </a:r>
            <a:endParaRPr lang="en-US" sz="1200" dirty="0"/>
          </a:p>
        </p:txBody>
      </p:sp>
      <p:sp>
        <p:nvSpPr>
          <p:cNvPr id="67" name="Text 54"/>
          <p:cNvSpPr txBox="1"/>
          <p:nvPr/>
        </p:nvSpPr>
        <p:spPr>
          <a:xfrm>
            <a:off x="15180564" y="2880360"/>
            <a:ext cx="2659380" cy="502920"/>
          </a:xfrm>
          <a:prstGeom prst="rect">
            <a:avLst/>
          </a:prstGeom>
          <a:noFill/>
          <a:ln/>
        </p:spPr>
        <p:txBody>
          <a:bodyPr wrap="square" lIns="0" tIns="0" rIns="0" bIns="0" rtlCol="0" anchor="t"/>
          <a:lstStyle/>
          <a:p>
            <a:pPr algn="ctr" indent="0" marL="0">
              <a:lnSpc>
                <a:spcPct val="100000"/>
              </a:lnSpc>
              <a:buNone/>
            </a:pPr>
            <a:r>
              <a:rPr lang="en-US" sz="1100" dirty="0">
                <a:solidFill>
                  <a:srgbClr val="2B1226"/>
                </a:solidFill>
                <a:latin typeface="Calibri" pitchFamily="34" charset="0"/>
                <a:ea typeface="Calibri" pitchFamily="34" charset="-122"/>
                <a:cs typeface="Calibri" pitchFamily="34" charset="-120"/>
              </a:rPr>
              <a:t>Balance 7 days after delivery: cash in ~11 days vs 50 on distributor terms</a:t>
            </a:r>
            <a:endParaRPr lang="en-US" sz="1100" dirty="0"/>
          </a:p>
        </p:txBody>
      </p:sp>
      <p:sp>
        <p:nvSpPr>
          <p:cNvPr id="68" name="Shape 55"/>
          <p:cNvSpPr/>
          <p:nvPr/>
        </p:nvSpPr>
        <p:spPr>
          <a:xfrm>
            <a:off x="749808" y="3657600"/>
            <a:ext cx="6903720" cy="3017520"/>
          </a:xfrm>
          <a:prstGeom prst="rect">
            <a:avLst/>
          </a:prstGeom>
          <a:solidFill>
            <a:srgbClr val="FFFFFF"/>
          </a:solidFill>
          <a:ln w="9525">
            <a:solidFill>
              <a:srgbClr val="E0CEDA"/>
            </a:solidFill>
            <a:prstDash val="solid"/>
          </a:ln>
        </p:spPr>
      </p:sp>
      <p:sp>
        <p:nvSpPr>
          <p:cNvPr id="69" name="Shape 56"/>
          <p:cNvSpPr/>
          <p:nvPr/>
        </p:nvSpPr>
        <p:spPr>
          <a:xfrm>
            <a:off x="749808" y="3657600"/>
            <a:ext cx="6903720" cy="329184"/>
          </a:xfrm>
          <a:prstGeom prst="rect">
            <a:avLst/>
          </a:prstGeom>
          <a:solidFill>
            <a:srgbClr val="560547"/>
          </a:solidFill>
          <a:ln w="12700">
            <a:solidFill>
              <a:srgbClr val="560547"/>
            </a:solidFill>
            <a:prstDash val="solid"/>
          </a:ln>
        </p:spPr>
      </p:sp>
      <p:pic>
        <p:nvPicPr>
          <p:cNvPr id="70" name="Image 10" descr="/private/tmp/claude-501/-Users-prathmeshwalimbe-Downloads-Meesho/dfec39d5-f971-4a3a-8cfb-761f4ef1fedb/scratchpad/deck/assets/icons/FaShieldHalved_w.png">    </p:cNvPr>
          <p:cNvPicPr>
            <a:picLocks noChangeAspect="1"/>
          </p:cNvPicPr>
          <p:nvPr/>
        </p:nvPicPr>
        <p:blipFill>
          <a:blip r:embed="rId11"/>
          <a:stretch>
            <a:fillRect/>
          </a:stretch>
        </p:blipFill>
        <p:spPr>
          <a:xfrm>
            <a:off x="859536" y="3721608"/>
            <a:ext cx="201168" cy="201168"/>
          </a:xfrm>
          <a:prstGeom prst="rect">
            <a:avLst/>
          </a:prstGeom>
        </p:spPr>
      </p:pic>
      <p:sp>
        <p:nvSpPr>
          <p:cNvPr id="71" name="Text 57"/>
          <p:cNvSpPr txBox="1"/>
          <p:nvPr/>
        </p:nvSpPr>
        <p:spPr>
          <a:xfrm>
            <a:off x="1133856" y="3657600"/>
            <a:ext cx="639165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EVERY BARRIER HAS A LEVER · COVERAGE</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77824" y="4078224"/>
          <a:ext cx="6647688" cy="914400"/>
        </p:xfrm>
        <a:graphic>
          <a:graphicData uri="http://schemas.openxmlformats.org/drawingml/2006/table">
            <a:tbl>
              <a:tblPr/>
              <a:tblGrid>
                <a:gridCol w="1783080"/>
                <a:gridCol w="810768"/>
                <a:gridCol w="810768"/>
                <a:gridCol w="810768"/>
                <a:gridCol w="810768"/>
                <a:gridCol w="810768"/>
                <a:gridCol w="810768"/>
              </a:tblGrid>
              <a:tr h="329184">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Barrier</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Price check</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Demand Brief</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Batch window</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Factory Node</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Returns firewall</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Prepay</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Unit-level fulfilment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Inventory risk</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Returns and RTO</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Unproven demand</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Cash cycle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Channel conflict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73" name="Text 58"/>
          <p:cNvSpPr txBox="1"/>
          <p:nvPr/>
        </p:nvSpPr>
        <p:spPr>
          <a:xfrm>
            <a:off x="877824" y="6455664"/>
            <a:ext cx="6647688" cy="274320"/>
          </a:xfrm>
          <a:prstGeom prst="rect">
            <a:avLst/>
          </a:prstGeom>
          <a:noFill/>
          <a:ln/>
        </p:spPr>
        <p:txBody>
          <a:bodyPr wrap="square" lIns="0" tIns="0" rIns="0" bIns="0" rtlCol="0" anchor="t"/>
          <a:lstStyle/>
          <a:p>
            <a:pPr algn="l" indent="0" marL="0">
              <a:lnSpc>
                <a:spcPct val="100000"/>
              </a:lnSpc>
              <a:buNone/>
            </a:pPr>
            <a:r>
              <a:rPr lang="en-US" sz="1050" i="1" dirty="0">
                <a:solidFill>
                  <a:srgbClr val="7A6470"/>
                </a:solidFill>
                <a:latin typeface="Calibri" pitchFamily="34" charset="0"/>
                <a:ea typeface="Calibri" pitchFamily="34" charset="-122"/>
                <a:cs typeface="Calibri" pitchFamily="34" charset="-120"/>
              </a:rPr>
              <a:t>✓ removes · – reduces. The price check prices returns in; the node cuts reverse cost; the firewall caps the rest.</a:t>
            </a:r>
            <a:endParaRPr lang="en-US" sz="1050" dirty="0"/>
          </a:p>
        </p:txBody>
      </p:sp>
      <p:sp>
        <p:nvSpPr>
          <p:cNvPr id="74" name="Shape 59"/>
          <p:cNvSpPr/>
          <p:nvPr/>
        </p:nvSpPr>
        <p:spPr>
          <a:xfrm>
            <a:off x="7781544" y="3657600"/>
            <a:ext cx="4983480" cy="3017520"/>
          </a:xfrm>
          <a:prstGeom prst="rect">
            <a:avLst/>
          </a:prstGeom>
          <a:solidFill>
            <a:srgbClr val="FFFFFF"/>
          </a:solidFill>
          <a:ln w="9525">
            <a:solidFill>
              <a:srgbClr val="E0CEDA"/>
            </a:solidFill>
            <a:prstDash val="solid"/>
          </a:ln>
        </p:spPr>
      </p:sp>
      <p:sp>
        <p:nvSpPr>
          <p:cNvPr id="75" name="Shape 60"/>
          <p:cNvSpPr/>
          <p:nvPr/>
        </p:nvSpPr>
        <p:spPr>
          <a:xfrm>
            <a:off x="7781544" y="3657600"/>
            <a:ext cx="4983480" cy="329184"/>
          </a:xfrm>
          <a:prstGeom prst="rect">
            <a:avLst/>
          </a:prstGeom>
          <a:solidFill>
            <a:srgbClr val="560547"/>
          </a:solidFill>
          <a:ln w="12700">
            <a:solidFill>
              <a:srgbClr val="560547"/>
            </a:solidFill>
            <a:prstDash val="solid"/>
          </a:ln>
        </p:spPr>
      </p:sp>
      <p:pic>
        <p:nvPicPr>
          <p:cNvPr id="76" name="Image 11" descr="/private/tmp/claude-501/-Users-prathmeshwalimbe-Downloads-Meesho/dfec39d5-f971-4a3a-8cfb-761f4ef1fedb/scratchpad/deck/assets/icons/FaUserTie_w.png">    </p:cNvPr>
          <p:cNvPicPr>
            <a:picLocks noChangeAspect="1"/>
          </p:cNvPicPr>
          <p:nvPr/>
        </p:nvPicPr>
        <p:blipFill>
          <a:blip r:embed="rId12"/>
          <a:stretch>
            <a:fillRect/>
          </a:stretch>
        </p:blipFill>
        <p:spPr>
          <a:xfrm>
            <a:off x="7891272" y="3721608"/>
            <a:ext cx="201168" cy="201168"/>
          </a:xfrm>
          <a:prstGeom prst="rect">
            <a:avLst/>
          </a:prstGeom>
        </p:spPr>
      </p:pic>
      <p:sp>
        <p:nvSpPr>
          <p:cNvPr id="77" name="Text 61"/>
          <p:cNvSpPr txBox="1"/>
          <p:nvPr/>
        </p:nvSpPr>
        <p:spPr>
          <a:xfrm>
            <a:off x="8165592" y="3657600"/>
            <a:ext cx="447141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SUPPORT STACK BY COHORT</a:t>
            </a:r>
            <a:endParaRPr lang="en-US" sz="1250" dirty="0"/>
          </a:p>
        </p:txBody>
      </p:sp>
      <p:sp>
        <p:nvSpPr>
          <p:cNvPr id="78" name="Shape 62"/>
          <p:cNvSpPr/>
          <p:nvPr/>
        </p:nvSpPr>
        <p:spPr>
          <a:xfrm>
            <a:off x="7909560" y="4078224"/>
            <a:ext cx="502920" cy="731520"/>
          </a:xfrm>
          <a:prstGeom prst="roundRect">
            <a:avLst>
              <a:gd name="adj" fmla="val 10909"/>
            </a:avLst>
          </a:prstGeom>
          <a:solidFill>
            <a:srgbClr val="560547"/>
          </a:solidFill>
          <a:ln w="12700">
            <a:solidFill>
              <a:srgbClr val="560547"/>
            </a:solidFill>
            <a:prstDash val="solid"/>
          </a:ln>
        </p:spPr>
      </p:sp>
      <p:sp>
        <p:nvSpPr>
          <p:cNvPr id="79" name="Text 63"/>
          <p:cNvSpPr txBox="1"/>
          <p:nvPr/>
        </p:nvSpPr>
        <p:spPr>
          <a:xfrm>
            <a:off x="7909560" y="4078224"/>
            <a:ext cx="502920" cy="731520"/>
          </a:xfrm>
          <a:prstGeom prst="rect">
            <a:avLst/>
          </a:prstGeom>
          <a:noFill/>
          <a:ln/>
        </p:spPr>
        <p:txBody>
          <a:bodyPr wrap="square" lIns="0" tIns="0" rIns="0" bIns="0" rtlCol="0" anchor="ctr"/>
          <a:lstStyle/>
          <a:p>
            <a:pPr algn="ctr" indent="0" marL="0">
              <a:lnSpc>
                <a:spcPct val="100000"/>
              </a:lnSpc>
              <a:buNone/>
            </a:pPr>
            <a:r>
              <a:rPr lang="en-US" sz="2000" b="1" dirty="0">
                <a:solidFill>
                  <a:srgbClr val="FFFFFF"/>
                </a:solidFill>
                <a:latin typeface="Arial" pitchFamily="34" charset="0"/>
                <a:ea typeface="Arial" pitchFamily="34" charset="-122"/>
                <a:cs typeface="Arial" pitchFamily="34" charset="-120"/>
              </a:rPr>
              <a:t>A</a:t>
            </a:r>
            <a:endParaRPr lang="en-US" sz="2000" dirty="0"/>
          </a:p>
        </p:txBody>
      </p:sp>
      <p:sp>
        <p:nvSpPr>
          <p:cNvPr id="80" name="Text 64"/>
          <p:cNvSpPr txBox="1"/>
          <p:nvPr/>
        </p:nvSpPr>
        <p:spPr>
          <a:xfrm>
            <a:off x="8531352" y="4078224"/>
            <a:ext cx="4105656" cy="237744"/>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Offline B2B</a:t>
            </a:r>
            <a:endParaRPr lang="en-US" sz="1150" dirty="0"/>
          </a:p>
        </p:txBody>
      </p:sp>
      <p:sp>
        <p:nvSpPr>
          <p:cNvPr id="81" name="Text 65"/>
          <p:cNvSpPr txBox="1"/>
          <p:nvPr/>
        </p:nvSpPr>
        <p:spPr>
          <a:xfrm>
            <a:off x="8531352" y="4315968"/>
            <a:ext cx="4105656" cy="54864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Cluster co-op onboarding (40–60 at a time) · price check · briefs · batch window · Factory Node · 30% prepayment</a:t>
            </a:r>
            <a:endParaRPr lang="en-US" sz="1100" dirty="0"/>
          </a:p>
        </p:txBody>
      </p:sp>
      <p:sp>
        <p:nvSpPr>
          <p:cNvPr id="82" name="Shape 66"/>
          <p:cNvSpPr/>
          <p:nvPr/>
        </p:nvSpPr>
        <p:spPr>
          <a:xfrm>
            <a:off x="7909560" y="4919472"/>
            <a:ext cx="502920" cy="731520"/>
          </a:xfrm>
          <a:prstGeom prst="roundRect">
            <a:avLst>
              <a:gd name="adj" fmla="val 10909"/>
            </a:avLst>
          </a:prstGeom>
          <a:solidFill>
            <a:srgbClr val="560547"/>
          </a:solidFill>
          <a:ln w="12700">
            <a:solidFill>
              <a:srgbClr val="560547"/>
            </a:solidFill>
            <a:prstDash val="solid"/>
          </a:ln>
        </p:spPr>
      </p:sp>
      <p:sp>
        <p:nvSpPr>
          <p:cNvPr id="83" name="Text 67"/>
          <p:cNvSpPr txBox="1"/>
          <p:nvPr/>
        </p:nvSpPr>
        <p:spPr>
          <a:xfrm>
            <a:off x="7909560" y="4919472"/>
            <a:ext cx="502920" cy="731520"/>
          </a:xfrm>
          <a:prstGeom prst="rect">
            <a:avLst/>
          </a:prstGeom>
          <a:noFill/>
          <a:ln/>
        </p:spPr>
        <p:txBody>
          <a:bodyPr wrap="square" lIns="0" tIns="0" rIns="0" bIns="0" rtlCol="0" anchor="ctr"/>
          <a:lstStyle/>
          <a:p>
            <a:pPr algn="ctr" indent="0" marL="0">
              <a:lnSpc>
                <a:spcPct val="100000"/>
              </a:lnSpc>
              <a:buNone/>
            </a:pPr>
            <a:r>
              <a:rPr lang="en-US" sz="2000" b="1" dirty="0">
                <a:solidFill>
                  <a:srgbClr val="FFFFFF"/>
                </a:solidFill>
                <a:latin typeface="Arial" pitchFamily="34" charset="0"/>
                <a:ea typeface="Arial" pitchFamily="34" charset="-122"/>
                <a:cs typeface="Arial" pitchFamily="34" charset="-120"/>
              </a:rPr>
              <a:t>B</a:t>
            </a:r>
            <a:endParaRPr lang="en-US" sz="2000" dirty="0"/>
          </a:p>
        </p:txBody>
      </p:sp>
      <p:sp>
        <p:nvSpPr>
          <p:cNvPr id="84" name="Text 68"/>
          <p:cNvSpPr txBox="1"/>
          <p:nvPr/>
        </p:nvSpPr>
        <p:spPr>
          <a:xfrm>
            <a:off x="8531352" y="4919472"/>
            <a:ext cx="4105656" cy="237744"/>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Online elsewhere</a:t>
            </a:r>
            <a:endParaRPr lang="en-US" sz="1150" dirty="0"/>
          </a:p>
        </p:txBody>
      </p:sp>
      <p:sp>
        <p:nvSpPr>
          <p:cNvPr id="85" name="Text 69"/>
          <p:cNvSpPr txBox="1"/>
          <p:nvPr/>
        </p:nvSpPr>
        <p:spPr>
          <a:xfrm>
            <a:off x="8531352" y="5157216"/>
            <a:ext cx="4105656" cy="54864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Price check → separate value-tier SKUs (not a discount) · briefs · may self-ship</a:t>
            </a:r>
            <a:endParaRPr lang="en-US" sz="1100" dirty="0"/>
          </a:p>
        </p:txBody>
      </p:sp>
      <p:sp>
        <p:nvSpPr>
          <p:cNvPr id="86" name="Shape 70"/>
          <p:cNvSpPr/>
          <p:nvPr/>
        </p:nvSpPr>
        <p:spPr>
          <a:xfrm>
            <a:off x="7909560" y="5760720"/>
            <a:ext cx="502920" cy="731520"/>
          </a:xfrm>
          <a:prstGeom prst="roundRect">
            <a:avLst>
              <a:gd name="adj" fmla="val 10909"/>
            </a:avLst>
          </a:prstGeom>
          <a:solidFill>
            <a:srgbClr val="560547"/>
          </a:solidFill>
          <a:ln w="12700">
            <a:solidFill>
              <a:srgbClr val="560547"/>
            </a:solidFill>
            <a:prstDash val="solid"/>
          </a:ln>
        </p:spPr>
      </p:sp>
      <p:sp>
        <p:nvSpPr>
          <p:cNvPr id="87" name="Text 71"/>
          <p:cNvSpPr txBox="1"/>
          <p:nvPr/>
        </p:nvSpPr>
        <p:spPr>
          <a:xfrm>
            <a:off x="7909560" y="5760720"/>
            <a:ext cx="502920" cy="731520"/>
          </a:xfrm>
          <a:prstGeom prst="rect">
            <a:avLst/>
          </a:prstGeom>
          <a:noFill/>
          <a:ln/>
        </p:spPr>
        <p:txBody>
          <a:bodyPr wrap="square" lIns="0" tIns="0" rIns="0" bIns="0" rtlCol="0" anchor="ctr"/>
          <a:lstStyle/>
          <a:p>
            <a:pPr algn="ctr" indent="0" marL="0">
              <a:lnSpc>
                <a:spcPct val="100000"/>
              </a:lnSpc>
              <a:buNone/>
            </a:pPr>
            <a:r>
              <a:rPr lang="en-US" sz="2000" b="1" dirty="0">
                <a:solidFill>
                  <a:srgbClr val="FFFFFF"/>
                </a:solidFill>
                <a:latin typeface="Arial" pitchFamily="34" charset="0"/>
                <a:ea typeface="Arial" pitchFamily="34" charset="-122"/>
                <a:cs typeface="Arial" pitchFamily="34" charset="-120"/>
              </a:rPr>
              <a:t>C</a:t>
            </a:r>
            <a:endParaRPr lang="en-US" sz="2000" dirty="0"/>
          </a:p>
        </p:txBody>
      </p:sp>
      <p:sp>
        <p:nvSpPr>
          <p:cNvPr id="88" name="Text 72"/>
          <p:cNvSpPr txBox="1"/>
          <p:nvPr/>
        </p:nvSpPr>
        <p:spPr>
          <a:xfrm>
            <a:off x="8531352" y="5760720"/>
            <a:ext cx="4105656" cy="237744"/>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Arial" pitchFamily="34" charset="0"/>
                <a:ea typeface="Arial" pitchFamily="34" charset="-122"/>
                <a:cs typeface="Arial" pitchFamily="34" charset="-120"/>
              </a:rPr>
              <a:t>Churned</a:t>
            </a:r>
            <a:endParaRPr lang="en-US" sz="1150" dirty="0"/>
          </a:p>
        </p:txBody>
      </p:sp>
      <p:sp>
        <p:nvSpPr>
          <p:cNvPr id="89" name="Text 73"/>
          <p:cNvSpPr txBox="1"/>
          <p:nvPr/>
        </p:nvSpPr>
        <p:spPr>
          <a:xfrm>
            <a:off x="8531352" y="5998464"/>
            <a:ext cx="4105656" cy="548640"/>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Returns firewall (capped exposure) · health-score re-entry · catalogue and KYC reused</a:t>
            </a:r>
            <a:endParaRPr lang="en-US" sz="1100" dirty="0"/>
          </a:p>
        </p:txBody>
      </p:sp>
      <p:sp>
        <p:nvSpPr>
          <p:cNvPr id="90" name="Shape 74"/>
          <p:cNvSpPr/>
          <p:nvPr/>
        </p:nvSpPr>
        <p:spPr>
          <a:xfrm>
            <a:off x="12893040" y="3657600"/>
            <a:ext cx="5166360" cy="3017520"/>
          </a:xfrm>
          <a:prstGeom prst="rect">
            <a:avLst/>
          </a:prstGeom>
          <a:solidFill>
            <a:srgbClr val="FFFFFF"/>
          </a:solidFill>
          <a:ln w="9525">
            <a:solidFill>
              <a:srgbClr val="E0CEDA"/>
            </a:solidFill>
            <a:prstDash val="solid"/>
          </a:ln>
        </p:spPr>
      </p:sp>
      <p:sp>
        <p:nvSpPr>
          <p:cNvPr id="91" name="Shape 75"/>
          <p:cNvSpPr/>
          <p:nvPr/>
        </p:nvSpPr>
        <p:spPr>
          <a:xfrm>
            <a:off x="12893040" y="3657600"/>
            <a:ext cx="5166360" cy="329184"/>
          </a:xfrm>
          <a:prstGeom prst="rect">
            <a:avLst/>
          </a:prstGeom>
          <a:solidFill>
            <a:srgbClr val="560547"/>
          </a:solidFill>
          <a:ln w="12700">
            <a:solidFill>
              <a:srgbClr val="560547"/>
            </a:solidFill>
            <a:prstDash val="solid"/>
          </a:ln>
        </p:spPr>
      </p:sp>
      <p:pic>
        <p:nvPicPr>
          <p:cNvPr id="92" name="Image 12" descr="/private/tmp/claude-501/-Users-prathmeshwalimbe-Downloads-Meesho/dfec39d5-f971-4a3a-8cfb-761f4ef1fedb/scratchpad/deck/assets/icons/FaGlobe_w.png">    </p:cNvPr>
          <p:cNvPicPr>
            <a:picLocks noChangeAspect="1"/>
          </p:cNvPicPr>
          <p:nvPr/>
        </p:nvPicPr>
        <p:blipFill>
          <a:blip r:embed="rId13"/>
          <a:stretch>
            <a:fillRect/>
          </a:stretch>
        </p:blipFill>
        <p:spPr>
          <a:xfrm>
            <a:off x="13002768" y="3721608"/>
            <a:ext cx="201168" cy="201168"/>
          </a:xfrm>
          <a:prstGeom prst="rect">
            <a:avLst/>
          </a:prstGeom>
        </p:spPr>
      </p:pic>
      <p:sp>
        <p:nvSpPr>
          <p:cNvPr id="93" name="Text 76"/>
          <p:cNvSpPr txBox="1"/>
          <p:nvPr/>
        </p:nvSpPr>
        <p:spPr>
          <a:xfrm>
            <a:off x="13277088" y="3657600"/>
            <a:ext cx="465429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PRECEDENT · WHAT WE COPY, WHAT WE AVOID</a:t>
            </a:r>
            <a:endParaRPr lang="en-US" sz="12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13021056" y="4078224"/>
          <a:ext cx="4910328" cy="914400"/>
        </p:xfrm>
        <a:graphic>
          <a:graphicData uri="http://schemas.openxmlformats.org/drawingml/2006/table">
            <a:tbl>
              <a:tblPr/>
              <a:tblGrid>
                <a:gridCol w="1234440"/>
                <a:gridCol w="1837944"/>
                <a:gridCol w="1837944"/>
              </a:tblGrid>
              <a:tr h="45720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Platform</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Mechanic</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Result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457200">
                <a:tc>
                  <a:txBody>
                    <a:bodyPr/>
                    <a:lstStyle/>
                    <a:p>
                      <a:pPr algn="l" indent="0" marL="0">
                        <a:buNone/>
                      </a:pPr>
                      <a:r>
                        <a:rPr lang="en-US" sz="1050" b="1" dirty="0">
                          <a:solidFill>
                            <a:srgbClr val="1E8E5A"/>
                          </a:solidFill>
                          <a:latin typeface="Calibri" pitchFamily="34" charset="0"/>
                          <a:ea typeface="Calibri" pitchFamily="34" charset="-122"/>
                          <a:cs typeface="Calibri" pitchFamily="34" charset="-120"/>
                        </a:rPr>
                        <a:t>Copy · Pinduoduo</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Anonymised demand data to factories (New Brand Initiative)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900+ factories, 2,200+ custom SKUs, 115 mn orders by end-2019</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8E5A"/>
                          </a:solidFill>
                          <a:latin typeface="Calibri" pitchFamily="34" charset="0"/>
                          <a:ea typeface="Calibri" pitchFamily="34" charset="-122"/>
                          <a:cs typeface="Calibri" pitchFamily="34" charset="-120"/>
                        </a:rPr>
                        <a:t>Copy · Temu</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Semi-managed: bulk to local warehouses, platform runs storefront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Targeted 60–80% of US GMV in 2025</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C0392B"/>
                          </a:solidFill>
                          <a:latin typeface="Calibri" pitchFamily="34" charset="0"/>
                          <a:ea typeface="Calibri" pitchFamily="34" charset="-122"/>
                          <a:cs typeface="Calibri" pitchFamily="34" charset="-120"/>
                        </a:rPr>
                        <a:t>Avoid · Shein Brazil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Demanded ~30% price cuts and faster delivery from factories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336 signed vs 2,000 target; 1 still producing (Reuters, Feb 2026)</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95" name="Text 77"/>
          <p:cNvSpPr txBox="1"/>
          <p:nvPr/>
        </p:nvSpPr>
        <p:spPr>
          <a:xfrm>
            <a:off x="13021056" y="6163056"/>
            <a:ext cx="4910328" cy="411480"/>
          </a:xfrm>
          <a:prstGeom prst="rect">
            <a:avLst/>
          </a:prstGeom>
          <a:noFill/>
          <a:ln/>
        </p:spPr>
        <p:txBody>
          <a:bodyPr wrap="square" lIns="0" tIns="0" rIns="0" bIns="0" rtlCol="0" anchor="t"/>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Lesson: </a:t>
            </a:r>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fix the operating model and measure the gap that already exists. Never ask a factory for a price cut.</a:t>
            </a:r>
            <a:endParaRPr lang="en-US" sz="1100" dirty="0"/>
          </a:p>
        </p:txBody>
      </p:sp>
      <p:sp>
        <p:nvSpPr>
          <p:cNvPr id="96" name="Shape 78"/>
          <p:cNvSpPr/>
          <p:nvPr/>
        </p:nvSpPr>
        <p:spPr>
          <a:xfrm>
            <a:off x="749808" y="6803136"/>
            <a:ext cx="9555480" cy="2212848"/>
          </a:xfrm>
          <a:prstGeom prst="rect">
            <a:avLst/>
          </a:prstGeom>
          <a:solidFill>
            <a:srgbClr val="FFFFFF"/>
          </a:solidFill>
          <a:ln w="9525">
            <a:solidFill>
              <a:srgbClr val="E0CEDA"/>
            </a:solidFill>
            <a:prstDash val="solid"/>
          </a:ln>
        </p:spPr>
      </p:sp>
      <p:sp>
        <p:nvSpPr>
          <p:cNvPr id="97" name="Shape 79"/>
          <p:cNvSpPr/>
          <p:nvPr/>
        </p:nvSpPr>
        <p:spPr>
          <a:xfrm>
            <a:off x="749808" y="6803136"/>
            <a:ext cx="9555480" cy="329184"/>
          </a:xfrm>
          <a:prstGeom prst="rect">
            <a:avLst/>
          </a:prstGeom>
          <a:solidFill>
            <a:srgbClr val="8A245E"/>
          </a:solidFill>
          <a:ln w="12700">
            <a:solidFill>
              <a:srgbClr val="8A245E"/>
            </a:solidFill>
            <a:prstDash val="solid"/>
          </a:ln>
        </p:spPr>
      </p:sp>
      <p:pic>
        <p:nvPicPr>
          <p:cNvPr id="98" name="Image 13" descr="/private/tmp/claude-501/-Users-prathmeshwalimbe-Downloads-Meesho/dfec39d5-f971-4a3a-8cfb-761f4ef1fedb/scratchpad/deck/assets/icons/FaWarehouse_w.png">    </p:cNvPr>
          <p:cNvPicPr>
            <a:picLocks noChangeAspect="1"/>
          </p:cNvPicPr>
          <p:nvPr/>
        </p:nvPicPr>
        <p:blipFill>
          <a:blip r:embed="rId14"/>
          <a:stretch>
            <a:fillRect/>
          </a:stretch>
        </p:blipFill>
        <p:spPr>
          <a:xfrm>
            <a:off x="859536" y="6867144"/>
            <a:ext cx="201168" cy="201168"/>
          </a:xfrm>
          <a:prstGeom prst="rect">
            <a:avLst/>
          </a:prstGeom>
        </p:spPr>
      </p:pic>
      <p:sp>
        <p:nvSpPr>
          <p:cNvPr id="99" name="Text 80"/>
          <p:cNvSpPr txBox="1"/>
          <p:nvPr/>
        </p:nvSpPr>
        <p:spPr>
          <a:xfrm>
            <a:off x="1133856" y="6803136"/>
            <a:ext cx="904341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ASSISTED OPERATIONS · WHAT THE FACTORY NODE BUYS (₹98 COST, 9% MARGIN)</a:t>
            </a:r>
            <a:endParaRPr lang="en-US" sz="1250" dirty="0"/>
          </a:p>
        </p:txBody>
      </p:sp>
      <p:graphicFrame>
        <p:nvGraphicFramePr>
          <p:cNvPr id="16" name="Table 2"/>
          <p:cNvGraphicFramePr>
            <a:graphicFrameLocks noGrp="1"/>
          </p:cNvGraphicFramePr>
          <p:nvPr>
            <p:extLst>
              <p:ext uri="{D42A27DB-BD31-4B8C-83A1-F6EECF244321}">
                <p14:modId xmlns:p14="http://schemas.microsoft.com/office/powerpoint/2010/main" val="1579011935"/>
              </p:ext>
            </p:extLst>
          </p:nvPr>
        </p:nvGraphicFramePr>
        <p:xfrm>
          <a:off x="877824" y="7223760"/>
          <a:ext cx="9299448" cy="914400"/>
        </p:xfrm>
        <a:graphic>
          <a:graphicData uri="http://schemas.openxmlformats.org/drawingml/2006/table">
            <a:tbl>
              <a:tblPr/>
              <a:tblGrid>
                <a:gridCol w="2103120"/>
                <a:gridCol w="1439266"/>
                <a:gridCol w="1439266"/>
                <a:gridCol w="1439266"/>
                <a:gridCol w="1439266"/>
                <a:gridCol w="1439266"/>
              </a:tblGrid>
              <a:tr h="365760">
                <a:tc>
                  <a:txBody>
                    <a:bodyPr/>
                    <a:lstStyle/>
                    <a:p>
                      <a:pPr algn="ctr" indent="0" marL="0">
                        <a:buNone/>
                      </a:pP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Lowest viable price</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Below market median</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Return cost / unit kept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Margin at ₹221</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C2M badge</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65760">
                <a:tc>
                  <a:txBody>
                    <a:bodyPr/>
                    <a:lstStyle/>
                    <a:p>
                      <a:pPr algn="ctr" indent="0" marL="0">
                        <a:buNone/>
                      </a:pPr>
                      <a:r>
                        <a:rPr lang="en-US" sz="1100" b="1" dirty="0">
                          <a:solidFill>
                            <a:srgbClr val="2B1226"/>
                          </a:solidFill>
                          <a:latin typeface="Calibri" pitchFamily="34" charset="0"/>
                          <a:ea typeface="Calibri" pitchFamily="34" charset="-122"/>
                          <a:cs typeface="Calibri" pitchFamily="34" charset="-120"/>
                        </a:rPr>
                        <a:t>Ship each order yourself</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1226"/>
                          </a:solidFill>
                          <a:latin typeface="Calibri" pitchFamily="34" charset="0"/>
                          <a:ea typeface="Calibri" pitchFamily="34" charset="-122"/>
                          <a:cs typeface="Calibri" pitchFamily="34" charset="-120"/>
                        </a:rPr>
                        <a:t>₹219</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1226"/>
                          </a:solidFill>
                          <a:latin typeface="Calibri" pitchFamily="34" charset="0"/>
                          <a:ea typeface="Calibri" pitchFamily="34" charset="-122"/>
                          <a:cs typeface="Calibri" pitchFamily="34" charset="-120"/>
                        </a:rPr>
                        <a:t>10.8%</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1226"/>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1226"/>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8E5A"/>
                          </a:solidFill>
                          <a:latin typeface="Calibri" pitchFamily="34" charset="0"/>
                          <a:ea typeface="Calibri" pitchFamily="34" charset="-122"/>
                          <a:cs typeface="Calibri" pitchFamily="34" charset="-120"/>
                        </a:rPr>
                        <a:t>✓ yes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65760">
                <a:tc>
                  <a:txBody>
                    <a:bodyPr/>
                    <a:lstStyle/>
                    <a:p>
                      <a:pPr algn="ctr" indent="0" marL="0">
                        <a:buNone/>
                      </a:pPr>
                      <a:r>
                        <a:rPr lang="en-US" sz="1100" b="1" dirty="0">
                          <a:solidFill>
                            <a:srgbClr val="560547"/>
                          </a:solidFill>
                          <a:latin typeface="Calibri" pitchFamily="34" charset="0"/>
                          <a:ea typeface="Calibri" pitchFamily="34" charset="-122"/>
                          <a:cs typeface="Calibri" pitchFamily="34" charset="-120"/>
                        </a:rPr>
                        <a:t>Factory Node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1226"/>
                          </a:solidFill>
                          <a:latin typeface="Calibri" pitchFamily="34" charset="0"/>
                          <a:ea typeface="Calibri" pitchFamily="34" charset="-122"/>
                          <a:cs typeface="Calibri" pitchFamily="34" charset="-120"/>
                        </a:rPr>
                        <a:t>₹213</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1226"/>
                          </a:solidFill>
                          <a:latin typeface="Calibri" pitchFamily="34" charset="0"/>
                          <a:ea typeface="Calibri" pitchFamily="34" charset="-122"/>
                          <a:cs typeface="Calibri" pitchFamily="34" charset="-120"/>
                        </a:rPr>
                        <a:t>13.3%</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1226"/>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1226"/>
                          </a:solidFill>
                          <a:latin typeface="Calibri" pitchFamily="34" charset="0"/>
                          <a:ea typeface="Calibri" pitchFamily="34" charset="-122"/>
                          <a:cs typeface="Calibri" pitchFamily="34" charset="-120"/>
                        </a:rPr>
                        <a:t>12.5%</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8E5A"/>
                          </a:solidFill>
                          <a:latin typeface="Calibri" pitchFamily="34" charset="0"/>
                          <a:ea typeface="Calibri" pitchFamily="34" charset="-122"/>
                          <a:cs typeface="Calibri" pitchFamily="34" charset="-120"/>
                        </a:rPr>
                        <a:t>✓ yes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101" name="Text 81"/>
          <p:cNvSpPr txBox="1"/>
          <p:nvPr/>
        </p:nvSpPr>
        <p:spPr>
          <a:xfrm>
            <a:off x="877824" y="8595360"/>
            <a:ext cx="9299448" cy="411480"/>
          </a:xfrm>
          <a:prstGeom prst="rect">
            <a:avLst/>
          </a:prstGeom>
          <a:noFill/>
          <a:ln/>
        </p:spPr>
        <p:txBody>
          <a:bodyPr wrap="square" lIns="0" tIns="0" rIns="0" bIns="0" rtlCol="0" anchor="t"/>
          <a:lstStyle/>
          <a:p>
            <a:pPr algn="l" indent="0" marL="0">
              <a:lnSpc>
                <a:spcPct val="100000"/>
              </a:lnSpc>
              <a:buNone/>
            </a:pPr>
            <a:r>
              <a:rPr lang="en-US" sz="1050" i="1" dirty="0">
                <a:solidFill>
                  <a:srgbClr val="7A6470"/>
                </a:solidFill>
                <a:latin typeface="Calibri" pitchFamily="34" charset="0"/>
                <a:ea typeface="Calibri" pitchFamily="34" charset="-122"/>
                <a:cs typeface="Calibri" pitchFamily="34" charset="-120"/>
              </a:rPr>
              <a:t>Working capital: 2.5% of revenue on 50-day distributor terms vs 0.6% on a prepaid batch (18% cost of capital). Node rates are proposal assumptions (src/config.js).</a:t>
            </a:r>
            <a:endParaRPr lang="en-US" sz="1050" dirty="0"/>
          </a:p>
        </p:txBody>
      </p:sp>
      <p:sp>
        <p:nvSpPr>
          <p:cNvPr id="102" name="Shape 82"/>
          <p:cNvSpPr/>
          <p:nvPr/>
        </p:nvSpPr>
        <p:spPr>
          <a:xfrm>
            <a:off x="10433304" y="6803136"/>
            <a:ext cx="7626096" cy="2212848"/>
          </a:xfrm>
          <a:prstGeom prst="rect">
            <a:avLst/>
          </a:prstGeom>
          <a:solidFill>
            <a:srgbClr val="FFFFFF"/>
          </a:solidFill>
          <a:ln w="9525">
            <a:solidFill>
              <a:srgbClr val="E0CEDA"/>
            </a:solidFill>
            <a:prstDash val="solid"/>
          </a:ln>
        </p:spPr>
      </p:sp>
      <p:sp>
        <p:nvSpPr>
          <p:cNvPr id="103" name="Shape 83"/>
          <p:cNvSpPr/>
          <p:nvPr/>
        </p:nvSpPr>
        <p:spPr>
          <a:xfrm>
            <a:off x="10433304" y="6803136"/>
            <a:ext cx="7626096" cy="329184"/>
          </a:xfrm>
          <a:prstGeom prst="rect">
            <a:avLst/>
          </a:prstGeom>
          <a:solidFill>
            <a:srgbClr val="8A245E"/>
          </a:solidFill>
          <a:ln w="12700">
            <a:solidFill>
              <a:srgbClr val="8A245E"/>
            </a:solidFill>
            <a:prstDash val="solid"/>
          </a:ln>
        </p:spPr>
      </p:sp>
      <p:pic>
        <p:nvPicPr>
          <p:cNvPr id="104" name="Image 14" descr="/private/tmp/claude-501/-Users-prathmeshwalimbe-Downloads-Meesho/dfec39d5-f971-4a3a-8cfb-761f4ef1fedb/scratchpad/deck/assets/icons/FaShieldHalved_w.png">    </p:cNvPr>
          <p:cNvPicPr>
            <a:picLocks noChangeAspect="1"/>
          </p:cNvPicPr>
          <p:nvPr/>
        </p:nvPicPr>
        <p:blipFill>
          <a:blip r:embed="rId15"/>
          <a:stretch>
            <a:fillRect/>
          </a:stretch>
        </p:blipFill>
        <p:spPr>
          <a:xfrm>
            <a:off x="10543032" y="6867144"/>
            <a:ext cx="201168" cy="201168"/>
          </a:xfrm>
          <a:prstGeom prst="rect">
            <a:avLst/>
          </a:prstGeom>
        </p:spPr>
      </p:pic>
      <p:sp>
        <p:nvSpPr>
          <p:cNvPr id="105" name="Text 84"/>
          <p:cNvSpPr txBox="1"/>
          <p:nvPr/>
        </p:nvSpPr>
        <p:spPr>
          <a:xfrm>
            <a:off x="10817352" y="6803136"/>
            <a:ext cx="711403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RISK-SHARING · WHO CARRIES WHAT</a:t>
            </a:r>
            <a:endParaRPr lang="en-US" sz="1250" dirty="0"/>
          </a:p>
        </p:txBody>
      </p:sp>
      <p:graphicFrame>
        <p:nvGraphicFramePr>
          <p:cNvPr id="21" name="Table 3"/>
          <p:cNvGraphicFramePr>
            <a:graphicFrameLocks noGrp="1"/>
          </p:cNvGraphicFramePr>
          <p:nvPr>
            <p:extLst>
              <p:ext uri="{D42A27DB-BD31-4B8C-83A1-F6EECF244321}">
                <p14:modId xmlns:p14="http://schemas.microsoft.com/office/powerpoint/2010/main" val="1579011935"/>
              </p:ext>
            </p:extLst>
          </p:nvPr>
        </p:nvGraphicFramePr>
        <p:xfrm>
          <a:off x="10561320" y="7223760"/>
          <a:ext cx="7370064" cy="914400"/>
        </p:xfrm>
        <a:graphic>
          <a:graphicData uri="http://schemas.openxmlformats.org/drawingml/2006/table">
            <a:tbl>
              <a:tblPr/>
              <a:tblGrid>
                <a:gridCol w="1600200"/>
                <a:gridCol w="1554480"/>
                <a:gridCol w="4215384"/>
              </a:tblGrid>
              <a:tr h="32004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Risk</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B2B today</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Made-to-Meesho</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2004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Unsold stock</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None: made to order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Only the 15% buffer on confirmed orders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004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Returns handling</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Node absorbs it; firewall pool caps the loss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004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Waiting for cash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45–60 days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30% at handover; rest ~7 days after delivery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004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Demand</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Distributor orders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Pre-orders plus the pin-code brief</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413662"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297326" y="182880"/>
            <a:ext cx="1413662"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33390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4765853" y="182880"/>
            <a:ext cx="1413662"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4802429"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234379" y="182880"/>
            <a:ext cx="1413662"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270955"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7702906" y="182880"/>
            <a:ext cx="1413662" cy="502920"/>
          </a:xfrm>
          <a:prstGeom prst="roundRect">
            <a:avLst>
              <a:gd name="adj" fmla="val 14545"/>
            </a:avLst>
          </a:prstGeom>
          <a:solidFill>
            <a:srgbClr val="560547"/>
          </a:solidFill>
          <a:ln w="9525">
            <a:solidFill>
              <a:srgbClr val="560547"/>
            </a:solidFill>
            <a:prstDash val="solid"/>
          </a:ln>
        </p:spPr>
      </p:sp>
      <p:sp>
        <p:nvSpPr>
          <p:cNvPr id="14" name="Text 10"/>
          <p:cNvSpPr txBox="1"/>
          <p:nvPr/>
        </p:nvSpPr>
        <p:spPr>
          <a:xfrm>
            <a:off x="773948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171432" y="182880"/>
            <a:ext cx="1413662"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9208008"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0639958" y="182880"/>
            <a:ext cx="1413662"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067653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2108485" y="182880"/>
            <a:ext cx="1413662"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2145061"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3577011" y="182880"/>
            <a:ext cx="1413662"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3613587"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OPERATING MODEL</a:t>
            </a:r>
            <a:endParaRPr lang="en-US" sz="950" dirty="0"/>
          </a:p>
        </p:txBody>
      </p:sp>
      <p:sp>
        <p:nvSpPr>
          <p:cNvPr id="23" name="Shape 19"/>
          <p:cNvSpPr/>
          <p:nvPr/>
        </p:nvSpPr>
        <p:spPr>
          <a:xfrm>
            <a:off x="15045538" y="182880"/>
            <a:ext cx="1413662" cy="502920"/>
          </a:xfrm>
          <a:prstGeom prst="roundRect">
            <a:avLst>
              <a:gd name="adj" fmla="val 14545"/>
            </a:avLst>
          </a:prstGeom>
          <a:solidFill>
            <a:srgbClr val="FFFFFF"/>
          </a:solidFill>
          <a:ln w="9525">
            <a:solidFill>
              <a:srgbClr val="E0CEDA"/>
            </a:solidFill>
            <a:prstDash val="solid"/>
          </a:ln>
        </p:spPr>
      </p:sp>
      <p:sp>
        <p:nvSpPr>
          <p:cNvPr id="24" name="Text 20"/>
          <p:cNvSpPr txBox="1"/>
          <p:nvPr/>
        </p:nvSpPr>
        <p:spPr>
          <a:xfrm>
            <a:off x="1508211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10 · PROTOTYPE</a:t>
            </a:r>
            <a:endParaRPr lang="en-US" sz="950" dirty="0"/>
          </a:p>
        </p:txBody>
      </p:sp>
      <p:sp>
        <p:nvSpPr>
          <p:cNvPr id="25" name="Shape 21"/>
          <p:cNvSpPr/>
          <p:nvPr/>
        </p:nvSpPr>
        <p:spPr>
          <a:xfrm>
            <a:off x="228600" y="987552"/>
            <a:ext cx="384048" cy="8083296"/>
          </a:xfrm>
          <a:prstGeom prst="rect">
            <a:avLst/>
          </a:prstGeom>
          <a:solidFill>
            <a:srgbClr val="6E1251"/>
          </a:solidFill>
          <a:ln w="12700">
            <a:solidFill>
              <a:srgbClr val="6E1251"/>
            </a:solidFill>
            <a:prstDash val="solid"/>
          </a:ln>
        </p:spPr>
      </p:sp>
      <p:sp>
        <p:nvSpPr>
          <p:cNvPr id="26" name="Text 22"/>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KEEPING THEM</a:t>
            </a:r>
            <a:endParaRPr lang="en-US" sz="1200" dirty="0"/>
          </a:p>
        </p:txBody>
      </p:sp>
      <p:sp>
        <p:nvSpPr>
          <p:cNvPr id="27" name="Text 23"/>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Q5 · Sustainable scale-up · Early order conviction and retention, without subsidy or handholding</a:t>
            </a:r>
            <a:endParaRPr lang="en-US" sz="1700" dirty="0"/>
          </a:p>
        </p:txBody>
      </p:sp>
      <p:sp>
        <p:nvSpPr>
          <p:cNvPr id="28" name="Text 24"/>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Sources: Meesho Q4 FY26 earnings call transcript (6 May 2026); prototype Seller Health module (synthetic 60-seller pilot, fixed seed). The category-manager capacity of 40 escalation reviews a month is an assumption.</a:t>
            </a:r>
            <a:endParaRPr lang="en-US" sz="1000" dirty="0"/>
          </a:p>
        </p:txBody>
      </p:sp>
      <p:sp>
        <p:nvSpPr>
          <p:cNvPr id="29" name="Shape 25"/>
          <p:cNvSpPr/>
          <p:nvPr/>
        </p:nvSpPr>
        <p:spPr>
          <a:xfrm>
            <a:off x="228600" y="9400032"/>
            <a:ext cx="17830800" cy="603504"/>
          </a:xfrm>
          <a:prstGeom prst="rect">
            <a:avLst/>
          </a:prstGeom>
          <a:solidFill>
            <a:srgbClr val="560547"/>
          </a:solidFill>
          <a:ln w="12700">
            <a:solidFill>
              <a:srgbClr val="560547"/>
            </a:solidFill>
            <a:prstDash val="solid"/>
          </a:ln>
        </p:spPr>
      </p:sp>
      <p:sp>
        <p:nvSpPr>
          <p:cNvPr id="30" name="Shape 26"/>
          <p:cNvSpPr/>
          <p:nvPr/>
        </p:nvSpPr>
        <p:spPr>
          <a:xfrm>
            <a:off x="411480" y="9592056"/>
            <a:ext cx="219456" cy="219456"/>
          </a:xfrm>
          <a:prstGeom prst="rect">
            <a:avLst/>
          </a:prstGeom>
          <a:solidFill>
            <a:srgbClr val="FF9D00"/>
          </a:solidFill>
          <a:ln w="12700">
            <a:solidFill>
              <a:srgbClr val="FF9D00"/>
            </a:solidFill>
            <a:prstDash val="solid"/>
          </a:ln>
        </p:spPr>
      </p:sp>
      <p:sp>
        <p:nvSpPr>
          <p:cNvPr id="31" name="Text 27"/>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Pay for early conviction in impressions, not rupees, and let rules fix what the Health Score flags: 90 automated actions to 3 escalations, ~910 sellers per category manager.</a:t>
            </a:r>
            <a:endParaRPr lang="en-US" sz="1400" dirty="0"/>
          </a:p>
        </p:txBody>
      </p:sp>
      <p:pic>
        <p:nvPicPr>
          <p:cNvPr id="32"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4" name="Shape 28"/>
          <p:cNvSpPr/>
          <p:nvPr/>
        </p:nvSpPr>
        <p:spPr>
          <a:xfrm>
            <a:off x="749808" y="1426464"/>
            <a:ext cx="5577840" cy="2697480"/>
          </a:xfrm>
          <a:prstGeom prst="rect">
            <a:avLst/>
          </a:prstGeom>
          <a:solidFill>
            <a:srgbClr val="FFFFFF"/>
          </a:solidFill>
          <a:ln w="9525">
            <a:solidFill>
              <a:srgbClr val="E0CEDA"/>
            </a:solidFill>
            <a:prstDash val="solid"/>
          </a:ln>
        </p:spPr>
      </p:sp>
      <p:sp>
        <p:nvSpPr>
          <p:cNvPr id="35" name="Shape 29"/>
          <p:cNvSpPr/>
          <p:nvPr/>
        </p:nvSpPr>
        <p:spPr>
          <a:xfrm>
            <a:off x="749808" y="1426464"/>
            <a:ext cx="5577840" cy="329184"/>
          </a:xfrm>
          <a:prstGeom prst="rect">
            <a:avLst/>
          </a:prstGeom>
          <a:solidFill>
            <a:srgbClr val="560547"/>
          </a:solidFill>
          <a:ln w="12700">
            <a:solidFill>
              <a:srgbClr val="560547"/>
            </a:solidFill>
            <a:prstDash val="solid"/>
          </a:ln>
        </p:spPr>
      </p:sp>
      <p:pic>
        <p:nvPicPr>
          <p:cNvPr id="36" name="Image 3" descr="/private/tmp/claude-501/-Users-prathmeshwalimbe-Downloads-Meesho/dfec39d5-f971-4a3a-8cfb-761f4ef1fedb/scratchpad/deck/assets/icons/FaUserTie_w.png">    </p:cNvPr>
          <p:cNvPicPr>
            <a:picLocks noChangeAspect="1"/>
          </p:cNvPicPr>
          <p:nvPr/>
        </p:nvPicPr>
        <p:blipFill>
          <a:blip r:embed="rId4"/>
          <a:stretch>
            <a:fillRect/>
          </a:stretch>
        </p:blipFill>
        <p:spPr>
          <a:xfrm>
            <a:off x="859536" y="1490472"/>
            <a:ext cx="201168" cy="201168"/>
          </a:xfrm>
          <a:prstGeom prst="rect">
            <a:avLst/>
          </a:prstGeom>
        </p:spPr>
      </p:pic>
      <p:sp>
        <p:nvSpPr>
          <p:cNvPr id="37" name="Text 30"/>
          <p:cNvSpPr txBox="1"/>
          <p:nvPr/>
        </p:nvSpPr>
        <p:spPr>
          <a:xfrm>
            <a:off x="1133856" y="1426464"/>
            <a:ext cx="50657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THE COLD-START GAP, IN MEESHO’S OWN WORDS</a:t>
            </a:r>
            <a:endParaRPr lang="en-US" sz="1250" dirty="0"/>
          </a:p>
        </p:txBody>
      </p:sp>
      <p:sp>
        <p:nvSpPr>
          <p:cNvPr id="38" name="Text 31"/>
          <p:cNvSpPr txBox="1"/>
          <p:nvPr/>
        </p:nvSpPr>
        <p:spPr>
          <a:xfrm>
            <a:off x="877824" y="1847088"/>
            <a:ext cx="5321808" cy="960120"/>
          </a:xfrm>
          <a:prstGeom prst="rect">
            <a:avLst/>
          </a:prstGeom>
          <a:noFill/>
          <a:ln/>
        </p:spPr>
        <p:txBody>
          <a:bodyPr wrap="square" lIns="0" tIns="0" rIns="0" bIns="0" rtlCol="0" anchor="t"/>
          <a:lstStyle/>
          <a:p>
            <a:pPr algn="l" indent="0" marL="0">
              <a:lnSpc>
                <a:spcPct val="100000"/>
              </a:lnSpc>
              <a:buNone/>
            </a:pPr>
            <a:r>
              <a:rPr lang="en-US" sz="1400" b="1" i="1" dirty="0">
                <a:solidFill>
                  <a:srgbClr val="560547"/>
                </a:solidFill>
                <a:latin typeface="Calibri" pitchFamily="34" charset="0"/>
                <a:ea typeface="Calibri" pitchFamily="34" charset="-122"/>
                <a:cs typeface="Calibri" pitchFamily="34" charset="-120"/>
              </a:rPr>
              <a:t>“If their quality is not that great, they do not get visibility for orders. And products that have very good quality continue to scale on the platform.”</a:t>
            </a:r>
            <a:endParaRPr lang="en-US" sz="1400" dirty="0"/>
          </a:p>
        </p:txBody>
      </p:sp>
      <p:sp>
        <p:nvSpPr>
          <p:cNvPr id="39" name="Text 32"/>
          <p:cNvSpPr txBox="1"/>
          <p:nvPr/>
        </p:nvSpPr>
        <p:spPr>
          <a:xfrm>
            <a:off x="877824" y="2834640"/>
            <a:ext cx="5321808" cy="274320"/>
          </a:xfrm>
          <a:prstGeom prst="rect">
            <a:avLst/>
          </a:prstGeom>
          <a:noFill/>
          <a:ln/>
        </p:spPr>
        <p:txBody>
          <a:bodyPr wrap="square" lIns="0" tIns="0" rIns="0" bIns="0" rtlCol="0" anchor="t"/>
          <a:lstStyle/>
          <a:p>
            <a:pPr algn="l" indent="0" marL="0">
              <a:lnSpc>
                <a:spcPct val="100000"/>
              </a:lnSpc>
              <a:buNone/>
            </a:pPr>
            <a:r>
              <a:rPr lang="en-US" sz="1050" dirty="0">
                <a:solidFill>
                  <a:srgbClr val="7A6470"/>
                </a:solidFill>
                <a:latin typeface="Calibri" pitchFamily="34" charset="0"/>
                <a:ea typeface="Calibri" pitchFamily="34" charset="-122"/>
                <a:cs typeface="Calibri" pitchFamily="34" charset="-120"/>
              </a:rPr>
              <a:t>— Vidit Aatrey, CEO, Q4 FY26 earnings call, 6 May 2026</a:t>
            </a:r>
            <a:endParaRPr lang="en-US" sz="1050" dirty="0"/>
          </a:p>
        </p:txBody>
      </p:sp>
      <p:sp>
        <p:nvSpPr>
          <p:cNvPr id="40" name="Text 33"/>
          <p:cNvSpPr txBox="1"/>
          <p:nvPr/>
        </p:nvSpPr>
        <p:spPr>
          <a:xfrm>
            <a:off x="877824" y="3172968"/>
            <a:ext cx="5321808" cy="822960"/>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Calibri" pitchFamily="34" charset="0"/>
                <a:ea typeface="Calibri" pitchFamily="34" charset="-122"/>
                <a:cs typeface="Calibri" pitchFamily="34" charset="-120"/>
              </a:rPr>
              <a:t>Implication: </a:t>
            </a:r>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a new factory needs orders to prove quality and quality to earn orders. That loop, not price, is why new sellers take a small share of orders in their first 30 days.</a:t>
            </a:r>
            <a:endParaRPr lang="en-US" sz="1150" dirty="0"/>
          </a:p>
        </p:txBody>
      </p:sp>
      <p:sp>
        <p:nvSpPr>
          <p:cNvPr id="41" name="Shape 34"/>
          <p:cNvSpPr/>
          <p:nvPr/>
        </p:nvSpPr>
        <p:spPr>
          <a:xfrm>
            <a:off x="749808" y="4251960"/>
            <a:ext cx="5577840" cy="1828800"/>
          </a:xfrm>
          <a:prstGeom prst="rect">
            <a:avLst/>
          </a:prstGeom>
          <a:solidFill>
            <a:srgbClr val="FFFFFF"/>
          </a:solidFill>
          <a:ln w="9525">
            <a:solidFill>
              <a:srgbClr val="E0CEDA"/>
            </a:solidFill>
            <a:prstDash val="solid"/>
          </a:ln>
        </p:spPr>
      </p:sp>
      <p:sp>
        <p:nvSpPr>
          <p:cNvPr id="42" name="Shape 35"/>
          <p:cNvSpPr/>
          <p:nvPr/>
        </p:nvSpPr>
        <p:spPr>
          <a:xfrm>
            <a:off x="749808" y="4251960"/>
            <a:ext cx="5577840" cy="329184"/>
          </a:xfrm>
          <a:prstGeom prst="rect">
            <a:avLst/>
          </a:prstGeom>
          <a:solidFill>
            <a:srgbClr val="8A245E"/>
          </a:solidFill>
          <a:ln w="12700">
            <a:solidFill>
              <a:srgbClr val="8A245E"/>
            </a:solidFill>
            <a:prstDash val="solid"/>
          </a:ln>
        </p:spPr>
      </p:sp>
      <p:pic>
        <p:nvPicPr>
          <p:cNvPr id="43" name="Image 4" descr="/private/tmp/claude-501/-Users-prathmeshwalimbe-Downloads-Meesho/dfec39d5-f971-4a3a-8cfb-761f4ef1fedb/scratchpad/deck/assets/icons/FaBolt_w.png">    </p:cNvPr>
          <p:cNvPicPr>
            <a:picLocks noChangeAspect="1"/>
          </p:cNvPicPr>
          <p:nvPr/>
        </p:nvPicPr>
        <p:blipFill>
          <a:blip r:embed="rId5"/>
          <a:stretch>
            <a:fillRect/>
          </a:stretch>
        </p:blipFill>
        <p:spPr>
          <a:xfrm>
            <a:off x="859536" y="4315968"/>
            <a:ext cx="201168" cy="201168"/>
          </a:xfrm>
          <a:prstGeom prst="rect">
            <a:avLst/>
          </a:prstGeom>
        </p:spPr>
      </p:pic>
      <p:sp>
        <p:nvSpPr>
          <p:cNvPr id="44" name="Text 36"/>
          <p:cNvSpPr txBox="1"/>
          <p:nvPr/>
        </p:nvSpPr>
        <p:spPr>
          <a:xfrm>
            <a:off x="1133856" y="4251960"/>
            <a:ext cx="50657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IMPRESSIONS, NOT RUPEES · THE GRANT</a:t>
            </a:r>
            <a:endParaRPr lang="en-US" sz="1250" dirty="0"/>
          </a:p>
        </p:txBody>
      </p:sp>
      <p:sp>
        <p:nvSpPr>
          <p:cNvPr id="45" name="Shape 37"/>
          <p:cNvSpPr/>
          <p:nvPr/>
        </p:nvSpPr>
        <p:spPr>
          <a:xfrm>
            <a:off x="877824" y="4672584"/>
            <a:ext cx="1261872" cy="1280160"/>
          </a:xfrm>
          <a:prstGeom prst="rect">
            <a:avLst/>
          </a:prstGeom>
          <a:solidFill>
            <a:srgbClr val="F2E4EE"/>
          </a:solidFill>
          <a:ln w="12700">
            <a:solidFill>
              <a:srgbClr val="F2E4EE"/>
            </a:solidFill>
            <a:prstDash val="solid"/>
          </a:ln>
        </p:spPr>
      </p:sp>
      <p:sp>
        <p:nvSpPr>
          <p:cNvPr id="46" name="Text 38"/>
          <p:cNvSpPr txBox="1"/>
          <p:nvPr/>
        </p:nvSpPr>
        <p:spPr>
          <a:xfrm>
            <a:off x="987552" y="4727448"/>
            <a:ext cx="1042416" cy="665683"/>
          </a:xfrm>
          <a:prstGeom prst="rect">
            <a:avLst/>
          </a:prstGeom>
          <a:noFill/>
          <a:ln/>
        </p:spPr>
        <p:txBody>
          <a:bodyPr wrap="square" lIns="0" tIns="0" rIns="0" bIns="0" rtlCol="0" anchor="ctr"/>
          <a:lstStyle/>
          <a:p>
            <a:pPr algn="l" indent="0" marL="0">
              <a:lnSpc>
                <a:spcPct val="100000"/>
              </a:lnSpc>
              <a:buNone/>
            </a:pPr>
            <a:r>
              <a:rPr lang="en-US" sz="1800" b="1" dirty="0">
                <a:solidFill>
                  <a:srgbClr val="560547"/>
                </a:solidFill>
                <a:latin typeface="Arial" pitchFamily="34" charset="0"/>
                <a:ea typeface="Arial" pitchFamily="34" charset="-122"/>
                <a:cs typeface="Arial" pitchFamily="34" charset="-120"/>
              </a:rPr>
              <a:t>12</a:t>
            </a:r>
            <a:endParaRPr lang="en-US" sz="1800" dirty="0"/>
          </a:p>
        </p:txBody>
      </p:sp>
      <p:sp>
        <p:nvSpPr>
          <p:cNvPr id="47" name="Text 39"/>
          <p:cNvSpPr txBox="1"/>
          <p:nvPr/>
        </p:nvSpPr>
        <p:spPr>
          <a:xfrm>
            <a:off x="987552" y="5376672"/>
            <a:ext cx="1042416" cy="537667"/>
          </a:xfrm>
          <a:prstGeom prst="rect">
            <a:avLst/>
          </a:prstGeom>
          <a:noFill/>
          <a:ln/>
        </p:spPr>
        <p:txBody>
          <a:bodyPr wrap="square" lIns="0" tIns="0" rIns="0" bIns="0" rtlCol="0" anchor="t"/>
          <a:lstStyle/>
          <a:p>
            <a:pPr algn="l" indent="0" marL="0">
              <a:lnSpc>
                <a:spcPct val="100000"/>
              </a:lnSpc>
              <a:buNone/>
            </a:pPr>
            <a:r>
              <a:rPr lang="en-US" sz="1000" dirty="0">
                <a:solidFill>
                  <a:srgbClr val="2B1226"/>
                </a:solidFill>
                <a:latin typeface="Calibri" pitchFamily="34" charset="0"/>
                <a:ea typeface="Calibri" pitchFamily="34" charset="-122"/>
                <a:cs typeface="Calibri" pitchFamily="34" charset="-120"/>
              </a:rPr>
              <a:t>Demand Brief pin-codes get starter impressions</a:t>
            </a:r>
            <a:endParaRPr lang="en-US" sz="1000" dirty="0"/>
          </a:p>
        </p:txBody>
      </p:sp>
      <p:sp>
        <p:nvSpPr>
          <p:cNvPr id="48" name="Shape 40"/>
          <p:cNvSpPr/>
          <p:nvPr/>
        </p:nvSpPr>
        <p:spPr>
          <a:xfrm>
            <a:off x="2231136" y="4672584"/>
            <a:ext cx="1261872" cy="1280160"/>
          </a:xfrm>
          <a:prstGeom prst="rect">
            <a:avLst/>
          </a:prstGeom>
          <a:solidFill>
            <a:srgbClr val="FFF3D8"/>
          </a:solidFill>
          <a:ln w="12700">
            <a:solidFill>
              <a:srgbClr val="FFF3D8"/>
            </a:solidFill>
            <a:prstDash val="solid"/>
          </a:ln>
        </p:spPr>
      </p:sp>
      <p:sp>
        <p:nvSpPr>
          <p:cNvPr id="49" name="Text 41"/>
          <p:cNvSpPr txBox="1"/>
          <p:nvPr/>
        </p:nvSpPr>
        <p:spPr>
          <a:xfrm>
            <a:off x="2340864" y="4727448"/>
            <a:ext cx="1042416" cy="665683"/>
          </a:xfrm>
          <a:prstGeom prst="rect">
            <a:avLst/>
          </a:prstGeom>
          <a:noFill/>
          <a:ln/>
        </p:spPr>
        <p:txBody>
          <a:bodyPr wrap="square" lIns="0" tIns="0" rIns="0" bIns="0" rtlCol="0" anchor="ctr"/>
          <a:lstStyle/>
          <a:p>
            <a:pPr algn="l" indent="0" marL="0">
              <a:lnSpc>
                <a:spcPct val="100000"/>
              </a:lnSpc>
              <a:buNone/>
            </a:pPr>
            <a:r>
              <a:rPr lang="en-US" sz="1800" b="1" dirty="0">
                <a:solidFill>
                  <a:srgbClr val="560547"/>
                </a:solidFill>
                <a:latin typeface="Arial" pitchFamily="34" charset="0"/>
                <a:ea typeface="Arial" pitchFamily="34" charset="-122"/>
                <a:cs typeface="Arial" pitchFamily="34" charset="-120"/>
              </a:rPr>
              <a:t>+25K</a:t>
            </a:r>
            <a:endParaRPr lang="en-US" sz="1800" dirty="0"/>
          </a:p>
        </p:txBody>
      </p:sp>
      <p:sp>
        <p:nvSpPr>
          <p:cNvPr id="50" name="Text 42"/>
          <p:cNvSpPr txBox="1"/>
          <p:nvPr/>
        </p:nvSpPr>
        <p:spPr>
          <a:xfrm>
            <a:off x="2340864" y="5376672"/>
            <a:ext cx="1042416" cy="537667"/>
          </a:xfrm>
          <a:prstGeom prst="rect">
            <a:avLst/>
          </a:prstGeom>
          <a:noFill/>
          <a:ln/>
        </p:spPr>
        <p:txBody>
          <a:bodyPr wrap="square" lIns="0" tIns="0" rIns="0" bIns="0" rtlCol="0" anchor="t"/>
          <a:lstStyle/>
          <a:p>
            <a:pPr algn="l" indent="0" marL="0">
              <a:lnSpc>
                <a:spcPct val="100000"/>
              </a:lnSpc>
              <a:buNone/>
            </a:pPr>
            <a:r>
              <a:rPr lang="en-US" sz="1000" dirty="0">
                <a:solidFill>
                  <a:srgbClr val="2B1226"/>
                </a:solidFill>
                <a:latin typeface="Calibri" pitchFamily="34" charset="0"/>
                <a:ea typeface="Calibri" pitchFamily="34" charset="-122"/>
                <a:cs typeface="Calibri" pitchFamily="34" charset="-120"/>
              </a:rPr>
              <a:t>impressions for 7 days if orders &lt; 60% at D7/D14</a:t>
            </a:r>
            <a:endParaRPr lang="en-US" sz="1000" dirty="0"/>
          </a:p>
        </p:txBody>
      </p:sp>
      <p:sp>
        <p:nvSpPr>
          <p:cNvPr id="51" name="Shape 43"/>
          <p:cNvSpPr/>
          <p:nvPr/>
        </p:nvSpPr>
        <p:spPr>
          <a:xfrm>
            <a:off x="3584448" y="4672584"/>
            <a:ext cx="1261872" cy="1280160"/>
          </a:xfrm>
          <a:prstGeom prst="rect">
            <a:avLst/>
          </a:prstGeom>
          <a:solidFill>
            <a:srgbClr val="F2E4EE"/>
          </a:solidFill>
          <a:ln w="12700">
            <a:solidFill>
              <a:srgbClr val="F2E4EE"/>
            </a:solidFill>
            <a:prstDash val="solid"/>
          </a:ln>
        </p:spPr>
      </p:sp>
      <p:sp>
        <p:nvSpPr>
          <p:cNvPr id="52" name="Text 44"/>
          <p:cNvSpPr txBox="1"/>
          <p:nvPr/>
        </p:nvSpPr>
        <p:spPr>
          <a:xfrm>
            <a:off x="3694176" y="4727448"/>
            <a:ext cx="1042416" cy="665683"/>
          </a:xfrm>
          <a:prstGeom prst="rect">
            <a:avLst/>
          </a:prstGeom>
          <a:noFill/>
          <a:ln/>
        </p:spPr>
        <p:txBody>
          <a:bodyPr wrap="square" lIns="0" tIns="0" rIns="0" bIns="0" rtlCol="0" anchor="ctr"/>
          <a:lstStyle/>
          <a:p>
            <a:pPr algn="l" indent="0" marL="0">
              <a:lnSpc>
                <a:spcPct val="100000"/>
              </a:lnSpc>
              <a:buNone/>
            </a:pPr>
            <a:r>
              <a:rPr lang="en-US" sz="1800" b="1" dirty="0">
                <a:solidFill>
                  <a:srgbClr val="560547"/>
                </a:solidFill>
                <a:latin typeface="Arial" pitchFamily="34" charset="0"/>
                <a:ea typeface="Arial" pitchFamily="34" charset="-122"/>
                <a:cs typeface="Arial" pitchFamily="34" charset="-120"/>
              </a:rPr>
              <a:t>max 2</a:t>
            </a:r>
            <a:endParaRPr lang="en-US" sz="1800" dirty="0"/>
          </a:p>
        </p:txBody>
      </p:sp>
      <p:sp>
        <p:nvSpPr>
          <p:cNvPr id="53" name="Text 45"/>
          <p:cNvSpPr txBox="1"/>
          <p:nvPr/>
        </p:nvSpPr>
        <p:spPr>
          <a:xfrm>
            <a:off x="3694176" y="5376672"/>
            <a:ext cx="1042416" cy="537667"/>
          </a:xfrm>
          <a:prstGeom prst="rect">
            <a:avLst/>
          </a:prstGeom>
          <a:noFill/>
          <a:ln/>
        </p:spPr>
        <p:txBody>
          <a:bodyPr wrap="square" lIns="0" tIns="0" rIns="0" bIns="0" rtlCol="0" anchor="t"/>
          <a:lstStyle/>
          <a:p>
            <a:pPr algn="l" indent="0" marL="0">
              <a:lnSpc>
                <a:spcPct val="100000"/>
              </a:lnSpc>
              <a:buNone/>
            </a:pPr>
            <a:r>
              <a:rPr lang="en-US" sz="1000" dirty="0">
                <a:solidFill>
                  <a:srgbClr val="2B1226"/>
                </a:solidFill>
                <a:latin typeface="Calibri" pitchFamily="34" charset="0"/>
                <a:ea typeface="Calibri" pitchFamily="34" charset="-122"/>
                <a:cs typeface="Calibri" pitchFamily="34" charset="-120"/>
              </a:rPr>
              <a:t>grants per seller</a:t>
            </a:r>
            <a:endParaRPr lang="en-US" sz="1000" dirty="0"/>
          </a:p>
        </p:txBody>
      </p:sp>
      <p:sp>
        <p:nvSpPr>
          <p:cNvPr id="54" name="Shape 46"/>
          <p:cNvSpPr/>
          <p:nvPr/>
        </p:nvSpPr>
        <p:spPr>
          <a:xfrm>
            <a:off x="4937760" y="4672584"/>
            <a:ext cx="1261872" cy="1280160"/>
          </a:xfrm>
          <a:prstGeom prst="rect">
            <a:avLst/>
          </a:prstGeom>
          <a:solidFill>
            <a:srgbClr val="FFF3D8"/>
          </a:solidFill>
          <a:ln w="12700">
            <a:solidFill>
              <a:srgbClr val="FFF3D8"/>
            </a:solidFill>
            <a:prstDash val="solid"/>
          </a:ln>
        </p:spPr>
      </p:sp>
      <p:sp>
        <p:nvSpPr>
          <p:cNvPr id="55" name="Text 47"/>
          <p:cNvSpPr txBox="1"/>
          <p:nvPr/>
        </p:nvSpPr>
        <p:spPr>
          <a:xfrm>
            <a:off x="5047488" y="4727448"/>
            <a:ext cx="1042416" cy="665683"/>
          </a:xfrm>
          <a:prstGeom prst="rect">
            <a:avLst/>
          </a:prstGeom>
          <a:noFill/>
          <a:ln/>
        </p:spPr>
        <p:txBody>
          <a:bodyPr wrap="square" lIns="0" tIns="0" rIns="0" bIns="0" rtlCol="0" anchor="ctr"/>
          <a:lstStyle/>
          <a:p>
            <a:pPr algn="l" indent="0" marL="0">
              <a:lnSpc>
                <a:spcPct val="100000"/>
              </a:lnSpc>
              <a:buNone/>
            </a:pPr>
            <a:r>
              <a:rPr lang="en-US" sz="1800" b="1" dirty="0">
                <a:solidFill>
                  <a:srgbClr val="560547"/>
                </a:solidFill>
                <a:latin typeface="Arial" pitchFamily="34" charset="0"/>
                <a:ea typeface="Arial" pitchFamily="34" charset="-122"/>
                <a:cs typeface="Arial" pitchFamily="34" charset="-120"/>
              </a:rPr>
              <a:t>≤ 20%</a:t>
            </a:r>
            <a:endParaRPr lang="en-US" sz="1800" dirty="0"/>
          </a:p>
        </p:txBody>
      </p:sp>
      <p:sp>
        <p:nvSpPr>
          <p:cNvPr id="56" name="Text 48"/>
          <p:cNvSpPr txBox="1"/>
          <p:nvPr/>
        </p:nvSpPr>
        <p:spPr>
          <a:xfrm>
            <a:off x="5047488" y="5376672"/>
            <a:ext cx="1042416" cy="537667"/>
          </a:xfrm>
          <a:prstGeom prst="rect">
            <a:avLst/>
          </a:prstGeom>
          <a:noFill/>
          <a:ln/>
        </p:spPr>
        <p:txBody>
          <a:bodyPr wrap="square" lIns="0" tIns="0" rIns="0" bIns="0" rtlCol="0" anchor="t"/>
          <a:lstStyle/>
          <a:p>
            <a:pPr algn="l" indent="0" marL="0">
              <a:lnSpc>
                <a:spcPct val="100000"/>
              </a:lnSpc>
              <a:buNone/>
            </a:pPr>
            <a:r>
              <a:rPr lang="en-US" sz="1000" dirty="0">
                <a:solidFill>
                  <a:srgbClr val="2B1226"/>
                </a:solidFill>
                <a:latin typeface="Calibri" pitchFamily="34" charset="0"/>
                <a:ea typeface="Calibri" pitchFamily="34" charset="-122"/>
                <a:cs typeface="Calibri" pitchFamily="34" charset="-120"/>
              </a:rPr>
              <a:t>of category impressions, hard cap</a:t>
            </a:r>
            <a:endParaRPr lang="en-US" sz="1000" dirty="0"/>
          </a:p>
        </p:txBody>
      </p:sp>
      <p:sp>
        <p:nvSpPr>
          <p:cNvPr id="57" name="Shape 49"/>
          <p:cNvSpPr/>
          <p:nvPr/>
        </p:nvSpPr>
        <p:spPr>
          <a:xfrm>
            <a:off x="6455664" y="1426464"/>
            <a:ext cx="11603736" cy="4654296"/>
          </a:xfrm>
          <a:prstGeom prst="rect">
            <a:avLst/>
          </a:prstGeom>
          <a:solidFill>
            <a:srgbClr val="FFFFFF"/>
          </a:solidFill>
          <a:ln w="9525">
            <a:solidFill>
              <a:srgbClr val="E0CEDA"/>
            </a:solidFill>
            <a:prstDash val="solid"/>
          </a:ln>
        </p:spPr>
      </p:sp>
      <p:sp>
        <p:nvSpPr>
          <p:cNvPr id="58" name="Shape 50"/>
          <p:cNvSpPr/>
          <p:nvPr/>
        </p:nvSpPr>
        <p:spPr>
          <a:xfrm>
            <a:off x="6455664" y="1426464"/>
            <a:ext cx="11603736" cy="329184"/>
          </a:xfrm>
          <a:prstGeom prst="rect">
            <a:avLst/>
          </a:prstGeom>
          <a:solidFill>
            <a:srgbClr val="560547"/>
          </a:solidFill>
          <a:ln w="12700">
            <a:solidFill>
              <a:srgbClr val="560547"/>
            </a:solidFill>
            <a:prstDash val="solid"/>
          </a:ln>
        </p:spPr>
      </p:sp>
      <p:pic>
        <p:nvPicPr>
          <p:cNvPr id="59" name="Image 5" descr="/private/tmp/claude-501/-Users-prathmeshwalimbe-Downloads-Meesho/dfec39d5-f971-4a3a-8cfb-761f4ef1fedb/scratchpad/deck/assets/icons/FaRobot_w.png">    </p:cNvPr>
          <p:cNvPicPr>
            <a:picLocks noChangeAspect="1"/>
          </p:cNvPicPr>
          <p:nvPr/>
        </p:nvPicPr>
        <p:blipFill>
          <a:blip r:embed="rId6"/>
          <a:stretch>
            <a:fillRect/>
          </a:stretch>
        </p:blipFill>
        <p:spPr>
          <a:xfrm>
            <a:off x="6565392" y="1490472"/>
            <a:ext cx="201168" cy="201168"/>
          </a:xfrm>
          <a:prstGeom prst="rect">
            <a:avLst/>
          </a:prstGeom>
        </p:spPr>
      </p:pic>
      <p:sp>
        <p:nvSpPr>
          <p:cNvPr id="60" name="Text 51"/>
          <p:cNvSpPr txBox="1"/>
          <p:nvPr/>
        </p:nvSpPr>
        <p:spPr>
          <a:xfrm>
            <a:off x="6839712" y="1426464"/>
            <a:ext cx="1109167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CONVICTION, THEN RETENTION · WHAT FIRES, WHEN, AND WHAT WE WATCH</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83680" y="1847088"/>
          <a:ext cx="11347704" cy="914400"/>
        </p:xfrm>
        <a:graphic>
          <a:graphicData uri="http://schemas.openxmlformats.org/drawingml/2006/table">
            <a:tbl>
              <a:tblPr/>
              <a:tblGrid>
                <a:gridCol w="914400"/>
                <a:gridCol w="868680"/>
                <a:gridCol w="3063240"/>
                <a:gridCol w="2240280"/>
                <a:gridCol w="1874520"/>
                <a:gridCol w="2386584"/>
              </a:tblGrid>
              <a:tr h="41148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Stage</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When</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What Meesho does, automatically</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Trigger</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Seller sees</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KPI</a:t>
                      </a:r>
                      <a:endParaRPr lang="en-US" sz="11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411480">
                <a:tc>
                  <a:txBody>
                    <a:bodyPr/>
                    <a:lstStyle/>
                    <a:p>
                      <a:pPr algn="l" indent="0" marL="0">
                        <a:buNone/>
                      </a:pPr>
                      <a:r>
                        <a:rPr lang="en-US" sz="1100" b="1" dirty="0">
                          <a:solidFill>
                            <a:srgbClr val="560547"/>
                          </a:solidFill>
                          <a:latin typeface="Calibri" pitchFamily="34" charset="0"/>
                          <a:ea typeface="Calibri" pitchFamily="34" charset="-122"/>
                          <a:cs typeface="Calibri" pitchFamily="34" charset="-120"/>
                        </a:rPr>
                        <a:t>Qualify</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Day 0</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Badge on; re-rank inside the category</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Passed the price gate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C2M badge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Gap at onboarding</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560547"/>
                          </a:solidFill>
                          <a:latin typeface="Calibri" pitchFamily="34" charset="0"/>
                          <a:ea typeface="Calibri" pitchFamily="34" charset="-122"/>
                          <a:cs typeface="Calibri" pitchFamily="34" charset="-120"/>
                        </a:rPr>
                        <a:t>Allocate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D0–D14</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Starter impressions in the 12 Demand Brief pin-codes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Onboarding</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First orders where demand is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Orders vs cohort curve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560547"/>
                          </a:solidFill>
                          <a:latin typeface="Calibri" pitchFamily="34" charset="0"/>
                          <a:ea typeface="Calibri" pitchFamily="34" charset="-122"/>
                          <a:cs typeface="Calibri" pitchFamily="34" charset="-120"/>
                        </a:rPr>
                        <a:t>Allocate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D7, D14</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+25K impressions for 7 days (max 2 grants)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Orders &lt; 60% of cohort median</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WhatsApp: grant applied</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Recovery by D21</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560547"/>
                          </a:solidFill>
                          <a:latin typeface="Calibri" pitchFamily="34" charset="0"/>
                          <a:ea typeface="Calibri" pitchFamily="34" charset="-122"/>
                          <a:cs typeface="Calibri" pitchFamily="34" charset="-120"/>
                        </a:rPr>
                        <a:t>Diagnose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Daily</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Health Score from five signals (see Metrics)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Every day</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Weekly score card</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Score 0–100</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560547"/>
                          </a:solidFill>
                          <a:latin typeface="Calibri" pitchFamily="34" charset="0"/>
                          <a:ea typeface="Calibri" pitchFamily="34" charset="-122"/>
                          <a:cs typeface="Calibri" pitchFamily="34" charset="-120"/>
                        </a:rPr>
                        <a:t>Remedy</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On trigger</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Price nudge · QC hold · node offer · restock nudge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8 rule thresholds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One specific fix</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Time to recover</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E8E5A"/>
                          </a:solidFill>
                          <a:latin typeface="Calibri" pitchFamily="34" charset="0"/>
                          <a:ea typeface="Calibri" pitchFamily="34" charset="-122"/>
                          <a:cs typeface="Calibri" pitchFamily="34" charset="-120"/>
                        </a:rPr>
                        <a:t>Graduate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D30+</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Batch prepayment unlocked</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Score ≥ 80 for 30 days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Cheaper working capital</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Graduation rate</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E8E5A"/>
                          </a:solidFill>
                          <a:latin typeface="Calibri" pitchFamily="34" charset="0"/>
                          <a:ea typeface="Calibri" pitchFamily="34" charset="-122"/>
                          <a:cs typeface="Calibri" pitchFamily="34" charset="-120"/>
                        </a:rPr>
                        <a:t>Retain</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D60+</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Weekly brief refresh; prepaid batches each cycle; Meesho Mall path</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Graduated, gap held</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Steady demand, fast cash</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Active at D90</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C0392B"/>
                          </a:solidFill>
                          <a:latin typeface="Calibri" pitchFamily="34" charset="0"/>
                          <a:ea typeface="Calibri" pitchFamily="34" charset="-122"/>
                          <a:cs typeface="Calibri" pitchFamily="34" charset="-120"/>
                        </a:rPr>
                        <a:t>Human</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Exception</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Category manager reviews</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Score &lt; 40 for 7 days after a fix</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A call</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1226"/>
                          </a:solidFill>
                          <a:latin typeface="Calibri" pitchFamily="34" charset="0"/>
                          <a:ea typeface="Calibri" pitchFamily="34" charset="-122"/>
                          <a:cs typeface="Calibri" pitchFamily="34" charset="-120"/>
                        </a:rPr>
                        <a:t>≤ 5 per 100 / month</a:t>
                      </a:r>
                      <a:endParaRPr lang="en-US" sz="11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62" name="Shape 52"/>
          <p:cNvSpPr/>
          <p:nvPr/>
        </p:nvSpPr>
        <p:spPr>
          <a:xfrm>
            <a:off x="749808" y="6208776"/>
            <a:ext cx="7406640" cy="2807208"/>
          </a:xfrm>
          <a:prstGeom prst="rect">
            <a:avLst/>
          </a:prstGeom>
          <a:solidFill>
            <a:srgbClr val="FFFFFF"/>
          </a:solidFill>
          <a:ln w="9525">
            <a:solidFill>
              <a:srgbClr val="E0CEDA"/>
            </a:solidFill>
            <a:prstDash val="solid"/>
          </a:ln>
        </p:spPr>
      </p:sp>
      <p:sp>
        <p:nvSpPr>
          <p:cNvPr id="63" name="Shape 53"/>
          <p:cNvSpPr/>
          <p:nvPr/>
        </p:nvSpPr>
        <p:spPr>
          <a:xfrm>
            <a:off x="749808" y="6208776"/>
            <a:ext cx="7406640" cy="329184"/>
          </a:xfrm>
          <a:prstGeom prst="rect">
            <a:avLst/>
          </a:prstGeom>
          <a:solidFill>
            <a:srgbClr val="8A245E"/>
          </a:solidFill>
          <a:ln w="12700">
            <a:solidFill>
              <a:srgbClr val="8A245E"/>
            </a:solidFill>
            <a:prstDash val="solid"/>
          </a:ln>
        </p:spPr>
      </p:sp>
      <p:pic>
        <p:nvPicPr>
          <p:cNvPr id="64" name="Image 6" descr="/private/tmp/claude-501/-Users-prathmeshwalimbe-Downloads-Meesho/dfec39d5-f971-4a3a-8cfb-761f4ef1fedb/scratchpad/deck/assets/icons/FaGaugeHigh_w.png">    </p:cNvPr>
          <p:cNvPicPr>
            <a:picLocks noChangeAspect="1"/>
          </p:cNvPicPr>
          <p:nvPr/>
        </p:nvPicPr>
        <p:blipFill>
          <a:blip r:embed="rId7"/>
          <a:stretch>
            <a:fillRect/>
          </a:stretch>
        </p:blipFill>
        <p:spPr>
          <a:xfrm>
            <a:off x="859536" y="6272784"/>
            <a:ext cx="201168" cy="201168"/>
          </a:xfrm>
          <a:prstGeom prst="rect">
            <a:avLst/>
          </a:prstGeom>
        </p:spPr>
      </p:pic>
      <p:sp>
        <p:nvSpPr>
          <p:cNvPr id="65" name="Text 54"/>
          <p:cNvSpPr txBox="1"/>
          <p:nvPr/>
        </p:nvSpPr>
        <p:spPr>
          <a:xfrm>
            <a:off x="1133856" y="6208776"/>
            <a:ext cx="68945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ONE SELLER · KAVIN KNIT MILLS (FICTIONAL), TIRUPPUR</a:t>
            </a:r>
            <a:endParaRPr lang="en-US" sz="1250" dirty="0"/>
          </a:p>
        </p:txBody>
      </p:sp>
      <p:sp>
        <p:nvSpPr>
          <p:cNvPr id="66" name="Shape 55"/>
          <p:cNvSpPr/>
          <p:nvPr/>
        </p:nvSpPr>
        <p:spPr>
          <a:xfrm>
            <a:off x="868680" y="6620256"/>
            <a:ext cx="2980897" cy="2331720"/>
          </a:xfrm>
          <a:prstGeom prst="rect">
            <a:avLst/>
          </a:prstGeom>
          <a:solidFill>
            <a:srgbClr val="FFFFFF"/>
          </a:solidFill>
          <a:ln w="9525">
            <a:solidFill>
              <a:srgbClr val="E0CEDA"/>
            </a:solidFill>
            <a:prstDash val="solid"/>
          </a:ln>
        </p:spPr>
      </p:sp>
      <p:pic>
        <p:nvPicPr>
          <p:cNvPr id="67" name="Image 7" descr="/private/tmp/claude-501/-Users-prathmeshwalimbe-Downloads-Meesho/dfec39d5-f971-4a3a-8cfb-761f4ef1fedb/scratchpad/deck/assets/shot_health_detail.png">    </p:cNvPr>
          <p:cNvPicPr>
            <a:picLocks noChangeAspect="1"/>
          </p:cNvPicPr>
          <p:nvPr/>
        </p:nvPicPr>
        <p:blipFill>
          <a:blip r:embed="rId8"/>
          <a:stretch>
            <a:fillRect/>
          </a:stretch>
        </p:blipFill>
        <p:spPr>
          <a:xfrm>
            <a:off x="877824" y="6629400"/>
            <a:ext cx="2962609" cy="2313432"/>
          </a:xfrm>
          <a:prstGeom prst="rect">
            <a:avLst/>
          </a:prstGeom>
        </p:spPr>
      </p:pic>
      <p:sp>
        <p:nvSpPr>
          <p:cNvPr id="68" name="Text 56"/>
          <p:cNvSpPr txBox="1"/>
          <p:nvPr/>
        </p:nvSpPr>
        <p:spPr>
          <a:xfrm>
            <a:off x="4261104" y="6629400"/>
            <a:ext cx="3767328" cy="2313432"/>
          </a:xfrm>
          <a:prstGeom prst="rect">
            <a:avLst/>
          </a:prstGeom>
          <a:noFill/>
          <a:ln/>
        </p:spPr>
        <p:txBody>
          <a:bodyPr wrap="square" lIns="0" tIns="0" rIns="0" bIns="0" rtlCol="0" anchor="t"/>
          <a:lstStyle/>
          <a:p>
            <a:pPr algn="l" indent="0" marL="0">
              <a:lnSpc>
                <a:spcPct val="100000"/>
              </a:lnSpc>
              <a:buNone/>
            </a:pPr>
            <a:r>
              <a:rPr lang="en-US" sz="1150" b="1" dirty="0">
                <a:solidFill>
                  <a:srgbClr val="560547"/>
                </a:solidFill>
                <a:latin typeface="Calibri" pitchFamily="34" charset="0"/>
                <a:ea typeface="Calibri" pitchFamily="34" charset="-122"/>
                <a:cs typeface="Calibri" pitchFamily="34" charset="-120"/>
              </a:rPr>
              <a:t>Day 0</a:t>
            </a:r>
            <a:endParaRPr lang="en-US" sz="1150" dirty="0"/>
          </a:p>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Badge on; first batch handed over at the node</a:t>
            </a:r>
            <a:endParaRPr lang="en-US" sz="1150" dirty="0"/>
          </a:p>
          <a:p>
            <a:pPr algn="l" indent="0" marL="0">
              <a:lnSpc>
                <a:spcPct val="100000"/>
              </a:lnSpc>
              <a:buNone/>
            </a:pPr>
            <a:r>
              <a:rPr lang="en-US" sz="1150" b="1" dirty="0">
                <a:solidFill>
                  <a:srgbClr val="560547"/>
                </a:solidFill>
                <a:latin typeface="Calibri" pitchFamily="34" charset="0"/>
                <a:ea typeface="Calibri" pitchFamily="34" charset="-122"/>
                <a:cs typeface="Calibri" pitchFamily="34" charset="-120"/>
              </a:rPr>
              <a:t>Day 7</a:t>
            </a:r>
            <a:endParaRPr lang="en-US" sz="1150" dirty="0"/>
          </a:p>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Orders at D7 were 41% of the cohort median (floor 60%): a grant fires, no one calls</a:t>
            </a:r>
            <a:endParaRPr lang="en-US" sz="1150" dirty="0"/>
          </a:p>
          <a:p>
            <a:pPr algn="l" indent="0" marL="0">
              <a:lnSpc>
                <a:spcPct val="100000"/>
              </a:lnSpc>
              <a:buNone/>
            </a:pPr>
            <a:r>
              <a:rPr lang="en-US" sz="1150" b="1" dirty="0">
                <a:solidFill>
                  <a:srgbClr val="560547"/>
                </a:solidFill>
                <a:latin typeface="Calibri" pitchFamily="34" charset="0"/>
                <a:ea typeface="Calibri" pitchFamily="34" charset="-122"/>
                <a:cs typeface="Calibri" pitchFamily="34" charset="-120"/>
              </a:rPr>
              <a:t>Day 8+</a:t>
            </a:r>
            <a:endParaRPr lang="en-US" sz="1150" dirty="0"/>
          </a:p>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Orders recover into the cohort band; score ≥ 80</a:t>
            </a:r>
            <a:endParaRPr lang="en-US" sz="1150" dirty="0"/>
          </a:p>
          <a:p>
            <a:pPr algn="l" indent="0" marL="0">
              <a:lnSpc>
                <a:spcPct val="100000"/>
              </a:lnSpc>
              <a:buNone/>
            </a:pPr>
            <a:r>
              <a:rPr lang="en-US" sz="1150" b="1" dirty="0">
                <a:solidFill>
                  <a:srgbClr val="1E8E5A"/>
                </a:solidFill>
                <a:latin typeface="Calibri" pitchFamily="34" charset="0"/>
                <a:ea typeface="Calibri" pitchFamily="34" charset="-122"/>
                <a:cs typeface="Calibri" pitchFamily="34" charset="-120"/>
              </a:rPr>
              <a:t>Day 37</a:t>
            </a:r>
            <a:endParaRPr lang="en-US" sz="1150" dirty="0"/>
          </a:p>
          <a:p>
            <a:pPr algn="l" indent="0" marL="0">
              <a:lnSpc>
                <a:spcPct val="100000"/>
              </a:lnSpc>
              <a:buNone/>
            </a:pPr>
            <a:r>
              <a:rPr lang="en-US" sz="1150" dirty="0">
                <a:solidFill>
                  <a:srgbClr val="2B1226"/>
                </a:solidFill>
                <a:latin typeface="Calibri" pitchFamily="34" charset="0"/>
                <a:ea typeface="Calibri" pitchFamily="34" charset="-122"/>
                <a:cs typeface="Calibri" pitchFamily="34" charset="-120"/>
              </a:rPr>
              <a:t>Graduated: batch prepayment unlocked</a:t>
            </a:r>
            <a:endParaRPr lang="en-US" sz="1150" dirty="0"/>
          </a:p>
        </p:txBody>
      </p:sp>
      <p:sp>
        <p:nvSpPr>
          <p:cNvPr id="69" name="Shape 57"/>
          <p:cNvSpPr/>
          <p:nvPr/>
        </p:nvSpPr>
        <p:spPr>
          <a:xfrm>
            <a:off x="8284464" y="6208776"/>
            <a:ext cx="4846320" cy="2807208"/>
          </a:xfrm>
          <a:prstGeom prst="rect">
            <a:avLst/>
          </a:prstGeom>
          <a:solidFill>
            <a:srgbClr val="FFFFFF"/>
          </a:solidFill>
          <a:ln w="9525">
            <a:solidFill>
              <a:srgbClr val="E0CEDA"/>
            </a:solidFill>
            <a:prstDash val="solid"/>
          </a:ln>
        </p:spPr>
      </p:sp>
      <p:sp>
        <p:nvSpPr>
          <p:cNvPr id="70" name="Shape 58"/>
          <p:cNvSpPr/>
          <p:nvPr/>
        </p:nvSpPr>
        <p:spPr>
          <a:xfrm>
            <a:off x="8284464" y="6208776"/>
            <a:ext cx="4846320" cy="329184"/>
          </a:xfrm>
          <a:prstGeom prst="rect">
            <a:avLst/>
          </a:prstGeom>
          <a:solidFill>
            <a:srgbClr val="8A245E"/>
          </a:solidFill>
          <a:ln w="12700">
            <a:solidFill>
              <a:srgbClr val="8A245E"/>
            </a:solidFill>
            <a:prstDash val="solid"/>
          </a:ln>
        </p:spPr>
      </p:sp>
      <p:pic>
        <p:nvPicPr>
          <p:cNvPr id="71" name="Image 8" descr="/private/tmp/claude-501/-Users-prathmeshwalimbe-Downloads-Meesho/dfec39d5-f971-4a3a-8cfb-761f4ef1fedb/scratchpad/deck/assets/icons/FaRobot_w.png">    </p:cNvPr>
          <p:cNvPicPr>
            <a:picLocks noChangeAspect="1"/>
          </p:cNvPicPr>
          <p:nvPr/>
        </p:nvPicPr>
        <p:blipFill>
          <a:blip r:embed="rId9"/>
          <a:stretch>
            <a:fillRect/>
          </a:stretch>
        </p:blipFill>
        <p:spPr>
          <a:xfrm>
            <a:off x="8394192" y="6272784"/>
            <a:ext cx="201168" cy="201168"/>
          </a:xfrm>
          <a:prstGeom prst="rect">
            <a:avLst/>
          </a:prstGeom>
        </p:spPr>
      </p:pic>
      <p:sp>
        <p:nvSpPr>
          <p:cNvPr id="72" name="Text 59"/>
          <p:cNvSpPr txBox="1"/>
          <p:nvPr/>
        </p:nvSpPr>
        <p:spPr>
          <a:xfrm>
            <a:off x="8668512" y="6208776"/>
            <a:ext cx="433425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SCALES TO HUNDREDS WITHOUT HEADCOUNT</a:t>
            </a:r>
            <a:endParaRPr lang="en-US" sz="1250" dirty="0"/>
          </a:p>
        </p:txBody>
      </p:sp>
      <p:sp>
        <p:nvSpPr>
          <p:cNvPr id="73" name="Shape 60"/>
          <p:cNvSpPr/>
          <p:nvPr/>
        </p:nvSpPr>
        <p:spPr>
          <a:xfrm>
            <a:off x="8412480" y="6629400"/>
            <a:ext cx="2240280" cy="1005840"/>
          </a:xfrm>
          <a:prstGeom prst="rect">
            <a:avLst/>
          </a:prstGeom>
          <a:solidFill>
            <a:srgbClr val="F2E4EE"/>
          </a:solidFill>
          <a:ln w="12700">
            <a:solidFill>
              <a:srgbClr val="F2E4EE"/>
            </a:solidFill>
            <a:prstDash val="solid"/>
          </a:ln>
        </p:spPr>
      </p:sp>
      <p:sp>
        <p:nvSpPr>
          <p:cNvPr id="74" name="Text 61"/>
          <p:cNvSpPr txBox="1"/>
          <p:nvPr/>
        </p:nvSpPr>
        <p:spPr>
          <a:xfrm>
            <a:off x="8522208" y="6684264"/>
            <a:ext cx="2020824" cy="523037"/>
          </a:xfrm>
          <a:prstGeom prst="rect">
            <a:avLst/>
          </a:prstGeom>
          <a:noFill/>
          <a:ln/>
        </p:spPr>
        <p:txBody>
          <a:bodyPr wrap="square" lIns="0" tIns="0" rIns="0" bIns="0" rtlCol="0" anchor="ctr"/>
          <a:lstStyle/>
          <a:p>
            <a:pPr algn="l" indent="0" marL="0">
              <a:lnSpc>
                <a:spcPct val="100000"/>
              </a:lnSpc>
              <a:buNone/>
            </a:pPr>
            <a:r>
              <a:rPr lang="en-US" sz="2400" b="1" dirty="0">
                <a:solidFill>
                  <a:srgbClr val="560547"/>
                </a:solidFill>
                <a:latin typeface="Arial" pitchFamily="34" charset="0"/>
                <a:ea typeface="Arial" pitchFamily="34" charset="-122"/>
                <a:cs typeface="Arial" pitchFamily="34" charset="-120"/>
              </a:rPr>
              <a:t>90 : 3</a:t>
            </a:r>
            <a:endParaRPr lang="en-US" sz="2400" dirty="0"/>
          </a:p>
        </p:txBody>
      </p:sp>
      <p:sp>
        <p:nvSpPr>
          <p:cNvPr id="75" name="Text 62"/>
          <p:cNvSpPr txBox="1"/>
          <p:nvPr/>
        </p:nvSpPr>
        <p:spPr>
          <a:xfrm>
            <a:off x="8522208" y="7182612"/>
            <a:ext cx="2020824" cy="422453"/>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automated vs human actions</a:t>
            </a:r>
            <a:endParaRPr lang="en-US" sz="1100" dirty="0"/>
          </a:p>
        </p:txBody>
      </p:sp>
      <p:sp>
        <p:nvSpPr>
          <p:cNvPr id="76" name="Shape 63"/>
          <p:cNvSpPr/>
          <p:nvPr/>
        </p:nvSpPr>
        <p:spPr>
          <a:xfrm>
            <a:off x="10762488" y="6629400"/>
            <a:ext cx="2240280" cy="1005840"/>
          </a:xfrm>
          <a:prstGeom prst="rect">
            <a:avLst/>
          </a:prstGeom>
          <a:solidFill>
            <a:srgbClr val="FFF3D8"/>
          </a:solidFill>
          <a:ln w="12700">
            <a:solidFill>
              <a:srgbClr val="FFF3D8"/>
            </a:solidFill>
            <a:prstDash val="solid"/>
          </a:ln>
        </p:spPr>
      </p:sp>
      <p:sp>
        <p:nvSpPr>
          <p:cNvPr id="77" name="Text 64"/>
          <p:cNvSpPr txBox="1"/>
          <p:nvPr/>
        </p:nvSpPr>
        <p:spPr>
          <a:xfrm>
            <a:off x="10872216" y="6684264"/>
            <a:ext cx="2020824" cy="523037"/>
          </a:xfrm>
          <a:prstGeom prst="rect">
            <a:avLst/>
          </a:prstGeom>
          <a:noFill/>
          <a:ln/>
        </p:spPr>
        <p:txBody>
          <a:bodyPr wrap="square" lIns="0" tIns="0" rIns="0" bIns="0" rtlCol="0" anchor="ctr"/>
          <a:lstStyle/>
          <a:p>
            <a:pPr algn="l" indent="0" marL="0">
              <a:lnSpc>
                <a:spcPct val="100000"/>
              </a:lnSpc>
              <a:buNone/>
            </a:pPr>
            <a:r>
              <a:rPr lang="en-US" sz="2400" b="1" dirty="0">
                <a:solidFill>
                  <a:srgbClr val="560547"/>
                </a:solidFill>
                <a:latin typeface="Arial" pitchFamily="34" charset="0"/>
                <a:ea typeface="Arial" pitchFamily="34" charset="-122"/>
                <a:cs typeface="Arial" pitchFamily="34" charset="-120"/>
              </a:rPr>
              <a:t>~910</a:t>
            </a:r>
            <a:endParaRPr lang="en-US" sz="2400" dirty="0"/>
          </a:p>
        </p:txBody>
      </p:sp>
      <p:sp>
        <p:nvSpPr>
          <p:cNvPr id="78" name="Text 65"/>
          <p:cNvSpPr txBox="1"/>
          <p:nvPr/>
        </p:nvSpPr>
        <p:spPr>
          <a:xfrm>
            <a:off x="10872216" y="7182612"/>
            <a:ext cx="2020824" cy="422453"/>
          </a:xfrm>
          <a:prstGeom prst="rect">
            <a:avLst/>
          </a:prstGeom>
          <a:noFill/>
          <a:ln/>
        </p:spPr>
        <p:txBody>
          <a:bodyPr wrap="square" lIns="0" tIns="0" rIns="0" bIns="0" rtlCol="0" anchor="t"/>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sellers per category manager</a:t>
            </a:r>
            <a:endParaRPr lang="en-US" sz="1100" dirty="0"/>
          </a:p>
        </p:txBody>
      </p:sp>
      <p:sp>
        <p:nvSpPr>
          <p:cNvPr id="79" name="Text 66"/>
          <p:cNvSpPr txBox="1"/>
          <p:nvPr/>
        </p:nvSpPr>
        <p:spPr>
          <a:xfrm>
            <a:off x="8412480" y="7699248"/>
            <a:ext cx="4590288" cy="411480"/>
          </a:xfrm>
          <a:prstGeom prst="rect">
            <a:avLst/>
          </a:prstGeom>
          <a:noFill/>
          <a:ln/>
        </p:spPr>
        <p:txBody>
          <a:bodyPr wrap="square" lIns="0" tIns="0" rIns="0" bIns="0" rtlCol="0" anchor="t"/>
          <a:lstStyle/>
          <a:p>
            <a:pPr algn="l" indent="0" marL="0">
              <a:lnSpc>
                <a:spcPct val="100000"/>
              </a:lnSpc>
              <a:buNone/>
            </a:pPr>
            <a:r>
              <a:rPr lang="en-US" sz="1050" b="1" dirty="0">
                <a:solidFill>
                  <a:srgbClr val="560547"/>
                </a:solidFill>
                <a:latin typeface="Calibri" pitchFamily="34" charset="0"/>
                <a:ea typeface="Calibri" pitchFamily="34" charset="-122"/>
                <a:cs typeface="Calibri" pitchFamily="34" charset="-120"/>
              </a:rPr>
              <a:t>Sellers per manager = capacity ÷ escalation rate</a:t>
            </a:r>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 = 40 ÷ (3 ÷ 68 seller-months) ≈ 910. The 3 escalations are the only human touches in the pilot.</a:t>
            </a:r>
            <a:endParaRPr lang="en-US" sz="105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8412480" y="8129016"/>
          <a:ext cx="4590288" cy="914400"/>
        </p:xfrm>
        <a:graphic>
          <a:graphicData uri="http://schemas.openxmlformats.org/drawingml/2006/table">
            <a:tbl>
              <a:tblPr/>
              <a:tblGrid>
                <a:gridCol w="2011680"/>
                <a:gridCol w="685800"/>
                <a:gridCol w="1892808"/>
              </a:tblGrid>
              <a:tr h="237744">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At 1,400 sellers</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People</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What they do</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237744">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Account managers (1 per ~20)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C0392B"/>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Chase every seller, every week</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560547"/>
                          </a:solidFill>
                          <a:latin typeface="Calibri" pitchFamily="34" charset="0"/>
                          <a:ea typeface="Calibri" pitchFamily="34" charset="-122"/>
                          <a:cs typeface="Calibri" pitchFamily="34" charset="-120"/>
                        </a:rPr>
                        <a:t>Rules + exceptions</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E8E5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Review only failed fixes</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81" name="Shape 67"/>
          <p:cNvSpPr/>
          <p:nvPr/>
        </p:nvSpPr>
        <p:spPr>
          <a:xfrm>
            <a:off x="13258800" y="6208776"/>
            <a:ext cx="4800600" cy="2807208"/>
          </a:xfrm>
          <a:prstGeom prst="rect">
            <a:avLst/>
          </a:prstGeom>
          <a:solidFill>
            <a:srgbClr val="FFFFFF"/>
          </a:solidFill>
          <a:ln w="9525">
            <a:solidFill>
              <a:srgbClr val="E0CEDA"/>
            </a:solidFill>
            <a:prstDash val="solid"/>
          </a:ln>
        </p:spPr>
      </p:sp>
      <p:sp>
        <p:nvSpPr>
          <p:cNvPr id="82" name="Shape 68"/>
          <p:cNvSpPr/>
          <p:nvPr/>
        </p:nvSpPr>
        <p:spPr>
          <a:xfrm>
            <a:off x="13258800" y="6208776"/>
            <a:ext cx="4800600" cy="329184"/>
          </a:xfrm>
          <a:prstGeom prst="rect">
            <a:avLst/>
          </a:prstGeom>
          <a:solidFill>
            <a:srgbClr val="8A245E"/>
          </a:solidFill>
          <a:ln w="12700">
            <a:solidFill>
              <a:srgbClr val="8A245E"/>
            </a:solidFill>
            <a:prstDash val="solid"/>
          </a:ln>
        </p:spPr>
      </p:sp>
      <p:pic>
        <p:nvPicPr>
          <p:cNvPr id="83" name="Image 9" descr="/private/tmp/claude-501/-Users-prathmeshwalimbe-Downloads-Meesho/dfec39d5-f971-4a3a-8cfb-761f4ef1fedb/scratchpad/deck/assets/icons/FaTriangleExclamation_w.png">    </p:cNvPr>
          <p:cNvPicPr>
            <a:picLocks noChangeAspect="1"/>
          </p:cNvPicPr>
          <p:nvPr/>
        </p:nvPicPr>
        <p:blipFill>
          <a:blip r:embed="rId10"/>
          <a:stretch>
            <a:fillRect/>
          </a:stretch>
        </p:blipFill>
        <p:spPr>
          <a:xfrm>
            <a:off x="13368528" y="6272784"/>
            <a:ext cx="201168" cy="201168"/>
          </a:xfrm>
          <a:prstGeom prst="rect">
            <a:avLst/>
          </a:prstGeom>
        </p:spPr>
      </p:pic>
      <p:sp>
        <p:nvSpPr>
          <p:cNvPr id="84" name="Text 69"/>
          <p:cNvSpPr txBox="1"/>
          <p:nvPr/>
        </p:nvSpPr>
        <p:spPr>
          <a:xfrm>
            <a:off x="13642848" y="6208776"/>
            <a:ext cx="428853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EXPLICITLY REJECTED</a:t>
            </a:r>
            <a:endParaRPr lang="en-US" sz="1250" dirty="0"/>
          </a:p>
        </p:txBody>
      </p:sp>
      <p:graphicFrame>
        <p:nvGraphicFramePr>
          <p:cNvPr id="19" name="Table 2"/>
          <p:cNvGraphicFramePr>
            <a:graphicFrameLocks noGrp="1"/>
          </p:cNvGraphicFramePr>
          <p:nvPr>
            <p:extLst>
              <p:ext uri="{D42A27DB-BD31-4B8C-83A1-F6EECF244321}">
                <p14:modId xmlns:p14="http://schemas.microsoft.com/office/powerpoint/2010/main" val="1579011935"/>
              </p:ext>
            </p:extLst>
          </p:nvPr>
        </p:nvGraphicFramePr>
        <p:xfrm>
          <a:off x="13386816" y="6629400"/>
          <a:ext cx="4544568" cy="914400"/>
        </p:xfrm>
        <a:graphic>
          <a:graphicData uri="http://schemas.openxmlformats.org/drawingml/2006/table">
            <a:tbl>
              <a:tblPr/>
              <a:tblGrid>
                <a:gridCol w="1874520"/>
                <a:gridCol w="2670048"/>
              </a:tblGrid>
              <a:tr h="438912">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Option</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Why not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43891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Order subsidy or paid boosts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Buys volume, not conviction; stops the day funding stops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3891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Account managers per seller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Works at 20 sellers, breaks at 200, cannot reach 1,400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3891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Onboarding by turnover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The brief’s own diagnosis: scale is not price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3891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Weakening the quality gate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Protects nobody; grants target traffic, not ranking rules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413662"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297326" y="182880"/>
            <a:ext cx="1413662"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33390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4765853" y="182880"/>
            <a:ext cx="1413662"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4802429"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234379" y="182880"/>
            <a:ext cx="1413662"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270955"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7702906" y="182880"/>
            <a:ext cx="1413662"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773948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171432" y="182880"/>
            <a:ext cx="1413662" cy="502920"/>
          </a:xfrm>
          <a:prstGeom prst="roundRect">
            <a:avLst>
              <a:gd name="adj" fmla="val 14545"/>
            </a:avLst>
          </a:prstGeom>
          <a:solidFill>
            <a:srgbClr val="560547"/>
          </a:solidFill>
          <a:ln w="9525">
            <a:solidFill>
              <a:srgbClr val="560547"/>
            </a:solidFill>
            <a:prstDash val="solid"/>
          </a:ln>
        </p:spPr>
      </p:sp>
      <p:sp>
        <p:nvSpPr>
          <p:cNvPr id="16" name="Text 12"/>
          <p:cNvSpPr txBox="1"/>
          <p:nvPr/>
        </p:nvSpPr>
        <p:spPr>
          <a:xfrm>
            <a:off x="9208008"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0639958" y="182880"/>
            <a:ext cx="1413662"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067653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2108485" y="182880"/>
            <a:ext cx="1413662"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2145061"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3577011" y="182880"/>
            <a:ext cx="1413662"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3613587"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OPERATING MODEL</a:t>
            </a:r>
            <a:endParaRPr lang="en-US" sz="950" dirty="0"/>
          </a:p>
        </p:txBody>
      </p:sp>
      <p:sp>
        <p:nvSpPr>
          <p:cNvPr id="23" name="Shape 19"/>
          <p:cNvSpPr/>
          <p:nvPr/>
        </p:nvSpPr>
        <p:spPr>
          <a:xfrm>
            <a:off x="15045538" y="182880"/>
            <a:ext cx="1413662" cy="502920"/>
          </a:xfrm>
          <a:prstGeom prst="roundRect">
            <a:avLst>
              <a:gd name="adj" fmla="val 14545"/>
            </a:avLst>
          </a:prstGeom>
          <a:solidFill>
            <a:srgbClr val="FFFFFF"/>
          </a:solidFill>
          <a:ln w="9525">
            <a:solidFill>
              <a:srgbClr val="E0CEDA"/>
            </a:solidFill>
            <a:prstDash val="solid"/>
          </a:ln>
        </p:spPr>
      </p:sp>
      <p:sp>
        <p:nvSpPr>
          <p:cNvPr id="24" name="Text 20"/>
          <p:cNvSpPr txBox="1"/>
          <p:nvPr/>
        </p:nvSpPr>
        <p:spPr>
          <a:xfrm>
            <a:off x="1508211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10 · PROTOTYPE</a:t>
            </a:r>
            <a:endParaRPr lang="en-US" sz="950" dirty="0"/>
          </a:p>
        </p:txBody>
      </p:sp>
      <p:sp>
        <p:nvSpPr>
          <p:cNvPr id="25" name="Shape 21"/>
          <p:cNvSpPr/>
          <p:nvPr/>
        </p:nvSpPr>
        <p:spPr>
          <a:xfrm>
            <a:off x="228600" y="987552"/>
            <a:ext cx="384048" cy="8083296"/>
          </a:xfrm>
          <a:prstGeom prst="rect">
            <a:avLst/>
          </a:prstGeom>
          <a:solidFill>
            <a:srgbClr val="6E1251"/>
          </a:solidFill>
          <a:ln w="12700">
            <a:solidFill>
              <a:srgbClr val="6E1251"/>
            </a:solidFill>
            <a:prstDash val="solid"/>
          </a:ln>
        </p:spPr>
      </p:sp>
      <p:sp>
        <p:nvSpPr>
          <p:cNvPr id="26" name="Text 22"/>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WHAT WE WATCH</a:t>
            </a:r>
            <a:endParaRPr lang="en-US" sz="1200" dirty="0"/>
          </a:p>
        </p:txBody>
      </p:sp>
      <p:sp>
        <p:nvSpPr>
          <p:cNvPr id="27" name="Text 23"/>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Q6 · Metrics and KPIs · What Meesho tracks across onboarding, activation and retention, and when it steps in</a:t>
            </a:r>
            <a:endParaRPr lang="en-US" sz="1700" dirty="0"/>
          </a:p>
        </p:txBody>
      </p:sp>
      <p:sp>
        <p:nvSpPr>
          <p:cNvPr id="28" name="Text 24"/>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Targets are proposed pilot thresholds, to be recalibrated on the first cohort. Health Score weights and rule thresholds are the ones running in the prototype (src/config.js).</a:t>
            </a:r>
            <a:endParaRPr lang="en-US" sz="1000" dirty="0"/>
          </a:p>
        </p:txBody>
      </p:sp>
      <p:sp>
        <p:nvSpPr>
          <p:cNvPr id="29" name="Shape 25"/>
          <p:cNvSpPr/>
          <p:nvPr/>
        </p:nvSpPr>
        <p:spPr>
          <a:xfrm>
            <a:off x="228600" y="9400032"/>
            <a:ext cx="17830800" cy="603504"/>
          </a:xfrm>
          <a:prstGeom prst="rect">
            <a:avLst/>
          </a:prstGeom>
          <a:solidFill>
            <a:srgbClr val="560547"/>
          </a:solidFill>
          <a:ln w="12700">
            <a:solidFill>
              <a:srgbClr val="560547"/>
            </a:solidFill>
            <a:prstDash val="solid"/>
          </a:ln>
        </p:spPr>
      </p:sp>
      <p:sp>
        <p:nvSpPr>
          <p:cNvPr id="30" name="Shape 26"/>
          <p:cNvSpPr/>
          <p:nvPr/>
        </p:nvSpPr>
        <p:spPr>
          <a:xfrm>
            <a:off x="411480" y="9592056"/>
            <a:ext cx="219456" cy="219456"/>
          </a:xfrm>
          <a:prstGeom prst="rect">
            <a:avLst/>
          </a:prstGeom>
          <a:solidFill>
            <a:srgbClr val="FF9D00"/>
          </a:solidFill>
          <a:ln w="12700">
            <a:solidFill>
              <a:srgbClr val="FF9D00"/>
            </a:solidFill>
            <a:prstDash val="solid"/>
          </a:ln>
        </p:spPr>
      </p:sp>
      <p:sp>
        <p:nvSpPr>
          <p:cNvPr id="31" name="Text 27"/>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Measure the funnel from qualified to graduated, score every seller daily, and act at fixed thresholds; a person steps in only after an automatic fix has failed.</a:t>
            </a:r>
            <a:endParaRPr lang="en-US" sz="1400" dirty="0"/>
          </a:p>
        </p:txBody>
      </p:sp>
      <p:pic>
        <p:nvPicPr>
          <p:cNvPr id="32"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4" name="Shape 28"/>
          <p:cNvSpPr/>
          <p:nvPr/>
        </p:nvSpPr>
        <p:spPr>
          <a:xfrm>
            <a:off x="749808" y="1426464"/>
            <a:ext cx="10241280" cy="4892040"/>
          </a:xfrm>
          <a:prstGeom prst="rect">
            <a:avLst/>
          </a:prstGeom>
          <a:solidFill>
            <a:srgbClr val="FFFFFF"/>
          </a:solidFill>
          <a:ln w="9525">
            <a:solidFill>
              <a:srgbClr val="E0CEDA"/>
            </a:solidFill>
            <a:prstDash val="solid"/>
          </a:ln>
        </p:spPr>
      </p:sp>
      <p:sp>
        <p:nvSpPr>
          <p:cNvPr id="35" name="Shape 29"/>
          <p:cNvSpPr/>
          <p:nvPr/>
        </p:nvSpPr>
        <p:spPr>
          <a:xfrm>
            <a:off x="749808" y="1426464"/>
            <a:ext cx="10241280" cy="329184"/>
          </a:xfrm>
          <a:prstGeom prst="rect">
            <a:avLst/>
          </a:prstGeom>
          <a:solidFill>
            <a:srgbClr val="560547"/>
          </a:solidFill>
          <a:ln w="12700">
            <a:solidFill>
              <a:srgbClr val="560547"/>
            </a:solidFill>
            <a:prstDash val="solid"/>
          </a:ln>
        </p:spPr>
      </p:sp>
      <p:pic>
        <p:nvPicPr>
          <p:cNvPr id="36" name="Image 3" descr="/private/tmp/claude-501/-Users-prathmeshwalimbe-Downloads-Meesho/dfec39d5-f971-4a3a-8cfb-761f4ef1fedb/scratchpad/deck/assets/icons/FaMagnifyingGlassChart_w.png">    </p:cNvPr>
          <p:cNvPicPr>
            <a:picLocks noChangeAspect="1"/>
          </p:cNvPicPr>
          <p:nvPr/>
        </p:nvPicPr>
        <p:blipFill>
          <a:blip r:embed="rId4"/>
          <a:stretch>
            <a:fillRect/>
          </a:stretch>
        </p:blipFill>
        <p:spPr>
          <a:xfrm>
            <a:off x="859536" y="1490472"/>
            <a:ext cx="201168" cy="201168"/>
          </a:xfrm>
          <a:prstGeom prst="rect">
            <a:avLst/>
          </a:prstGeom>
        </p:spPr>
      </p:pic>
      <p:sp>
        <p:nvSpPr>
          <p:cNvPr id="37" name="Text 30"/>
          <p:cNvSpPr txBox="1"/>
          <p:nvPr/>
        </p:nvSpPr>
        <p:spPr>
          <a:xfrm>
            <a:off x="1133856" y="1426464"/>
            <a:ext cx="972921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KPI TREE · ONBOARDING → ACTIVATION → RETENTION</a:t>
            </a:r>
            <a:endParaRPr lang="en-US" sz="1250" dirty="0"/>
          </a:p>
        </p:txBody>
      </p:sp>
      <p:sp>
        <p:nvSpPr>
          <p:cNvPr id="38" name="Shape 31"/>
          <p:cNvSpPr/>
          <p:nvPr/>
        </p:nvSpPr>
        <p:spPr>
          <a:xfrm>
            <a:off x="2980944" y="1847088"/>
            <a:ext cx="5779008" cy="658368"/>
          </a:xfrm>
          <a:prstGeom prst="roundRect">
            <a:avLst>
              <a:gd name="adj" fmla="val 8333"/>
            </a:avLst>
          </a:prstGeom>
          <a:solidFill>
            <a:srgbClr val="560547"/>
          </a:solidFill>
          <a:ln w="12700">
            <a:solidFill>
              <a:srgbClr val="560547"/>
            </a:solidFill>
            <a:prstDash val="solid"/>
          </a:ln>
        </p:spPr>
      </p:sp>
      <p:sp>
        <p:nvSpPr>
          <p:cNvPr id="39" name="Text 32"/>
          <p:cNvSpPr txBox="1"/>
          <p:nvPr/>
        </p:nvSpPr>
        <p:spPr>
          <a:xfrm>
            <a:off x="2980944" y="1847088"/>
            <a:ext cx="5779008" cy="658368"/>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NORTH STAR · PRICE-COMPETITIVE C2M NMV</a:t>
            </a:r>
            <a:endParaRPr lang="en-US" sz="1200" dirty="0"/>
          </a:p>
          <a:p>
            <a:pPr algn="ctr" indent="0" marL="0">
              <a:lnSpc>
                <a:spcPct val="100000"/>
              </a:lnSpc>
              <a:buNone/>
            </a:pPr>
            <a:r>
              <a:rPr lang="en-US" sz="1200" dirty="0">
                <a:solidFill>
                  <a:srgbClr val="FFFFFF"/>
                </a:solidFill>
                <a:latin typeface="Calibri" pitchFamily="34" charset="0"/>
                <a:ea typeface="Calibri" pitchFamily="34" charset="-122"/>
                <a:cs typeface="Calibri" pitchFamily="34" charset="-120"/>
              </a:rPr>
              <a:t>NMV from sellers whose catalogue still clears the ≥ 8% gate</a:t>
            </a:r>
            <a:endParaRPr lang="en-US" sz="1200" dirty="0"/>
          </a:p>
        </p:txBody>
      </p:sp>
      <p:sp>
        <p:nvSpPr>
          <p:cNvPr id="40" name="Shape 33"/>
          <p:cNvSpPr/>
          <p:nvPr/>
        </p:nvSpPr>
        <p:spPr>
          <a:xfrm flipH="1">
            <a:off x="2496312" y="2505456"/>
            <a:ext cx="3374136" cy="393192"/>
          </a:xfrm>
          <a:prstGeom prst="line">
            <a:avLst/>
          </a:prstGeom>
          <a:noFill/>
          <a:ln w="15875">
            <a:solidFill>
              <a:srgbClr val="8A245E"/>
            </a:solidFill>
            <a:prstDash val="solid"/>
          </a:ln>
        </p:spPr>
      </p:sp>
      <p:sp>
        <p:nvSpPr>
          <p:cNvPr id="41" name="Shape 34"/>
          <p:cNvSpPr/>
          <p:nvPr/>
        </p:nvSpPr>
        <p:spPr>
          <a:xfrm>
            <a:off x="877824" y="2898648"/>
            <a:ext cx="3236976" cy="457200"/>
          </a:xfrm>
          <a:prstGeom prst="roundRect">
            <a:avLst>
              <a:gd name="adj" fmla="val 10000"/>
            </a:avLst>
          </a:prstGeom>
          <a:solidFill>
            <a:srgbClr val="8A245E"/>
          </a:solidFill>
          <a:ln w="12700">
            <a:solidFill>
              <a:srgbClr val="8A245E"/>
            </a:solidFill>
            <a:prstDash val="solid"/>
          </a:ln>
        </p:spPr>
      </p:sp>
      <p:pic>
        <p:nvPicPr>
          <p:cNvPr id="42" name="Image 4" descr="/private/tmp/claude-501/-Users-prathmeshwalimbe-Downloads-Meesho/dfec39d5-f971-4a3a-8cfb-761f4ef1fedb/scratchpad/deck/assets/icons/FaClipboardCheck_w.png">    </p:cNvPr>
          <p:cNvPicPr>
            <a:picLocks noChangeAspect="1"/>
          </p:cNvPicPr>
          <p:nvPr/>
        </p:nvPicPr>
        <p:blipFill>
          <a:blip r:embed="rId5"/>
          <a:stretch>
            <a:fillRect/>
          </a:stretch>
        </p:blipFill>
        <p:spPr>
          <a:xfrm>
            <a:off x="987552" y="2990088"/>
            <a:ext cx="274320" cy="274320"/>
          </a:xfrm>
          <a:prstGeom prst="rect">
            <a:avLst/>
          </a:prstGeom>
        </p:spPr>
      </p:pic>
      <p:sp>
        <p:nvSpPr>
          <p:cNvPr id="43" name="Text 35"/>
          <p:cNvSpPr txBox="1"/>
          <p:nvPr/>
        </p:nvSpPr>
        <p:spPr>
          <a:xfrm>
            <a:off x="1335024" y="2898648"/>
            <a:ext cx="2688336" cy="457200"/>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ONBOARDING</a:t>
            </a:r>
            <a:endParaRPr lang="en-US" sz="1200" dirty="0"/>
          </a:p>
        </p:txBody>
      </p:sp>
      <p:sp>
        <p:nvSpPr>
          <p:cNvPr id="44" name="Shape 36"/>
          <p:cNvSpPr/>
          <p:nvPr/>
        </p:nvSpPr>
        <p:spPr>
          <a:xfrm>
            <a:off x="877824" y="3447288"/>
            <a:ext cx="3236976" cy="566928"/>
          </a:xfrm>
          <a:prstGeom prst="roundRect">
            <a:avLst>
              <a:gd name="adj" fmla="val 6452"/>
            </a:avLst>
          </a:prstGeom>
          <a:solidFill>
            <a:srgbClr val="F2E4EE"/>
          </a:solidFill>
          <a:ln w="12700">
            <a:solidFill>
              <a:srgbClr val="F2E4EE"/>
            </a:solidFill>
            <a:prstDash val="solid"/>
          </a:ln>
        </p:spPr>
      </p:sp>
      <p:sp>
        <p:nvSpPr>
          <p:cNvPr id="45" name="Text 37"/>
          <p:cNvSpPr txBox="1"/>
          <p:nvPr/>
        </p:nvSpPr>
        <p:spPr>
          <a:xfrm>
            <a:off x="987552" y="347472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Qualified → listed</a:t>
            </a:r>
            <a:endParaRPr lang="en-US" sz="1150" dirty="0"/>
          </a:p>
        </p:txBody>
      </p:sp>
      <p:sp>
        <p:nvSpPr>
          <p:cNvPr id="46" name="Text 38"/>
          <p:cNvSpPr txBox="1"/>
          <p:nvPr/>
        </p:nvSpPr>
        <p:spPr>
          <a:xfrm>
            <a:off x="987552" y="373075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50% in 30 days · weekly · Category</a:t>
            </a:r>
            <a:endParaRPr lang="en-US" sz="1100" dirty="0"/>
          </a:p>
        </p:txBody>
      </p:sp>
      <p:sp>
        <p:nvSpPr>
          <p:cNvPr id="47" name="Shape 39"/>
          <p:cNvSpPr/>
          <p:nvPr/>
        </p:nvSpPr>
        <p:spPr>
          <a:xfrm>
            <a:off x="877824" y="4087368"/>
            <a:ext cx="3236976" cy="566928"/>
          </a:xfrm>
          <a:prstGeom prst="roundRect">
            <a:avLst>
              <a:gd name="adj" fmla="val 6452"/>
            </a:avLst>
          </a:prstGeom>
          <a:solidFill>
            <a:srgbClr val="F2E4EE"/>
          </a:solidFill>
          <a:ln w="12700">
            <a:solidFill>
              <a:srgbClr val="F2E4EE"/>
            </a:solidFill>
            <a:prstDash val="solid"/>
          </a:ln>
        </p:spPr>
      </p:sp>
      <p:sp>
        <p:nvSpPr>
          <p:cNvPr id="48" name="Text 40"/>
          <p:cNvSpPr txBox="1"/>
          <p:nvPr/>
        </p:nvSpPr>
        <p:spPr>
          <a:xfrm>
            <a:off x="987552" y="411480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Days to first live listing</a:t>
            </a:r>
            <a:endParaRPr lang="en-US" sz="1150" dirty="0"/>
          </a:p>
        </p:txBody>
      </p:sp>
      <p:sp>
        <p:nvSpPr>
          <p:cNvPr id="49" name="Text 41"/>
          <p:cNvSpPr txBox="1"/>
          <p:nvPr/>
        </p:nvSpPr>
        <p:spPr>
          <a:xfrm>
            <a:off x="987552" y="437083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7 · weekly · Supplier product</a:t>
            </a:r>
            <a:endParaRPr lang="en-US" sz="1100" dirty="0"/>
          </a:p>
        </p:txBody>
      </p:sp>
      <p:sp>
        <p:nvSpPr>
          <p:cNvPr id="50" name="Shape 42"/>
          <p:cNvSpPr/>
          <p:nvPr/>
        </p:nvSpPr>
        <p:spPr>
          <a:xfrm>
            <a:off x="877824" y="4727448"/>
            <a:ext cx="3236976" cy="566928"/>
          </a:xfrm>
          <a:prstGeom prst="roundRect">
            <a:avLst>
              <a:gd name="adj" fmla="val 6452"/>
            </a:avLst>
          </a:prstGeom>
          <a:solidFill>
            <a:srgbClr val="F2E4EE"/>
          </a:solidFill>
          <a:ln w="12700">
            <a:solidFill>
              <a:srgbClr val="F2E4EE"/>
            </a:solidFill>
            <a:prstDash val="solid"/>
          </a:ln>
        </p:spPr>
      </p:sp>
      <p:sp>
        <p:nvSpPr>
          <p:cNvPr id="51" name="Text 43"/>
          <p:cNvSpPr txBox="1"/>
          <p:nvPr/>
        </p:nvSpPr>
        <p:spPr>
          <a:xfrm>
            <a:off x="987552" y="475488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First batch committed</a:t>
            </a:r>
            <a:endParaRPr lang="en-US" sz="1150" dirty="0"/>
          </a:p>
        </p:txBody>
      </p:sp>
      <p:sp>
        <p:nvSpPr>
          <p:cNvPr id="52" name="Text 44"/>
          <p:cNvSpPr txBox="1"/>
          <p:nvPr/>
        </p:nvSpPr>
        <p:spPr>
          <a:xfrm>
            <a:off x="987552" y="501091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14 days · weekly · Category</a:t>
            </a:r>
            <a:endParaRPr lang="en-US" sz="1100" dirty="0"/>
          </a:p>
        </p:txBody>
      </p:sp>
      <p:sp>
        <p:nvSpPr>
          <p:cNvPr id="53" name="Shape 45"/>
          <p:cNvSpPr/>
          <p:nvPr/>
        </p:nvSpPr>
        <p:spPr>
          <a:xfrm flipH="1">
            <a:off x="5870448" y="2505456"/>
            <a:ext cx="914" cy="393192"/>
          </a:xfrm>
          <a:prstGeom prst="line">
            <a:avLst/>
          </a:prstGeom>
          <a:noFill/>
          <a:ln w="15875">
            <a:solidFill>
              <a:srgbClr val="8A245E"/>
            </a:solidFill>
            <a:prstDash val="solid"/>
          </a:ln>
        </p:spPr>
      </p:sp>
      <p:sp>
        <p:nvSpPr>
          <p:cNvPr id="54" name="Shape 46"/>
          <p:cNvSpPr/>
          <p:nvPr/>
        </p:nvSpPr>
        <p:spPr>
          <a:xfrm>
            <a:off x="4251960" y="2898648"/>
            <a:ext cx="3236976" cy="457200"/>
          </a:xfrm>
          <a:prstGeom prst="roundRect">
            <a:avLst>
              <a:gd name="adj" fmla="val 10000"/>
            </a:avLst>
          </a:prstGeom>
          <a:solidFill>
            <a:srgbClr val="8A245E"/>
          </a:solidFill>
          <a:ln w="12700">
            <a:solidFill>
              <a:srgbClr val="8A245E"/>
            </a:solidFill>
            <a:prstDash val="solid"/>
          </a:ln>
        </p:spPr>
      </p:sp>
      <p:pic>
        <p:nvPicPr>
          <p:cNvPr id="55" name="Image 5" descr="/private/tmp/claude-501/-Users-prathmeshwalimbe-Downloads-Meesho/dfec39d5-f971-4a3a-8cfb-761f4ef1fedb/scratchpad/deck/assets/icons/FaBolt_w.png">    </p:cNvPr>
          <p:cNvPicPr>
            <a:picLocks noChangeAspect="1"/>
          </p:cNvPicPr>
          <p:nvPr/>
        </p:nvPicPr>
        <p:blipFill>
          <a:blip r:embed="rId6"/>
          <a:stretch>
            <a:fillRect/>
          </a:stretch>
        </p:blipFill>
        <p:spPr>
          <a:xfrm>
            <a:off x="4361688" y="2990088"/>
            <a:ext cx="274320" cy="274320"/>
          </a:xfrm>
          <a:prstGeom prst="rect">
            <a:avLst/>
          </a:prstGeom>
        </p:spPr>
      </p:pic>
      <p:sp>
        <p:nvSpPr>
          <p:cNvPr id="56" name="Text 47"/>
          <p:cNvSpPr txBox="1"/>
          <p:nvPr/>
        </p:nvSpPr>
        <p:spPr>
          <a:xfrm>
            <a:off x="4709160" y="2898648"/>
            <a:ext cx="2688336" cy="457200"/>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ACTIVATION</a:t>
            </a:r>
            <a:endParaRPr lang="en-US" sz="1200" dirty="0"/>
          </a:p>
        </p:txBody>
      </p:sp>
      <p:sp>
        <p:nvSpPr>
          <p:cNvPr id="57" name="Shape 48"/>
          <p:cNvSpPr/>
          <p:nvPr/>
        </p:nvSpPr>
        <p:spPr>
          <a:xfrm>
            <a:off x="4251960" y="3447288"/>
            <a:ext cx="3236976" cy="566928"/>
          </a:xfrm>
          <a:prstGeom prst="roundRect">
            <a:avLst>
              <a:gd name="adj" fmla="val 6452"/>
            </a:avLst>
          </a:prstGeom>
          <a:solidFill>
            <a:srgbClr val="F2E4EE"/>
          </a:solidFill>
          <a:ln w="12700">
            <a:solidFill>
              <a:srgbClr val="F2E4EE"/>
            </a:solidFill>
            <a:prstDash val="solid"/>
          </a:ln>
        </p:spPr>
      </p:sp>
      <p:sp>
        <p:nvSpPr>
          <p:cNvPr id="58" name="Text 49"/>
          <p:cNvSpPr txBox="1"/>
          <p:nvPr/>
        </p:nvSpPr>
        <p:spPr>
          <a:xfrm>
            <a:off x="4361688" y="347472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Orders at D7 / D14</a:t>
            </a:r>
            <a:endParaRPr lang="en-US" sz="1150" dirty="0"/>
          </a:p>
        </p:txBody>
      </p:sp>
      <p:sp>
        <p:nvSpPr>
          <p:cNvPr id="59" name="Text 50"/>
          <p:cNvSpPr txBox="1"/>
          <p:nvPr/>
        </p:nvSpPr>
        <p:spPr>
          <a:xfrm>
            <a:off x="4361688" y="373075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60% of cohort median · daily · DS</a:t>
            </a:r>
            <a:endParaRPr lang="en-US" sz="1100" dirty="0"/>
          </a:p>
        </p:txBody>
      </p:sp>
      <p:sp>
        <p:nvSpPr>
          <p:cNvPr id="60" name="Shape 51"/>
          <p:cNvSpPr/>
          <p:nvPr/>
        </p:nvSpPr>
        <p:spPr>
          <a:xfrm>
            <a:off x="4251960" y="4087368"/>
            <a:ext cx="3236976" cy="566928"/>
          </a:xfrm>
          <a:prstGeom prst="roundRect">
            <a:avLst>
              <a:gd name="adj" fmla="val 6452"/>
            </a:avLst>
          </a:prstGeom>
          <a:solidFill>
            <a:srgbClr val="F2E4EE"/>
          </a:solidFill>
          <a:ln w="12700">
            <a:solidFill>
              <a:srgbClr val="F2E4EE"/>
            </a:solidFill>
            <a:prstDash val="solid"/>
          </a:ln>
        </p:spPr>
      </p:sp>
      <p:sp>
        <p:nvSpPr>
          <p:cNvPr id="61" name="Text 52"/>
          <p:cNvSpPr txBox="1"/>
          <p:nvPr/>
        </p:nvSpPr>
        <p:spPr>
          <a:xfrm>
            <a:off x="4361688" y="411480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First-30-day orders</a:t>
            </a:r>
            <a:endParaRPr lang="en-US" sz="1150" dirty="0"/>
          </a:p>
        </p:txBody>
      </p:sp>
      <p:sp>
        <p:nvSpPr>
          <p:cNvPr id="62" name="Text 53"/>
          <p:cNvSpPr txBox="1"/>
          <p:nvPr/>
        </p:nvSpPr>
        <p:spPr>
          <a:xfrm>
            <a:off x="4361688" y="437083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cohort p50 for 70% · weekly · Growth</a:t>
            </a:r>
            <a:endParaRPr lang="en-US" sz="1100" dirty="0"/>
          </a:p>
        </p:txBody>
      </p:sp>
      <p:sp>
        <p:nvSpPr>
          <p:cNvPr id="63" name="Shape 54"/>
          <p:cNvSpPr/>
          <p:nvPr/>
        </p:nvSpPr>
        <p:spPr>
          <a:xfrm>
            <a:off x="4251960" y="4727448"/>
            <a:ext cx="3236976" cy="566928"/>
          </a:xfrm>
          <a:prstGeom prst="roundRect">
            <a:avLst>
              <a:gd name="adj" fmla="val 6452"/>
            </a:avLst>
          </a:prstGeom>
          <a:solidFill>
            <a:srgbClr val="F2E4EE"/>
          </a:solidFill>
          <a:ln w="12700">
            <a:solidFill>
              <a:srgbClr val="F2E4EE"/>
            </a:solidFill>
            <a:prstDash val="solid"/>
          </a:ln>
        </p:spPr>
      </p:sp>
      <p:sp>
        <p:nvSpPr>
          <p:cNvPr id="64" name="Text 55"/>
          <p:cNvSpPr txBox="1"/>
          <p:nvPr/>
        </p:nvSpPr>
        <p:spPr>
          <a:xfrm>
            <a:off x="4361688" y="475488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Days to 10th order</a:t>
            </a:r>
            <a:endParaRPr lang="en-US" sz="1150" dirty="0"/>
          </a:p>
        </p:txBody>
      </p:sp>
      <p:sp>
        <p:nvSpPr>
          <p:cNvPr id="65" name="Text 56"/>
          <p:cNvSpPr txBox="1"/>
          <p:nvPr/>
        </p:nvSpPr>
        <p:spPr>
          <a:xfrm>
            <a:off x="4361688" y="501091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10 · weekly · Growth</a:t>
            </a:r>
            <a:endParaRPr lang="en-US" sz="1100" dirty="0"/>
          </a:p>
        </p:txBody>
      </p:sp>
      <p:sp>
        <p:nvSpPr>
          <p:cNvPr id="66" name="Shape 57"/>
          <p:cNvSpPr/>
          <p:nvPr/>
        </p:nvSpPr>
        <p:spPr>
          <a:xfrm>
            <a:off x="5870448" y="2505456"/>
            <a:ext cx="3374136" cy="393192"/>
          </a:xfrm>
          <a:prstGeom prst="line">
            <a:avLst/>
          </a:prstGeom>
          <a:noFill/>
          <a:ln w="15875">
            <a:solidFill>
              <a:srgbClr val="8A245E"/>
            </a:solidFill>
            <a:prstDash val="solid"/>
          </a:ln>
        </p:spPr>
      </p:sp>
      <p:sp>
        <p:nvSpPr>
          <p:cNvPr id="67" name="Shape 58"/>
          <p:cNvSpPr/>
          <p:nvPr/>
        </p:nvSpPr>
        <p:spPr>
          <a:xfrm>
            <a:off x="7626096" y="2898648"/>
            <a:ext cx="3236976" cy="457200"/>
          </a:xfrm>
          <a:prstGeom prst="roundRect">
            <a:avLst>
              <a:gd name="adj" fmla="val 10000"/>
            </a:avLst>
          </a:prstGeom>
          <a:solidFill>
            <a:srgbClr val="8A245E"/>
          </a:solidFill>
          <a:ln w="12700">
            <a:solidFill>
              <a:srgbClr val="8A245E"/>
            </a:solidFill>
            <a:prstDash val="solid"/>
          </a:ln>
        </p:spPr>
      </p:sp>
      <p:pic>
        <p:nvPicPr>
          <p:cNvPr id="68" name="Image 6" descr="/private/tmp/claude-501/-Users-prathmeshwalimbe-Downloads-Meesho/dfec39d5-f971-4a3a-8cfb-761f4ef1fedb/scratchpad/deck/assets/icons/FaFlagCheckered_w.png">    </p:cNvPr>
          <p:cNvPicPr>
            <a:picLocks noChangeAspect="1"/>
          </p:cNvPicPr>
          <p:nvPr/>
        </p:nvPicPr>
        <p:blipFill>
          <a:blip r:embed="rId7"/>
          <a:stretch>
            <a:fillRect/>
          </a:stretch>
        </p:blipFill>
        <p:spPr>
          <a:xfrm>
            <a:off x="7735824" y="2990088"/>
            <a:ext cx="274320" cy="274320"/>
          </a:xfrm>
          <a:prstGeom prst="rect">
            <a:avLst/>
          </a:prstGeom>
        </p:spPr>
      </p:pic>
      <p:sp>
        <p:nvSpPr>
          <p:cNvPr id="69" name="Text 59"/>
          <p:cNvSpPr txBox="1"/>
          <p:nvPr/>
        </p:nvSpPr>
        <p:spPr>
          <a:xfrm>
            <a:off x="8083296" y="2898648"/>
            <a:ext cx="2688336" cy="457200"/>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RETENTION</a:t>
            </a:r>
            <a:endParaRPr lang="en-US" sz="1200" dirty="0"/>
          </a:p>
        </p:txBody>
      </p:sp>
      <p:sp>
        <p:nvSpPr>
          <p:cNvPr id="70" name="Shape 60"/>
          <p:cNvSpPr/>
          <p:nvPr/>
        </p:nvSpPr>
        <p:spPr>
          <a:xfrm>
            <a:off x="7626096" y="3447288"/>
            <a:ext cx="3236976" cy="566928"/>
          </a:xfrm>
          <a:prstGeom prst="roundRect">
            <a:avLst>
              <a:gd name="adj" fmla="val 6452"/>
            </a:avLst>
          </a:prstGeom>
          <a:solidFill>
            <a:srgbClr val="F2E4EE"/>
          </a:solidFill>
          <a:ln w="12700">
            <a:solidFill>
              <a:srgbClr val="F2E4EE"/>
            </a:solidFill>
            <a:prstDash val="solid"/>
          </a:ln>
        </p:spPr>
      </p:sp>
      <p:sp>
        <p:nvSpPr>
          <p:cNvPr id="71" name="Text 61"/>
          <p:cNvSpPr txBox="1"/>
          <p:nvPr/>
        </p:nvSpPr>
        <p:spPr>
          <a:xfrm>
            <a:off x="7735824" y="347472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Active at D90</a:t>
            </a:r>
            <a:endParaRPr lang="en-US" sz="1150" dirty="0"/>
          </a:p>
        </p:txBody>
      </p:sp>
      <p:sp>
        <p:nvSpPr>
          <p:cNvPr id="72" name="Text 62"/>
          <p:cNvSpPr txBox="1"/>
          <p:nvPr/>
        </p:nvSpPr>
        <p:spPr>
          <a:xfrm>
            <a:off x="7735824" y="373075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75% · monthly · Category</a:t>
            </a:r>
            <a:endParaRPr lang="en-US" sz="1100" dirty="0"/>
          </a:p>
        </p:txBody>
      </p:sp>
      <p:sp>
        <p:nvSpPr>
          <p:cNvPr id="73" name="Shape 63"/>
          <p:cNvSpPr/>
          <p:nvPr/>
        </p:nvSpPr>
        <p:spPr>
          <a:xfrm>
            <a:off x="7626096" y="4087368"/>
            <a:ext cx="3236976" cy="566928"/>
          </a:xfrm>
          <a:prstGeom prst="roundRect">
            <a:avLst>
              <a:gd name="adj" fmla="val 6452"/>
            </a:avLst>
          </a:prstGeom>
          <a:solidFill>
            <a:srgbClr val="F2E4EE"/>
          </a:solidFill>
          <a:ln w="12700">
            <a:solidFill>
              <a:srgbClr val="F2E4EE"/>
            </a:solidFill>
            <a:prstDash val="solid"/>
          </a:ln>
        </p:spPr>
      </p:sp>
      <p:sp>
        <p:nvSpPr>
          <p:cNvPr id="74" name="Text 64"/>
          <p:cNvSpPr txBox="1"/>
          <p:nvPr/>
        </p:nvSpPr>
        <p:spPr>
          <a:xfrm>
            <a:off x="7735824" y="411480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Gate retention D14 / D30</a:t>
            </a:r>
            <a:endParaRPr lang="en-US" sz="1150" dirty="0"/>
          </a:p>
        </p:txBody>
      </p:sp>
      <p:sp>
        <p:nvSpPr>
          <p:cNvPr id="75" name="Text 65"/>
          <p:cNvSpPr txBox="1"/>
          <p:nvPr/>
        </p:nvSpPr>
        <p:spPr>
          <a:xfrm>
            <a:off x="7735824" y="437083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70% still clear · weekly · Pricing</a:t>
            </a:r>
            <a:endParaRPr lang="en-US" sz="1100" dirty="0"/>
          </a:p>
        </p:txBody>
      </p:sp>
      <p:sp>
        <p:nvSpPr>
          <p:cNvPr id="76" name="Shape 66"/>
          <p:cNvSpPr/>
          <p:nvPr/>
        </p:nvSpPr>
        <p:spPr>
          <a:xfrm>
            <a:off x="7626096" y="4727448"/>
            <a:ext cx="3236976" cy="566928"/>
          </a:xfrm>
          <a:prstGeom prst="roundRect">
            <a:avLst>
              <a:gd name="adj" fmla="val 6452"/>
            </a:avLst>
          </a:prstGeom>
          <a:solidFill>
            <a:srgbClr val="F2E4EE"/>
          </a:solidFill>
          <a:ln w="12700">
            <a:solidFill>
              <a:srgbClr val="F2E4EE"/>
            </a:solidFill>
            <a:prstDash val="solid"/>
          </a:ln>
        </p:spPr>
      </p:sp>
      <p:sp>
        <p:nvSpPr>
          <p:cNvPr id="77" name="Text 67"/>
          <p:cNvSpPr txBox="1"/>
          <p:nvPr/>
        </p:nvSpPr>
        <p:spPr>
          <a:xfrm>
            <a:off x="7735824" y="4754880"/>
            <a:ext cx="3017520" cy="274320"/>
          </a:xfrm>
          <a:prstGeom prst="rect">
            <a:avLst/>
          </a:prstGeom>
          <a:noFill/>
          <a:ln/>
        </p:spPr>
        <p:txBody>
          <a:bodyPr wrap="square" lIns="0" tIns="0" rIns="0" bIns="0" rtlCol="0" anchor="t"/>
          <a:lstStyle/>
          <a:p>
            <a:pPr algn="l" indent="0" marL="0">
              <a:lnSpc>
                <a:spcPct val="100000"/>
              </a:lnSpc>
              <a:buNone/>
            </a:pPr>
            <a:r>
              <a:rPr lang="en-US" sz="1150" b="1" dirty="0">
                <a:solidFill>
                  <a:srgbClr val="2B1226"/>
                </a:solidFill>
                <a:latin typeface="Calibri" pitchFamily="34" charset="0"/>
                <a:ea typeface="Calibri" pitchFamily="34" charset="-122"/>
                <a:cs typeface="Calibri" pitchFamily="34" charset="-120"/>
              </a:rPr>
              <a:t>Graduated by D60</a:t>
            </a:r>
            <a:endParaRPr lang="en-US" sz="1150" dirty="0"/>
          </a:p>
        </p:txBody>
      </p:sp>
      <p:sp>
        <p:nvSpPr>
          <p:cNvPr id="78" name="Text 68"/>
          <p:cNvSpPr txBox="1"/>
          <p:nvPr/>
        </p:nvSpPr>
        <p:spPr>
          <a:xfrm>
            <a:off x="7735824" y="5010912"/>
            <a:ext cx="3017520" cy="256032"/>
          </a:xfrm>
          <a:prstGeom prst="rect">
            <a:avLst/>
          </a:prstGeom>
          <a:noFill/>
          <a:ln/>
        </p:spPr>
        <p:txBody>
          <a:bodyPr wrap="square" lIns="0" tIns="0" rIns="0" bIns="0" rtlCol="0" anchor="t"/>
          <a:lstStyle/>
          <a:p>
            <a:pPr algn="l" indent="0" marL="0">
              <a:lnSpc>
                <a:spcPct val="100000"/>
              </a:lnSpc>
              <a:buNone/>
            </a:pPr>
            <a:r>
              <a:rPr lang="en-US" sz="1100" dirty="0">
                <a:solidFill>
                  <a:srgbClr val="8A245E"/>
                </a:solidFill>
                <a:latin typeface="Calibri" pitchFamily="34" charset="0"/>
                <a:ea typeface="Calibri" pitchFamily="34" charset="-122"/>
                <a:cs typeface="Calibri" pitchFamily="34" charset="-120"/>
              </a:rPr>
              <a:t>≥ 40% · monthly · Finance</a:t>
            </a:r>
            <a:endParaRPr lang="en-US" sz="1100" dirty="0"/>
          </a:p>
        </p:txBody>
      </p:sp>
      <p:sp>
        <p:nvSpPr>
          <p:cNvPr id="79" name="Shape 69"/>
          <p:cNvSpPr/>
          <p:nvPr/>
        </p:nvSpPr>
        <p:spPr>
          <a:xfrm>
            <a:off x="877824" y="5413248"/>
            <a:ext cx="9985248" cy="749808"/>
          </a:xfrm>
          <a:prstGeom prst="roundRect">
            <a:avLst>
              <a:gd name="adj" fmla="val 6098"/>
            </a:avLst>
          </a:prstGeom>
          <a:solidFill>
            <a:srgbClr val="FFF3D8"/>
          </a:solidFill>
          <a:ln w="12700">
            <a:solidFill>
              <a:srgbClr val="FFF3D8"/>
            </a:solidFill>
            <a:prstDash val="solid"/>
          </a:ln>
        </p:spPr>
      </p:sp>
      <p:sp>
        <p:nvSpPr>
          <p:cNvPr id="80" name="Text 70"/>
          <p:cNvSpPr txBox="1"/>
          <p:nvPr/>
        </p:nvSpPr>
        <p:spPr>
          <a:xfrm>
            <a:off x="1014984" y="5468112"/>
            <a:ext cx="9710928" cy="658368"/>
          </a:xfrm>
          <a:prstGeom prst="rect">
            <a:avLst/>
          </a:prstGeom>
          <a:noFill/>
          <a:ln/>
        </p:spPr>
        <p:txBody>
          <a:bodyPr wrap="square" lIns="0" tIns="0" rIns="0" bIns="0" rtlCol="0" anchor="t"/>
          <a:lstStyle/>
          <a:p>
            <a:pPr algn="l" indent="0" marL="0">
              <a:lnSpc>
                <a:spcPct val="100000"/>
              </a:lnSpc>
              <a:buNone/>
            </a:pPr>
            <a:r>
              <a:rPr lang="en-US" sz="1200" b="1" dirty="0">
                <a:solidFill>
                  <a:srgbClr val="D68200"/>
                </a:solidFill>
                <a:latin typeface="Calibri" pitchFamily="34" charset="0"/>
                <a:ea typeface="Calibri" pitchFamily="34" charset="-122"/>
                <a:cs typeface="Calibri" pitchFamily="34" charset="-120"/>
              </a:rPr>
              <a:t>GUARDRAILS (programme level)</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Category NMV ≥ pre-period · badged ≤ 20% of category impressions · quality returns ≤ 1.5× norm · escalations ≤ 5 per 100 sellers a month</a:t>
            </a:r>
            <a:endParaRPr lang="en-US" sz="1200" dirty="0"/>
          </a:p>
        </p:txBody>
      </p:sp>
      <p:sp>
        <p:nvSpPr>
          <p:cNvPr id="81" name="Shape 71"/>
          <p:cNvSpPr/>
          <p:nvPr/>
        </p:nvSpPr>
        <p:spPr>
          <a:xfrm>
            <a:off x="11119104" y="1426464"/>
            <a:ext cx="6940296" cy="4892040"/>
          </a:xfrm>
          <a:prstGeom prst="rect">
            <a:avLst/>
          </a:prstGeom>
          <a:solidFill>
            <a:srgbClr val="FFFFFF"/>
          </a:solidFill>
          <a:ln w="9525">
            <a:solidFill>
              <a:srgbClr val="E0CEDA"/>
            </a:solidFill>
            <a:prstDash val="solid"/>
          </a:ln>
        </p:spPr>
      </p:sp>
      <p:sp>
        <p:nvSpPr>
          <p:cNvPr id="82" name="Shape 72"/>
          <p:cNvSpPr/>
          <p:nvPr/>
        </p:nvSpPr>
        <p:spPr>
          <a:xfrm>
            <a:off x="11119104" y="1426464"/>
            <a:ext cx="6940296" cy="329184"/>
          </a:xfrm>
          <a:prstGeom prst="rect">
            <a:avLst/>
          </a:prstGeom>
          <a:solidFill>
            <a:srgbClr val="560547"/>
          </a:solidFill>
          <a:ln w="12700">
            <a:solidFill>
              <a:srgbClr val="560547"/>
            </a:solidFill>
            <a:prstDash val="solid"/>
          </a:ln>
        </p:spPr>
      </p:sp>
      <p:pic>
        <p:nvPicPr>
          <p:cNvPr id="83" name="Image 7" descr="/private/tmp/claude-501/-Users-prathmeshwalimbe-Downloads-Meesho/dfec39d5-f971-4a3a-8cfb-761f4ef1fedb/scratchpad/deck/assets/icons/FaGaugeHigh_w.png">    </p:cNvPr>
          <p:cNvPicPr>
            <a:picLocks noChangeAspect="1"/>
          </p:cNvPicPr>
          <p:nvPr/>
        </p:nvPicPr>
        <p:blipFill>
          <a:blip r:embed="rId8"/>
          <a:stretch>
            <a:fillRect/>
          </a:stretch>
        </p:blipFill>
        <p:spPr>
          <a:xfrm>
            <a:off x="11228832" y="1490472"/>
            <a:ext cx="201168" cy="201168"/>
          </a:xfrm>
          <a:prstGeom prst="rect">
            <a:avLst/>
          </a:prstGeom>
        </p:spPr>
      </p:pic>
      <p:sp>
        <p:nvSpPr>
          <p:cNvPr id="84" name="Text 73"/>
          <p:cNvSpPr txBox="1"/>
          <p:nvPr/>
        </p:nvSpPr>
        <p:spPr>
          <a:xfrm>
            <a:off x="11503152" y="1426464"/>
            <a:ext cx="642823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C2M SELLER HEALTH SCORE · 0–100, DAILY</a:t>
            </a:r>
            <a:endParaRPr lang="en-US" sz="1250" dirty="0"/>
          </a:p>
        </p:txBody>
      </p:sp>
      <p:sp>
        <p:nvSpPr>
          <p:cNvPr id="85" name="Shape 74"/>
          <p:cNvSpPr/>
          <p:nvPr/>
        </p:nvSpPr>
        <p:spPr>
          <a:xfrm>
            <a:off x="11247120" y="1847088"/>
            <a:ext cx="1977847" cy="566928"/>
          </a:xfrm>
          <a:prstGeom prst="rect">
            <a:avLst/>
          </a:prstGeom>
          <a:solidFill>
            <a:srgbClr val="560547"/>
          </a:solidFill>
          <a:ln w="12700">
            <a:solidFill>
              <a:srgbClr val="560547"/>
            </a:solidFill>
            <a:prstDash val="solid"/>
          </a:ln>
        </p:spPr>
      </p:sp>
      <p:sp>
        <p:nvSpPr>
          <p:cNvPr id="86" name="Text 75"/>
          <p:cNvSpPr txBox="1"/>
          <p:nvPr/>
        </p:nvSpPr>
        <p:spPr>
          <a:xfrm>
            <a:off x="11247120" y="1847088"/>
            <a:ext cx="1977847"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30%</a:t>
            </a:r>
            <a:endParaRPr lang="en-US" sz="1400" dirty="0"/>
          </a:p>
        </p:txBody>
      </p:sp>
      <p:sp>
        <p:nvSpPr>
          <p:cNvPr id="87" name="Shape 76"/>
          <p:cNvSpPr/>
          <p:nvPr/>
        </p:nvSpPr>
        <p:spPr>
          <a:xfrm>
            <a:off x="13252399" y="1847088"/>
            <a:ext cx="1643634" cy="566928"/>
          </a:xfrm>
          <a:prstGeom prst="rect">
            <a:avLst/>
          </a:prstGeom>
          <a:solidFill>
            <a:srgbClr val="6E1251"/>
          </a:solidFill>
          <a:ln w="12700">
            <a:solidFill>
              <a:srgbClr val="6E1251"/>
            </a:solidFill>
            <a:prstDash val="solid"/>
          </a:ln>
        </p:spPr>
      </p:sp>
      <p:sp>
        <p:nvSpPr>
          <p:cNvPr id="88" name="Text 77"/>
          <p:cNvSpPr txBox="1"/>
          <p:nvPr/>
        </p:nvSpPr>
        <p:spPr>
          <a:xfrm>
            <a:off x="13252399" y="1847088"/>
            <a:ext cx="1643634"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25%</a:t>
            </a:r>
            <a:endParaRPr lang="en-US" sz="1400" dirty="0"/>
          </a:p>
        </p:txBody>
      </p:sp>
      <p:sp>
        <p:nvSpPr>
          <p:cNvPr id="89" name="Shape 78"/>
          <p:cNvSpPr/>
          <p:nvPr/>
        </p:nvSpPr>
        <p:spPr>
          <a:xfrm>
            <a:off x="14923465" y="1847088"/>
            <a:ext cx="1309421" cy="566928"/>
          </a:xfrm>
          <a:prstGeom prst="rect">
            <a:avLst/>
          </a:prstGeom>
          <a:solidFill>
            <a:srgbClr val="8A245E"/>
          </a:solidFill>
          <a:ln w="12700">
            <a:solidFill>
              <a:srgbClr val="8A245E"/>
            </a:solidFill>
            <a:prstDash val="solid"/>
          </a:ln>
        </p:spPr>
      </p:sp>
      <p:sp>
        <p:nvSpPr>
          <p:cNvPr id="90" name="Text 79"/>
          <p:cNvSpPr txBox="1"/>
          <p:nvPr/>
        </p:nvSpPr>
        <p:spPr>
          <a:xfrm>
            <a:off x="14923465" y="1847088"/>
            <a:ext cx="1309421"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20%</a:t>
            </a:r>
            <a:endParaRPr lang="en-US" sz="1400" dirty="0"/>
          </a:p>
        </p:txBody>
      </p:sp>
      <p:sp>
        <p:nvSpPr>
          <p:cNvPr id="91" name="Shape 80"/>
          <p:cNvSpPr/>
          <p:nvPr/>
        </p:nvSpPr>
        <p:spPr>
          <a:xfrm>
            <a:off x="16260318" y="1847088"/>
            <a:ext cx="975208" cy="566928"/>
          </a:xfrm>
          <a:prstGeom prst="rect">
            <a:avLst/>
          </a:prstGeom>
          <a:solidFill>
            <a:srgbClr val="A8527F"/>
          </a:solidFill>
          <a:ln w="12700">
            <a:solidFill>
              <a:srgbClr val="A8527F"/>
            </a:solidFill>
            <a:prstDash val="solid"/>
          </a:ln>
        </p:spPr>
      </p:sp>
      <p:sp>
        <p:nvSpPr>
          <p:cNvPr id="92" name="Text 81"/>
          <p:cNvSpPr txBox="1"/>
          <p:nvPr/>
        </p:nvSpPr>
        <p:spPr>
          <a:xfrm>
            <a:off x="16260318" y="1847088"/>
            <a:ext cx="975208"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15%</a:t>
            </a:r>
            <a:endParaRPr lang="en-US" sz="1400" dirty="0"/>
          </a:p>
        </p:txBody>
      </p:sp>
      <p:sp>
        <p:nvSpPr>
          <p:cNvPr id="93" name="Shape 82"/>
          <p:cNvSpPr/>
          <p:nvPr/>
        </p:nvSpPr>
        <p:spPr>
          <a:xfrm>
            <a:off x="17262958" y="1847088"/>
            <a:ext cx="640994" cy="566928"/>
          </a:xfrm>
          <a:prstGeom prst="rect">
            <a:avLst/>
          </a:prstGeom>
          <a:solidFill>
            <a:srgbClr val="C58AA9"/>
          </a:solidFill>
          <a:ln w="12700">
            <a:solidFill>
              <a:srgbClr val="C58AA9"/>
            </a:solidFill>
            <a:prstDash val="solid"/>
          </a:ln>
        </p:spPr>
      </p:sp>
      <p:sp>
        <p:nvSpPr>
          <p:cNvPr id="94" name="Text 83"/>
          <p:cNvSpPr txBox="1"/>
          <p:nvPr/>
        </p:nvSpPr>
        <p:spPr>
          <a:xfrm>
            <a:off x="17262958" y="1847088"/>
            <a:ext cx="640994"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
        <p:nvSpPr>
          <p:cNvPr id="95" name="Shape 84"/>
          <p:cNvSpPr/>
          <p:nvPr/>
        </p:nvSpPr>
        <p:spPr>
          <a:xfrm>
            <a:off x="11247120" y="2633472"/>
            <a:ext cx="182880" cy="182880"/>
          </a:xfrm>
          <a:prstGeom prst="rect">
            <a:avLst/>
          </a:prstGeom>
          <a:solidFill>
            <a:srgbClr val="560547"/>
          </a:solidFill>
          <a:ln w="12700">
            <a:solidFill>
              <a:srgbClr val="560547"/>
            </a:solidFill>
            <a:prstDash val="solid"/>
          </a:ln>
        </p:spPr>
      </p:sp>
      <p:sp>
        <p:nvSpPr>
          <p:cNvPr id="96" name="Text 85"/>
          <p:cNvSpPr txBox="1"/>
          <p:nvPr/>
        </p:nvSpPr>
        <p:spPr>
          <a:xfrm>
            <a:off x="11521440" y="2560320"/>
            <a:ext cx="6409944" cy="438912"/>
          </a:xfrm>
          <a:prstGeom prst="rect">
            <a:avLst/>
          </a:prstGeom>
          <a:noFill/>
          <a:ln/>
        </p:spPr>
        <p:txBody>
          <a:bodyPr wrap="square" lIns="0" tIns="0" rIns="0" bIns="0" rtlCol="0" anchor="t"/>
          <a:lstStyle/>
          <a:p>
            <a:pPr algn="l" indent="0" marL="0">
              <a:lnSpc>
                <a:spcPct val="100000"/>
              </a:lnSpc>
              <a:buNone/>
            </a:pPr>
            <a:r>
              <a:rPr lang="en-US" sz="1100" b="1" dirty="0">
                <a:solidFill>
                  <a:srgbClr val="2B1226"/>
                </a:solidFill>
                <a:latin typeface="Calibri" pitchFamily="34" charset="0"/>
                <a:ea typeface="Calibri" pitchFamily="34" charset="-122"/>
                <a:cs typeface="Calibri" pitchFamily="34" charset="-120"/>
              </a:rPr>
              <a:t>Price gap held  </a:t>
            </a:r>
            <a:pPr algn="l" indent="0" marL="0">
              <a:lnSpc>
                <a:spcPct val="100000"/>
              </a:lnSpc>
              <a:buNone/>
            </a:pPr>
            <a:r>
              <a:rPr lang="en-US" sz="1100" dirty="0">
                <a:solidFill>
                  <a:srgbClr val="7A6470"/>
                </a:solidFill>
                <a:latin typeface="Calibri" pitchFamily="34" charset="0"/>
                <a:ea typeface="Calibri" pitchFamily="34" charset="-122"/>
                <a:cs typeface="Calibri" pitchFamily="34" charset="-120"/>
              </a:rPr>
              <a:t>today’s gap ÷ gap at onboarding</a:t>
            </a:r>
            <a:endParaRPr lang="en-US" sz="1100" dirty="0"/>
          </a:p>
        </p:txBody>
      </p:sp>
      <p:sp>
        <p:nvSpPr>
          <p:cNvPr id="97" name="Shape 86"/>
          <p:cNvSpPr/>
          <p:nvPr/>
        </p:nvSpPr>
        <p:spPr>
          <a:xfrm>
            <a:off x="11247120" y="3108960"/>
            <a:ext cx="182880" cy="182880"/>
          </a:xfrm>
          <a:prstGeom prst="rect">
            <a:avLst/>
          </a:prstGeom>
          <a:solidFill>
            <a:srgbClr val="6E1251"/>
          </a:solidFill>
          <a:ln w="12700">
            <a:solidFill>
              <a:srgbClr val="6E1251"/>
            </a:solidFill>
            <a:prstDash val="solid"/>
          </a:ln>
        </p:spPr>
      </p:sp>
      <p:sp>
        <p:nvSpPr>
          <p:cNvPr id="98" name="Text 87"/>
          <p:cNvSpPr txBox="1"/>
          <p:nvPr/>
        </p:nvSpPr>
        <p:spPr>
          <a:xfrm>
            <a:off x="11521440" y="3035808"/>
            <a:ext cx="6409944" cy="438912"/>
          </a:xfrm>
          <a:prstGeom prst="rect">
            <a:avLst/>
          </a:prstGeom>
          <a:noFill/>
          <a:ln/>
        </p:spPr>
        <p:txBody>
          <a:bodyPr wrap="square" lIns="0" tIns="0" rIns="0" bIns="0" rtlCol="0" anchor="t"/>
          <a:lstStyle/>
          <a:p>
            <a:pPr algn="l" indent="0" marL="0">
              <a:lnSpc>
                <a:spcPct val="100000"/>
              </a:lnSpc>
              <a:buNone/>
            </a:pPr>
            <a:r>
              <a:rPr lang="en-US" sz="1100" b="1" dirty="0">
                <a:solidFill>
                  <a:srgbClr val="2B1226"/>
                </a:solidFill>
                <a:latin typeface="Calibri" pitchFamily="34" charset="0"/>
                <a:ea typeface="Calibri" pitchFamily="34" charset="-122"/>
                <a:cs typeface="Calibri" pitchFamily="34" charset="-120"/>
              </a:rPr>
              <a:t>Order pace  </a:t>
            </a:r>
            <a:pPr algn="l" indent="0" marL="0">
              <a:lnSpc>
                <a:spcPct val="100000"/>
              </a:lnSpc>
              <a:buNone/>
            </a:pPr>
            <a:r>
              <a:rPr lang="en-US" sz="1100" dirty="0">
                <a:solidFill>
                  <a:srgbClr val="7A6470"/>
                </a:solidFill>
                <a:latin typeface="Calibri" pitchFamily="34" charset="0"/>
                <a:ea typeface="Calibri" pitchFamily="34" charset="-122"/>
                <a:cs typeface="Calibri" pitchFamily="34" charset="-120"/>
              </a:rPr>
              <a:t>14-day orders ÷ cohort median (0.3 → 0, 1.0 → 100)</a:t>
            </a:r>
            <a:endParaRPr lang="en-US" sz="1100" dirty="0"/>
          </a:p>
        </p:txBody>
      </p:sp>
      <p:sp>
        <p:nvSpPr>
          <p:cNvPr id="99" name="Shape 88"/>
          <p:cNvSpPr/>
          <p:nvPr/>
        </p:nvSpPr>
        <p:spPr>
          <a:xfrm>
            <a:off x="11247120" y="3584448"/>
            <a:ext cx="182880" cy="182880"/>
          </a:xfrm>
          <a:prstGeom prst="rect">
            <a:avLst/>
          </a:prstGeom>
          <a:solidFill>
            <a:srgbClr val="8A245E"/>
          </a:solidFill>
          <a:ln w="12700">
            <a:solidFill>
              <a:srgbClr val="8A245E"/>
            </a:solidFill>
            <a:prstDash val="solid"/>
          </a:ln>
        </p:spPr>
      </p:sp>
      <p:sp>
        <p:nvSpPr>
          <p:cNvPr id="100" name="Text 89"/>
          <p:cNvSpPr txBox="1"/>
          <p:nvPr/>
        </p:nvSpPr>
        <p:spPr>
          <a:xfrm>
            <a:off x="11521440" y="3511296"/>
            <a:ext cx="6409944" cy="438912"/>
          </a:xfrm>
          <a:prstGeom prst="rect">
            <a:avLst/>
          </a:prstGeom>
          <a:noFill/>
          <a:ln/>
        </p:spPr>
        <p:txBody>
          <a:bodyPr wrap="square" lIns="0" tIns="0" rIns="0" bIns="0" rtlCol="0" anchor="t"/>
          <a:lstStyle/>
          <a:p>
            <a:pPr algn="l" indent="0" marL="0">
              <a:lnSpc>
                <a:spcPct val="100000"/>
              </a:lnSpc>
              <a:buNone/>
            </a:pPr>
            <a:r>
              <a:rPr lang="en-US" sz="1100" b="1" dirty="0">
                <a:solidFill>
                  <a:srgbClr val="2B1226"/>
                </a:solidFill>
                <a:latin typeface="Calibri" pitchFamily="34" charset="0"/>
                <a:ea typeface="Calibri" pitchFamily="34" charset="-122"/>
                <a:cs typeface="Calibri" pitchFamily="34" charset="-120"/>
              </a:rPr>
              <a:t>Quality returns  </a:t>
            </a:r>
            <a:pPr algn="l" indent="0" marL="0">
              <a:lnSpc>
                <a:spcPct val="100000"/>
              </a:lnSpc>
              <a:buNone/>
            </a:pPr>
            <a:r>
              <a:rPr lang="en-US" sz="1100" dirty="0">
                <a:solidFill>
                  <a:srgbClr val="7A6470"/>
                </a:solidFill>
                <a:latin typeface="Calibri" pitchFamily="34" charset="0"/>
                <a:ea typeface="Calibri" pitchFamily="34" charset="-122"/>
                <a:cs typeface="Calibri" pitchFamily="34" charset="-120"/>
              </a:rPr>
              <a:t>≤ 1× category norm = 100, 2× = 0</a:t>
            </a:r>
            <a:endParaRPr lang="en-US" sz="1100" dirty="0"/>
          </a:p>
        </p:txBody>
      </p:sp>
      <p:sp>
        <p:nvSpPr>
          <p:cNvPr id="101" name="Shape 90"/>
          <p:cNvSpPr/>
          <p:nvPr/>
        </p:nvSpPr>
        <p:spPr>
          <a:xfrm>
            <a:off x="11247120" y="4059936"/>
            <a:ext cx="182880" cy="182880"/>
          </a:xfrm>
          <a:prstGeom prst="rect">
            <a:avLst/>
          </a:prstGeom>
          <a:solidFill>
            <a:srgbClr val="A8527F"/>
          </a:solidFill>
          <a:ln w="12700">
            <a:solidFill>
              <a:srgbClr val="A8527F"/>
            </a:solidFill>
            <a:prstDash val="solid"/>
          </a:ln>
        </p:spPr>
      </p:sp>
      <p:sp>
        <p:nvSpPr>
          <p:cNvPr id="102" name="Text 91"/>
          <p:cNvSpPr txBox="1"/>
          <p:nvPr/>
        </p:nvSpPr>
        <p:spPr>
          <a:xfrm>
            <a:off x="11521440" y="3986784"/>
            <a:ext cx="6409944" cy="438912"/>
          </a:xfrm>
          <a:prstGeom prst="rect">
            <a:avLst/>
          </a:prstGeom>
          <a:noFill/>
          <a:ln/>
        </p:spPr>
        <p:txBody>
          <a:bodyPr wrap="square" lIns="0" tIns="0" rIns="0" bIns="0" rtlCol="0" anchor="t"/>
          <a:lstStyle/>
          <a:p>
            <a:pPr algn="l" indent="0" marL="0">
              <a:lnSpc>
                <a:spcPct val="100000"/>
              </a:lnSpc>
              <a:buNone/>
            </a:pPr>
            <a:r>
              <a:rPr lang="en-US" sz="1100" b="1" dirty="0">
                <a:solidFill>
                  <a:srgbClr val="2B1226"/>
                </a:solidFill>
                <a:latin typeface="Calibri" pitchFamily="34" charset="0"/>
                <a:ea typeface="Calibri" pitchFamily="34" charset="-122"/>
                <a:cs typeface="Calibri" pitchFamily="34" charset="-120"/>
              </a:rPr>
              <a:t>On-time dispatch  </a:t>
            </a:r>
            <a:pPr algn="l" indent="0" marL="0">
              <a:lnSpc>
                <a:spcPct val="100000"/>
              </a:lnSpc>
              <a:buNone/>
            </a:pPr>
            <a:r>
              <a:rPr lang="en-US" sz="1100" dirty="0">
                <a:solidFill>
                  <a:srgbClr val="7A6470"/>
                </a:solidFill>
                <a:latin typeface="Calibri" pitchFamily="34" charset="0"/>
                <a:ea typeface="Calibri" pitchFamily="34" charset="-122"/>
                <a:cs typeface="Calibri" pitchFamily="34" charset="-120"/>
              </a:rPr>
              <a:t>7-day SLA: 80% → 0, 97% → 100</a:t>
            </a:r>
            <a:endParaRPr lang="en-US" sz="1100" dirty="0"/>
          </a:p>
        </p:txBody>
      </p:sp>
      <p:sp>
        <p:nvSpPr>
          <p:cNvPr id="103" name="Shape 92"/>
          <p:cNvSpPr/>
          <p:nvPr/>
        </p:nvSpPr>
        <p:spPr>
          <a:xfrm>
            <a:off x="11247120" y="4535424"/>
            <a:ext cx="182880" cy="182880"/>
          </a:xfrm>
          <a:prstGeom prst="rect">
            <a:avLst/>
          </a:prstGeom>
          <a:solidFill>
            <a:srgbClr val="C58AA9"/>
          </a:solidFill>
          <a:ln w="12700">
            <a:solidFill>
              <a:srgbClr val="C58AA9"/>
            </a:solidFill>
            <a:prstDash val="solid"/>
          </a:ln>
        </p:spPr>
      </p:sp>
      <p:sp>
        <p:nvSpPr>
          <p:cNvPr id="104" name="Text 93"/>
          <p:cNvSpPr txBox="1"/>
          <p:nvPr/>
        </p:nvSpPr>
        <p:spPr>
          <a:xfrm>
            <a:off x="11521440" y="4462272"/>
            <a:ext cx="6409944" cy="438912"/>
          </a:xfrm>
          <a:prstGeom prst="rect">
            <a:avLst/>
          </a:prstGeom>
          <a:noFill/>
          <a:ln/>
        </p:spPr>
        <p:txBody>
          <a:bodyPr wrap="square" lIns="0" tIns="0" rIns="0" bIns="0" rtlCol="0" anchor="t"/>
          <a:lstStyle/>
          <a:p>
            <a:pPr algn="l" indent="0" marL="0">
              <a:lnSpc>
                <a:spcPct val="100000"/>
              </a:lnSpc>
              <a:buNone/>
            </a:pPr>
            <a:r>
              <a:rPr lang="en-US" sz="1100" b="1" dirty="0">
                <a:solidFill>
                  <a:srgbClr val="2B1226"/>
                </a:solidFill>
                <a:latin typeface="Calibri" pitchFamily="34" charset="0"/>
                <a:ea typeface="Calibri" pitchFamily="34" charset="-122"/>
                <a:cs typeface="Calibri" pitchFamily="34" charset="-120"/>
              </a:rPr>
              <a:t>In-stock  </a:t>
            </a:r>
            <a:pPr algn="l" indent="0" marL="0">
              <a:lnSpc>
                <a:spcPct val="100000"/>
              </a:lnSpc>
              <a:buNone/>
            </a:pPr>
            <a:r>
              <a:rPr lang="en-US" sz="1100" dirty="0">
                <a:solidFill>
                  <a:srgbClr val="7A6470"/>
                </a:solidFill>
                <a:latin typeface="Calibri" pitchFamily="34" charset="0"/>
                <a:ea typeface="Calibri" pitchFamily="34" charset="-122"/>
                <a:cs typeface="Calibri" pitchFamily="34" charset="-120"/>
              </a:rPr>
              <a:t>live SKUs in stock: 50% → 0, 95% → 100</a:t>
            </a:r>
            <a:endParaRPr lang="en-US" sz="1100" dirty="0"/>
          </a:p>
        </p:txBody>
      </p:sp>
      <p:sp>
        <p:nvSpPr>
          <p:cNvPr id="105" name="Shape 94"/>
          <p:cNvSpPr/>
          <p:nvPr/>
        </p:nvSpPr>
        <p:spPr>
          <a:xfrm>
            <a:off x="11247120" y="5047488"/>
            <a:ext cx="3296412" cy="868680"/>
          </a:xfrm>
          <a:prstGeom prst="roundRect">
            <a:avLst>
              <a:gd name="adj" fmla="val 5263"/>
            </a:avLst>
          </a:prstGeom>
          <a:solidFill>
            <a:srgbClr val="E2F2E9"/>
          </a:solidFill>
          <a:ln w="12700">
            <a:solidFill>
              <a:srgbClr val="E2F2E9"/>
            </a:solidFill>
            <a:prstDash val="solid"/>
          </a:ln>
        </p:spPr>
      </p:sp>
      <p:sp>
        <p:nvSpPr>
          <p:cNvPr id="106" name="Text 95"/>
          <p:cNvSpPr txBox="1"/>
          <p:nvPr/>
        </p:nvSpPr>
        <p:spPr>
          <a:xfrm>
            <a:off x="11356848" y="5120640"/>
            <a:ext cx="3067812" cy="731520"/>
          </a:xfrm>
          <a:prstGeom prst="rect">
            <a:avLst/>
          </a:prstGeom>
          <a:noFill/>
          <a:ln/>
        </p:spPr>
        <p:txBody>
          <a:bodyPr wrap="square" lIns="0" tIns="0" rIns="0" bIns="0" rtlCol="0" anchor="t"/>
          <a:lstStyle/>
          <a:p>
            <a:pPr algn="l" indent="0" marL="0">
              <a:lnSpc>
                <a:spcPct val="100000"/>
              </a:lnSpc>
              <a:buNone/>
            </a:pPr>
            <a:r>
              <a:rPr lang="en-US" sz="1200" b="1" dirty="0">
                <a:solidFill>
                  <a:srgbClr val="1E8E5A"/>
                </a:solidFill>
                <a:latin typeface="Calibri" pitchFamily="34" charset="0"/>
                <a:ea typeface="Calibri" pitchFamily="34" charset="-122"/>
                <a:cs typeface="Calibri" pitchFamily="34" charset="-120"/>
              </a:rPr>
              <a:t>≥ 80 for 30 days</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Graduate: prepayment unlocked</a:t>
            </a:r>
            <a:endParaRPr lang="en-US" sz="1200" dirty="0"/>
          </a:p>
        </p:txBody>
      </p:sp>
      <p:sp>
        <p:nvSpPr>
          <p:cNvPr id="107" name="Shape 96"/>
          <p:cNvSpPr/>
          <p:nvPr/>
        </p:nvSpPr>
        <p:spPr>
          <a:xfrm>
            <a:off x="14634972" y="5047488"/>
            <a:ext cx="3296412" cy="868680"/>
          </a:xfrm>
          <a:prstGeom prst="roundRect">
            <a:avLst>
              <a:gd name="adj" fmla="val 5263"/>
            </a:avLst>
          </a:prstGeom>
          <a:solidFill>
            <a:srgbClr val="F8E0DC"/>
          </a:solidFill>
          <a:ln w="12700">
            <a:solidFill>
              <a:srgbClr val="F8E0DC"/>
            </a:solidFill>
            <a:prstDash val="solid"/>
          </a:ln>
        </p:spPr>
      </p:sp>
      <p:sp>
        <p:nvSpPr>
          <p:cNvPr id="108" name="Text 97"/>
          <p:cNvSpPr txBox="1"/>
          <p:nvPr/>
        </p:nvSpPr>
        <p:spPr>
          <a:xfrm>
            <a:off x="14744700" y="5120640"/>
            <a:ext cx="3067812" cy="731520"/>
          </a:xfrm>
          <a:prstGeom prst="rect">
            <a:avLst/>
          </a:prstGeom>
          <a:noFill/>
          <a:ln/>
        </p:spPr>
        <p:txBody>
          <a:bodyPr wrap="square" lIns="0" tIns="0" rIns="0" bIns="0" rtlCol="0" anchor="t"/>
          <a:lstStyle/>
          <a:p>
            <a:pPr algn="l" indent="0" marL="0">
              <a:lnSpc>
                <a:spcPct val="100000"/>
              </a:lnSpc>
              <a:buNone/>
            </a:pPr>
            <a:r>
              <a:rPr lang="en-US" sz="1200" b="1" dirty="0">
                <a:solidFill>
                  <a:srgbClr val="C0392B"/>
                </a:solidFill>
                <a:latin typeface="Calibri" pitchFamily="34" charset="0"/>
                <a:ea typeface="Calibri" pitchFamily="34" charset="-122"/>
                <a:cs typeface="Calibri" pitchFamily="34" charset="-120"/>
              </a:rPr>
              <a:t>&lt; 40 for 7 days after a fix</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Escalate to a category manager</a:t>
            </a:r>
            <a:endParaRPr lang="en-US" sz="1200" dirty="0"/>
          </a:p>
        </p:txBody>
      </p:sp>
      <p:sp>
        <p:nvSpPr>
          <p:cNvPr id="109" name="Shape 98"/>
          <p:cNvSpPr/>
          <p:nvPr/>
        </p:nvSpPr>
        <p:spPr>
          <a:xfrm>
            <a:off x="749808" y="6446520"/>
            <a:ext cx="11338560" cy="2569464"/>
          </a:xfrm>
          <a:prstGeom prst="rect">
            <a:avLst/>
          </a:prstGeom>
          <a:solidFill>
            <a:srgbClr val="FFFFFF"/>
          </a:solidFill>
          <a:ln w="9525">
            <a:solidFill>
              <a:srgbClr val="E0CEDA"/>
            </a:solidFill>
            <a:prstDash val="solid"/>
          </a:ln>
        </p:spPr>
      </p:sp>
      <p:sp>
        <p:nvSpPr>
          <p:cNvPr id="110" name="Shape 99"/>
          <p:cNvSpPr/>
          <p:nvPr/>
        </p:nvSpPr>
        <p:spPr>
          <a:xfrm>
            <a:off x="749808" y="6446520"/>
            <a:ext cx="11338560" cy="329184"/>
          </a:xfrm>
          <a:prstGeom prst="rect">
            <a:avLst/>
          </a:prstGeom>
          <a:solidFill>
            <a:srgbClr val="8A245E"/>
          </a:solidFill>
          <a:ln w="12700">
            <a:solidFill>
              <a:srgbClr val="8A245E"/>
            </a:solidFill>
            <a:prstDash val="solid"/>
          </a:ln>
        </p:spPr>
      </p:sp>
      <p:pic>
        <p:nvPicPr>
          <p:cNvPr id="111" name="Image 8" descr="/private/tmp/claude-501/-Users-prathmeshwalimbe-Downloads-Meesho/dfec39d5-f971-4a3a-8cfb-761f4ef1fedb/scratchpad/deck/assets/icons/FaRobot_w.png">    </p:cNvPr>
          <p:cNvPicPr>
            <a:picLocks noChangeAspect="1"/>
          </p:cNvPicPr>
          <p:nvPr/>
        </p:nvPicPr>
        <p:blipFill>
          <a:blip r:embed="rId9"/>
          <a:stretch>
            <a:fillRect/>
          </a:stretch>
        </p:blipFill>
        <p:spPr>
          <a:xfrm>
            <a:off x="859536" y="6510528"/>
            <a:ext cx="201168" cy="201168"/>
          </a:xfrm>
          <a:prstGeom prst="rect">
            <a:avLst/>
          </a:prstGeom>
        </p:spPr>
      </p:pic>
      <p:sp>
        <p:nvSpPr>
          <p:cNvPr id="112" name="Text 100"/>
          <p:cNvSpPr txBox="1"/>
          <p:nvPr/>
        </p:nvSpPr>
        <p:spPr>
          <a:xfrm>
            <a:off x="1133856" y="6446520"/>
            <a:ext cx="1082649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WHEN TO INTERVENE · THE RULEBOOK (9 AUTOMATIC, 1 HUMAN)</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77824" y="6867144"/>
          <a:ext cx="5495544" cy="914400"/>
        </p:xfrm>
        <a:graphic>
          <a:graphicData uri="http://schemas.openxmlformats.org/drawingml/2006/table">
            <a:tbl>
              <a:tblPr/>
              <a:tblGrid>
                <a:gridCol w="3017520"/>
                <a:gridCol w="2478024"/>
              </a:tblGrid>
              <a:tr h="393192">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Signal and threshold</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Action</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9319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Orders &lt; 60% of cohort median at D7 / D14</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Impression grant (+25K, 7 days, max 2)</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Price gap &lt; 8% for 7 days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Price-drift nudge with market median</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Price gap &lt; 4% for 3 days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Badge removed; re-entry after 7 days ≥ 8%</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Quality returns &gt; 1.5× norm (≥ 30 deliveries)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Badge suspended + QC checklist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464808" y="6867144"/>
          <a:ext cx="5495544" cy="914400"/>
        </p:xfrm>
        <a:graphic>
          <a:graphicData uri="http://schemas.openxmlformats.org/drawingml/2006/table">
            <a:tbl>
              <a:tblPr/>
              <a:tblGrid>
                <a:gridCol w="3017520"/>
                <a:gridCol w="2478024"/>
              </a:tblGrid>
              <a:tr h="393192">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Signal and threshold</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Action</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9319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On-time dispatch &lt; 90% over 7 days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Offer Factory Node operations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In-stock &lt; 70% for 3 days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Restock nudge sized by the Demand Brief</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Score ≥ 80 for 30 days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Graduate: batch prepayment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Score &lt; 40 for 7 days after a fix</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C0392B"/>
                          </a:solidFill>
                          <a:latin typeface="Calibri" pitchFamily="34" charset="0"/>
                          <a:ea typeface="Calibri" pitchFamily="34" charset="-122"/>
                          <a:cs typeface="Calibri" pitchFamily="34" charset="-120"/>
                        </a:rPr>
                        <a:t>Human: category manager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115" name="Shape 101"/>
          <p:cNvSpPr/>
          <p:nvPr/>
        </p:nvSpPr>
        <p:spPr>
          <a:xfrm>
            <a:off x="12216384" y="6446520"/>
            <a:ext cx="5843016" cy="2569464"/>
          </a:xfrm>
          <a:prstGeom prst="rect">
            <a:avLst/>
          </a:prstGeom>
          <a:solidFill>
            <a:srgbClr val="FFFFFF"/>
          </a:solidFill>
          <a:ln w="9525">
            <a:solidFill>
              <a:srgbClr val="E0CEDA"/>
            </a:solidFill>
            <a:prstDash val="solid"/>
          </a:ln>
        </p:spPr>
      </p:sp>
      <p:sp>
        <p:nvSpPr>
          <p:cNvPr id="116" name="Shape 102"/>
          <p:cNvSpPr/>
          <p:nvPr/>
        </p:nvSpPr>
        <p:spPr>
          <a:xfrm>
            <a:off x="12216384" y="6446520"/>
            <a:ext cx="5843016" cy="329184"/>
          </a:xfrm>
          <a:prstGeom prst="rect">
            <a:avLst/>
          </a:prstGeom>
          <a:solidFill>
            <a:srgbClr val="8A245E"/>
          </a:solidFill>
          <a:ln w="12700">
            <a:solidFill>
              <a:srgbClr val="8A245E"/>
            </a:solidFill>
            <a:prstDash val="solid"/>
          </a:ln>
        </p:spPr>
      </p:sp>
      <p:pic>
        <p:nvPicPr>
          <p:cNvPr id="117" name="Image 9" descr="/private/tmp/claude-501/-Users-prathmeshwalimbe-Downloads-Meesho/dfec39d5-f971-4a3a-8cfb-761f4ef1fedb/scratchpad/deck/assets/icons/FaGaugeHigh_w.png">    </p:cNvPr>
          <p:cNvPicPr>
            <a:picLocks noChangeAspect="1"/>
          </p:cNvPicPr>
          <p:nvPr/>
        </p:nvPicPr>
        <p:blipFill>
          <a:blip r:embed="rId10"/>
          <a:stretch>
            <a:fillRect/>
          </a:stretch>
        </p:blipFill>
        <p:spPr>
          <a:xfrm>
            <a:off x="12326112" y="6510528"/>
            <a:ext cx="201168" cy="201168"/>
          </a:xfrm>
          <a:prstGeom prst="rect">
            <a:avLst/>
          </a:prstGeom>
        </p:spPr>
      </p:pic>
      <p:sp>
        <p:nvSpPr>
          <p:cNvPr id="118" name="Text 103"/>
          <p:cNvSpPr txBox="1"/>
          <p:nvPr/>
        </p:nvSpPr>
        <p:spPr>
          <a:xfrm>
            <a:off x="12600432" y="6446520"/>
            <a:ext cx="533095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LIVE IN THE PROTOTYPE · 60 PILOT SELLERS TODAY</a:t>
            </a:r>
            <a:endParaRPr lang="en-US" sz="1250" dirty="0"/>
          </a:p>
        </p:txBody>
      </p:sp>
      <p:sp>
        <p:nvSpPr>
          <p:cNvPr id="119" name="Shape 104"/>
          <p:cNvSpPr/>
          <p:nvPr/>
        </p:nvSpPr>
        <p:spPr>
          <a:xfrm>
            <a:off x="12344400" y="7141464"/>
            <a:ext cx="531266" cy="502920"/>
          </a:xfrm>
          <a:prstGeom prst="rect">
            <a:avLst/>
          </a:prstGeom>
          <a:solidFill>
            <a:srgbClr val="B886A6"/>
          </a:solidFill>
          <a:ln w="12700">
            <a:solidFill>
              <a:srgbClr val="B886A6"/>
            </a:solidFill>
            <a:prstDash val="solid"/>
          </a:ln>
        </p:spPr>
      </p:sp>
      <p:sp>
        <p:nvSpPr>
          <p:cNvPr id="120" name="Text 105"/>
          <p:cNvSpPr txBox="1"/>
          <p:nvPr/>
        </p:nvSpPr>
        <p:spPr>
          <a:xfrm>
            <a:off x="12344400" y="7141464"/>
            <a:ext cx="531266" cy="50292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121" name="Text 106"/>
          <p:cNvSpPr txBox="1"/>
          <p:nvPr/>
        </p:nvSpPr>
        <p:spPr>
          <a:xfrm>
            <a:off x="12344400" y="6867144"/>
            <a:ext cx="558698" cy="237744"/>
          </a:xfrm>
          <a:prstGeom prst="rect">
            <a:avLst/>
          </a:prstGeom>
          <a:noFill/>
          <a:ln/>
        </p:spPr>
        <p:txBody>
          <a:bodyPr wrap="square" lIns="0" tIns="0" rIns="0" bIns="0" rtlCol="0" anchor="t"/>
          <a:lstStyle/>
          <a:p>
            <a:pPr algn="ctr" indent="0" marL="0">
              <a:lnSpc>
                <a:spcPct val="100000"/>
              </a:lnSpc>
              <a:buNone/>
            </a:pPr>
            <a:r>
              <a:rPr lang="en-US" sz="1050" b="1" dirty="0">
                <a:solidFill>
                  <a:srgbClr val="2B1226"/>
                </a:solidFill>
                <a:latin typeface="Calibri" pitchFamily="34" charset="0"/>
                <a:ea typeface="Calibri" pitchFamily="34" charset="-122"/>
                <a:cs typeface="Calibri" pitchFamily="34" charset="-120"/>
              </a:rPr>
              <a:t>Allocate</a:t>
            </a:r>
            <a:endParaRPr lang="en-US" sz="1050" dirty="0"/>
          </a:p>
        </p:txBody>
      </p:sp>
      <p:sp>
        <p:nvSpPr>
          <p:cNvPr id="122" name="Shape 107"/>
          <p:cNvSpPr/>
          <p:nvPr/>
        </p:nvSpPr>
        <p:spPr>
          <a:xfrm>
            <a:off x="12903098" y="7141464"/>
            <a:ext cx="1555547" cy="502920"/>
          </a:xfrm>
          <a:prstGeom prst="rect">
            <a:avLst/>
          </a:prstGeom>
          <a:solidFill>
            <a:srgbClr val="8A245E"/>
          </a:solidFill>
          <a:ln w="12700">
            <a:solidFill>
              <a:srgbClr val="8A245E"/>
            </a:solidFill>
            <a:prstDash val="solid"/>
          </a:ln>
        </p:spPr>
      </p:sp>
      <p:sp>
        <p:nvSpPr>
          <p:cNvPr id="123" name="Text 108"/>
          <p:cNvSpPr txBox="1"/>
          <p:nvPr/>
        </p:nvSpPr>
        <p:spPr>
          <a:xfrm>
            <a:off x="12903098" y="7141464"/>
            <a:ext cx="1555547" cy="50292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17</a:t>
            </a:r>
            <a:endParaRPr lang="en-US" sz="1400" dirty="0"/>
          </a:p>
        </p:txBody>
      </p:sp>
      <p:sp>
        <p:nvSpPr>
          <p:cNvPr id="124" name="Text 109"/>
          <p:cNvSpPr txBox="1"/>
          <p:nvPr/>
        </p:nvSpPr>
        <p:spPr>
          <a:xfrm>
            <a:off x="12903098" y="6867144"/>
            <a:ext cx="1582979" cy="237744"/>
          </a:xfrm>
          <a:prstGeom prst="rect">
            <a:avLst/>
          </a:prstGeom>
          <a:noFill/>
          <a:ln/>
        </p:spPr>
        <p:txBody>
          <a:bodyPr wrap="square" lIns="0" tIns="0" rIns="0" bIns="0" rtlCol="0" anchor="t"/>
          <a:lstStyle/>
          <a:p>
            <a:pPr algn="ctr" indent="0" marL="0">
              <a:lnSpc>
                <a:spcPct val="100000"/>
              </a:lnSpc>
              <a:buNone/>
            </a:pPr>
            <a:r>
              <a:rPr lang="en-US" sz="1050" b="1" dirty="0">
                <a:solidFill>
                  <a:srgbClr val="2B1226"/>
                </a:solidFill>
                <a:latin typeface="Calibri" pitchFamily="34" charset="0"/>
                <a:ea typeface="Calibri" pitchFamily="34" charset="-122"/>
                <a:cs typeface="Calibri" pitchFamily="34" charset="-120"/>
              </a:rPr>
              <a:t>Diagnose</a:t>
            </a:r>
            <a:endParaRPr lang="en-US" sz="1050" dirty="0"/>
          </a:p>
        </p:txBody>
      </p:sp>
      <p:sp>
        <p:nvSpPr>
          <p:cNvPr id="125" name="Shape 110"/>
          <p:cNvSpPr/>
          <p:nvPr/>
        </p:nvSpPr>
        <p:spPr>
          <a:xfrm>
            <a:off x="14486077" y="7141464"/>
            <a:ext cx="1089965" cy="502920"/>
          </a:xfrm>
          <a:prstGeom prst="rect">
            <a:avLst/>
          </a:prstGeom>
          <a:solidFill>
            <a:srgbClr val="D68200"/>
          </a:solidFill>
          <a:ln w="12700">
            <a:solidFill>
              <a:srgbClr val="D68200"/>
            </a:solidFill>
            <a:prstDash val="solid"/>
          </a:ln>
        </p:spPr>
      </p:sp>
      <p:sp>
        <p:nvSpPr>
          <p:cNvPr id="126" name="Text 111"/>
          <p:cNvSpPr txBox="1"/>
          <p:nvPr/>
        </p:nvSpPr>
        <p:spPr>
          <a:xfrm>
            <a:off x="14486077" y="7141464"/>
            <a:ext cx="1089965" cy="50292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12</a:t>
            </a:r>
            <a:endParaRPr lang="en-US" sz="1400" dirty="0"/>
          </a:p>
        </p:txBody>
      </p:sp>
      <p:sp>
        <p:nvSpPr>
          <p:cNvPr id="127" name="Text 112"/>
          <p:cNvSpPr txBox="1"/>
          <p:nvPr/>
        </p:nvSpPr>
        <p:spPr>
          <a:xfrm>
            <a:off x="14486077" y="6867144"/>
            <a:ext cx="1117397" cy="237744"/>
          </a:xfrm>
          <a:prstGeom prst="rect">
            <a:avLst/>
          </a:prstGeom>
          <a:noFill/>
          <a:ln/>
        </p:spPr>
        <p:txBody>
          <a:bodyPr wrap="square" lIns="0" tIns="0" rIns="0" bIns="0" rtlCol="0" anchor="t"/>
          <a:lstStyle/>
          <a:p>
            <a:pPr algn="ctr" indent="0" marL="0">
              <a:lnSpc>
                <a:spcPct val="100000"/>
              </a:lnSpc>
              <a:buNone/>
            </a:pPr>
            <a:r>
              <a:rPr lang="en-US" sz="1050" b="1" dirty="0">
                <a:solidFill>
                  <a:srgbClr val="2B1226"/>
                </a:solidFill>
                <a:latin typeface="Calibri" pitchFamily="34" charset="0"/>
                <a:ea typeface="Calibri" pitchFamily="34" charset="-122"/>
                <a:cs typeface="Calibri" pitchFamily="34" charset="-120"/>
              </a:rPr>
              <a:t>Remedy</a:t>
            </a:r>
            <a:endParaRPr lang="en-US" sz="1050" dirty="0"/>
          </a:p>
        </p:txBody>
      </p:sp>
      <p:sp>
        <p:nvSpPr>
          <p:cNvPr id="128" name="Shape 113"/>
          <p:cNvSpPr/>
          <p:nvPr/>
        </p:nvSpPr>
        <p:spPr>
          <a:xfrm>
            <a:off x="15603474" y="7141464"/>
            <a:ext cx="2300478" cy="502920"/>
          </a:xfrm>
          <a:prstGeom prst="rect">
            <a:avLst/>
          </a:prstGeom>
          <a:solidFill>
            <a:srgbClr val="1E8E5A"/>
          </a:solidFill>
          <a:ln w="12700">
            <a:solidFill>
              <a:srgbClr val="1E8E5A"/>
            </a:solidFill>
            <a:prstDash val="solid"/>
          </a:ln>
        </p:spPr>
      </p:sp>
      <p:sp>
        <p:nvSpPr>
          <p:cNvPr id="129" name="Text 114"/>
          <p:cNvSpPr txBox="1"/>
          <p:nvPr/>
        </p:nvSpPr>
        <p:spPr>
          <a:xfrm>
            <a:off x="15603474" y="7141464"/>
            <a:ext cx="2300478" cy="50292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25</a:t>
            </a:r>
            <a:endParaRPr lang="en-US" sz="1400" dirty="0"/>
          </a:p>
        </p:txBody>
      </p:sp>
      <p:sp>
        <p:nvSpPr>
          <p:cNvPr id="130" name="Text 115"/>
          <p:cNvSpPr txBox="1"/>
          <p:nvPr/>
        </p:nvSpPr>
        <p:spPr>
          <a:xfrm>
            <a:off x="15603474" y="6867144"/>
            <a:ext cx="2327910" cy="237744"/>
          </a:xfrm>
          <a:prstGeom prst="rect">
            <a:avLst/>
          </a:prstGeom>
          <a:noFill/>
          <a:ln/>
        </p:spPr>
        <p:txBody>
          <a:bodyPr wrap="square" lIns="0" tIns="0" rIns="0" bIns="0" rtlCol="0" anchor="t"/>
          <a:lstStyle/>
          <a:p>
            <a:pPr algn="ctr" indent="0" marL="0">
              <a:lnSpc>
                <a:spcPct val="100000"/>
              </a:lnSpc>
              <a:buNone/>
            </a:pPr>
            <a:r>
              <a:rPr lang="en-US" sz="1050" b="1" dirty="0">
                <a:solidFill>
                  <a:srgbClr val="2B1226"/>
                </a:solidFill>
                <a:latin typeface="Calibri" pitchFamily="34" charset="0"/>
                <a:ea typeface="Calibri" pitchFamily="34" charset="-122"/>
                <a:cs typeface="Calibri" pitchFamily="34" charset="-120"/>
              </a:rPr>
              <a:t>Graduate</a:t>
            </a:r>
            <a:endParaRPr lang="en-US" sz="1050" dirty="0"/>
          </a:p>
        </p:txBody>
      </p:sp>
      <p:sp>
        <p:nvSpPr>
          <p:cNvPr id="131" name="Text 116"/>
          <p:cNvSpPr txBox="1"/>
          <p:nvPr/>
        </p:nvSpPr>
        <p:spPr>
          <a:xfrm>
            <a:off x="12344400" y="7781544"/>
            <a:ext cx="5586984" cy="868680"/>
          </a:xfrm>
          <a:prstGeom prst="rect">
            <a:avLst/>
          </a:prstGeom>
          <a:noFill/>
          <a:ln/>
        </p:spPr>
        <p:txBody>
          <a:bodyPr wrap="square" lIns="0" tIns="0" rIns="0" bIns="0" rtlCol="0" anchor="t"/>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Average score 90 · </a:t>
            </a:r>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90 automated actions and 3 escalations so far. Remedy (amber) means an automatic fix is running; 3 of those sellers are with a person.</a:t>
            </a:r>
            <a:endParaRPr lang="en-US" sz="1100" dirty="0"/>
          </a:p>
        </p:txBody>
      </p:sp>
      <p:sp>
        <p:nvSpPr>
          <p:cNvPr id="132" name="Shape 117"/>
          <p:cNvSpPr/>
          <p:nvPr/>
        </p:nvSpPr>
        <p:spPr>
          <a:xfrm>
            <a:off x="12344400" y="8238744"/>
            <a:ext cx="1801368" cy="621792"/>
          </a:xfrm>
          <a:prstGeom prst="roundRect">
            <a:avLst>
              <a:gd name="adj" fmla="val 7353"/>
            </a:avLst>
          </a:prstGeom>
          <a:solidFill>
            <a:srgbClr val="F2E4EE"/>
          </a:solidFill>
          <a:ln w="12700">
            <a:solidFill>
              <a:srgbClr val="F2E4EE"/>
            </a:solidFill>
            <a:prstDash val="solid"/>
          </a:ln>
        </p:spPr>
      </p:sp>
      <p:sp>
        <p:nvSpPr>
          <p:cNvPr id="133" name="Text 118"/>
          <p:cNvSpPr txBox="1"/>
          <p:nvPr/>
        </p:nvSpPr>
        <p:spPr>
          <a:xfrm>
            <a:off x="12417552" y="8238744"/>
            <a:ext cx="1655064" cy="621792"/>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Daily</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rules run, grants fire</a:t>
            </a:r>
            <a:endParaRPr lang="en-US" sz="1200" dirty="0"/>
          </a:p>
        </p:txBody>
      </p:sp>
      <p:sp>
        <p:nvSpPr>
          <p:cNvPr id="134" name="Shape 119"/>
          <p:cNvSpPr/>
          <p:nvPr/>
        </p:nvSpPr>
        <p:spPr>
          <a:xfrm>
            <a:off x="14237208" y="8238744"/>
            <a:ext cx="1801368" cy="621792"/>
          </a:xfrm>
          <a:prstGeom prst="roundRect">
            <a:avLst>
              <a:gd name="adj" fmla="val 7353"/>
            </a:avLst>
          </a:prstGeom>
          <a:solidFill>
            <a:srgbClr val="F2E4EE"/>
          </a:solidFill>
          <a:ln w="12700">
            <a:solidFill>
              <a:srgbClr val="F2E4EE"/>
            </a:solidFill>
            <a:prstDash val="solid"/>
          </a:ln>
        </p:spPr>
      </p:sp>
      <p:sp>
        <p:nvSpPr>
          <p:cNvPr id="135" name="Text 120"/>
          <p:cNvSpPr txBox="1"/>
          <p:nvPr/>
        </p:nvSpPr>
        <p:spPr>
          <a:xfrm>
            <a:off x="14310360" y="8238744"/>
            <a:ext cx="1655064" cy="621792"/>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Weekly</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KPI review: Category, Growth</a:t>
            </a:r>
            <a:endParaRPr lang="en-US" sz="1200" dirty="0"/>
          </a:p>
        </p:txBody>
      </p:sp>
      <p:sp>
        <p:nvSpPr>
          <p:cNvPr id="136" name="Shape 121"/>
          <p:cNvSpPr/>
          <p:nvPr/>
        </p:nvSpPr>
        <p:spPr>
          <a:xfrm>
            <a:off x="16130016" y="8238744"/>
            <a:ext cx="1801368" cy="621792"/>
          </a:xfrm>
          <a:prstGeom prst="roundRect">
            <a:avLst>
              <a:gd name="adj" fmla="val 7353"/>
            </a:avLst>
          </a:prstGeom>
          <a:solidFill>
            <a:srgbClr val="FFF3D8"/>
          </a:solidFill>
          <a:ln w="12700">
            <a:solidFill>
              <a:srgbClr val="FFF3D8"/>
            </a:solidFill>
            <a:prstDash val="solid"/>
          </a:ln>
        </p:spPr>
      </p:sp>
      <p:sp>
        <p:nvSpPr>
          <p:cNvPr id="137" name="Text 122"/>
          <p:cNvSpPr txBox="1"/>
          <p:nvPr/>
        </p:nvSpPr>
        <p:spPr>
          <a:xfrm>
            <a:off x="16203168" y="8238744"/>
            <a:ext cx="1655064" cy="621792"/>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Monthly</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recalibrate weights and thresholds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413662"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297326" y="182880"/>
            <a:ext cx="1413662"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33390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4765853" y="182880"/>
            <a:ext cx="1413662"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4802429"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234379" y="182880"/>
            <a:ext cx="1413662"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270955"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7702906" y="182880"/>
            <a:ext cx="1413662"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773948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171432" y="182880"/>
            <a:ext cx="1413662"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9208008"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0639958" y="182880"/>
            <a:ext cx="1413662" cy="502920"/>
          </a:xfrm>
          <a:prstGeom prst="roundRect">
            <a:avLst>
              <a:gd name="adj" fmla="val 14545"/>
            </a:avLst>
          </a:prstGeom>
          <a:solidFill>
            <a:srgbClr val="560547"/>
          </a:solidFill>
          <a:ln w="9525">
            <a:solidFill>
              <a:srgbClr val="560547"/>
            </a:solidFill>
            <a:prstDash val="solid"/>
          </a:ln>
        </p:spPr>
      </p:sp>
      <p:sp>
        <p:nvSpPr>
          <p:cNvPr id="18" name="Text 14"/>
          <p:cNvSpPr txBox="1"/>
          <p:nvPr/>
        </p:nvSpPr>
        <p:spPr>
          <a:xfrm>
            <a:off x="1067653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2108485" y="182880"/>
            <a:ext cx="1413662"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2145061"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3577011" y="182880"/>
            <a:ext cx="1413662"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3613587"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OPERATING MODEL</a:t>
            </a:r>
            <a:endParaRPr lang="en-US" sz="950" dirty="0"/>
          </a:p>
        </p:txBody>
      </p:sp>
      <p:sp>
        <p:nvSpPr>
          <p:cNvPr id="23" name="Shape 19"/>
          <p:cNvSpPr/>
          <p:nvPr/>
        </p:nvSpPr>
        <p:spPr>
          <a:xfrm>
            <a:off x="15045538" y="182880"/>
            <a:ext cx="1413662" cy="502920"/>
          </a:xfrm>
          <a:prstGeom prst="roundRect">
            <a:avLst>
              <a:gd name="adj" fmla="val 14545"/>
            </a:avLst>
          </a:prstGeom>
          <a:solidFill>
            <a:srgbClr val="FFFFFF"/>
          </a:solidFill>
          <a:ln w="9525">
            <a:solidFill>
              <a:srgbClr val="E0CEDA"/>
            </a:solidFill>
            <a:prstDash val="solid"/>
          </a:ln>
        </p:spPr>
      </p:sp>
      <p:sp>
        <p:nvSpPr>
          <p:cNvPr id="24" name="Text 20"/>
          <p:cNvSpPr txBox="1"/>
          <p:nvPr/>
        </p:nvSpPr>
        <p:spPr>
          <a:xfrm>
            <a:off x="1508211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10 · PROTOTYPE</a:t>
            </a:r>
            <a:endParaRPr lang="en-US" sz="950" dirty="0"/>
          </a:p>
        </p:txBody>
      </p:sp>
      <p:sp>
        <p:nvSpPr>
          <p:cNvPr id="25" name="Shape 21"/>
          <p:cNvSpPr/>
          <p:nvPr/>
        </p:nvSpPr>
        <p:spPr>
          <a:xfrm>
            <a:off x="228600" y="987552"/>
            <a:ext cx="384048" cy="8083296"/>
          </a:xfrm>
          <a:prstGeom prst="rect">
            <a:avLst/>
          </a:prstGeom>
          <a:solidFill>
            <a:srgbClr val="6E1251"/>
          </a:solidFill>
          <a:ln w="12700">
            <a:solidFill>
              <a:srgbClr val="6E1251"/>
            </a:solidFill>
            <a:prstDash val="solid"/>
          </a:ln>
        </p:spPr>
      </p:sp>
      <p:sp>
        <p:nvSpPr>
          <p:cNvPr id="26" name="Text 22"/>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WHEN AND HOW MUCH</a:t>
            </a:r>
            <a:endParaRPr lang="en-US" sz="1200" dirty="0"/>
          </a:p>
        </p:txBody>
      </p:sp>
      <p:sp>
        <p:nvSpPr>
          <p:cNvPr id="27" name="Text 23"/>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Q7 · 30-60-90 roadmap · What happens first, in what order, which numbers release the money, and what it costs</a:t>
            </a:r>
            <a:endParaRPr lang="en-US" sz="1700" dirty="0"/>
          </a:p>
        </p:txBody>
      </p:sp>
      <p:sp>
        <p:nvSpPr>
          <p:cNvPr id="28" name="Text 24"/>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Sources: Round 1 RICE scoring, costing and NPV model (12% discount rate) and cluster AHP; prototype Day-30 readout (synthetic, 400-draw bootstrap). MSME-TEAM: Ministry of MSME / ONDC, ₹277 cr over three years (Inc42); eligibility to be confirmed.</a:t>
            </a:r>
            <a:endParaRPr lang="en-US" sz="1000" dirty="0"/>
          </a:p>
        </p:txBody>
      </p:sp>
      <p:sp>
        <p:nvSpPr>
          <p:cNvPr id="29" name="Shape 25"/>
          <p:cNvSpPr/>
          <p:nvPr/>
        </p:nvSpPr>
        <p:spPr>
          <a:xfrm>
            <a:off x="228600" y="9400032"/>
            <a:ext cx="17830800" cy="603504"/>
          </a:xfrm>
          <a:prstGeom prst="rect">
            <a:avLst/>
          </a:prstGeom>
          <a:solidFill>
            <a:srgbClr val="560547"/>
          </a:solidFill>
          <a:ln w="12700">
            <a:solidFill>
              <a:srgbClr val="560547"/>
            </a:solidFill>
            <a:prstDash val="solid"/>
          </a:ln>
        </p:spPr>
      </p:sp>
      <p:sp>
        <p:nvSpPr>
          <p:cNvPr id="30" name="Shape 26"/>
          <p:cNvSpPr/>
          <p:nvPr/>
        </p:nvSpPr>
        <p:spPr>
          <a:xfrm>
            <a:off x="411480" y="9592056"/>
            <a:ext cx="219456" cy="219456"/>
          </a:xfrm>
          <a:prstGeom prst="rect">
            <a:avLst/>
          </a:prstGeom>
          <a:solidFill>
            <a:srgbClr val="FF9D00"/>
          </a:solidFill>
          <a:ln w="12700">
            <a:solidFill>
              <a:srgbClr val="FF9D00"/>
            </a:solidFill>
            <a:prstDash val="solid"/>
          </a:ln>
        </p:spPr>
      </p:sp>
      <p:sp>
        <p:nvSpPr>
          <p:cNvPr id="31" name="Text 27"/>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Spend nothing until the price gap is proven: ₹0 capex to Day 30, ₹12 cr by Day 90 only if the gate says fund, and ₹22 cr in Year 1 for NPV +₹156 cr.</a:t>
            </a:r>
            <a:endParaRPr lang="en-US" sz="1400" dirty="0"/>
          </a:p>
        </p:txBody>
      </p:sp>
      <p:pic>
        <p:nvPicPr>
          <p:cNvPr id="32"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4" name="Shape 28"/>
          <p:cNvSpPr/>
          <p:nvPr/>
        </p:nvSpPr>
        <p:spPr>
          <a:xfrm>
            <a:off x="749808" y="1426464"/>
            <a:ext cx="11750040" cy="3657600"/>
          </a:xfrm>
          <a:prstGeom prst="rect">
            <a:avLst/>
          </a:prstGeom>
          <a:solidFill>
            <a:srgbClr val="FFFFFF"/>
          </a:solidFill>
          <a:ln w="9525">
            <a:solidFill>
              <a:srgbClr val="E0CEDA"/>
            </a:solidFill>
            <a:prstDash val="solid"/>
          </a:ln>
        </p:spPr>
      </p:sp>
      <p:sp>
        <p:nvSpPr>
          <p:cNvPr id="35" name="Shape 29"/>
          <p:cNvSpPr/>
          <p:nvPr/>
        </p:nvSpPr>
        <p:spPr>
          <a:xfrm>
            <a:off x="749808" y="1426464"/>
            <a:ext cx="11750040" cy="329184"/>
          </a:xfrm>
          <a:prstGeom prst="rect">
            <a:avLst/>
          </a:prstGeom>
          <a:solidFill>
            <a:srgbClr val="560547"/>
          </a:solidFill>
          <a:ln w="12700">
            <a:solidFill>
              <a:srgbClr val="560547"/>
            </a:solidFill>
            <a:prstDash val="solid"/>
          </a:ln>
        </p:spPr>
      </p:sp>
      <p:pic>
        <p:nvPicPr>
          <p:cNvPr id="36" name="Image 3" descr="/private/tmp/claude-501/-Users-prathmeshwalimbe-Downloads-Meesho/dfec39d5-f971-4a3a-8cfb-761f4ef1fedb/scratchpad/deck/assets/icons/FaFlagCheckered_w.png">    </p:cNvPr>
          <p:cNvPicPr>
            <a:picLocks noChangeAspect="1"/>
          </p:cNvPicPr>
          <p:nvPr/>
        </p:nvPicPr>
        <p:blipFill>
          <a:blip r:embed="rId4"/>
          <a:stretch>
            <a:fillRect/>
          </a:stretch>
        </p:blipFill>
        <p:spPr>
          <a:xfrm>
            <a:off x="859536" y="1490472"/>
            <a:ext cx="201168" cy="201168"/>
          </a:xfrm>
          <a:prstGeom prst="rect">
            <a:avLst/>
          </a:prstGeom>
        </p:spPr>
      </p:pic>
      <p:sp>
        <p:nvSpPr>
          <p:cNvPr id="37" name="Text 30"/>
          <p:cNvSpPr txBox="1"/>
          <p:nvPr/>
        </p:nvSpPr>
        <p:spPr>
          <a:xfrm>
            <a:off x="1133856" y="1426464"/>
            <a:ext cx="112379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30-60-90 PILOT, THEN SCALE · WORKSTREAMS, OWNERS, GATES</a:t>
            </a:r>
            <a:endParaRPr lang="en-US" sz="1250" dirty="0"/>
          </a:p>
        </p:txBody>
      </p:sp>
      <p:sp>
        <p:nvSpPr>
          <p:cNvPr id="38" name="Shape 31"/>
          <p:cNvSpPr/>
          <p:nvPr/>
        </p:nvSpPr>
        <p:spPr>
          <a:xfrm>
            <a:off x="5650992" y="1847088"/>
            <a:ext cx="1648206" cy="310896"/>
          </a:xfrm>
          <a:prstGeom prst="roundRect">
            <a:avLst>
              <a:gd name="adj" fmla="val 11765"/>
            </a:avLst>
          </a:prstGeom>
          <a:solidFill>
            <a:srgbClr val="560547"/>
          </a:solidFill>
          <a:ln w="12700">
            <a:solidFill>
              <a:srgbClr val="560547"/>
            </a:solidFill>
            <a:prstDash val="solid"/>
          </a:ln>
        </p:spPr>
      </p:sp>
      <p:sp>
        <p:nvSpPr>
          <p:cNvPr id="39" name="Text 32"/>
          <p:cNvSpPr txBox="1"/>
          <p:nvPr/>
        </p:nvSpPr>
        <p:spPr>
          <a:xfrm>
            <a:off x="5632704" y="1847088"/>
            <a:ext cx="1684782"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Days 0–30</a:t>
            </a:r>
            <a:endParaRPr lang="en-US" sz="1100" dirty="0"/>
          </a:p>
        </p:txBody>
      </p:sp>
      <p:sp>
        <p:nvSpPr>
          <p:cNvPr id="40" name="Shape 33"/>
          <p:cNvSpPr/>
          <p:nvPr/>
        </p:nvSpPr>
        <p:spPr>
          <a:xfrm>
            <a:off x="7335774" y="1847088"/>
            <a:ext cx="1648206" cy="310896"/>
          </a:xfrm>
          <a:prstGeom prst="roundRect">
            <a:avLst>
              <a:gd name="adj" fmla="val 11765"/>
            </a:avLst>
          </a:prstGeom>
          <a:solidFill>
            <a:srgbClr val="8A245E"/>
          </a:solidFill>
          <a:ln w="12700">
            <a:solidFill>
              <a:srgbClr val="8A245E"/>
            </a:solidFill>
            <a:prstDash val="solid"/>
          </a:ln>
        </p:spPr>
      </p:sp>
      <p:sp>
        <p:nvSpPr>
          <p:cNvPr id="41" name="Text 34"/>
          <p:cNvSpPr txBox="1"/>
          <p:nvPr/>
        </p:nvSpPr>
        <p:spPr>
          <a:xfrm>
            <a:off x="7317486" y="1847088"/>
            <a:ext cx="1684782"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Days 31–60</a:t>
            </a:r>
            <a:endParaRPr lang="en-US" sz="1100" dirty="0"/>
          </a:p>
        </p:txBody>
      </p:sp>
      <p:sp>
        <p:nvSpPr>
          <p:cNvPr id="42" name="Shape 35"/>
          <p:cNvSpPr/>
          <p:nvPr/>
        </p:nvSpPr>
        <p:spPr>
          <a:xfrm>
            <a:off x="9020556" y="1847088"/>
            <a:ext cx="1648206" cy="310896"/>
          </a:xfrm>
          <a:prstGeom prst="roundRect">
            <a:avLst>
              <a:gd name="adj" fmla="val 11765"/>
            </a:avLst>
          </a:prstGeom>
          <a:solidFill>
            <a:srgbClr val="8A245E"/>
          </a:solidFill>
          <a:ln w="12700">
            <a:solidFill>
              <a:srgbClr val="8A245E"/>
            </a:solidFill>
            <a:prstDash val="solid"/>
          </a:ln>
        </p:spPr>
      </p:sp>
      <p:sp>
        <p:nvSpPr>
          <p:cNvPr id="43" name="Text 36"/>
          <p:cNvSpPr txBox="1"/>
          <p:nvPr/>
        </p:nvSpPr>
        <p:spPr>
          <a:xfrm>
            <a:off x="9002268" y="1847088"/>
            <a:ext cx="1684782"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Days 61–90</a:t>
            </a:r>
            <a:endParaRPr lang="en-US" sz="1100" dirty="0"/>
          </a:p>
        </p:txBody>
      </p:sp>
      <p:sp>
        <p:nvSpPr>
          <p:cNvPr id="44" name="Shape 37"/>
          <p:cNvSpPr/>
          <p:nvPr/>
        </p:nvSpPr>
        <p:spPr>
          <a:xfrm>
            <a:off x="10705338" y="1847088"/>
            <a:ext cx="1648206" cy="310896"/>
          </a:xfrm>
          <a:prstGeom prst="roundRect">
            <a:avLst>
              <a:gd name="adj" fmla="val 11765"/>
            </a:avLst>
          </a:prstGeom>
          <a:solidFill>
            <a:srgbClr val="8A245E"/>
          </a:solidFill>
          <a:ln w="12700">
            <a:solidFill>
              <a:srgbClr val="8A245E"/>
            </a:solidFill>
            <a:prstDash val="solid"/>
          </a:ln>
        </p:spPr>
      </p:sp>
      <p:sp>
        <p:nvSpPr>
          <p:cNvPr id="45" name="Text 38"/>
          <p:cNvSpPr txBox="1"/>
          <p:nvPr/>
        </p:nvSpPr>
        <p:spPr>
          <a:xfrm>
            <a:off x="10687050" y="1847088"/>
            <a:ext cx="1684782"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Quarter 2+</a:t>
            </a:r>
            <a:endParaRPr lang="en-US" sz="1100" dirty="0"/>
          </a:p>
        </p:txBody>
      </p:sp>
      <p:sp>
        <p:nvSpPr>
          <p:cNvPr id="46" name="Text 39"/>
          <p:cNvSpPr txBox="1"/>
          <p:nvPr/>
        </p:nvSpPr>
        <p:spPr>
          <a:xfrm>
            <a:off x="877824" y="1847088"/>
            <a:ext cx="3429000" cy="310896"/>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Arial" pitchFamily="34" charset="0"/>
                <a:ea typeface="Arial" pitchFamily="34" charset="-122"/>
                <a:cs typeface="Arial" pitchFamily="34" charset="-120"/>
              </a:rPr>
              <a:t>Workstream</a:t>
            </a:r>
            <a:endParaRPr lang="en-US" sz="1100" dirty="0"/>
          </a:p>
        </p:txBody>
      </p:sp>
      <p:sp>
        <p:nvSpPr>
          <p:cNvPr id="47" name="Text 40"/>
          <p:cNvSpPr txBox="1"/>
          <p:nvPr/>
        </p:nvSpPr>
        <p:spPr>
          <a:xfrm>
            <a:off x="4306824" y="1847088"/>
            <a:ext cx="1325880" cy="310896"/>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Arial" pitchFamily="34" charset="0"/>
                <a:ea typeface="Arial" pitchFamily="34" charset="-122"/>
                <a:cs typeface="Arial" pitchFamily="34" charset="-120"/>
              </a:rPr>
              <a:t>Owner</a:t>
            </a:r>
            <a:endParaRPr lang="en-US" sz="1100" dirty="0"/>
          </a:p>
        </p:txBody>
      </p:sp>
      <p:sp>
        <p:nvSpPr>
          <p:cNvPr id="48" name="Shape 41"/>
          <p:cNvSpPr/>
          <p:nvPr/>
        </p:nvSpPr>
        <p:spPr>
          <a:xfrm>
            <a:off x="877824" y="2212848"/>
            <a:ext cx="11494008" cy="320040"/>
          </a:xfrm>
          <a:prstGeom prst="rect">
            <a:avLst/>
          </a:prstGeom>
          <a:solidFill>
            <a:srgbClr val="F7F3F6"/>
          </a:solidFill>
          <a:ln w="12700">
            <a:solidFill>
              <a:srgbClr val="F7F3F6"/>
            </a:solidFill>
            <a:prstDash val="solid"/>
          </a:ln>
        </p:spPr>
      </p:sp>
      <p:sp>
        <p:nvSpPr>
          <p:cNvPr id="49" name="Text 42"/>
          <p:cNvSpPr txBox="1"/>
          <p:nvPr/>
        </p:nvSpPr>
        <p:spPr>
          <a:xfrm>
            <a:off x="923544" y="2231136"/>
            <a:ext cx="3337560" cy="283464"/>
          </a:xfrm>
          <a:prstGeom prst="rect">
            <a:avLst/>
          </a:prstGeom>
          <a:noFill/>
          <a:ln/>
        </p:spPr>
        <p:txBody>
          <a:bodyPr wrap="square" lIns="0" tIns="0" rIns="0" bIns="0" rtlCol="0" anchor="ctr"/>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Price Truth Index + badge test with holdout</a:t>
            </a:r>
            <a:endParaRPr lang="en-US" sz="1100" dirty="0"/>
          </a:p>
        </p:txBody>
      </p:sp>
      <p:sp>
        <p:nvSpPr>
          <p:cNvPr id="50" name="Text 43"/>
          <p:cNvSpPr txBox="1"/>
          <p:nvPr/>
        </p:nvSpPr>
        <p:spPr>
          <a:xfrm>
            <a:off x="4306824" y="2231136"/>
            <a:ext cx="1325880" cy="283464"/>
          </a:xfrm>
          <a:prstGeom prst="rect">
            <a:avLst/>
          </a:prstGeom>
          <a:noFill/>
          <a:ln/>
        </p:spPr>
        <p:txBody>
          <a:bodyPr wrap="square" lIns="0" tIns="0" rIns="0" bIns="0" rtlCol="0" anchor="ctr"/>
          <a:lstStyle/>
          <a:p>
            <a:pPr algn="l" indent="0" marL="0">
              <a:lnSpc>
                <a:spcPct val="100000"/>
              </a:lnSpc>
              <a:buNone/>
            </a:pPr>
            <a:r>
              <a:rPr lang="en-US" sz="1050" dirty="0">
                <a:solidFill>
                  <a:srgbClr val="7A6470"/>
                </a:solidFill>
                <a:latin typeface="Calibri" pitchFamily="34" charset="0"/>
                <a:ea typeface="Calibri" pitchFamily="34" charset="-122"/>
                <a:cs typeface="Calibri" pitchFamily="34" charset="-120"/>
              </a:rPr>
              <a:t>Pricing, Growth</a:t>
            </a:r>
            <a:endParaRPr lang="en-US" sz="1050" dirty="0"/>
          </a:p>
        </p:txBody>
      </p:sp>
      <p:sp>
        <p:nvSpPr>
          <p:cNvPr id="51" name="Shape 44"/>
          <p:cNvSpPr/>
          <p:nvPr/>
        </p:nvSpPr>
        <p:spPr>
          <a:xfrm>
            <a:off x="5705856" y="2276856"/>
            <a:ext cx="1538478" cy="192024"/>
          </a:xfrm>
          <a:prstGeom prst="roundRect">
            <a:avLst>
              <a:gd name="adj" fmla="val 23810"/>
            </a:avLst>
          </a:prstGeom>
          <a:solidFill>
            <a:srgbClr val="560547"/>
          </a:solidFill>
          <a:ln w="12700">
            <a:solidFill>
              <a:srgbClr val="560547"/>
            </a:solidFill>
            <a:prstDash val="solid"/>
          </a:ln>
        </p:spPr>
      </p:sp>
      <p:sp>
        <p:nvSpPr>
          <p:cNvPr id="52" name="Text 45"/>
          <p:cNvSpPr txBox="1"/>
          <p:nvPr/>
        </p:nvSpPr>
        <p:spPr>
          <a:xfrm>
            <a:off x="923544" y="2569464"/>
            <a:ext cx="3337560" cy="283464"/>
          </a:xfrm>
          <a:prstGeom prst="rect">
            <a:avLst/>
          </a:prstGeom>
          <a:noFill/>
          <a:ln/>
        </p:spPr>
        <p:txBody>
          <a:bodyPr wrap="square" lIns="0" tIns="0" rIns="0" bIns="0" rtlCol="0" anchor="ctr"/>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Health Score + rulebook live</a:t>
            </a:r>
            <a:endParaRPr lang="en-US" sz="1100" dirty="0"/>
          </a:p>
        </p:txBody>
      </p:sp>
      <p:sp>
        <p:nvSpPr>
          <p:cNvPr id="53" name="Text 46"/>
          <p:cNvSpPr txBox="1"/>
          <p:nvPr/>
        </p:nvSpPr>
        <p:spPr>
          <a:xfrm>
            <a:off x="4306824" y="2569464"/>
            <a:ext cx="1325880" cy="283464"/>
          </a:xfrm>
          <a:prstGeom prst="rect">
            <a:avLst/>
          </a:prstGeom>
          <a:noFill/>
          <a:ln/>
        </p:spPr>
        <p:txBody>
          <a:bodyPr wrap="square" lIns="0" tIns="0" rIns="0" bIns="0" rtlCol="0" anchor="ctr"/>
          <a:lstStyle/>
          <a:p>
            <a:pPr algn="l" indent="0" marL="0">
              <a:lnSpc>
                <a:spcPct val="100000"/>
              </a:lnSpc>
              <a:buNone/>
            </a:pPr>
            <a:r>
              <a:rPr lang="en-US" sz="1050" dirty="0">
                <a:solidFill>
                  <a:srgbClr val="7A6470"/>
                </a:solidFill>
                <a:latin typeface="Calibri" pitchFamily="34" charset="0"/>
                <a:ea typeface="Calibri" pitchFamily="34" charset="-122"/>
                <a:cs typeface="Calibri" pitchFamily="34" charset="-120"/>
              </a:rPr>
              <a:t>Data science</a:t>
            </a:r>
            <a:endParaRPr lang="en-US" sz="1050" dirty="0"/>
          </a:p>
        </p:txBody>
      </p:sp>
      <p:sp>
        <p:nvSpPr>
          <p:cNvPr id="54" name="Shape 47"/>
          <p:cNvSpPr/>
          <p:nvPr/>
        </p:nvSpPr>
        <p:spPr>
          <a:xfrm>
            <a:off x="5705856" y="2615184"/>
            <a:ext cx="6592824" cy="192024"/>
          </a:xfrm>
          <a:prstGeom prst="roundRect">
            <a:avLst>
              <a:gd name="adj" fmla="val 23810"/>
            </a:avLst>
          </a:prstGeom>
          <a:solidFill>
            <a:srgbClr val="8A245E"/>
          </a:solidFill>
          <a:ln w="12700">
            <a:solidFill>
              <a:srgbClr val="8A245E"/>
            </a:solidFill>
            <a:prstDash val="solid"/>
          </a:ln>
        </p:spPr>
      </p:sp>
      <p:sp>
        <p:nvSpPr>
          <p:cNvPr id="55" name="Shape 48"/>
          <p:cNvSpPr/>
          <p:nvPr/>
        </p:nvSpPr>
        <p:spPr>
          <a:xfrm>
            <a:off x="877824" y="2889504"/>
            <a:ext cx="11494008" cy="320040"/>
          </a:xfrm>
          <a:prstGeom prst="rect">
            <a:avLst/>
          </a:prstGeom>
          <a:solidFill>
            <a:srgbClr val="F7F3F6"/>
          </a:solidFill>
          <a:ln w="12700">
            <a:solidFill>
              <a:srgbClr val="F7F3F6"/>
            </a:solidFill>
            <a:prstDash val="solid"/>
          </a:ln>
        </p:spPr>
      </p:sp>
      <p:sp>
        <p:nvSpPr>
          <p:cNvPr id="56" name="Text 49"/>
          <p:cNvSpPr txBox="1"/>
          <p:nvPr/>
        </p:nvSpPr>
        <p:spPr>
          <a:xfrm>
            <a:off x="923544" y="2907792"/>
            <a:ext cx="3337560" cy="283464"/>
          </a:xfrm>
          <a:prstGeom prst="rect">
            <a:avLst/>
          </a:prstGeom>
          <a:noFill/>
          <a:ln/>
        </p:spPr>
        <p:txBody>
          <a:bodyPr wrap="square" lIns="0" tIns="0" rIns="0" bIns="0" rtlCol="0" anchor="ctr"/>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Cluster co-ops: Tiruppur, Panipat</a:t>
            </a:r>
            <a:endParaRPr lang="en-US" sz="1100" dirty="0"/>
          </a:p>
        </p:txBody>
      </p:sp>
      <p:sp>
        <p:nvSpPr>
          <p:cNvPr id="57" name="Text 50"/>
          <p:cNvSpPr txBox="1"/>
          <p:nvPr/>
        </p:nvSpPr>
        <p:spPr>
          <a:xfrm>
            <a:off x="4306824" y="2907792"/>
            <a:ext cx="1325880" cy="283464"/>
          </a:xfrm>
          <a:prstGeom prst="rect">
            <a:avLst/>
          </a:prstGeom>
          <a:noFill/>
          <a:ln/>
        </p:spPr>
        <p:txBody>
          <a:bodyPr wrap="square" lIns="0" tIns="0" rIns="0" bIns="0" rtlCol="0" anchor="ctr"/>
          <a:lstStyle/>
          <a:p>
            <a:pPr algn="l" indent="0" marL="0">
              <a:lnSpc>
                <a:spcPct val="100000"/>
              </a:lnSpc>
              <a:buNone/>
            </a:pPr>
            <a:r>
              <a:rPr lang="en-US" sz="1050" dirty="0">
                <a:solidFill>
                  <a:srgbClr val="7A6470"/>
                </a:solidFill>
                <a:latin typeface="Calibri" pitchFamily="34" charset="0"/>
                <a:ea typeface="Calibri" pitchFamily="34" charset="-122"/>
                <a:cs typeface="Calibri" pitchFamily="34" charset="-120"/>
              </a:rPr>
              <a:t>Category</a:t>
            </a:r>
            <a:endParaRPr lang="en-US" sz="1050" dirty="0"/>
          </a:p>
        </p:txBody>
      </p:sp>
      <p:sp>
        <p:nvSpPr>
          <p:cNvPr id="58" name="Shape 51"/>
          <p:cNvSpPr/>
          <p:nvPr/>
        </p:nvSpPr>
        <p:spPr>
          <a:xfrm>
            <a:off x="7390638" y="2953512"/>
            <a:ext cx="1538478" cy="192024"/>
          </a:xfrm>
          <a:prstGeom prst="roundRect">
            <a:avLst>
              <a:gd name="adj" fmla="val 23810"/>
            </a:avLst>
          </a:prstGeom>
          <a:solidFill>
            <a:srgbClr val="8A245E"/>
          </a:solidFill>
          <a:ln w="12700">
            <a:solidFill>
              <a:srgbClr val="8A245E"/>
            </a:solidFill>
            <a:prstDash val="solid"/>
          </a:ln>
        </p:spPr>
      </p:sp>
      <p:sp>
        <p:nvSpPr>
          <p:cNvPr id="59" name="Text 52"/>
          <p:cNvSpPr txBox="1"/>
          <p:nvPr/>
        </p:nvSpPr>
        <p:spPr>
          <a:xfrm>
            <a:off x="923544" y="3246120"/>
            <a:ext cx="3337560" cy="283464"/>
          </a:xfrm>
          <a:prstGeom prst="rect">
            <a:avLst/>
          </a:prstGeom>
          <a:noFill/>
          <a:ln/>
        </p:spPr>
        <p:txBody>
          <a:bodyPr wrap="square" lIns="0" tIns="0" rIns="0" bIns="0" rtlCol="0" anchor="ctr"/>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Demand Briefs, 5 categories</a:t>
            </a:r>
            <a:endParaRPr lang="en-US" sz="1100" dirty="0"/>
          </a:p>
        </p:txBody>
      </p:sp>
      <p:sp>
        <p:nvSpPr>
          <p:cNvPr id="60" name="Text 53"/>
          <p:cNvSpPr txBox="1"/>
          <p:nvPr/>
        </p:nvSpPr>
        <p:spPr>
          <a:xfrm>
            <a:off x="4306824" y="3246120"/>
            <a:ext cx="1325880" cy="283464"/>
          </a:xfrm>
          <a:prstGeom prst="rect">
            <a:avLst/>
          </a:prstGeom>
          <a:noFill/>
          <a:ln/>
        </p:spPr>
        <p:txBody>
          <a:bodyPr wrap="square" lIns="0" tIns="0" rIns="0" bIns="0" rtlCol="0" anchor="ctr"/>
          <a:lstStyle/>
          <a:p>
            <a:pPr algn="l" indent="0" marL="0">
              <a:lnSpc>
                <a:spcPct val="100000"/>
              </a:lnSpc>
              <a:buNone/>
            </a:pPr>
            <a:r>
              <a:rPr lang="en-US" sz="1050" dirty="0">
                <a:solidFill>
                  <a:srgbClr val="7A6470"/>
                </a:solidFill>
                <a:latin typeface="Calibri" pitchFamily="34" charset="0"/>
                <a:ea typeface="Calibri" pitchFamily="34" charset="-122"/>
                <a:cs typeface="Calibri" pitchFamily="34" charset="-120"/>
              </a:rPr>
              <a:t>Data science</a:t>
            </a:r>
            <a:endParaRPr lang="en-US" sz="1050" dirty="0"/>
          </a:p>
        </p:txBody>
      </p:sp>
      <p:sp>
        <p:nvSpPr>
          <p:cNvPr id="61" name="Shape 54"/>
          <p:cNvSpPr/>
          <p:nvPr/>
        </p:nvSpPr>
        <p:spPr>
          <a:xfrm>
            <a:off x="7390638" y="3291840"/>
            <a:ext cx="4908042" cy="192024"/>
          </a:xfrm>
          <a:prstGeom prst="roundRect">
            <a:avLst>
              <a:gd name="adj" fmla="val 23810"/>
            </a:avLst>
          </a:prstGeom>
          <a:solidFill>
            <a:srgbClr val="8A245E"/>
          </a:solidFill>
          <a:ln w="12700">
            <a:solidFill>
              <a:srgbClr val="8A245E"/>
            </a:solidFill>
            <a:prstDash val="solid"/>
          </a:ln>
        </p:spPr>
      </p:sp>
      <p:sp>
        <p:nvSpPr>
          <p:cNvPr id="62" name="Shape 55"/>
          <p:cNvSpPr/>
          <p:nvPr/>
        </p:nvSpPr>
        <p:spPr>
          <a:xfrm>
            <a:off x="877824" y="3566160"/>
            <a:ext cx="11494008" cy="320040"/>
          </a:xfrm>
          <a:prstGeom prst="rect">
            <a:avLst/>
          </a:prstGeom>
          <a:solidFill>
            <a:srgbClr val="F7F3F6"/>
          </a:solidFill>
          <a:ln w="12700">
            <a:solidFill>
              <a:srgbClr val="F7F3F6"/>
            </a:solidFill>
            <a:prstDash val="solid"/>
          </a:ln>
        </p:spPr>
      </p:sp>
      <p:sp>
        <p:nvSpPr>
          <p:cNvPr id="63" name="Text 56"/>
          <p:cNvSpPr txBox="1"/>
          <p:nvPr/>
        </p:nvSpPr>
        <p:spPr>
          <a:xfrm>
            <a:off x="923544" y="3584448"/>
            <a:ext cx="3337560" cy="283464"/>
          </a:xfrm>
          <a:prstGeom prst="rect">
            <a:avLst/>
          </a:prstGeom>
          <a:noFill/>
          <a:ln/>
        </p:spPr>
        <p:txBody>
          <a:bodyPr wrap="square" lIns="0" tIns="0" rIns="0" bIns="0" rtlCol="0" anchor="ctr"/>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Batch window + 30% prepayment</a:t>
            </a:r>
            <a:endParaRPr lang="en-US" sz="1100" dirty="0"/>
          </a:p>
        </p:txBody>
      </p:sp>
      <p:sp>
        <p:nvSpPr>
          <p:cNvPr id="64" name="Text 57"/>
          <p:cNvSpPr txBox="1"/>
          <p:nvPr/>
        </p:nvSpPr>
        <p:spPr>
          <a:xfrm>
            <a:off x="4306824" y="3584448"/>
            <a:ext cx="1325880" cy="283464"/>
          </a:xfrm>
          <a:prstGeom prst="rect">
            <a:avLst/>
          </a:prstGeom>
          <a:noFill/>
          <a:ln/>
        </p:spPr>
        <p:txBody>
          <a:bodyPr wrap="square" lIns="0" tIns="0" rIns="0" bIns="0" rtlCol="0" anchor="ctr"/>
          <a:lstStyle/>
          <a:p>
            <a:pPr algn="l" indent="0" marL="0">
              <a:lnSpc>
                <a:spcPct val="100000"/>
              </a:lnSpc>
              <a:buNone/>
            </a:pPr>
            <a:r>
              <a:rPr lang="en-US" sz="1050" dirty="0">
                <a:solidFill>
                  <a:srgbClr val="7A6470"/>
                </a:solidFill>
                <a:latin typeface="Calibri" pitchFamily="34" charset="0"/>
                <a:ea typeface="Calibri" pitchFamily="34" charset="-122"/>
                <a:cs typeface="Calibri" pitchFamily="34" charset="-120"/>
              </a:rPr>
              <a:t>Product, Finance</a:t>
            </a:r>
            <a:endParaRPr lang="en-US" sz="1050" dirty="0"/>
          </a:p>
        </p:txBody>
      </p:sp>
      <p:sp>
        <p:nvSpPr>
          <p:cNvPr id="65" name="Shape 58"/>
          <p:cNvSpPr/>
          <p:nvPr/>
        </p:nvSpPr>
        <p:spPr>
          <a:xfrm>
            <a:off x="9075420" y="3630168"/>
            <a:ext cx="1538478" cy="192024"/>
          </a:xfrm>
          <a:prstGeom prst="roundRect">
            <a:avLst>
              <a:gd name="adj" fmla="val 23810"/>
            </a:avLst>
          </a:prstGeom>
          <a:solidFill>
            <a:srgbClr val="FF9D00"/>
          </a:solidFill>
          <a:ln w="12700">
            <a:solidFill>
              <a:srgbClr val="FF9D00"/>
            </a:solidFill>
            <a:prstDash val="solid"/>
          </a:ln>
        </p:spPr>
      </p:sp>
      <p:sp>
        <p:nvSpPr>
          <p:cNvPr id="66" name="Text 59"/>
          <p:cNvSpPr txBox="1"/>
          <p:nvPr/>
        </p:nvSpPr>
        <p:spPr>
          <a:xfrm>
            <a:off x="923544" y="3922776"/>
            <a:ext cx="3337560" cy="283464"/>
          </a:xfrm>
          <a:prstGeom prst="rect">
            <a:avLst/>
          </a:prstGeom>
          <a:noFill/>
          <a:ln/>
        </p:spPr>
        <p:txBody>
          <a:bodyPr wrap="square" lIns="0" tIns="0" rIns="0" bIns="0" rtlCol="0" anchor="ctr"/>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Factory Node, Tiruppur (partner)</a:t>
            </a:r>
            <a:endParaRPr lang="en-US" sz="1100" dirty="0"/>
          </a:p>
        </p:txBody>
      </p:sp>
      <p:sp>
        <p:nvSpPr>
          <p:cNvPr id="67" name="Text 60"/>
          <p:cNvSpPr txBox="1"/>
          <p:nvPr/>
        </p:nvSpPr>
        <p:spPr>
          <a:xfrm>
            <a:off x="4306824" y="3922776"/>
            <a:ext cx="1325880" cy="283464"/>
          </a:xfrm>
          <a:prstGeom prst="rect">
            <a:avLst/>
          </a:prstGeom>
          <a:noFill/>
          <a:ln/>
        </p:spPr>
        <p:txBody>
          <a:bodyPr wrap="square" lIns="0" tIns="0" rIns="0" bIns="0" rtlCol="0" anchor="ctr"/>
          <a:lstStyle/>
          <a:p>
            <a:pPr algn="l" indent="0" marL="0">
              <a:lnSpc>
                <a:spcPct val="100000"/>
              </a:lnSpc>
              <a:buNone/>
            </a:pPr>
            <a:r>
              <a:rPr lang="en-US" sz="1050" dirty="0">
                <a:solidFill>
                  <a:srgbClr val="7A6470"/>
                </a:solidFill>
                <a:latin typeface="Calibri" pitchFamily="34" charset="0"/>
                <a:ea typeface="Calibri" pitchFamily="34" charset="-122"/>
                <a:cs typeface="Calibri" pitchFamily="34" charset="-120"/>
              </a:rPr>
              <a:t>Valmo</a:t>
            </a:r>
            <a:endParaRPr lang="en-US" sz="1050" dirty="0"/>
          </a:p>
        </p:txBody>
      </p:sp>
      <p:sp>
        <p:nvSpPr>
          <p:cNvPr id="68" name="Shape 61"/>
          <p:cNvSpPr/>
          <p:nvPr/>
        </p:nvSpPr>
        <p:spPr>
          <a:xfrm>
            <a:off x="9075420" y="3968496"/>
            <a:ext cx="1538478" cy="192024"/>
          </a:xfrm>
          <a:prstGeom prst="roundRect">
            <a:avLst>
              <a:gd name="adj" fmla="val 23810"/>
            </a:avLst>
          </a:prstGeom>
          <a:solidFill>
            <a:srgbClr val="FF9D00"/>
          </a:solidFill>
          <a:ln w="12700">
            <a:solidFill>
              <a:srgbClr val="FF9D00"/>
            </a:solidFill>
            <a:prstDash val="solid"/>
          </a:ln>
        </p:spPr>
      </p:sp>
      <p:sp>
        <p:nvSpPr>
          <p:cNvPr id="69" name="Shape 62"/>
          <p:cNvSpPr/>
          <p:nvPr/>
        </p:nvSpPr>
        <p:spPr>
          <a:xfrm>
            <a:off x="877824" y="4242816"/>
            <a:ext cx="11494008" cy="320040"/>
          </a:xfrm>
          <a:prstGeom prst="rect">
            <a:avLst/>
          </a:prstGeom>
          <a:solidFill>
            <a:srgbClr val="F7F3F6"/>
          </a:solidFill>
          <a:ln w="12700">
            <a:solidFill>
              <a:srgbClr val="F7F3F6"/>
            </a:solidFill>
            <a:prstDash val="solid"/>
          </a:ln>
        </p:spPr>
      </p:sp>
      <p:sp>
        <p:nvSpPr>
          <p:cNvPr id="70" name="Text 63"/>
          <p:cNvSpPr txBox="1"/>
          <p:nvPr/>
        </p:nvSpPr>
        <p:spPr>
          <a:xfrm>
            <a:off x="923544" y="4261104"/>
            <a:ext cx="3337560" cy="283464"/>
          </a:xfrm>
          <a:prstGeom prst="rect">
            <a:avLst/>
          </a:prstGeom>
          <a:noFill/>
          <a:ln/>
        </p:spPr>
        <p:txBody>
          <a:bodyPr wrap="square" lIns="0" tIns="0" rIns="0" bIns="0" rtlCol="0" anchor="ctr"/>
          <a:lstStyle/>
          <a:p>
            <a:pPr algn="l" indent="0" marL="0">
              <a:lnSpc>
                <a:spcPct val="100000"/>
              </a:lnSpc>
              <a:buNone/>
            </a:pPr>
            <a:r>
              <a:rPr lang="en-US" sz="1100" dirty="0">
                <a:solidFill>
                  <a:srgbClr val="2B1226"/>
                </a:solidFill>
                <a:latin typeface="Calibri" pitchFamily="34" charset="0"/>
                <a:ea typeface="Calibri" pitchFamily="34" charset="-122"/>
                <a:cs typeface="Calibri" pitchFamily="34" charset="-120"/>
              </a:rPr>
              <a:t>Wave 2: 5 clusters, 6 nodes, 450 sellers</a:t>
            </a:r>
            <a:endParaRPr lang="en-US" sz="1100" dirty="0"/>
          </a:p>
        </p:txBody>
      </p:sp>
      <p:sp>
        <p:nvSpPr>
          <p:cNvPr id="71" name="Text 64"/>
          <p:cNvSpPr txBox="1"/>
          <p:nvPr/>
        </p:nvSpPr>
        <p:spPr>
          <a:xfrm>
            <a:off x="4306824" y="4261104"/>
            <a:ext cx="1325880" cy="283464"/>
          </a:xfrm>
          <a:prstGeom prst="rect">
            <a:avLst/>
          </a:prstGeom>
          <a:noFill/>
          <a:ln/>
        </p:spPr>
        <p:txBody>
          <a:bodyPr wrap="square" lIns="0" tIns="0" rIns="0" bIns="0" rtlCol="0" anchor="ctr"/>
          <a:lstStyle/>
          <a:p>
            <a:pPr algn="l" indent="0" marL="0">
              <a:lnSpc>
                <a:spcPct val="100000"/>
              </a:lnSpc>
              <a:buNone/>
            </a:pPr>
            <a:r>
              <a:rPr lang="en-US" sz="1050" dirty="0">
                <a:solidFill>
                  <a:srgbClr val="7A6470"/>
                </a:solidFill>
                <a:latin typeface="Calibri" pitchFamily="34" charset="0"/>
                <a:ea typeface="Calibri" pitchFamily="34" charset="-122"/>
                <a:cs typeface="Calibri" pitchFamily="34" charset="-120"/>
              </a:rPr>
              <a:t>Category, Valmo</a:t>
            </a:r>
            <a:endParaRPr lang="en-US" sz="1050" dirty="0"/>
          </a:p>
        </p:txBody>
      </p:sp>
      <p:sp>
        <p:nvSpPr>
          <p:cNvPr id="72" name="Shape 65"/>
          <p:cNvSpPr/>
          <p:nvPr/>
        </p:nvSpPr>
        <p:spPr>
          <a:xfrm>
            <a:off x="10760202" y="4306824"/>
            <a:ext cx="1538478" cy="192024"/>
          </a:xfrm>
          <a:prstGeom prst="roundRect">
            <a:avLst>
              <a:gd name="adj" fmla="val 23810"/>
            </a:avLst>
          </a:prstGeom>
          <a:solidFill>
            <a:srgbClr val="FF9D00"/>
          </a:solidFill>
          <a:ln w="12700">
            <a:solidFill>
              <a:srgbClr val="FF9D00"/>
            </a:solidFill>
            <a:prstDash val="solid"/>
          </a:ln>
        </p:spPr>
      </p:sp>
      <p:sp>
        <p:nvSpPr>
          <p:cNvPr id="73" name="Shape 66"/>
          <p:cNvSpPr/>
          <p:nvPr/>
        </p:nvSpPr>
        <p:spPr>
          <a:xfrm>
            <a:off x="7317486" y="2176272"/>
            <a:ext cx="914" cy="2395728"/>
          </a:xfrm>
          <a:prstGeom prst="line">
            <a:avLst/>
          </a:prstGeom>
          <a:noFill/>
          <a:ln w="15875">
            <a:solidFill>
              <a:srgbClr val="C0392B"/>
            </a:solidFill>
            <a:prstDash val="solid"/>
          </a:ln>
        </p:spPr>
      </p:sp>
      <p:sp>
        <p:nvSpPr>
          <p:cNvPr id="74" name="Shape 67"/>
          <p:cNvSpPr/>
          <p:nvPr/>
        </p:nvSpPr>
        <p:spPr>
          <a:xfrm>
            <a:off x="7207758" y="4498848"/>
            <a:ext cx="219456" cy="219456"/>
          </a:xfrm>
          <a:prstGeom prst="diamond">
            <a:avLst/>
          </a:prstGeom>
          <a:solidFill>
            <a:srgbClr val="C0392B"/>
          </a:solidFill>
          <a:ln w="12700">
            <a:solidFill>
              <a:srgbClr val="FFFFFF"/>
            </a:solidFill>
            <a:prstDash val="solid"/>
          </a:ln>
        </p:spPr>
      </p:sp>
      <p:sp>
        <p:nvSpPr>
          <p:cNvPr id="75" name="Text 68"/>
          <p:cNvSpPr txBox="1"/>
          <p:nvPr/>
        </p:nvSpPr>
        <p:spPr>
          <a:xfrm>
            <a:off x="6494526" y="4736592"/>
            <a:ext cx="1645920" cy="237744"/>
          </a:xfrm>
          <a:prstGeom prst="rect">
            <a:avLst/>
          </a:prstGeom>
          <a:noFill/>
          <a:ln/>
        </p:spPr>
        <p:txBody>
          <a:bodyPr wrap="square" lIns="0" tIns="0" rIns="0" bIns="0" rtlCol="0" anchor="t"/>
          <a:lstStyle/>
          <a:p>
            <a:pPr algn="ctr" indent="0" marL="0">
              <a:lnSpc>
                <a:spcPct val="100000"/>
              </a:lnSpc>
              <a:buNone/>
            </a:pPr>
            <a:r>
              <a:rPr lang="en-US" sz="1050" b="1" dirty="0">
                <a:solidFill>
                  <a:srgbClr val="C0392B"/>
                </a:solidFill>
                <a:latin typeface="Arial" pitchFamily="34" charset="0"/>
                <a:ea typeface="Arial" pitchFamily="34" charset="-122"/>
                <a:cs typeface="Arial" pitchFamily="34" charset="-120"/>
              </a:rPr>
              <a:t>Day-30 gate</a:t>
            </a:r>
            <a:endParaRPr lang="en-US" sz="1050" dirty="0"/>
          </a:p>
        </p:txBody>
      </p:sp>
      <p:sp>
        <p:nvSpPr>
          <p:cNvPr id="76" name="Shape 69"/>
          <p:cNvSpPr/>
          <p:nvPr/>
        </p:nvSpPr>
        <p:spPr>
          <a:xfrm>
            <a:off x="9002268" y="2176272"/>
            <a:ext cx="914" cy="2395728"/>
          </a:xfrm>
          <a:prstGeom prst="line">
            <a:avLst/>
          </a:prstGeom>
          <a:noFill/>
          <a:ln w="15875">
            <a:solidFill>
              <a:srgbClr val="C0392B"/>
            </a:solidFill>
            <a:prstDash val="solid"/>
          </a:ln>
        </p:spPr>
      </p:sp>
      <p:sp>
        <p:nvSpPr>
          <p:cNvPr id="77" name="Shape 70"/>
          <p:cNvSpPr/>
          <p:nvPr/>
        </p:nvSpPr>
        <p:spPr>
          <a:xfrm>
            <a:off x="8892540" y="4498848"/>
            <a:ext cx="219456" cy="219456"/>
          </a:xfrm>
          <a:prstGeom prst="diamond">
            <a:avLst/>
          </a:prstGeom>
          <a:solidFill>
            <a:srgbClr val="C0392B"/>
          </a:solidFill>
          <a:ln w="12700">
            <a:solidFill>
              <a:srgbClr val="FFFFFF"/>
            </a:solidFill>
            <a:prstDash val="solid"/>
          </a:ln>
        </p:spPr>
      </p:sp>
      <p:sp>
        <p:nvSpPr>
          <p:cNvPr id="78" name="Text 71"/>
          <p:cNvSpPr txBox="1"/>
          <p:nvPr/>
        </p:nvSpPr>
        <p:spPr>
          <a:xfrm>
            <a:off x="8179308" y="4736592"/>
            <a:ext cx="1645920" cy="237744"/>
          </a:xfrm>
          <a:prstGeom prst="rect">
            <a:avLst/>
          </a:prstGeom>
          <a:noFill/>
          <a:ln/>
        </p:spPr>
        <p:txBody>
          <a:bodyPr wrap="square" lIns="0" tIns="0" rIns="0" bIns="0" rtlCol="0" anchor="t"/>
          <a:lstStyle/>
          <a:p>
            <a:pPr algn="ctr" indent="0" marL="0">
              <a:lnSpc>
                <a:spcPct val="100000"/>
              </a:lnSpc>
              <a:buNone/>
            </a:pPr>
            <a:r>
              <a:rPr lang="en-US" sz="1050" b="1" dirty="0">
                <a:solidFill>
                  <a:srgbClr val="C0392B"/>
                </a:solidFill>
                <a:latin typeface="Arial" pitchFamily="34" charset="0"/>
                <a:ea typeface="Arial" pitchFamily="34" charset="-122"/>
                <a:cs typeface="Arial" pitchFamily="34" charset="-120"/>
              </a:rPr>
              <a:t>Day-60 gate</a:t>
            </a:r>
            <a:endParaRPr lang="en-US" sz="1050" dirty="0"/>
          </a:p>
        </p:txBody>
      </p:sp>
      <p:sp>
        <p:nvSpPr>
          <p:cNvPr id="79" name="Shape 72"/>
          <p:cNvSpPr/>
          <p:nvPr/>
        </p:nvSpPr>
        <p:spPr>
          <a:xfrm>
            <a:off x="10687050" y="2176272"/>
            <a:ext cx="914" cy="2395728"/>
          </a:xfrm>
          <a:prstGeom prst="line">
            <a:avLst/>
          </a:prstGeom>
          <a:noFill/>
          <a:ln w="15875">
            <a:solidFill>
              <a:srgbClr val="C0392B"/>
            </a:solidFill>
            <a:prstDash val="solid"/>
          </a:ln>
        </p:spPr>
      </p:sp>
      <p:sp>
        <p:nvSpPr>
          <p:cNvPr id="80" name="Shape 73"/>
          <p:cNvSpPr/>
          <p:nvPr/>
        </p:nvSpPr>
        <p:spPr>
          <a:xfrm>
            <a:off x="10577322" y="4498848"/>
            <a:ext cx="219456" cy="219456"/>
          </a:xfrm>
          <a:prstGeom prst="diamond">
            <a:avLst/>
          </a:prstGeom>
          <a:solidFill>
            <a:srgbClr val="C0392B"/>
          </a:solidFill>
          <a:ln w="12700">
            <a:solidFill>
              <a:srgbClr val="FFFFFF"/>
            </a:solidFill>
            <a:prstDash val="solid"/>
          </a:ln>
        </p:spPr>
      </p:sp>
      <p:sp>
        <p:nvSpPr>
          <p:cNvPr id="81" name="Text 74"/>
          <p:cNvSpPr txBox="1"/>
          <p:nvPr/>
        </p:nvSpPr>
        <p:spPr>
          <a:xfrm>
            <a:off x="9864090" y="4736592"/>
            <a:ext cx="1645920" cy="237744"/>
          </a:xfrm>
          <a:prstGeom prst="rect">
            <a:avLst/>
          </a:prstGeom>
          <a:noFill/>
          <a:ln/>
        </p:spPr>
        <p:txBody>
          <a:bodyPr wrap="square" lIns="0" tIns="0" rIns="0" bIns="0" rtlCol="0" anchor="t"/>
          <a:lstStyle/>
          <a:p>
            <a:pPr algn="ctr" indent="0" marL="0">
              <a:lnSpc>
                <a:spcPct val="100000"/>
              </a:lnSpc>
              <a:buNone/>
            </a:pPr>
            <a:r>
              <a:rPr lang="en-US" sz="1050" b="1" dirty="0">
                <a:solidFill>
                  <a:srgbClr val="C0392B"/>
                </a:solidFill>
                <a:latin typeface="Arial" pitchFamily="34" charset="0"/>
                <a:ea typeface="Arial" pitchFamily="34" charset="-122"/>
                <a:cs typeface="Arial" pitchFamily="34" charset="-120"/>
              </a:rPr>
              <a:t>Day-90 gate</a:t>
            </a:r>
            <a:endParaRPr lang="en-US" sz="1050" dirty="0"/>
          </a:p>
        </p:txBody>
      </p:sp>
      <p:sp>
        <p:nvSpPr>
          <p:cNvPr id="82" name="Shape 75"/>
          <p:cNvSpPr/>
          <p:nvPr/>
        </p:nvSpPr>
        <p:spPr>
          <a:xfrm>
            <a:off x="12627864" y="1426464"/>
            <a:ext cx="5431536" cy="3657600"/>
          </a:xfrm>
          <a:prstGeom prst="rect">
            <a:avLst/>
          </a:prstGeom>
          <a:solidFill>
            <a:srgbClr val="FFFFFF"/>
          </a:solidFill>
          <a:ln w="9525">
            <a:solidFill>
              <a:srgbClr val="E0CEDA"/>
            </a:solidFill>
            <a:prstDash val="solid"/>
          </a:ln>
        </p:spPr>
      </p:sp>
      <p:sp>
        <p:nvSpPr>
          <p:cNvPr id="83" name="Shape 76"/>
          <p:cNvSpPr/>
          <p:nvPr/>
        </p:nvSpPr>
        <p:spPr>
          <a:xfrm>
            <a:off x="12627864" y="1426464"/>
            <a:ext cx="5431536" cy="329184"/>
          </a:xfrm>
          <a:prstGeom prst="rect">
            <a:avLst/>
          </a:prstGeom>
          <a:solidFill>
            <a:srgbClr val="560547"/>
          </a:solidFill>
          <a:ln w="12700">
            <a:solidFill>
              <a:srgbClr val="560547"/>
            </a:solidFill>
            <a:prstDash val="solid"/>
          </a:ln>
        </p:spPr>
      </p:sp>
      <p:pic>
        <p:nvPicPr>
          <p:cNvPr id="84" name="Image 4" descr="/private/tmp/claude-501/-Users-prathmeshwalimbe-Downloads-Meesho/dfec39d5-f971-4a3a-8cfb-761f4ef1fedb/scratchpad/deck/assets/icons/FaMapLocationDot_w.png">    </p:cNvPr>
          <p:cNvPicPr>
            <a:picLocks noChangeAspect="1"/>
          </p:cNvPicPr>
          <p:nvPr/>
        </p:nvPicPr>
        <p:blipFill>
          <a:blip r:embed="rId5"/>
          <a:stretch>
            <a:fillRect/>
          </a:stretch>
        </p:blipFill>
        <p:spPr>
          <a:xfrm>
            <a:off x="12737592" y="1490472"/>
            <a:ext cx="201168" cy="201168"/>
          </a:xfrm>
          <a:prstGeom prst="rect">
            <a:avLst/>
          </a:prstGeom>
        </p:spPr>
      </p:pic>
      <p:sp>
        <p:nvSpPr>
          <p:cNvPr id="85" name="Text 77"/>
          <p:cNvSpPr txBox="1"/>
          <p:nvPr/>
        </p:nvSpPr>
        <p:spPr>
          <a:xfrm>
            <a:off x="13011912" y="1426464"/>
            <a:ext cx="491947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WHERE, IN WHAT ORDER · CLUSTER WAVES</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2755880" y="1847088"/>
          <a:ext cx="5175504" cy="914400"/>
        </p:xfrm>
        <a:graphic>
          <a:graphicData uri="http://schemas.openxmlformats.org/drawingml/2006/table">
            <a:tbl>
              <a:tblPr/>
              <a:tblGrid>
                <a:gridCol w="1188720"/>
                <a:gridCol w="658368"/>
                <a:gridCol w="2688336"/>
                <a:gridCol w="640080"/>
              </a:tblGrid>
              <a:tr h="50292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Wave</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When</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Clusters and categories</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Sellers</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502920">
                <a:tc>
                  <a:txBody>
                    <a:bodyPr/>
                    <a:lstStyle/>
                    <a:p>
                      <a:pPr algn="l" indent="0" marL="0">
                        <a:buNone/>
                      </a:pPr>
                      <a:r>
                        <a:rPr lang="en-US" sz="1050" b="1" dirty="0">
                          <a:solidFill>
                            <a:srgbClr val="560547"/>
                          </a:solidFill>
                          <a:latin typeface="Calibri" pitchFamily="34" charset="0"/>
                          <a:ea typeface="Calibri" pitchFamily="34" charset="-122"/>
                          <a:cs typeface="Calibri" pitchFamily="34" charset="-120"/>
                        </a:rPr>
                        <a:t>Wave 1 · pilot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D0–90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Tiruppur (hosiery), Panipat (home textiles)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2B1226"/>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502920">
                <a:tc>
                  <a:txBody>
                    <a:bodyPr/>
                    <a:lstStyle/>
                    <a:p>
                      <a:pPr algn="l" indent="0" marL="0">
                        <a:buNone/>
                      </a:pPr>
                      <a:r>
                        <a:rPr lang="en-US" sz="1050" b="1" dirty="0">
                          <a:solidFill>
                            <a:srgbClr val="560547"/>
                          </a:solidFill>
                          <a:latin typeface="Calibri" pitchFamily="34" charset="0"/>
                          <a:ea typeface="Calibri" pitchFamily="34" charset="-122"/>
                          <a:cs typeface="Calibri" pitchFamily="34" charset="-120"/>
                        </a:rPr>
                        <a:t>Wave 2 · scale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Q2–Q4</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 Ludhiana (hosiery), Rajkot (plastics, jewellery), Erode (dress material)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2B1226"/>
                          </a:solidFill>
                          <a:latin typeface="Calibri" pitchFamily="34" charset="0"/>
                          <a:ea typeface="Calibri" pitchFamily="34" charset="-122"/>
                          <a:cs typeface="Calibri" pitchFamily="34" charset="-120"/>
                        </a:rPr>
                        <a:t>450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502920">
                <a:tc>
                  <a:txBody>
                    <a:bodyPr/>
                    <a:lstStyle/>
                    <a:p>
                      <a:pPr algn="l" indent="0" marL="0">
                        <a:buNone/>
                      </a:pPr>
                      <a:r>
                        <a:rPr lang="en-US" sz="1050" b="1" dirty="0">
                          <a:solidFill>
                            <a:srgbClr val="560547"/>
                          </a:solidFill>
                          <a:latin typeface="Calibri" pitchFamily="34" charset="0"/>
                          <a:ea typeface="Calibri" pitchFamily="34" charset="-122"/>
                          <a:cs typeface="Calibri" pitchFamily="34" charset="-120"/>
                        </a:rPr>
                        <a:t>Wave 3 · national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Y2–Y4</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+ 7 more screened clusters, all 9 categories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2B1226"/>
                          </a:solidFill>
                          <a:latin typeface="Calibri" pitchFamily="34" charset="0"/>
                          <a:ea typeface="Calibri" pitchFamily="34" charset="-122"/>
                          <a:cs typeface="Calibri" pitchFamily="34" charset="-120"/>
                        </a:rPr>
                        <a:t>1,400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87" name="Text 78"/>
          <p:cNvSpPr txBox="1"/>
          <p:nvPr/>
        </p:nvSpPr>
        <p:spPr>
          <a:xfrm>
            <a:off x="12755880" y="3950208"/>
            <a:ext cx="5175504" cy="1005840"/>
          </a:xfrm>
          <a:prstGeom prst="rect">
            <a:avLst/>
          </a:prstGeom>
          <a:noFill/>
          <a:ln/>
        </p:spPr>
        <p:txBody>
          <a:bodyPr wrap="square" lIns="0" tIns="0" rIns="0" bIns="0" rtlCol="0" anchor="t"/>
          <a:lstStyle/>
          <a:p>
            <a:pPr algn="l" indent="0" marL="0">
              <a:lnSpc>
                <a:spcPct val="100000"/>
              </a:lnSpc>
              <a:buNone/>
            </a:pPr>
            <a:r>
              <a:rPr lang="en-US" sz="1050" b="1" dirty="0">
                <a:solidFill>
                  <a:srgbClr val="560547"/>
                </a:solidFill>
                <a:latin typeface="Calibri" pitchFamily="34" charset="0"/>
                <a:ea typeface="Calibri" pitchFamily="34" charset="-122"/>
                <a:cs typeface="Calibri" pitchFamily="34" charset="-120"/>
              </a:rPr>
              <a:t>Order follows the cluster AHP </a:t>
            </a:r>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(cost ownership, demand, returns band, node feasibility, an association to recruit through). Surat stays out.</a:t>
            </a:r>
            <a:endParaRPr lang="en-US" sz="1050" dirty="0"/>
          </a:p>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 </a:t>
            </a:r>
            <a:endParaRPr lang="en-US" sz="1050" dirty="0"/>
          </a:p>
          <a:p>
            <a:pPr algn="l" indent="0" marL="0">
              <a:lnSpc>
                <a:spcPct val="100000"/>
              </a:lnSpc>
              <a:buNone/>
            </a:pPr>
            <a:r>
              <a:rPr lang="en-US" sz="1050" b="1" dirty="0">
                <a:solidFill>
                  <a:srgbClr val="2B1226"/>
                </a:solidFill>
                <a:latin typeface="Calibri" pitchFamily="34" charset="0"/>
                <a:ea typeface="Calibri" pitchFamily="34" charset="-122"/>
                <a:cs typeface="Calibri" pitchFamily="34" charset="-120"/>
              </a:rPr>
              <a:t>Each wave opens only when the previous wave’s Day-90 numbers hold.</a:t>
            </a:r>
            <a:endParaRPr lang="en-US" sz="1050" dirty="0"/>
          </a:p>
        </p:txBody>
      </p:sp>
      <p:sp>
        <p:nvSpPr>
          <p:cNvPr id="88" name="Shape 79"/>
          <p:cNvSpPr/>
          <p:nvPr/>
        </p:nvSpPr>
        <p:spPr>
          <a:xfrm>
            <a:off x="749808" y="5212080"/>
            <a:ext cx="6675120" cy="3803904"/>
          </a:xfrm>
          <a:prstGeom prst="rect">
            <a:avLst/>
          </a:prstGeom>
          <a:solidFill>
            <a:srgbClr val="FFFFFF"/>
          </a:solidFill>
          <a:ln w="9525">
            <a:solidFill>
              <a:srgbClr val="E0CEDA"/>
            </a:solidFill>
            <a:prstDash val="solid"/>
          </a:ln>
        </p:spPr>
      </p:sp>
      <p:sp>
        <p:nvSpPr>
          <p:cNvPr id="89" name="Shape 80"/>
          <p:cNvSpPr/>
          <p:nvPr/>
        </p:nvSpPr>
        <p:spPr>
          <a:xfrm>
            <a:off x="749808" y="5212080"/>
            <a:ext cx="6675120" cy="329184"/>
          </a:xfrm>
          <a:prstGeom prst="rect">
            <a:avLst/>
          </a:prstGeom>
          <a:solidFill>
            <a:srgbClr val="560547"/>
          </a:solidFill>
          <a:ln w="12700">
            <a:solidFill>
              <a:srgbClr val="560547"/>
            </a:solidFill>
            <a:prstDash val="solid"/>
          </a:ln>
        </p:spPr>
      </p:sp>
      <p:pic>
        <p:nvPicPr>
          <p:cNvPr id="90" name="Image 5" descr="/private/tmp/claude-501/-Users-prathmeshwalimbe-Downloads-Meesho/dfec39d5-f971-4a3a-8cfb-761f4ef1fedb/scratchpad/deck/assets/icons/FaShieldHalved_w.png">    </p:cNvPr>
          <p:cNvPicPr>
            <a:picLocks noChangeAspect="1"/>
          </p:cNvPicPr>
          <p:nvPr/>
        </p:nvPicPr>
        <p:blipFill>
          <a:blip r:embed="rId6"/>
          <a:stretch>
            <a:fillRect/>
          </a:stretch>
        </p:blipFill>
        <p:spPr>
          <a:xfrm>
            <a:off x="859536" y="5276088"/>
            <a:ext cx="201168" cy="201168"/>
          </a:xfrm>
          <a:prstGeom prst="rect">
            <a:avLst/>
          </a:prstGeom>
        </p:spPr>
      </p:pic>
      <p:sp>
        <p:nvSpPr>
          <p:cNvPr id="91" name="Text 81"/>
          <p:cNvSpPr txBox="1"/>
          <p:nvPr/>
        </p:nvSpPr>
        <p:spPr>
          <a:xfrm>
            <a:off x="1133856" y="5212080"/>
            <a:ext cx="616305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WHAT RELEASES THE MONEY · GATES</a:t>
            </a:r>
            <a:endParaRPr lang="en-US" sz="12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877824" y="5632704"/>
          <a:ext cx="6419088" cy="914400"/>
        </p:xfrm>
        <a:graphic>
          <a:graphicData uri="http://schemas.openxmlformats.org/drawingml/2006/table">
            <a:tbl>
              <a:tblPr/>
              <a:tblGrid>
                <a:gridCol w="731520"/>
                <a:gridCol w="3657600"/>
                <a:gridCol w="2029968"/>
              </a:tblGrid>
              <a:tr h="512064">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Gate</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Pass when</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If not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512064">
                <a:tc>
                  <a:txBody>
                    <a:bodyPr/>
                    <a:lstStyle/>
                    <a:p>
                      <a:pPr algn="l" indent="0" marL="0">
                        <a:buNone/>
                      </a:pPr>
                      <a:r>
                        <a:rPr lang="en-US" sz="1050" b="1" dirty="0">
                          <a:solidFill>
                            <a:srgbClr val="560547"/>
                          </a:solidFill>
                          <a:latin typeface="Calibri" pitchFamily="34" charset="0"/>
                          <a:ea typeface="Calibri" pitchFamily="34" charset="-122"/>
                          <a:cs typeface="Calibri" pitchFamily="34" charset="-120"/>
                        </a:rPr>
                        <a:t>Day 30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NMV per live SKU ≥ 12% over holdout (interval &gt; 0) and ≥ 70% of badged sellers still clear at D14</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Lift &lt; 12%: tighten to a 10% gap and re-run. Decay: stop</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512064">
                <a:tc>
                  <a:txBody>
                    <a:bodyPr/>
                    <a:lstStyle/>
                    <a:p>
                      <a:pPr algn="l" indent="0" marL="0">
                        <a:buNone/>
                      </a:pPr>
                      <a:r>
                        <a:rPr lang="en-US" sz="1050" b="1" dirty="0">
                          <a:solidFill>
                            <a:srgbClr val="560547"/>
                          </a:solidFill>
                          <a:latin typeface="Calibri" pitchFamily="34" charset="0"/>
                          <a:ea typeface="Calibri" pitchFamily="34" charset="-122"/>
                          <a:cs typeface="Calibri" pitchFamily="34" charset="-120"/>
                        </a:rPr>
                        <a:t>Day 60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2 associations signed · 60 factories catalogued · briefs live in 5 categories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Hold node spend</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512064">
                <a:tc>
                  <a:txBody>
                    <a:bodyPr/>
                    <a:lstStyle/>
                    <a:p>
                      <a:pPr algn="l" indent="0" marL="0">
                        <a:buNone/>
                      </a:pPr>
                      <a:r>
                        <a:rPr lang="en-US" sz="1050" b="1" dirty="0">
                          <a:solidFill>
                            <a:srgbClr val="560547"/>
                          </a:solidFill>
                          <a:latin typeface="Calibri" pitchFamily="34" charset="0"/>
                          <a:ea typeface="Calibri" pitchFamily="34" charset="-122"/>
                          <a:cs typeface="Calibri" pitchFamily="34" charset="-120"/>
                        </a:rPr>
                        <a:t>Day 90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3 of 4: batches in SLA · returns end at the node · retention ≥ 70% · category NMV ≥ baseline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Fix before Wave 2</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93" name="Shape 82"/>
          <p:cNvSpPr/>
          <p:nvPr/>
        </p:nvSpPr>
        <p:spPr>
          <a:xfrm>
            <a:off x="877824" y="7845552"/>
            <a:ext cx="6419088" cy="566928"/>
          </a:xfrm>
          <a:prstGeom prst="roundRect">
            <a:avLst>
              <a:gd name="adj" fmla="val 8065"/>
            </a:avLst>
          </a:prstGeom>
          <a:solidFill>
            <a:srgbClr val="FFF3D8"/>
          </a:solidFill>
          <a:ln w="12700">
            <a:solidFill>
              <a:srgbClr val="FFF3D8"/>
            </a:solidFill>
            <a:prstDash val="solid"/>
          </a:ln>
        </p:spPr>
      </p:sp>
      <p:sp>
        <p:nvSpPr>
          <p:cNvPr id="94" name="Text 83"/>
          <p:cNvSpPr txBox="1"/>
          <p:nvPr/>
        </p:nvSpPr>
        <p:spPr>
          <a:xfrm>
            <a:off x="969264" y="7845552"/>
            <a:ext cx="6236208" cy="566928"/>
          </a:xfrm>
          <a:prstGeom prst="rect">
            <a:avLst/>
          </a:prstGeom>
          <a:noFill/>
          <a:ln/>
        </p:spPr>
        <p:txBody>
          <a:bodyPr wrap="square" lIns="0" tIns="0" rIns="0" bIns="0" rtlCol="0" anchor="ctr"/>
          <a:lstStyle/>
          <a:p>
            <a:pPr algn="l" indent="0" marL="0">
              <a:lnSpc>
                <a:spcPct val="100000"/>
              </a:lnSpc>
              <a:buNone/>
            </a:pPr>
            <a:r>
              <a:rPr lang="en-US" sz="1050" b="1" dirty="0">
                <a:solidFill>
                  <a:srgbClr val="D68200"/>
                </a:solidFill>
                <a:latin typeface="Calibri" pitchFamily="34" charset="0"/>
                <a:ea typeface="Calibri" pitchFamily="34" charset="-122"/>
                <a:cs typeface="Calibri" pitchFamily="34" charset="-120"/>
              </a:rPr>
              <a:t>Statistical power: </a:t>
            </a:r>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62 sellers × 28 days → standard error ≈ 1.6 pts; minimum detectable lift ≈ 4.5% at 80% power, well under the 12% bar.</a:t>
            </a:r>
            <a:endParaRPr lang="en-US" sz="1050" dirty="0"/>
          </a:p>
        </p:txBody>
      </p:sp>
      <p:sp>
        <p:nvSpPr>
          <p:cNvPr id="95" name="Shape 84"/>
          <p:cNvSpPr/>
          <p:nvPr/>
        </p:nvSpPr>
        <p:spPr>
          <a:xfrm>
            <a:off x="877824" y="8467344"/>
            <a:ext cx="6419088" cy="475488"/>
          </a:xfrm>
          <a:prstGeom prst="roundRect">
            <a:avLst>
              <a:gd name="adj" fmla="val 9615"/>
            </a:avLst>
          </a:prstGeom>
          <a:solidFill>
            <a:srgbClr val="F2E4EE"/>
          </a:solidFill>
          <a:ln w="12700">
            <a:solidFill>
              <a:srgbClr val="F2E4EE"/>
            </a:solidFill>
            <a:prstDash val="solid"/>
          </a:ln>
        </p:spPr>
      </p:sp>
      <p:sp>
        <p:nvSpPr>
          <p:cNvPr id="96" name="Text 85"/>
          <p:cNvSpPr txBox="1"/>
          <p:nvPr/>
        </p:nvSpPr>
        <p:spPr>
          <a:xfrm>
            <a:off x="969264" y="8467344"/>
            <a:ext cx="6236208" cy="475488"/>
          </a:xfrm>
          <a:prstGeom prst="rect">
            <a:avLst/>
          </a:prstGeom>
          <a:noFill/>
          <a:ln/>
        </p:spPr>
        <p:txBody>
          <a:bodyPr wrap="square" lIns="0" tIns="0" rIns="0" bIns="0" rtlCol="0" anchor="ctr"/>
          <a:lstStyle/>
          <a:p>
            <a:pPr algn="l" indent="0" marL="0">
              <a:lnSpc>
                <a:spcPct val="100000"/>
              </a:lnSpc>
              <a:buNone/>
            </a:pPr>
            <a:r>
              <a:rPr lang="en-US" sz="1050" b="1" dirty="0">
                <a:solidFill>
                  <a:srgbClr val="560547"/>
                </a:solidFill>
                <a:latin typeface="Calibri" pitchFamily="34" charset="0"/>
                <a:ea typeface="Calibri" pitchFamily="34" charset="-122"/>
                <a:cs typeface="Calibri" pitchFamily="34" charset="-120"/>
              </a:rPr>
              <a:t>Prototype check: </a:t>
            </a:r>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base +18.2% → fund · weak +4.7% → tighten · decay 40% retained → stop.</a:t>
            </a:r>
            <a:endParaRPr lang="en-US" sz="1050" dirty="0"/>
          </a:p>
        </p:txBody>
      </p:sp>
      <p:sp>
        <p:nvSpPr>
          <p:cNvPr id="97" name="Shape 86"/>
          <p:cNvSpPr/>
          <p:nvPr/>
        </p:nvSpPr>
        <p:spPr>
          <a:xfrm>
            <a:off x="7552944" y="5212080"/>
            <a:ext cx="6629400" cy="3803904"/>
          </a:xfrm>
          <a:prstGeom prst="rect">
            <a:avLst/>
          </a:prstGeom>
          <a:solidFill>
            <a:srgbClr val="FFFFFF"/>
          </a:solidFill>
          <a:ln w="9525">
            <a:solidFill>
              <a:srgbClr val="E0CEDA"/>
            </a:solidFill>
            <a:prstDash val="solid"/>
          </a:ln>
        </p:spPr>
      </p:sp>
      <p:sp>
        <p:nvSpPr>
          <p:cNvPr id="98" name="Shape 87"/>
          <p:cNvSpPr/>
          <p:nvPr/>
        </p:nvSpPr>
        <p:spPr>
          <a:xfrm>
            <a:off x="7552944" y="5212080"/>
            <a:ext cx="6629400" cy="329184"/>
          </a:xfrm>
          <a:prstGeom prst="rect">
            <a:avLst/>
          </a:prstGeom>
          <a:solidFill>
            <a:srgbClr val="8A245E"/>
          </a:solidFill>
          <a:ln w="12700">
            <a:solidFill>
              <a:srgbClr val="8A245E"/>
            </a:solidFill>
            <a:prstDash val="solid"/>
          </a:ln>
        </p:spPr>
      </p:sp>
      <p:pic>
        <p:nvPicPr>
          <p:cNvPr id="99" name="Image 6" descr="/private/tmp/claude-501/-Users-prathmeshwalimbe-Downloads-Meesho/dfec39d5-f971-4a3a-8cfb-761f4ef1fedb/scratchpad/deck/assets/icons/FaMagnifyingGlassChart_w.png">    </p:cNvPr>
          <p:cNvPicPr>
            <a:picLocks noChangeAspect="1"/>
          </p:cNvPicPr>
          <p:nvPr/>
        </p:nvPicPr>
        <p:blipFill>
          <a:blip r:embed="rId7"/>
          <a:stretch>
            <a:fillRect/>
          </a:stretch>
        </p:blipFill>
        <p:spPr>
          <a:xfrm>
            <a:off x="7662672" y="5276088"/>
            <a:ext cx="201168" cy="201168"/>
          </a:xfrm>
          <a:prstGeom prst="rect">
            <a:avLst/>
          </a:prstGeom>
        </p:spPr>
      </p:pic>
      <p:sp>
        <p:nvSpPr>
          <p:cNvPr id="100" name="Text 88"/>
          <p:cNvSpPr txBox="1"/>
          <p:nvPr/>
        </p:nvSpPr>
        <p:spPr>
          <a:xfrm>
            <a:off x="7936992" y="5212080"/>
            <a:ext cx="611733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PRIORITISATION · RICE ACROSS ACQUISITION AND SCALE-UP</a:t>
            </a:r>
            <a:endParaRPr lang="en-US" sz="1250" dirty="0"/>
          </a:p>
        </p:txBody>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7680960" y="5632704"/>
          <a:ext cx="6373368" cy="914400"/>
        </p:xfrm>
        <a:graphic>
          <a:graphicData uri="http://schemas.openxmlformats.org/drawingml/2006/table">
            <a:tbl>
              <a:tblPr/>
              <a:tblGrid>
                <a:gridCol w="274320"/>
                <a:gridCol w="2011680"/>
                <a:gridCol w="502920"/>
                <a:gridCol w="502920"/>
                <a:gridCol w="274320"/>
                <a:gridCol w="457200"/>
                <a:gridCol w="274320"/>
                <a:gridCol w="566928"/>
                <a:gridCol w="1508760"/>
              </a:tblGrid>
              <a:tr h="27432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Lever</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Stage</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Score</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Yr-1</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274320">
                <a:tc>
                  <a:txBody>
                    <a:bodyPr/>
                    <a:lstStyle/>
                    <a:p>
                      <a:pPr algn="ctr" indent="0" marL="0">
                        <a:buNone/>
                      </a:pPr>
                      <a:r>
                        <a:rPr lang="en-US" sz="1000" dirty="0">
                          <a:solidFill>
                            <a:srgbClr val="2B1226"/>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2B1226"/>
                          </a:solidFill>
                          <a:latin typeface="Calibri" pitchFamily="34" charset="0"/>
                          <a:ea typeface="Calibri" pitchFamily="34" charset="-122"/>
                          <a:cs typeface="Calibri" pitchFamily="34" charset="-120"/>
                        </a:rPr>
                        <a:t>Price gate + C2M badge</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Acq</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E8E5A"/>
                          </a:solidFill>
                          <a:latin typeface="Calibri" pitchFamily="34" charset="0"/>
                          <a:ea typeface="Calibri" pitchFamily="34" charset="-122"/>
                          <a:cs typeface="Calibri" pitchFamily="34" charset="-120"/>
                        </a:rPr>
                        <a:t>0.900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ctr" indent="0" marL="0">
                        <a:buNone/>
                      </a:pPr>
                      <a:r>
                        <a:rPr lang="en-US" sz="1000" dirty="0">
                          <a:solidFill>
                            <a:srgbClr val="2B12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2B1226"/>
                          </a:solidFill>
                          <a:latin typeface="Calibri" pitchFamily="34" charset="0"/>
                          <a:ea typeface="Calibri" pitchFamily="34" charset="-122"/>
                          <a:cs typeface="Calibri" pitchFamily="34" charset="-120"/>
                        </a:rPr>
                        <a:t>Health Score + triggers</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Scale</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E8E5A"/>
                          </a:solidFill>
                          <a:latin typeface="Calibri" pitchFamily="34" charset="0"/>
                          <a:ea typeface="Calibri" pitchFamily="34" charset="-122"/>
                          <a:cs typeface="Calibri" pitchFamily="34" charset="-120"/>
                        </a:rPr>
                        <a:t>0.567</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ctr" indent="0" marL="0">
                        <a:buNone/>
                      </a:pPr>
                      <a:r>
                        <a:rPr lang="en-US" sz="1000" dirty="0">
                          <a:solidFill>
                            <a:srgbClr val="2B12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Cluster co-op onboarding</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Acq</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2B1226"/>
                          </a:solidFill>
                          <a:latin typeface="Calibri" pitchFamily="34" charset="0"/>
                          <a:ea typeface="Calibri" pitchFamily="34" charset="-122"/>
                          <a:cs typeface="Calibri" pitchFamily="34" charset="-120"/>
                        </a:rPr>
                        <a:t>0.510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₹5 cr</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ctr" indent="0" marL="0">
                        <a:buNone/>
                      </a:pPr>
                      <a:r>
                        <a:rPr lang="en-US" sz="1000" dirty="0">
                          <a:solidFill>
                            <a:srgbClr val="2B1226"/>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Pin-code Demand Brief</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Scale</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2B1226"/>
                          </a:solidFill>
                          <a:latin typeface="Calibri" pitchFamily="34" charset="0"/>
                          <a:ea typeface="Calibri" pitchFamily="34" charset="-122"/>
                          <a:cs typeface="Calibri" pitchFamily="34" charset="-120"/>
                        </a:rPr>
                        <a:t>0.375</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₹6 cr</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ctr" indent="0" marL="0">
                        <a:buNone/>
                      </a:pPr>
                      <a:r>
                        <a:rPr lang="en-US" sz="1000" dirty="0">
                          <a:solidFill>
                            <a:srgbClr val="2B1226"/>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Demand-confirmed batches</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Scale</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2B1226"/>
                          </a:solidFill>
                          <a:latin typeface="Calibri" pitchFamily="34" charset="0"/>
                          <a:ea typeface="Calibri" pitchFamily="34" charset="-122"/>
                          <a:cs typeface="Calibri" pitchFamily="34" charset="-120"/>
                        </a:rPr>
                        <a:t>0.357</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in brief</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ctr" indent="0" marL="0">
                        <a:buNone/>
                      </a:pPr>
                      <a:r>
                        <a:rPr lang="en-US" sz="1000" dirty="0">
                          <a:solidFill>
                            <a:srgbClr val="2B1226"/>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Factory Node (assisted ops)</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Acq</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2B1226"/>
                          </a:solidFill>
                          <a:latin typeface="Calibri" pitchFamily="34" charset="0"/>
                          <a:ea typeface="Calibri" pitchFamily="34" charset="-122"/>
                          <a:cs typeface="Calibri" pitchFamily="34" charset="-120"/>
                        </a:rPr>
                        <a:t>0.300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₹8 cr</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ctr" indent="0" marL="0">
                        <a:buNone/>
                      </a:pPr>
                      <a:r>
                        <a:rPr lang="en-US" sz="1000" dirty="0">
                          <a:solidFill>
                            <a:srgbClr val="2B1226"/>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Batch prepayment</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Scale</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2B1226"/>
                          </a:solidFill>
                          <a:latin typeface="Calibri" pitchFamily="34" charset="0"/>
                          <a:ea typeface="Calibri" pitchFamily="34" charset="-122"/>
                          <a:cs typeface="Calibri" pitchFamily="34" charset="-120"/>
                        </a:rPr>
                        <a:t>0.262</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float</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ctr" indent="0" marL="0">
                        <a:buNone/>
                      </a:pPr>
                      <a:r>
                        <a:rPr lang="en-US" sz="1000" dirty="0">
                          <a:solidFill>
                            <a:srgbClr val="2B1226"/>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Returns firewall pool</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Acq</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65%</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2B1226"/>
                          </a:solidFill>
                          <a:latin typeface="Calibri" pitchFamily="34" charset="0"/>
                          <a:ea typeface="Calibri" pitchFamily="34" charset="-122"/>
                          <a:cs typeface="Calibri" pitchFamily="34" charset="-120"/>
                        </a:rPr>
                        <a:t>0.227</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₹3 cr</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102" name="Text 89"/>
          <p:cNvSpPr txBox="1"/>
          <p:nvPr/>
        </p:nvSpPr>
        <p:spPr>
          <a:xfrm>
            <a:off x="7680960" y="8193024"/>
            <a:ext cx="6373368" cy="685800"/>
          </a:xfrm>
          <a:prstGeom prst="rect">
            <a:avLst/>
          </a:prstGeom>
          <a:noFill/>
          <a:ln/>
        </p:spPr>
        <p:txBody>
          <a:bodyPr wrap="square" lIns="0" tIns="0" rIns="0" bIns="0" rtlCol="0" anchor="t"/>
          <a:lstStyle/>
          <a:p>
            <a:pPr algn="l" indent="0" marL="0">
              <a:lnSpc>
                <a:spcPct val="100000"/>
              </a:lnSpc>
              <a:buNone/>
            </a:pPr>
            <a:r>
              <a:rPr lang="en-US" sz="1050" b="1" dirty="0">
                <a:solidFill>
                  <a:srgbClr val="560547"/>
                </a:solidFill>
                <a:latin typeface="Calibri" pitchFamily="34" charset="0"/>
                <a:ea typeface="Calibri" pitchFamily="34" charset="-122"/>
                <a:cs typeface="Calibri" pitchFamily="34" charset="-120"/>
              </a:rPr>
              <a:t>RICE = Reach × Impact × Confidence ÷ Effort</a:t>
            </a:r>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 (Round 1). Reach = share of the 11,645 base; Impact 1–3; Effort in engineering + ops weeks, 8 = physical infrastructure. Diagnostic and free first, capital last.</a:t>
            </a:r>
            <a:endParaRPr lang="en-US" sz="1050" dirty="0"/>
          </a:p>
        </p:txBody>
      </p:sp>
      <p:sp>
        <p:nvSpPr>
          <p:cNvPr id="103" name="Shape 90"/>
          <p:cNvSpPr/>
          <p:nvPr/>
        </p:nvSpPr>
        <p:spPr>
          <a:xfrm>
            <a:off x="14310360" y="5212080"/>
            <a:ext cx="3749040" cy="3803904"/>
          </a:xfrm>
          <a:prstGeom prst="rect">
            <a:avLst/>
          </a:prstGeom>
          <a:solidFill>
            <a:srgbClr val="FFFFFF"/>
          </a:solidFill>
          <a:ln w="9525">
            <a:solidFill>
              <a:srgbClr val="E0CEDA"/>
            </a:solidFill>
            <a:prstDash val="solid"/>
          </a:ln>
        </p:spPr>
      </p:sp>
      <p:sp>
        <p:nvSpPr>
          <p:cNvPr id="104" name="Shape 91"/>
          <p:cNvSpPr/>
          <p:nvPr/>
        </p:nvSpPr>
        <p:spPr>
          <a:xfrm>
            <a:off x="14310360" y="5212080"/>
            <a:ext cx="3749040" cy="329184"/>
          </a:xfrm>
          <a:prstGeom prst="rect">
            <a:avLst/>
          </a:prstGeom>
          <a:solidFill>
            <a:srgbClr val="560547"/>
          </a:solidFill>
          <a:ln w="12700">
            <a:solidFill>
              <a:srgbClr val="560547"/>
            </a:solidFill>
            <a:prstDash val="solid"/>
          </a:ln>
        </p:spPr>
      </p:sp>
      <p:pic>
        <p:nvPicPr>
          <p:cNvPr id="105" name="Image 7" descr="/private/tmp/claude-501/-Users-prathmeshwalimbe-Downloads-Meesho/dfec39d5-f971-4a3a-8cfb-761f4ef1fedb/scratchpad/deck/assets/icons/FaIndianRupeeSign_w.png">    </p:cNvPr>
          <p:cNvPicPr>
            <a:picLocks noChangeAspect="1"/>
          </p:cNvPicPr>
          <p:nvPr/>
        </p:nvPicPr>
        <p:blipFill>
          <a:blip r:embed="rId8"/>
          <a:stretch>
            <a:fillRect/>
          </a:stretch>
        </p:blipFill>
        <p:spPr>
          <a:xfrm>
            <a:off x="14420088" y="5276088"/>
            <a:ext cx="201168" cy="201168"/>
          </a:xfrm>
          <a:prstGeom prst="rect">
            <a:avLst/>
          </a:prstGeom>
        </p:spPr>
      </p:pic>
      <p:sp>
        <p:nvSpPr>
          <p:cNvPr id="106" name="Text 92"/>
          <p:cNvSpPr txBox="1"/>
          <p:nvPr/>
        </p:nvSpPr>
        <p:spPr>
          <a:xfrm>
            <a:off x="14694408" y="5212080"/>
            <a:ext cx="32369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MONEY · ₹ CR</a:t>
            </a:r>
            <a:endParaRPr lang="en-US" sz="1250" dirty="0"/>
          </a:p>
        </p:txBody>
      </p:sp>
      <p:graphicFrame>
        <p:nvGraphicFramePr>
          <p:cNvPr id="107" name="Chart 0" descr=""/>
          <p:cNvGraphicFramePr/>
          <p:nvPr/>
        </p:nvGraphicFramePr>
        <p:xfrm>
          <a:off x="14438376" y="5632704"/>
          <a:ext cx="3493008" cy="1508760"/>
        </p:xfrm>
        <a:graphic xmlns:a="http://schemas.openxmlformats.org/drawingml/2006/main">
          <a:graphicData uri="http://schemas.openxmlformats.org/drawingml/2006/chart">
            <c:chart xmlns:c="http://schemas.openxmlformats.org/drawingml/2006/chart" r:id="rId9"/>
          </a:graphicData>
        </a:graphic>
      </p:graphicFrame>
      <p:sp>
        <p:nvSpPr>
          <p:cNvPr id="108" name="Shape 93"/>
          <p:cNvSpPr/>
          <p:nvPr/>
        </p:nvSpPr>
        <p:spPr>
          <a:xfrm>
            <a:off x="14438376" y="7205472"/>
            <a:ext cx="1700784" cy="777240"/>
          </a:xfrm>
          <a:prstGeom prst="rect">
            <a:avLst/>
          </a:prstGeom>
          <a:solidFill>
            <a:srgbClr val="E2F2E9"/>
          </a:solidFill>
          <a:ln w="12700">
            <a:solidFill>
              <a:srgbClr val="E2F2E9"/>
            </a:solidFill>
            <a:prstDash val="solid"/>
          </a:ln>
        </p:spPr>
      </p:sp>
      <p:sp>
        <p:nvSpPr>
          <p:cNvPr id="109" name="Text 94"/>
          <p:cNvSpPr txBox="1"/>
          <p:nvPr/>
        </p:nvSpPr>
        <p:spPr>
          <a:xfrm>
            <a:off x="14548104" y="7260336"/>
            <a:ext cx="1481328" cy="404165"/>
          </a:xfrm>
          <a:prstGeom prst="rect">
            <a:avLst/>
          </a:prstGeom>
          <a:noFill/>
          <a:ln/>
        </p:spPr>
        <p:txBody>
          <a:bodyPr wrap="square" lIns="0" tIns="0" rIns="0" bIns="0" rtlCol="0" anchor="ctr"/>
          <a:lstStyle/>
          <a:p>
            <a:pPr algn="l" indent="0" marL="0">
              <a:lnSpc>
                <a:spcPct val="100000"/>
              </a:lnSpc>
              <a:buNone/>
            </a:pPr>
            <a:r>
              <a:rPr lang="en-US" sz="1600" b="1" dirty="0">
                <a:solidFill>
                  <a:srgbClr val="1E8E5A"/>
                </a:solidFill>
                <a:latin typeface="Arial" pitchFamily="34" charset="0"/>
                <a:ea typeface="Arial" pitchFamily="34" charset="-122"/>
                <a:cs typeface="Arial" pitchFamily="34" charset="-120"/>
              </a:rPr>
              <a:t>+₹156 cr</a:t>
            </a:r>
            <a:endParaRPr lang="en-US" sz="1600" dirty="0"/>
          </a:p>
        </p:txBody>
      </p:sp>
      <p:sp>
        <p:nvSpPr>
          <p:cNvPr id="110" name="Text 95"/>
          <p:cNvSpPr txBox="1"/>
          <p:nvPr/>
        </p:nvSpPr>
        <p:spPr>
          <a:xfrm>
            <a:off x="14548104" y="7632954"/>
            <a:ext cx="1481328" cy="326441"/>
          </a:xfrm>
          <a:prstGeom prst="rect">
            <a:avLst/>
          </a:prstGeom>
          <a:noFill/>
          <a:ln/>
        </p:spPr>
        <p:txBody>
          <a:bodyPr wrap="square" lIns="0" tIns="0" rIns="0" bIns="0" rtlCol="0" anchor="t"/>
          <a:lstStyle/>
          <a:p>
            <a:pPr algn="l" indent="0" marL="0">
              <a:lnSpc>
                <a:spcPct val="100000"/>
              </a:lnSpc>
              <a:buNone/>
            </a:pPr>
            <a:r>
              <a:rPr lang="en-US" sz="1000" dirty="0">
                <a:solidFill>
                  <a:srgbClr val="2B1226"/>
                </a:solidFill>
                <a:latin typeface="Calibri" pitchFamily="34" charset="0"/>
                <a:ea typeface="Calibri" pitchFamily="34" charset="-122"/>
                <a:cs typeface="Calibri" pitchFamily="34" charset="-120"/>
              </a:rPr>
              <a:t>NPV at 12% (Round 1)</a:t>
            </a:r>
            <a:endParaRPr lang="en-US" sz="1000" dirty="0"/>
          </a:p>
        </p:txBody>
      </p:sp>
      <p:sp>
        <p:nvSpPr>
          <p:cNvPr id="111" name="Shape 96"/>
          <p:cNvSpPr/>
          <p:nvPr/>
        </p:nvSpPr>
        <p:spPr>
          <a:xfrm>
            <a:off x="16230600" y="7205472"/>
            <a:ext cx="1700784" cy="777240"/>
          </a:xfrm>
          <a:prstGeom prst="rect">
            <a:avLst/>
          </a:prstGeom>
          <a:solidFill>
            <a:srgbClr val="F2E4EE"/>
          </a:solidFill>
          <a:ln w="12700">
            <a:solidFill>
              <a:srgbClr val="F2E4EE"/>
            </a:solidFill>
            <a:prstDash val="solid"/>
          </a:ln>
        </p:spPr>
      </p:sp>
      <p:sp>
        <p:nvSpPr>
          <p:cNvPr id="112" name="Text 97"/>
          <p:cNvSpPr txBox="1"/>
          <p:nvPr/>
        </p:nvSpPr>
        <p:spPr>
          <a:xfrm>
            <a:off x="16340328" y="7260336"/>
            <a:ext cx="1481328" cy="404165"/>
          </a:xfrm>
          <a:prstGeom prst="rect">
            <a:avLst/>
          </a:prstGeom>
          <a:noFill/>
          <a:ln/>
        </p:spPr>
        <p:txBody>
          <a:bodyPr wrap="square" lIns="0" tIns="0" rIns="0" bIns="0" rtlCol="0" anchor="ctr"/>
          <a:lstStyle/>
          <a:p>
            <a:pPr algn="l" indent="0" marL="0">
              <a:lnSpc>
                <a:spcPct val="100000"/>
              </a:lnSpc>
              <a:buNone/>
            </a:pPr>
            <a:r>
              <a:rPr lang="en-US" sz="1600" b="1" dirty="0">
                <a:solidFill>
                  <a:srgbClr val="560547"/>
                </a:solidFill>
                <a:latin typeface="Arial" pitchFamily="34" charset="0"/>
                <a:ea typeface="Arial" pitchFamily="34" charset="-122"/>
                <a:cs typeface="Arial" pitchFamily="34" charset="-120"/>
              </a:rPr>
              <a:t>Year 3</a:t>
            </a:r>
            <a:endParaRPr lang="en-US" sz="1600" dirty="0"/>
          </a:p>
        </p:txBody>
      </p:sp>
      <p:sp>
        <p:nvSpPr>
          <p:cNvPr id="113" name="Text 98"/>
          <p:cNvSpPr txBox="1"/>
          <p:nvPr/>
        </p:nvSpPr>
        <p:spPr>
          <a:xfrm>
            <a:off x="16340328" y="7632954"/>
            <a:ext cx="1481328" cy="326441"/>
          </a:xfrm>
          <a:prstGeom prst="rect">
            <a:avLst/>
          </a:prstGeom>
          <a:noFill/>
          <a:ln/>
        </p:spPr>
        <p:txBody>
          <a:bodyPr wrap="square" lIns="0" tIns="0" rIns="0" bIns="0" rtlCol="0" anchor="t"/>
          <a:lstStyle/>
          <a:p>
            <a:pPr algn="l" indent="0" marL="0">
              <a:lnSpc>
                <a:spcPct val="100000"/>
              </a:lnSpc>
              <a:buNone/>
            </a:pPr>
            <a:r>
              <a:rPr lang="en-US" sz="1000" dirty="0">
                <a:solidFill>
                  <a:srgbClr val="2B1226"/>
                </a:solidFill>
                <a:latin typeface="Calibri" pitchFamily="34" charset="0"/>
                <a:ea typeface="Calibri" pitchFamily="34" charset="-122"/>
                <a:cs typeface="Calibri" pitchFamily="34" charset="-120"/>
              </a:rPr>
              <a:t>breakeven</a:t>
            </a:r>
            <a:endParaRPr lang="en-US" sz="1000" dirty="0"/>
          </a:p>
        </p:txBody>
      </p:sp>
      <p:sp>
        <p:nvSpPr>
          <p:cNvPr id="114" name="Text 99"/>
          <p:cNvSpPr txBox="1"/>
          <p:nvPr/>
        </p:nvSpPr>
        <p:spPr>
          <a:xfrm>
            <a:off x="14438376" y="8065008"/>
            <a:ext cx="3493008" cy="868680"/>
          </a:xfrm>
          <a:prstGeom prst="rect">
            <a:avLst/>
          </a:prstGeom>
          <a:noFill/>
          <a:ln/>
        </p:spPr>
        <p:txBody>
          <a:bodyPr wrap="square" lIns="0" tIns="0" rIns="0" bIns="0" rtlCol="0" anchor="t"/>
          <a:lstStyle/>
          <a:p>
            <a:pPr algn="l" indent="0" marL="0">
              <a:lnSpc>
                <a:spcPct val="100000"/>
              </a:lnSpc>
              <a:buNone/>
            </a:pPr>
            <a:r>
              <a:rPr lang="en-US" sz="1000" b="1" dirty="0">
                <a:solidFill>
                  <a:srgbClr val="1E8E5A"/>
                </a:solidFill>
                <a:latin typeface="Calibri" pitchFamily="34" charset="0"/>
                <a:ea typeface="Calibri" pitchFamily="34" charset="-122"/>
                <a:cs typeface="Calibri" pitchFamily="34" charset="-120"/>
              </a:rPr>
              <a:t>₹0 capex </a:t>
            </a:r>
            <a:pPr algn="l" indent="0" marL="0">
              <a:lnSpc>
                <a:spcPct val="100000"/>
              </a:lnSpc>
              <a:buNone/>
            </a:pPr>
            <a:r>
              <a:rPr lang="en-US" sz="1000" dirty="0">
                <a:solidFill>
                  <a:srgbClr val="2B1226"/>
                </a:solidFill>
                <a:latin typeface="Calibri" pitchFamily="34" charset="0"/>
                <a:ea typeface="Calibri" pitchFamily="34" charset="-122"/>
                <a:cs typeface="Calibri" pitchFamily="34" charset="-120"/>
              </a:rPr>
              <a:t>until the gap is proven; ₹22 cr in Year 1.</a:t>
            </a:r>
            <a:endParaRPr lang="en-US" sz="1000" dirty="0"/>
          </a:p>
          <a:p>
            <a:pPr algn="l" indent="0" marL="0">
              <a:lnSpc>
                <a:spcPct val="100000"/>
              </a:lnSpc>
              <a:buNone/>
            </a:pPr>
            <a:r>
              <a:rPr lang="en-US" sz="1000" b="1" dirty="0">
                <a:solidFill>
                  <a:srgbClr val="560547"/>
                </a:solidFill>
                <a:latin typeface="Calibri" pitchFamily="34" charset="0"/>
                <a:ea typeface="Calibri" pitchFamily="34" charset="-122"/>
                <a:cs typeface="Calibri" pitchFamily="34" charset="-120"/>
              </a:rPr>
              <a:t>No new team: </a:t>
            </a:r>
            <a:pPr algn="l" indent="0" marL="0">
              <a:lnSpc>
                <a:spcPct val="100000"/>
              </a:lnSpc>
              <a:buNone/>
            </a:pPr>
            <a:r>
              <a:rPr lang="en-US" sz="1000" dirty="0">
                <a:solidFill>
                  <a:srgbClr val="2B1226"/>
                </a:solidFill>
                <a:latin typeface="Calibri" pitchFamily="34" charset="0"/>
                <a:ea typeface="Calibri" pitchFamily="34" charset="-122"/>
                <a:cs typeface="Calibri" pitchFamily="34" charset="-120"/>
              </a:rPr>
              <a:t>existing owners run each stream.</a:t>
            </a:r>
            <a:endParaRPr lang="en-US" sz="1000" dirty="0"/>
          </a:p>
          <a:p>
            <a:pPr algn="l" indent="0" marL="0">
              <a:lnSpc>
                <a:spcPct val="100000"/>
              </a:lnSpc>
              <a:buNone/>
            </a:pPr>
            <a:r>
              <a:rPr lang="en-US" sz="1000" b="1" dirty="0">
                <a:solidFill>
                  <a:srgbClr val="560547"/>
                </a:solidFill>
                <a:latin typeface="Calibri" pitchFamily="34" charset="0"/>
                <a:ea typeface="Calibri" pitchFamily="34" charset="-122"/>
                <a:cs typeface="Calibri" pitchFamily="34" charset="-120"/>
              </a:rPr>
              <a:t>MSME-TEAM </a:t>
            </a:r>
            <a:pPr algn="l" indent="0" marL="0">
              <a:lnSpc>
                <a:spcPct val="100000"/>
              </a:lnSpc>
              <a:buNone/>
            </a:pPr>
            <a:r>
              <a:rPr lang="en-US" sz="1000" dirty="0">
                <a:solidFill>
                  <a:srgbClr val="2B1226"/>
                </a:solidFill>
                <a:latin typeface="Calibri" pitchFamily="34" charset="0"/>
                <a:ea typeface="Calibri" pitchFamily="34" charset="-122"/>
                <a:cs typeface="Calibri" pitchFamily="34" charset="-120"/>
              </a:rPr>
              <a:t>(₹277 cr scheme) could co-fund onboarding.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413662"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297326" y="182880"/>
            <a:ext cx="1413662"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33390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4765853" y="182880"/>
            <a:ext cx="1413662"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4802429"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234379" y="182880"/>
            <a:ext cx="1413662"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270955"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7702906" y="182880"/>
            <a:ext cx="1413662"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773948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171432" y="182880"/>
            <a:ext cx="1413662"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9208008"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0639958" y="182880"/>
            <a:ext cx="1413662"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067653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2108485" y="182880"/>
            <a:ext cx="1413662" cy="502920"/>
          </a:xfrm>
          <a:prstGeom prst="roundRect">
            <a:avLst>
              <a:gd name="adj" fmla="val 14545"/>
            </a:avLst>
          </a:prstGeom>
          <a:solidFill>
            <a:srgbClr val="560547"/>
          </a:solidFill>
          <a:ln w="9525">
            <a:solidFill>
              <a:srgbClr val="560547"/>
            </a:solidFill>
            <a:prstDash val="solid"/>
          </a:ln>
        </p:spPr>
      </p:sp>
      <p:sp>
        <p:nvSpPr>
          <p:cNvPr id="20" name="Text 16"/>
          <p:cNvSpPr txBox="1"/>
          <p:nvPr/>
        </p:nvSpPr>
        <p:spPr>
          <a:xfrm>
            <a:off x="12145061"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3577011" y="182880"/>
            <a:ext cx="1413662"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3613587"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OPERATING MODEL</a:t>
            </a:r>
            <a:endParaRPr lang="en-US" sz="950" dirty="0"/>
          </a:p>
        </p:txBody>
      </p:sp>
      <p:sp>
        <p:nvSpPr>
          <p:cNvPr id="23" name="Shape 19"/>
          <p:cNvSpPr/>
          <p:nvPr/>
        </p:nvSpPr>
        <p:spPr>
          <a:xfrm>
            <a:off x="15045538" y="182880"/>
            <a:ext cx="1413662" cy="502920"/>
          </a:xfrm>
          <a:prstGeom prst="roundRect">
            <a:avLst>
              <a:gd name="adj" fmla="val 14545"/>
            </a:avLst>
          </a:prstGeom>
          <a:solidFill>
            <a:srgbClr val="FFFFFF"/>
          </a:solidFill>
          <a:ln w="9525">
            <a:solidFill>
              <a:srgbClr val="E0CEDA"/>
            </a:solidFill>
            <a:prstDash val="solid"/>
          </a:ln>
        </p:spPr>
      </p:sp>
      <p:sp>
        <p:nvSpPr>
          <p:cNvPr id="24" name="Text 20"/>
          <p:cNvSpPr txBox="1"/>
          <p:nvPr/>
        </p:nvSpPr>
        <p:spPr>
          <a:xfrm>
            <a:off x="1508211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10 · PROTOTYPE</a:t>
            </a:r>
            <a:endParaRPr lang="en-US" sz="950" dirty="0"/>
          </a:p>
        </p:txBody>
      </p:sp>
      <p:sp>
        <p:nvSpPr>
          <p:cNvPr id="25" name="Shape 21"/>
          <p:cNvSpPr/>
          <p:nvPr/>
        </p:nvSpPr>
        <p:spPr>
          <a:xfrm>
            <a:off x="228600" y="987552"/>
            <a:ext cx="384048" cy="8083296"/>
          </a:xfrm>
          <a:prstGeom prst="rect">
            <a:avLst/>
          </a:prstGeom>
          <a:solidFill>
            <a:srgbClr val="6E1251"/>
          </a:solidFill>
          <a:ln w="12700">
            <a:solidFill>
              <a:srgbClr val="6E1251"/>
            </a:solidFill>
            <a:prstDash val="solid"/>
          </a:ln>
        </p:spPr>
      </p:sp>
      <p:sp>
        <p:nvSpPr>
          <p:cNvPr id="26" name="Text 22"/>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WHAT BREAKS, WHAT’S NEXT</a:t>
            </a:r>
            <a:endParaRPr lang="en-US" sz="1200" dirty="0"/>
          </a:p>
        </p:txBody>
      </p:sp>
      <p:sp>
        <p:nvSpPr>
          <p:cNvPr id="27" name="Text 23"/>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Q8 · Risks and guardrails · What could go wrong, which rules keep it compliant, and where C2M takes Meesho next</a:t>
            </a:r>
            <a:endParaRPr lang="en-US" sz="1700" dirty="0"/>
          </a:p>
        </p:txBody>
      </p:sp>
      <p:sp>
        <p:nvSpPr>
          <p:cNvPr id="28" name="Text 24"/>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Sources: DPIIT Press Note 2 (2018) via Khaitan &amp; Co, Lexology; Consumer Protection (E-Commerce) Amendment Rules 2026 via LexOrbis (notified 9 Sep 2026, in force 1 Jan 2027); Meesho Q4 FY26 call; Reuters via FashionNetwork; Flipkart newsroom; KrASIA.</a:t>
            </a:r>
            <a:endParaRPr lang="en-US" sz="1000" dirty="0"/>
          </a:p>
        </p:txBody>
      </p:sp>
      <p:sp>
        <p:nvSpPr>
          <p:cNvPr id="29" name="Shape 25"/>
          <p:cNvSpPr/>
          <p:nvPr/>
        </p:nvSpPr>
        <p:spPr>
          <a:xfrm>
            <a:off x="228600" y="9400032"/>
            <a:ext cx="17830800" cy="603504"/>
          </a:xfrm>
          <a:prstGeom prst="rect">
            <a:avLst/>
          </a:prstGeom>
          <a:solidFill>
            <a:srgbClr val="560547"/>
          </a:solidFill>
          <a:ln w="12700">
            <a:solidFill>
              <a:srgbClr val="560547"/>
            </a:solidFill>
            <a:prstDash val="solid"/>
          </a:ln>
        </p:spPr>
      </p:sp>
      <p:sp>
        <p:nvSpPr>
          <p:cNvPr id="30" name="Shape 26"/>
          <p:cNvSpPr/>
          <p:nvPr/>
        </p:nvSpPr>
        <p:spPr>
          <a:xfrm>
            <a:off x="411480" y="9592056"/>
            <a:ext cx="219456" cy="219456"/>
          </a:xfrm>
          <a:prstGeom prst="rect">
            <a:avLst/>
          </a:prstGeom>
          <a:solidFill>
            <a:srgbClr val="FF9D00"/>
          </a:solidFill>
          <a:ln w="12700">
            <a:solidFill>
              <a:srgbClr val="FF9D00"/>
            </a:solidFill>
            <a:prstDash val="solid"/>
          </a:ln>
        </p:spPr>
      </p:sp>
      <p:sp>
        <p:nvSpPr>
          <p:cNvPr id="31" name="Text 27"/>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Every risk has a tripwire in the rulebook and a compliance answer built in; the long game is graduated factories becoming Meesho Mall value brands.</a:t>
            </a:r>
            <a:endParaRPr lang="en-US" sz="1400" dirty="0"/>
          </a:p>
        </p:txBody>
      </p:sp>
      <p:pic>
        <p:nvPicPr>
          <p:cNvPr id="32"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4" name="Shape 28"/>
          <p:cNvSpPr/>
          <p:nvPr/>
        </p:nvSpPr>
        <p:spPr>
          <a:xfrm>
            <a:off x="749808" y="1426464"/>
            <a:ext cx="10149840" cy="5440680"/>
          </a:xfrm>
          <a:prstGeom prst="rect">
            <a:avLst/>
          </a:prstGeom>
          <a:solidFill>
            <a:srgbClr val="FFFFFF"/>
          </a:solidFill>
          <a:ln w="9525">
            <a:solidFill>
              <a:srgbClr val="E0CEDA"/>
            </a:solidFill>
            <a:prstDash val="solid"/>
          </a:ln>
        </p:spPr>
      </p:sp>
      <p:sp>
        <p:nvSpPr>
          <p:cNvPr id="35" name="Shape 29"/>
          <p:cNvSpPr/>
          <p:nvPr/>
        </p:nvSpPr>
        <p:spPr>
          <a:xfrm>
            <a:off x="749808" y="1426464"/>
            <a:ext cx="10149840" cy="329184"/>
          </a:xfrm>
          <a:prstGeom prst="rect">
            <a:avLst/>
          </a:prstGeom>
          <a:solidFill>
            <a:srgbClr val="560547"/>
          </a:solidFill>
          <a:ln w="12700">
            <a:solidFill>
              <a:srgbClr val="560547"/>
            </a:solidFill>
            <a:prstDash val="solid"/>
          </a:ln>
        </p:spPr>
      </p:sp>
      <p:pic>
        <p:nvPicPr>
          <p:cNvPr id="36" name="Image 3" descr="/private/tmp/claude-501/-Users-prathmeshwalimbe-Downloads-Meesho/dfec39d5-f971-4a3a-8cfb-761f4ef1fedb/scratchpad/deck/assets/icons/FaTriangleExclamation_w.png">    </p:cNvPr>
          <p:cNvPicPr>
            <a:picLocks noChangeAspect="1"/>
          </p:cNvPicPr>
          <p:nvPr/>
        </p:nvPicPr>
        <p:blipFill>
          <a:blip r:embed="rId4"/>
          <a:stretch>
            <a:fillRect/>
          </a:stretch>
        </p:blipFill>
        <p:spPr>
          <a:xfrm>
            <a:off x="859536" y="1490472"/>
            <a:ext cx="201168" cy="201168"/>
          </a:xfrm>
          <a:prstGeom prst="rect">
            <a:avLst/>
          </a:prstGeom>
        </p:spPr>
      </p:pic>
      <p:sp>
        <p:nvSpPr>
          <p:cNvPr id="37" name="Text 30"/>
          <p:cNvSpPr txBox="1"/>
          <p:nvPr/>
        </p:nvSpPr>
        <p:spPr>
          <a:xfrm>
            <a:off x="1133856" y="1426464"/>
            <a:ext cx="96377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RISK REGISTER · LIKELIHOOD, IMPACT, EARLY SIGNAL, GUARDRAIL</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77824" y="1847088"/>
          <a:ext cx="9893808" cy="914400"/>
        </p:xfrm>
        <a:graphic>
          <a:graphicData uri="http://schemas.openxmlformats.org/drawingml/2006/table">
            <a:tbl>
              <a:tblPr/>
              <a:tblGrid>
                <a:gridCol w="329184"/>
                <a:gridCol w="2331720"/>
                <a:gridCol w="384048"/>
                <a:gridCol w="384048"/>
                <a:gridCol w="2240280"/>
                <a:gridCol w="3401568"/>
                <a:gridCol w="822960"/>
              </a:tblGrid>
              <a:tr h="45720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Risk</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L</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I</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Early signal</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Guardrail</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Owner</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45720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The price gap was a promotion</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Gate retention &lt; 70% at D14</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Day-30 stop rule; badge off at &lt; 4% gap</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Pricing</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Loss-leader SKUs game the badge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2–3 SKUs 20%+ below, rest at market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Catalogue gate: ≥ 60% of live SKUs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Pricing</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Quality falls with price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Quality returns &gt; 1.5× norm</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Suspend + QC; reinstate at ≤ 1.2× for 7 days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Category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Re-rank starves existing resellers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Category NMV vs pre-period</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Badged ≤ 20% of category impressions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Growth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Capex before demand</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Batch fill rate, node utilisation</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No node before the Day-30 and Day-60 gates; partner warehouses first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Valmo</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Export recovery pulls factories back</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Tariff 50% → 18%; India–EU deal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Batches fill idle capacity around export runs; C2M as hedge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Category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Rate-card war escalates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Flipkart 0% on all fashion (Jul 2026)</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Compete on cost structure (node, briefs), not fees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Strategy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5720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Shein-style squeeze drives factories away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Attrition after price asks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Never ask for a price cut; the gate measures the gap that exists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7A6470"/>
                          </a:solidFill>
                          <a:latin typeface="Calibri" pitchFamily="34" charset="0"/>
                          <a:ea typeface="Calibri" pitchFamily="34" charset="-122"/>
                          <a:cs typeface="Calibri" pitchFamily="34" charset="-120"/>
                        </a:rPr>
                        <a:t>Leadership</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39" name="Text 31"/>
          <p:cNvSpPr txBox="1"/>
          <p:nvPr/>
        </p:nvSpPr>
        <p:spPr>
          <a:xfrm>
            <a:off x="877824" y="6163056"/>
            <a:ext cx="9893808" cy="548640"/>
          </a:xfrm>
          <a:prstGeom prst="rect">
            <a:avLst/>
          </a:prstGeom>
          <a:noFill/>
          <a:ln/>
        </p:spPr>
        <p:txBody>
          <a:bodyPr wrap="square" lIns="0" tIns="0" rIns="0" bIns="0" rtlCol="0" anchor="t"/>
          <a:lstStyle/>
          <a:p>
            <a:pPr algn="l" indent="0" marL="0">
              <a:lnSpc>
                <a:spcPct val="100000"/>
              </a:lnSpc>
              <a:buNone/>
            </a:pPr>
            <a:r>
              <a:rPr lang="en-US" sz="1050" b="1" dirty="0">
                <a:solidFill>
                  <a:srgbClr val="C0392B"/>
                </a:solidFill>
                <a:latin typeface="Calibri" pitchFamily="34" charset="0"/>
                <a:ea typeface="Calibri" pitchFamily="34" charset="-122"/>
                <a:cs typeface="Calibri" pitchFamily="34" charset="-120"/>
              </a:rPr>
              <a:t>L = likelihood, I = impact. Why risk 8 matters: </a:t>
            </a:r>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Shein pledged $150 mn for 2,000 Brazilian factories and asked for ~30% price cuts; 336 signed and 1 is still producing. Our screen only rewards a gap that already exists.</a:t>
            </a:r>
            <a:endParaRPr lang="en-US" sz="1050" dirty="0"/>
          </a:p>
        </p:txBody>
      </p:sp>
      <p:sp>
        <p:nvSpPr>
          <p:cNvPr id="40" name="Shape 32"/>
          <p:cNvSpPr/>
          <p:nvPr/>
        </p:nvSpPr>
        <p:spPr>
          <a:xfrm>
            <a:off x="749808" y="6995160"/>
            <a:ext cx="10149840" cy="2020824"/>
          </a:xfrm>
          <a:prstGeom prst="rect">
            <a:avLst/>
          </a:prstGeom>
          <a:solidFill>
            <a:srgbClr val="FFFFFF"/>
          </a:solidFill>
          <a:ln w="9525">
            <a:solidFill>
              <a:srgbClr val="E0CEDA"/>
            </a:solidFill>
            <a:prstDash val="solid"/>
          </a:ln>
        </p:spPr>
      </p:sp>
      <p:sp>
        <p:nvSpPr>
          <p:cNvPr id="41" name="Shape 33"/>
          <p:cNvSpPr/>
          <p:nvPr/>
        </p:nvSpPr>
        <p:spPr>
          <a:xfrm>
            <a:off x="749808" y="6995160"/>
            <a:ext cx="10149840" cy="329184"/>
          </a:xfrm>
          <a:prstGeom prst="rect">
            <a:avLst/>
          </a:prstGeom>
          <a:solidFill>
            <a:srgbClr val="8A245E"/>
          </a:solidFill>
          <a:ln w="12700">
            <a:solidFill>
              <a:srgbClr val="8A245E"/>
            </a:solidFill>
            <a:prstDash val="solid"/>
          </a:ln>
        </p:spPr>
      </p:sp>
      <p:pic>
        <p:nvPicPr>
          <p:cNvPr id="42" name="Image 4" descr="/private/tmp/claude-501/-Users-prathmeshwalimbe-Downloads-Meesho/dfec39d5-f971-4a3a-8cfb-761f4ef1fedb/scratchpad/deck/assets/icons/FaFlask_w.png">    </p:cNvPr>
          <p:cNvPicPr>
            <a:picLocks noChangeAspect="1"/>
          </p:cNvPicPr>
          <p:nvPr/>
        </p:nvPicPr>
        <p:blipFill>
          <a:blip r:embed="rId5"/>
          <a:stretch>
            <a:fillRect/>
          </a:stretch>
        </p:blipFill>
        <p:spPr>
          <a:xfrm>
            <a:off x="859536" y="7059168"/>
            <a:ext cx="201168" cy="201168"/>
          </a:xfrm>
          <a:prstGeom prst="rect">
            <a:avLst/>
          </a:prstGeom>
        </p:spPr>
      </p:pic>
      <p:sp>
        <p:nvSpPr>
          <p:cNvPr id="43" name="Text 34"/>
          <p:cNvSpPr txBox="1"/>
          <p:nvPr/>
        </p:nvSpPr>
        <p:spPr>
          <a:xfrm>
            <a:off x="1133856" y="6995160"/>
            <a:ext cx="963777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ASSUMPTIONS WE STILL HAVE TO VERIFY · BEFORE ANY CAPEX</a:t>
            </a:r>
            <a:endParaRPr lang="en-US" sz="125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877824" y="7415784"/>
          <a:ext cx="9893808" cy="914400"/>
        </p:xfrm>
        <a:graphic>
          <a:graphicData uri="http://schemas.openxmlformats.org/drawingml/2006/table">
            <a:tbl>
              <a:tblPr/>
              <a:tblGrid>
                <a:gridCol w="3017520"/>
                <a:gridCol w="2971800"/>
                <a:gridCol w="3172968"/>
                <a:gridCol w="731520"/>
              </a:tblGrid>
              <a:tr h="27432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Assumption</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Value used</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How we verify</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By</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27432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Seller fee per customer return</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₹90 (team estimate) to ₹150 (seller guides)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Pull from three live supplier panels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Day 7</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Factory Node handling and forward cost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₹9 + ₹42 per unit (proposal)</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Partner-warehouse quotes, Tiruppur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Day 45</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Pre-order uptake at ₹20 off, 7-day delivery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55–70% of the suggested batch</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A/B test in brief pin-codes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Day 60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Order lift while a grant is active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1.35× (simulation)</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Holdout on the grant rule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Day 30</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45" name="Shape 35"/>
          <p:cNvSpPr/>
          <p:nvPr/>
        </p:nvSpPr>
        <p:spPr>
          <a:xfrm>
            <a:off x="11027664" y="1426464"/>
            <a:ext cx="7031736" cy="4251960"/>
          </a:xfrm>
          <a:prstGeom prst="rect">
            <a:avLst/>
          </a:prstGeom>
          <a:solidFill>
            <a:srgbClr val="FFFFFF"/>
          </a:solidFill>
          <a:ln w="9525">
            <a:solidFill>
              <a:srgbClr val="E0CEDA"/>
            </a:solidFill>
            <a:prstDash val="solid"/>
          </a:ln>
        </p:spPr>
      </p:sp>
      <p:sp>
        <p:nvSpPr>
          <p:cNvPr id="46" name="Shape 36"/>
          <p:cNvSpPr/>
          <p:nvPr/>
        </p:nvSpPr>
        <p:spPr>
          <a:xfrm>
            <a:off x="11027664" y="1426464"/>
            <a:ext cx="7031736" cy="329184"/>
          </a:xfrm>
          <a:prstGeom prst="rect">
            <a:avLst/>
          </a:prstGeom>
          <a:solidFill>
            <a:srgbClr val="8A245E"/>
          </a:solidFill>
          <a:ln w="12700">
            <a:solidFill>
              <a:srgbClr val="8A245E"/>
            </a:solidFill>
            <a:prstDash val="solid"/>
          </a:ln>
        </p:spPr>
      </p:sp>
      <p:pic>
        <p:nvPicPr>
          <p:cNvPr id="47" name="Image 5" descr="/private/tmp/claude-501/-Users-prathmeshwalimbe-Downloads-Meesho/dfec39d5-f971-4a3a-8cfb-761f4ef1fedb/scratchpad/deck/assets/icons/FaShieldHalved_w.png">    </p:cNvPr>
          <p:cNvPicPr>
            <a:picLocks noChangeAspect="1"/>
          </p:cNvPicPr>
          <p:nvPr/>
        </p:nvPicPr>
        <p:blipFill>
          <a:blip r:embed="rId6"/>
          <a:stretch>
            <a:fillRect/>
          </a:stretch>
        </p:blipFill>
        <p:spPr>
          <a:xfrm>
            <a:off x="11137392" y="1490472"/>
            <a:ext cx="201168" cy="201168"/>
          </a:xfrm>
          <a:prstGeom prst="rect">
            <a:avLst/>
          </a:prstGeom>
        </p:spPr>
      </p:pic>
      <p:sp>
        <p:nvSpPr>
          <p:cNvPr id="48" name="Text 37"/>
          <p:cNvSpPr txBox="1"/>
          <p:nvPr/>
        </p:nvSpPr>
        <p:spPr>
          <a:xfrm>
            <a:off x="11411712" y="1426464"/>
            <a:ext cx="651967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COMPLIANCE BY DESIGN · MARKETPLACE, CONSUMER, DATA, TAX</a:t>
            </a:r>
            <a:endParaRPr lang="en-US" sz="1250" dirty="0"/>
          </a:p>
        </p:txBody>
      </p:sp>
      <p:graphicFrame>
        <p:nvGraphicFramePr>
          <p:cNvPr id="28" name="Table 2"/>
          <p:cNvGraphicFramePr>
            <a:graphicFrameLocks noGrp="1"/>
          </p:cNvGraphicFramePr>
          <p:nvPr>
            <p:extLst>
              <p:ext uri="{D42A27DB-BD31-4B8C-83A1-F6EECF244321}">
                <p14:modId xmlns:p14="http://schemas.microsoft.com/office/powerpoint/2010/main" val="1579011935"/>
              </p:ext>
            </p:extLst>
          </p:nvPr>
        </p:nvGraphicFramePr>
        <p:xfrm>
          <a:off x="11155680" y="1847088"/>
          <a:ext cx="6775704" cy="914400"/>
        </p:xfrm>
        <a:graphic>
          <a:graphicData uri="http://schemas.openxmlformats.org/drawingml/2006/table">
            <a:tbl>
              <a:tblPr/>
              <a:tblGrid>
                <a:gridCol w="1600200"/>
                <a:gridCol w="2286000"/>
                <a:gridCol w="2889504"/>
              </a:tblGrid>
              <a:tr h="38404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Rule</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What it requires</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Our design</a:t>
                      </a:r>
                      <a:endParaRPr lang="en-US" sz="100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84048">
                <a:tc>
                  <a:txBody>
                    <a:bodyPr/>
                    <a:lstStyle/>
                    <a:p>
                      <a:pPr algn="l" indent="0" marL="0">
                        <a:buNone/>
                      </a:pPr>
                      <a:r>
                        <a:rPr lang="en-US" sz="1000" b="1" dirty="0">
                          <a:solidFill>
                            <a:srgbClr val="2B1226"/>
                          </a:solidFill>
                          <a:latin typeface="Calibri" pitchFamily="34" charset="0"/>
                          <a:ea typeface="Calibri" pitchFamily="34" charset="-122"/>
                          <a:cs typeface="Calibri" pitchFamily="34" charset="-120"/>
                        </a:rPr>
                        <a:t>FDI Press Note 2 (2018)</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Marketplace may not own or control seller inventory</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Seller keeps title at the node; Valmo sells warehousing at arm’s length</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2B1226"/>
                          </a:solidFill>
                          <a:latin typeface="Calibri" pitchFamily="34" charset="0"/>
                          <a:ea typeface="Calibri" pitchFamily="34" charset="-122"/>
                          <a:cs typeface="Calibri" pitchFamily="34" charset="-120"/>
                        </a:rPr>
                        <a:t>FDI Press Note 2 (2018)</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Fair, non-discriminatory services; no exclusivity</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Badge and grants are published rules any seller can meet; batches fit around B2B work</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2B1226"/>
                          </a:solidFill>
                          <a:latin typeface="Calibri" pitchFamily="34" charset="0"/>
                          <a:ea typeface="Calibri" pitchFamily="34" charset="-122"/>
                          <a:cs typeface="Calibri" pitchFamily="34" charset="-120"/>
                        </a:rPr>
                        <a:t>E-Commerce Rules, 2026 amendment</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From 1 Jan 2027: ranking parameters by importance; sponsored listings labelled</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Publish the price-gap badge as a ranking parameter; grants are organic, never sold</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2B1226"/>
                          </a:solidFill>
                          <a:latin typeface="Calibri" pitchFamily="34" charset="0"/>
                          <a:ea typeface="Calibri" pitchFamily="34" charset="-122"/>
                          <a:cs typeface="Calibri" pitchFamily="34" charset="-120"/>
                        </a:rPr>
                        <a:t>Dark-pattern guidelines (2023)</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No false urgency or hidden terms; yearly self-audit</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“Ships in 7 days, ₹20 off” shown before the buyer pays</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2B1226"/>
                          </a:solidFill>
                          <a:latin typeface="Calibri" pitchFamily="34" charset="0"/>
                          <a:ea typeface="Calibri" pitchFamily="34" charset="-122"/>
                          <a:cs typeface="Calibri" pitchFamily="34" charset="-120"/>
                        </a:rPr>
                        <a:t>DPDP Act (2023)</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Protect personal data</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Demand Briefs use district-level aggregates only</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2B1226"/>
                          </a:solidFill>
                          <a:latin typeface="Calibri" pitchFamily="34" charset="0"/>
                          <a:ea typeface="Calibri" pitchFamily="34" charset="-122"/>
                          <a:cs typeface="Calibri" pitchFamily="34" charset="-120"/>
                        </a:rPr>
                        <a:t>GST</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Stock held at a third-party site</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Node added as the seller’s additional place of business</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2B1226"/>
                          </a:solidFill>
                          <a:latin typeface="Calibri" pitchFamily="34" charset="0"/>
                          <a:ea typeface="Calibri" pitchFamily="34" charset="-122"/>
                          <a:cs typeface="Calibri" pitchFamily="34" charset="-120"/>
                        </a:rPr>
                        <a:t>Prepayment</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Advances must not become inventory purchase or control</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226"/>
                          </a:solidFill>
                          <a:latin typeface="Calibri" pitchFamily="34" charset="0"/>
                          <a:ea typeface="Calibri" pitchFamily="34" charset="-122"/>
                          <a:cs typeface="Calibri" pitchFamily="34" charset="-120"/>
                        </a:rPr>
                        <a:t>Advance via an NBFC partner against confirmed buyer orders</a:t>
                      </a:r>
                      <a:endParaRPr lang="en-US" sz="100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50" name="Text 38"/>
          <p:cNvSpPr txBox="1"/>
          <p:nvPr/>
        </p:nvSpPr>
        <p:spPr>
          <a:xfrm>
            <a:off x="11155680" y="5157216"/>
            <a:ext cx="6775704" cy="274320"/>
          </a:xfrm>
          <a:prstGeom prst="rect">
            <a:avLst/>
          </a:prstGeom>
          <a:noFill/>
          <a:ln/>
        </p:spPr>
        <p:txBody>
          <a:bodyPr wrap="square" lIns="0" tIns="0" rIns="0" bIns="0" rtlCol="0" anchor="t"/>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Design responses, not legal advice: Meesho legal confirms each row before the pilot starts.</a:t>
            </a:r>
            <a:endParaRPr lang="en-US" sz="1000" dirty="0"/>
          </a:p>
        </p:txBody>
      </p:sp>
      <p:sp>
        <p:nvSpPr>
          <p:cNvPr id="51" name="Shape 39"/>
          <p:cNvSpPr/>
          <p:nvPr/>
        </p:nvSpPr>
        <p:spPr>
          <a:xfrm>
            <a:off x="11027664" y="5806440"/>
            <a:ext cx="7031736" cy="3209544"/>
          </a:xfrm>
          <a:prstGeom prst="rect">
            <a:avLst/>
          </a:prstGeom>
          <a:solidFill>
            <a:srgbClr val="FFFFFF"/>
          </a:solidFill>
          <a:ln w="9525">
            <a:solidFill>
              <a:srgbClr val="E0CEDA"/>
            </a:solidFill>
            <a:prstDash val="solid"/>
          </a:ln>
        </p:spPr>
      </p:sp>
      <p:sp>
        <p:nvSpPr>
          <p:cNvPr id="52" name="Shape 40"/>
          <p:cNvSpPr/>
          <p:nvPr/>
        </p:nvSpPr>
        <p:spPr>
          <a:xfrm>
            <a:off x="11027664" y="5806440"/>
            <a:ext cx="7031736" cy="329184"/>
          </a:xfrm>
          <a:prstGeom prst="rect">
            <a:avLst/>
          </a:prstGeom>
          <a:solidFill>
            <a:srgbClr val="560547"/>
          </a:solidFill>
          <a:ln w="12700">
            <a:solidFill>
              <a:srgbClr val="560547"/>
            </a:solidFill>
            <a:prstDash val="solid"/>
          </a:ln>
        </p:spPr>
      </p:sp>
      <p:pic>
        <p:nvPicPr>
          <p:cNvPr id="53" name="Image 6" descr="/private/tmp/claude-501/-Users-prathmeshwalimbe-Downloads-Meesho/dfec39d5-f971-4a3a-8cfb-761f4ef1fedb/scratchpad/deck/assets/icons/FaRocket_w.png">    </p:cNvPr>
          <p:cNvPicPr>
            <a:picLocks noChangeAspect="1"/>
          </p:cNvPicPr>
          <p:nvPr/>
        </p:nvPicPr>
        <p:blipFill>
          <a:blip r:embed="rId7"/>
          <a:stretch>
            <a:fillRect/>
          </a:stretch>
        </p:blipFill>
        <p:spPr>
          <a:xfrm>
            <a:off x="11137392" y="5870448"/>
            <a:ext cx="201168" cy="201168"/>
          </a:xfrm>
          <a:prstGeom prst="rect">
            <a:avLst/>
          </a:prstGeom>
        </p:spPr>
      </p:pic>
      <p:sp>
        <p:nvSpPr>
          <p:cNvPr id="54" name="Text 41"/>
          <p:cNvSpPr txBox="1"/>
          <p:nvPr/>
        </p:nvSpPr>
        <p:spPr>
          <a:xfrm>
            <a:off x="11411712" y="5806440"/>
            <a:ext cx="651967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THE 10X PATH · FROM PILOT TO SUPPLY ENGINE</a:t>
            </a:r>
            <a:endParaRPr lang="en-US" sz="1250" dirty="0"/>
          </a:p>
        </p:txBody>
      </p:sp>
      <p:sp>
        <p:nvSpPr>
          <p:cNvPr id="55" name="Shape 42"/>
          <p:cNvSpPr/>
          <p:nvPr/>
        </p:nvSpPr>
        <p:spPr>
          <a:xfrm>
            <a:off x="11155680" y="8222742"/>
            <a:ext cx="6775704" cy="592074"/>
          </a:xfrm>
          <a:prstGeom prst="roundRect">
            <a:avLst>
              <a:gd name="adj" fmla="val 7722"/>
            </a:avLst>
          </a:prstGeom>
          <a:solidFill>
            <a:srgbClr val="F2E4EE"/>
          </a:solidFill>
          <a:ln w="12700">
            <a:solidFill>
              <a:srgbClr val="F2E4EE"/>
            </a:solidFill>
            <a:prstDash val="solid"/>
          </a:ln>
        </p:spPr>
      </p:sp>
      <p:sp>
        <p:nvSpPr>
          <p:cNvPr id="56" name="Text 43"/>
          <p:cNvSpPr txBox="1"/>
          <p:nvPr/>
        </p:nvSpPr>
        <p:spPr>
          <a:xfrm>
            <a:off x="11247120" y="8222742"/>
            <a:ext cx="777240" cy="592074"/>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Arial" pitchFamily="34" charset="0"/>
                <a:ea typeface="Arial" pitchFamily="34" charset="-122"/>
                <a:cs typeface="Arial" pitchFamily="34" charset="-120"/>
              </a:rPr>
              <a:t>Year 1</a:t>
            </a:r>
            <a:endParaRPr lang="en-US" sz="1100" dirty="0"/>
          </a:p>
        </p:txBody>
      </p:sp>
      <p:sp>
        <p:nvSpPr>
          <p:cNvPr id="57" name="Text 44"/>
          <p:cNvSpPr txBox="1"/>
          <p:nvPr/>
        </p:nvSpPr>
        <p:spPr>
          <a:xfrm>
            <a:off x="12051792" y="8222742"/>
            <a:ext cx="5806440" cy="592074"/>
          </a:xfrm>
          <a:prstGeom prst="rect">
            <a:avLst/>
          </a:prstGeom>
          <a:noFill/>
          <a:ln/>
        </p:spPr>
        <p:txBody>
          <a:bodyPr wrap="square" lIns="0" tIns="0" rIns="0" bIns="0" rtlCol="0" anchor="ctr"/>
          <a:lstStyle/>
          <a:p>
            <a:pPr algn="l" indent="0" marL="0">
              <a:lnSpc>
                <a:spcPct val="100000"/>
              </a:lnSpc>
              <a:buNone/>
            </a:pPr>
            <a:r>
              <a:rPr lang="en-US" sz="1200" b="1" dirty="0">
                <a:solidFill>
                  <a:srgbClr val="2B1226"/>
                </a:solidFill>
                <a:latin typeface="Calibri" pitchFamily="34" charset="0"/>
                <a:ea typeface="Calibri" pitchFamily="34" charset="-122"/>
                <a:cs typeface="Calibri" pitchFamily="34" charset="-120"/>
              </a:rPr>
              <a:t>2 clusters · 60 → 450 sellers</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Prove the gap at ₹0 capex; gate the money</a:t>
            </a:r>
            <a:endParaRPr lang="en-US" sz="1200" dirty="0"/>
          </a:p>
        </p:txBody>
      </p:sp>
      <p:sp>
        <p:nvSpPr>
          <p:cNvPr id="58" name="Shape 45"/>
          <p:cNvSpPr/>
          <p:nvPr/>
        </p:nvSpPr>
        <p:spPr>
          <a:xfrm>
            <a:off x="11430000" y="7557516"/>
            <a:ext cx="6501384" cy="592074"/>
          </a:xfrm>
          <a:prstGeom prst="roundRect">
            <a:avLst>
              <a:gd name="adj" fmla="val 7722"/>
            </a:avLst>
          </a:prstGeom>
          <a:solidFill>
            <a:srgbClr val="EBD3E2"/>
          </a:solidFill>
          <a:ln w="12700">
            <a:solidFill>
              <a:srgbClr val="EBD3E2"/>
            </a:solidFill>
            <a:prstDash val="solid"/>
          </a:ln>
        </p:spPr>
      </p:sp>
      <p:sp>
        <p:nvSpPr>
          <p:cNvPr id="59" name="Text 46"/>
          <p:cNvSpPr txBox="1"/>
          <p:nvPr/>
        </p:nvSpPr>
        <p:spPr>
          <a:xfrm>
            <a:off x="11521440" y="7557516"/>
            <a:ext cx="777240" cy="592074"/>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Arial" pitchFamily="34" charset="0"/>
                <a:ea typeface="Arial" pitchFamily="34" charset="-122"/>
                <a:cs typeface="Arial" pitchFamily="34" charset="-120"/>
              </a:rPr>
              <a:t>Year 2</a:t>
            </a:r>
            <a:endParaRPr lang="en-US" sz="1100" dirty="0"/>
          </a:p>
        </p:txBody>
      </p:sp>
      <p:sp>
        <p:nvSpPr>
          <p:cNvPr id="60" name="Text 47"/>
          <p:cNvSpPr txBox="1"/>
          <p:nvPr/>
        </p:nvSpPr>
        <p:spPr>
          <a:xfrm>
            <a:off x="12326112" y="7557516"/>
            <a:ext cx="5532120" cy="592074"/>
          </a:xfrm>
          <a:prstGeom prst="rect">
            <a:avLst/>
          </a:prstGeom>
          <a:noFill/>
          <a:ln/>
        </p:spPr>
        <p:txBody>
          <a:bodyPr wrap="square" lIns="0" tIns="0" rIns="0" bIns="0" rtlCol="0" anchor="ctr"/>
          <a:lstStyle/>
          <a:p>
            <a:pPr algn="l" indent="0" marL="0">
              <a:lnSpc>
                <a:spcPct val="100000"/>
              </a:lnSpc>
              <a:buNone/>
            </a:pPr>
            <a:r>
              <a:rPr lang="en-US" sz="1200" b="1" dirty="0">
                <a:solidFill>
                  <a:srgbClr val="2B1226"/>
                </a:solidFill>
                <a:latin typeface="Calibri" pitchFamily="34" charset="0"/>
                <a:ea typeface="Calibri" pitchFamily="34" charset="-122"/>
                <a:cs typeface="Calibri" pitchFamily="34" charset="-120"/>
              </a:rPr>
              <a:t>5 clusters · 6 nodes</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Briefs and batches become the default onboarding path</a:t>
            </a:r>
            <a:endParaRPr lang="en-US" sz="1200" dirty="0"/>
          </a:p>
        </p:txBody>
      </p:sp>
      <p:sp>
        <p:nvSpPr>
          <p:cNvPr id="61" name="Shape 48"/>
          <p:cNvSpPr/>
          <p:nvPr/>
        </p:nvSpPr>
        <p:spPr>
          <a:xfrm>
            <a:off x="11704320" y="6892290"/>
            <a:ext cx="6227064" cy="592074"/>
          </a:xfrm>
          <a:prstGeom prst="roundRect">
            <a:avLst>
              <a:gd name="adj" fmla="val 7722"/>
            </a:avLst>
          </a:prstGeom>
          <a:solidFill>
            <a:srgbClr val="DDB8CE"/>
          </a:solidFill>
          <a:ln w="12700">
            <a:solidFill>
              <a:srgbClr val="DDB8CE"/>
            </a:solidFill>
            <a:prstDash val="solid"/>
          </a:ln>
        </p:spPr>
      </p:sp>
      <p:sp>
        <p:nvSpPr>
          <p:cNvPr id="62" name="Text 49"/>
          <p:cNvSpPr txBox="1"/>
          <p:nvPr/>
        </p:nvSpPr>
        <p:spPr>
          <a:xfrm>
            <a:off x="11795760" y="6892290"/>
            <a:ext cx="777240" cy="592074"/>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Arial" pitchFamily="34" charset="0"/>
                <a:ea typeface="Arial" pitchFamily="34" charset="-122"/>
                <a:cs typeface="Arial" pitchFamily="34" charset="-120"/>
              </a:rPr>
              <a:t>Year 4</a:t>
            </a:r>
            <a:endParaRPr lang="en-US" sz="1100" dirty="0"/>
          </a:p>
        </p:txBody>
      </p:sp>
      <p:sp>
        <p:nvSpPr>
          <p:cNvPr id="63" name="Text 50"/>
          <p:cNvSpPr txBox="1"/>
          <p:nvPr/>
        </p:nvSpPr>
        <p:spPr>
          <a:xfrm>
            <a:off x="12600432" y="6892290"/>
            <a:ext cx="5257800" cy="592074"/>
          </a:xfrm>
          <a:prstGeom prst="rect">
            <a:avLst/>
          </a:prstGeom>
          <a:noFill/>
          <a:ln/>
        </p:spPr>
        <p:txBody>
          <a:bodyPr wrap="square" lIns="0" tIns="0" rIns="0" bIns="0" rtlCol="0" anchor="ctr"/>
          <a:lstStyle/>
          <a:p>
            <a:pPr algn="l" indent="0" marL="0">
              <a:lnSpc>
                <a:spcPct val="100000"/>
              </a:lnSpc>
              <a:buNone/>
            </a:pPr>
            <a:r>
              <a:rPr lang="en-US" sz="1200" b="1" dirty="0">
                <a:solidFill>
                  <a:srgbClr val="2B1226"/>
                </a:solidFill>
                <a:latin typeface="Calibri" pitchFamily="34" charset="0"/>
                <a:ea typeface="Calibri" pitchFamily="34" charset="-122"/>
                <a:cs typeface="Calibri" pitchFamily="34" charset="-120"/>
              </a:rPr>
              <a:t>12 clusters · 1,400 sellers · ₹1,995 cr</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4.8% of FY26 NMV structurally cheaper</a:t>
            </a:r>
            <a:endParaRPr lang="en-US" sz="1200" dirty="0"/>
          </a:p>
        </p:txBody>
      </p:sp>
      <p:sp>
        <p:nvSpPr>
          <p:cNvPr id="64" name="Shape 51"/>
          <p:cNvSpPr/>
          <p:nvPr/>
        </p:nvSpPr>
        <p:spPr>
          <a:xfrm>
            <a:off x="11978640" y="6227064"/>
            <a:ext cx="5952744" cy="592074"/>
          </a:xfrm>
          <a:prstGeom prst="roundRect">
            <a:avLst>
              <a:gd name="adj" fmla="val 7722"/>
            </a:avLst>
          </a:prstGeom>
          <a:solidFill>
            <a:srgbClr val="FF9D00"/>
          </a:solidFill>
          <a:ln w="12700">
            <a:solidFill>
              <a:srgbClr val="FF9D00"/>
            </a:solidFill>
            <a:prstDash val="solid"/>
          </a:ln>
        </p:spPr>
      </p:sp>
      <p:sp>
        <p:nvSpPr>
          <p:cNvPr id="65" name="Text 52"/>
          <p:cNvSpPr txBox="1"/>
          <p:nvPr/>
        </p:nvSpPr>
        <p:spPr>
          <a:xfrm>
            <a:off x="12070080" y="6227064"/>
            <a:ext cx="777240" cy="592074"/>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Arial" pitchFamily="34" charset="0"/>
                <a:ea typeface="Arial" pitchFamily="34" charset="-122"/>
                <a:cs typeface="Arial" pitchFamily="34" charset="-120"/>
              </a:rPr>
              <a:t>Year 5+</a:t>
            </a:r>
            <a:endParaRPr lang="en-US" sz="1100" dirty="0"/>
          </a:p>
        </p:txBody>
      </p:sp>
      <p:sp>
        <p:nvSpPr>
          <p:cNvPr id="66" name="Text 53"/>
          <p:cNvSpPr txBox="1"/>
          <p:nvPr/>
        </p:nvSpPr>
        <p:spPr>
          <a:xfrm>
            <a:off x="12874752" y="6227064"/>
            <a:ext cx="4983480" cy="592074"/>
          </a:xfrm>
          <a:prstGeom prst="rect">
            <a:avLst/>
          </a:prstGeom>
          <a:noFill/>
          <a:ln/>
        </p:spPr>
        <p:txBody>
          <a:bodyPr wrap="square" lIns="0" tIns="0" rIns="0" bIns="0" rtlCol="0" anchor="ctr"/>
          <a:lstStyle/>
          <a:p>
            <a:pPr algn="l" indent="0" marL="0">
              <a:lnSpc>
                <a:spcPct val="100000"/>
              </a:lnSpc>
              <a:buNone/>
            </a:pPr>
            <a:r>
              <a:rPr lang="en-US" sz="1200" b="1" dirty="0">
                <a:solidFill>
                  <a:srgbClr val="2B1226"/>
                </a:solidFill>
                <a:latin typeface="Calibri" pitchFamily="34" charset="0"/>
                <a:ea typeface="Calibri" pitchFamily="34" charset="-122"/>
                <a:cs typeface="Calibri" pitchFamily="34" charset="-120"/>
              </a:rPr>
              <a:t>Factory brands on Meesho Mall</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“Value brands … for a billion people” (Aatrey): graduates brand their own lines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413662"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297326" y="182880"/>
            <a:ext cx="1413662"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33390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4765853" y="182880"/>
            <a:ext cx="1413662"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4802429"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234379" y="182880"/>
            <a:ext cx="1413662"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270955"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7702906" y="182880"/>
            <a:ext cx="1413662"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773948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171432" y="182880"/>
            <a:ext cx="1413662"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9208008"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0639958" y="182880"/>
            <a:ext cx="1413662"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067653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2108485" y="182880"/>
            <a:ext cx="1413662"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2145061"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3577011" y="182880"/>
            <a:ext cx="1413662" cy="502920"/>
          </a:xfrm>
          <a:prstGeom prst="roundRect">
            <a:avLst>
              <a:gd name="adj" fmla="val 14545"/>
            </a:avLst>
          </a:prstGeom>
          <a:solidFill>
            <a:srgbClr val="560547"/>
          </a:solidFill>
          <a:ln w="9525">
            <a:solidFill>
              <a:srgbClr val="560547"/>
            </a:solidFill>
            <a:prstDash val="solid"/>
          </a:ln>
        </p:spPr>
      </p:sp>
      <p:sp>
        <p:nvSpPr>
          <p:cNvPr id="22" name="Text 18"/>
          <p:cNvSpPr txBox="1"/>
          <p:nvPr/>
        </p:nvSpPr>
        <p:spPr>
          <a:xfrm>
            <a:off x="13613587"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9 · OPERATING MODEL</a:t>
            </a:r>
            <a:endParaRPr lang="en-US" sz="950" dirty="0"/>
          </a:p>
        </p:txBody>
      </p:sp>
      <p:sp>
        <p:nvSpPr>
          <p:cNvPr id="23" name="Shape 19"/>
          <p:cNvSpPr/>
          <p:nvPr/>
        </p:nvSpPr>
        <p:spPr>
          <a:xfrm>
            <a:off x="15045538" y="182880"/>
            <a:ext cx="1413662" cy="502920"/>
          </a:xfrm>
          <a:prstGeom prst="roundRect">
            <a:avLst>
              <a:gd name="adj" fmla="val 14545"/>
            </a:avLst>
          </a:prstGeom>
          <a:solidFill>
            <a:srgbClr val="FFFFFF"/>
          </a:solidFill>
          <a:ln w="9525">
            <a:solidFill>
              <a:srgbClr val="E0CEDA"/>
            </a:solidFill>
            <a:prstDash val="solid"/>
          </a:ln>
        </p:spPr>
      </p:sp>
      <p:sp>
        <p:nvSpPr>
          <p:cNvPr id="24" name="Text 20"/>
          <p:cNvSpPr txBox="1"/>
          <p:nvPr/>
        </p:nvSpPr>
        <p:spPr>
          <a:xfrm>
            <a:off x="1508211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10 · PROTOTYPE</a:t>
            </a:r>
            <a:endParaRPr lang="en-US" sz="950" dirty="0"/>
          </a:p>
        </p:txBody>
      </p:sp>
      <p:sp>
        <p:nvSpPr>
          <p:cNvPr id="25" name="Shape 21"/>
          <p:cNvSpPr/>
          <p:nvPr/>
        </p:nvSpPr>
        <p:spPr>
          <a:xfrm>
            <a:off x="228600" y="987552"/>
            <a:ext cx="384048" cy="8083296"/>
          </a:xfrm>
          <a:prstGeom prst="rect">
            <a:avLst/>
          </a:prstGeom>
          <a:solidFill>
            <a:srgbClr val="6E1251"/>
          </a:solidFill>
          <a:ln w="12700">
            <a:solidFill>
              <a:srgbClr val="6E1251"/>
            </a:solidFill>
            <a:prstDash val="solid"/>
          </a:ln>
        </p:spPr>
      </p:sp>
      <p:sp>
        <p:nvSpPr>
          <p:cNvPr id="26" name="Text 22"/>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HOW MEESHO RUNS IT</a:t>
            </a:r>
            <a:endParaRPr lang="en-US" sz="1200" dirty="0"/>
          </a:p>
        </p:txBody>
      </p:sp>
      <p:sp>
        <p:nvSpPr>
          <p:cNvPr id="27" name="Text 23"/>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Q9 · Operating model · How Meesho builds, staffs and defends it, and how robust the unit economics are</a:t>
            </a:r>
            <a:endParaRPr lang="en-US" sz="1700" dirty="0"/>
          </a:p>
        </p:txBody>
      </p:sp>
      <p:sp>
        <p:nvSpPr>
          <p:cNvPr id="28" name="Text 24"/>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Sources: Meesho Q4 FY26 earnings call (Valmo share, ads, Meesho Mall); Flipkart and Amazon seller-fee announcements (2025–26); Tech Buzz China (Temu); prototype economics model for the stress test. Team sizes are proposals; competitor marks are team assessment from public information.</a:t>
            </a:r>
            <a:endParaRPr lang="en-US" sz="1000" dirty="0"/>
          </a:p>
        </p:txBody>
      </p:sp>
      <p:sp>
        <p:nvSpPr>
          <p:cNvPr id="29" name="Shape 25"/>
          <p:cNvSpPr/>
          <p:nvPr/>
        </p:nvSpPr>
        <p:spPr>
          <a:xfrm>
            <a:off x="228600" y="9400032"/>
            <a:ext cx="17830800" cy="603504"/>
          </a:xfrm>
          <a:prstGeom prst="rect">
            <a:avLst/>
          </a:prstGeom>
          <a:solidFill>
            <a:srgbClr val="560547"/>
          </a:solidFill>
          <a:ln w="12700">
            <a:solidFill>
              <a:srgbClr val="560547"/>
            </a:solidFill>
            <a:prstDash val="solid"/>
          </a:ln>
        </p:spPr>
      </p:sp>
      <p:sp>
        <p:nvSpPr>
          <p:cNvPr id="30" name="Shape 26"/>
          <p:cNvSpPr/>
          <p:nvPr/>
        </p:nvSpPr>
        <p:spPr>
          <a:xfrm>
            <a:off x="411480" y="9592056"/>
            <a:ext cx="219456" cy="219456"/>
          </a:xfrm>
          <a:prstGeom prst="rect">
            <a:avLst/>
          </a:prstGeom>
          <a:solidFill>
            <a:srgbClr val="FF9D00"/>
          </a:solidFill>
          <a:ln w="12700">
            <a:solidFill>
              <a:srgbClr val="FF9D00"/>
            </a:solidFill>
            <a:prstDash val="solid"/>
          </a:ln>
        </p:spPr>
      </p:sp>
      <p:sp>
        <p:nvSpPr>
          <p:cNvPr id="31" name="Text 27"/>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Five engines on tables Meesho already has, a pilot team of 8.5, and a stack rivals cannot copy with a rate card; Kavin still clears the 8% gate in 6 of 7 stress tests.</a:t>
            </a:r>
            <a:endParaRPr lang="en-US" sz="1400" dirty="0"/>
          </a:p>
        </p:txBody>
      </p:sp>
      <p:pic>
        <p:nvPicPr>
          <p:cNvPr id="32"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4" name="Shape 28"/>
          <p:cNvSpPr/>
          <p:nvPr/>
        </p:nvSpPr>
        <p:spPr>
          <a:xfrm>
            <a:off x="749808" y="1426464"/>
            <a:ext cx="10561320" cy="3931920"/>
          </a:xfrm>
          <a:prstGeom prst="rect">
            <a:avLst/>
          </a:prstGeom>
          <a:solidFill>
            <a:srgbClr val="FFFFFF"/>
          </a:solidFill>
          <a:ln w="9525">
            <a:solidFill>
              <a:srgbClr val="E0CEDA"/>
            </a:solidFill>
            <a:prstDash val="solid"/>
          </a:ln>
        </p:spPr>
      </p:sp>
      <p:sp>
        <p:nvSpPr>
          <p:cNvPr id="35" name="Shape 29"/>
          <p:cNvSpPr/>
          <p:nvPr/>
        </p:nvSpPr>
        <p:spPr>
          <a:xfrm>
            <a:off x="749808" y="1426464"/>
            <a:ext cx="10561320" cy="329184"/>
          </a:xfrm>
          <a:prstGeom prst="rect">
            <a:avLst/>
          </a:prstGeom>
          <a:solidFill>
            <a:srgbClr val="560547"/>
          </a:solidFill>
          <a:ln w="12700">
            <a:solidFill>
              <a:srgbClr val="560547"/>
            </a:solidFill>
            <a:prstDash val="solid"/>
          </a:ln>
        </p:spPr>
      </p:sp>
      <p:pic>
        <p:nvPicPr>
          <p:cNvPr id="36" name="Image 3" descr="/private/tmp/claude-501/-Users-prathmeshwalimbe-Downloads-Meesho/dfec39d5-f971-4a3a-8cfb-761f4ef1fedb/scratchpad/deck/assets/icons/FaRobot_w.png">    </p:cNvPr>
          <p:cNvPicPr>
            <a:picLocks noChangeAspect="1"/>
          </p:cNvPicPr>
          <p:nvPr/>
        </p:nvPicPr>
        <p:blipFill>
          <a:blip r:embed="rId4"/>
          <a:stretch>
            <a:fillRect/>
          </a:stretch>
        </p:blipFill>
        <p:spPr>
          <a:xfrm>
            <a:off x="859536" y="1490472"/>
            <a:ext cx="201168" cy="201168"/>
          </a:xfrm>
          <a:prstGeom prst="rect">
            <a:avLst/>
          </a:prstGeom>
        </p:spPr>
      </p:pic>
      <p:sp>
        <p:nvSpPr>
          <p:cNvPr id="37" name="Text 30"/>
          <p:cNvSpPr txBox="1"/>
          <p:nvPr/>
        </p:nvSpPr>
        <p:spPr>
          <a:xfrm>
            <a:off x="1133856" y="1426464"/>
            <a:ext cx="1004925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SYSTEM ARCHITECTURE · EXISTING DATA → FIVE ENGINES → FOUR SURFACES</a:t>
            </a:r>
            <a:endParaRPr lang="en-US" sz="1250" dirty="0"/>
          </a:p>
        </p:txBody>
      </p:sp>
      <p:sp>
        <p:nvSpPr>
          <p:cNvPr id="38" name="Shape 31"/>
          <p:cNvSpPr/>
          <p:nvPr/>
        </p:nvSpPr>
        <p:spPr>
          <a:xfrm>
            <a:off x="877824" y="1847088"/>
            <a:ext cx="3130296" cy="310896"/>
          </a:xfrm>
          <a:prstGeom prst="roundRect">
            <a:avLst>
              <a:gd name="adj" fmla="val 11765"/>
            </a:avLst>
          </a:prstGeom>
          <a:solidFill>
            <a:srgbClr val="8A245E"/>
          </a:solidFill>
          <a:ln w="12700">
            <a:solidFill>
              <a:srgbClr val="8A245E"/>
            </a:solidFill>
            <a:prstDash val="solid"/>
          </a:ln>
        </p:spPr>
      </p:sp>
      <p:sp>
        <p:nvSpPr>
          <p:cNvPr id="39" name="Text 32"/>
          <p:cNvSpPr txBox="1"/>
          <p:nvPr/>
        </p:nvSpPr>
        <p:spPr>
          <a:xfrm>
            <a:off x="877824" y="1847088"/>
            <a:ext cx="3130296" cy="310896"/>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Arial" pitchFamily="34" charset="0"/>
                <a:ea typeface="Arial" pitchFamily="34" charset="-122"/>
                <a:cs typeface="Arial" pitchFamily="34" charset="-120"/>
              </a:rPr>
              <a:t>DATA MEESHO ALREADY HOLDS</a:t>
            </a:r>
            <a:endParaRPr lang="en-US" sz="1050" dirty="0"/>
          </a:p>
        </p:txBody>
      </p:sp>
      <p:sp>
        <p:nvSpPr>
          <p:cNvPr id="40" name="Shape 33"/>
          <p:cNvSpPr/>
          <p:nvPr/>
        </p:nvSpPr>
        <p:spPr>
          <a:xfrm>
            <a:off x="877824" y="2249424"/>
            <a:ext cx="3130296" cy="576072"/>
          </a:xfrm>
          <a:prstGeom prst="roundRect">
            <a:avLst>
              <a:gd name="adj" fmla="val 7937"/>
            </a:avLst>
          </a:prstGeom>
          <a:solidFill>
            <a:srgbClr val="F7F3F6"/>
          </a:solidFill>
          <a:ln w="9525">
            <a:solidFill>
              <a:srgbClr val="E0CEDA"/>
            </a:solidFill>
            <a:prstDash val="solid"/>
          </a:ln>
        </p:spPr>
      </p:sp>
      <p:sp>
        <p:nvSpPr>
          <p:cNvPr id="41" name="Text 34"/>
          <p:cNvSpPr txBox="1"/>
          <p:nvPr/>
        </p:nvSpPr>
        <p:spPr>
          <a:xfrm>
            <a:off x="969264" y="2249424"/>
            <a:ext cx="2947416" cy="576072"/>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Catalogue</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live SKUs, product type, landed price</a:t>
            </a:r>
            <a:endParaRPr lang="en-US" sz="1200" dirty="0"/>
          </a:p>
        </p:txBody>
      </p:sp>
      <p:sp>
        <p:nvSpPr>
          <p:cNvPr id="42" name="Shape 35"/>
          <p:cNvSpPr/>
          <p:nvPr/>
        </p:nvSpPr>
        <p:spPr>
          <a:xfrm>
            <a:off x="877824" y="2898648"/>
            <a:ext cx="3130296" cy="576072"/>
          </a:xfrm>
          <a:prstGeom prst="roundRect">
            <a:avLst>
              <a:gd name="adj" fmla="val 7937"/>
            </a:avLst>
          </a:prstGeom>
          <a:solidFill>
            <a:srgbClr val="F7F3F6"/>
          </a:solidFill>
          <a:ln w="9525">
            <a:solidFill>
              <a:srgbClr val="E0CEDA"/>
            </a:solidFill>
            <a:prstDash val="solid"/>
          </a:ln>
        </p:spPr>
      </p:sp>
      <p:sp>
        <p:nvSpPr>
          <p:cNvPr id="43" name="Text 36"/>
          <p:cNvSpPr txBox="1"/>
          <p:nvPr/>
        </p:nvSpPr>
        <p:spPr>
          <a:xfrm>
            <a:off x="969264" y="2898648"/>
            <a:ext cx="2947416" cy="576072"/>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Orders</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delivered, NMV, RTO, return reason</a:t>
            </a:r>
            <a:endParaRPr lang="en-US" sz="1200" dirty="0"/>
          </a:p>
        </p:txBody>
      </p:sp>
      <p:sp>
        <p:nvSpPr>
          <p:cNvPr id="44" name="Shape 37"/>
          <p:cNvSpPr/>
          <p:nvPr/>
        </p:nvSpPr>
        <p:spPr>
          <a:xfrm>
            <a:off x="877824" y="3547872"/>
            <a:ext cx="3130296" cy="576072"/>
          </a:xfrm>
          <a:prstGeom prst="roundRect">
            <a:avLst>
              <a:gd name="adj" fmla="val 7937"/>
            </a:avLst>
          </a:prstGeom>
          <a:solidFill>
            <a:srgbClr val="F7F3F6"/>
          </a:solidFill>
          <a:ln w="9525">
            <a:solidFill>
              <a:srgbClr val="E0CEDA"/>
            </a:solidFill>
            <a:prstDash val="solid"/>
          </a:ln>
        </p:spPr>
      </p:sp>
      <p:sp>
        <p:nvSpPr>
          <p:cNvPr id="45" name="Text 38"/>
          <p:cNvSpPr txBox="1"/>
          <p:nvPr/>
        </p:nvSpPr>
        <p:spPr>
          <a:xfrm>
            <a:off x="969264" y="3547872"/>
            <a:ext cx="2947416" cy="576072"/>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Operations</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dispatch time, in-stock</a:t>
            </a:r>
            <a:endParaRPr lang="en-US" sz="1200" dirty="0"/>
          </a:p>
        </p:txBody>
      </p:sp>
      <p:sp>
        <p:nvSpPr>
          <p:cNvPr id="46" name="Shape 39"/>
          <p:cNvSpPr/>
          <p:nvPr/>
        </p:nvSpPr>
        <p:spPr>
          <a:xfrm>
            <a:off x="877824" y="4197096"/>
            <a:ext cx="3130296" cy="576072"/>
          </a:xfrm>
          <a:prstGeom prst="roundRect">
            <a:avLst>
              <a:gd name="adj" fmla="val 7937"/>
            </a:avLst>
          </a:prstGeom>
          <a:solidFill>
            <a:srgbClr val="F7F3F6"/>
          </a:solidFill>
          <a:ln w="9525">
            <a:solidFill>
              <a:srgbClr val="E0CEDA"/>
            </a:solidFill>
            <a:prstDash val="solid"/>
          </a:ln>
        </p:spPr>
      </p:sp>
      <p:sp>
        <p:nvSpPr>
          <p:cNvPr id="47" name="Text 40"/>
          <p:cNvSpPr txBox="1"/>
          <p:nvPr/>
        </p:nvSpPr>
        <p:spPr>
          <a:xfrm>
            <a:off x="969264" y="4197096"/>
            <a:ext cx="2947416" cy="576072"/>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Exposure</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impressions by pin-code</a:t>
            </a:r>
            <a:endParaRPr lang="en-US" sz="1200" dirty="0"/>
          </a:p>
        </p:txBody>
      </p:sp>
      <p:sp>
        <p:nvSpPr>
          <p:cNvPr id="48" name="Shape 41"/>
          <p:cNvSpPr/>
          <p:nvPr/>
        </p:nvSpPr>
        <p:spPr>
          <a:xfrm>
            <a:off x="4072128" y="3236976"/>
            <a:ext cx="329184" cy="548640"/>
          </a:xfrm>
          <a:prstGeom prst="rightArrow">
            <a:avLst/>
          </a:prstGeom>
          <a:solidFill>
            <a:srgbClr val="8A245E"/>
          </a:solidFill>
          <a:ln w="12700">
            <a:solidFill>
              <a:srgbClr val="8A245E"/>
            </a:solidFill>
            <a:prstDash val="solid"/>
          </a:ln>
        </p:spPr>
      </p:sp>
      <p:sp>
        <p:nvSpPr>
          <p:cNvPr id="49" name="Shape 42"/>
          <p:cNvSpPr/>
          <p:nvPr/>
        </p:nvSpPr>
        <p:spPr>
          <a:xfrm>
            <a:off x="4465320" y="1847088"/>
            <a:ext cx="3130296" cy="310896"/>
          </a:xfrm>
          <a:prstGeom prst="roundRect">
            <a:avLst>
              <a:gd name="adj" fmla="val 11765"/>
            </a:avLst>
          </a:prstGeom>
          <a:solidFill>
            <a:srgbClr val="560547"/>
          </a:solidFill>
          <a:ln w="12700">
            <a:solidFill>
              <a:srgbClr val="560547"/>
            </a:solidFill>
            <a:prstDash val="solid"/>
          </a:ln>
        </p:spPr>
      </p:sp>
      <p:sp>
        <p:nvSpPr>
          <p:cNvPr id="50" name="Text 43"/>
          <p:cNvSpPr txBox="1"/>
          <p:nvPr/>
        </p:nvSpPr>
        <p:spPr>
          <a:xfrm>
            <a:off x="4465320" y="1847088"/>
            <a:ext cx="3130296" cy="310896"/>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Arial" pitchFamily="34" charset="0"/>
                <a:ea typeface="Arial" pitchFamily="34" charset="-122"/>
                <a:cs typeface="Arial" pitchFamily="34" charset="-120"/>
              </a:rPr>
              <a:t>NEW ENGINES · BATCH + RULES</a:t>
            </a:r>
            <a:endParaRPr lang="en-US" sz="1050" dirty="0"/>
          </a:p>
        </p:txBody>
      </p:sp>
      <p:sp>
        <p:nvSpPr>
          <p:cNvPr id="51" name="Shape 44"/>
          <p:cNvSpPr/>
          <p:nvPr/>
        </p:nvSpPr>
        <p:spPr>
          <a:xfrm>
            <a:off x="4465320" y="2249424"/>
            <a:ext cx="3130296" cy="446227"/>
          </a:xfrm>
          <a:prstGeom prst="roundRect">
            <a:avLst>
              <a:gd name="adj" fmla="val 10246"/>
            </a:avLst>
          </a:prstGeom>
          <a:solidFill>
            <a:srgbClr val="F2E4EE"/>
          </a:solidFill>
          <a:ln w="9525">
            <a:solidFill>
              <a:srgbClr val="E0CEDA"/>
            </a:solidFill>
            <a:prstDash val="solid"/>
          </a:ln>
        </p:spPr>
      </p:sp>
      <p:sp>
        <p:nvSpPr>
          <p:cNvPr id="52" name="Text 45"/>
          <p:cNvSpPr txBox="1"/>
          <p:nvPr/>
        </p:nvSpPr>
        <p:spPr>
          <a:xfrm>
            <a:off x="4556760" y="2249424"/>
            <a:ext cx="2947416" cy="446227"/>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Price Truth Index</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weekly · gate and badge</a:t>
            </a:r>
            <a:endParaRPr lang="en-US" sz="1200" dirty="0"/>
          </a:p>
        </p:txBody>
      </p:sp>
      <p:sp>
        <p:nvSpPr>
          <p:cNvPr id="53" name="Shape 46"/>
          <p:cNvSpPr/>
          <p:nvPr/>
        </p:nvSpPr>
        <p:spPr>
          <a:xfrm>
            <a:off x="4465320" y="2768803"/>
            <a:ext cx="3130296" cy="446227"/>
          </a:xfrm>
          <a:prstGeom prst="roundRect">
            <a:avLst>
              <a:gd name="adj" fmla="val 10246"/>
            </a:avLst>
          </a:prstGeom>
          <a:solidFill>
            <a:srgbClr val="F2E4EE"/>
          </a:solidFill>
          <a:ln w="9525">
            <a:solidFill>
              <a:srgbClr val="E0CEDA"/>
            </a:solidFill>
            <a:prstDash val="solid"/>
          </a:ln>
        </p:spPr>
      </p:sp>
      <p:sp>
        <p:nvSpPr>
          <p:cNvPr id="54" name="Text 47"/>
          <p:cNvSpPr txBox="1"/>
          <p:nvPr/>
        </p:nvSpPr>
        <p:spPr>
          <a:xfrm>
            <a:off x="4556760" y="2768803"/>
            <a:ext cx="2947416" cy="446227"/>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Demand Brief</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weekly · district demand</a:t>
            </a:r>
            <a:endParaRPr lang="en-US" sz="1200" dirty="0"/>
          </a:p>
        </p:txBody>
      </p:sp>
      <p:sp>
        <p:nvSpPr>
          <p:cNvPr id="55" name="Shape 48"/>
          <p:cNvSpPr/>
          <p:nvPr/>
        </p:nvSpPr>
        <p:spPr>
          <a:xfrm>
            <a:off x="4465320" y="3288182"/>
            <a:ext cx="3130296" cy="446227"/>
          </a:xfrm>
          <a:prstGeom prst="roundRect">
            <a:avLst>
              <a:gd name="adj" fmla="val 10246"/>
            </a:avLst>
          </a:prstGeom>
          <a:solidFill>
            <a:srgbClr val="F2E4EE"/>
          </a:solidFill>
          <a:ln w="9525">
            <a:solidFill>
              <a:srgbClr val="E0CEDA"/>
            </a:solidFill>
            <a:prstDash val="solid"/>
          </a:ln>
        </p:spPr>
      </p:sp>
      <p:sp>
        <p:nvSpPr>
          <p:cNvPr id="56" name="Text 49"/>
          <p:cNvSpPr txBox="1"/>
          <p:nvPr/>
        </p:nvSpPr>
        <p:spPr>
          <a:xfrm>
            <a:off x="4556760" y="3288182"/>
            <a:ext cx="2947416" cy="446227"/>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Health Score</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daily · five signals</a:t>
            </a:r>
            <a:endParaRPr lang="en-US" sz="1200" dirty="0"/>
          </a:p>
        </p:txBody>
      </p:sp>
      <p:sp>
        <p:nvSpPr>
          <p:cNvPr id="57" name="Shape 50"/>
          <p:cNvSpPr/>
          <p:nvPr/>
        </p:nvSpPr>
        <p:spPr>
          <a:xfrm>
            <a:off x="4465320" y="3807562"/>
            <a:ext cx="3130296" cy="446227"/>
          </a:xfrm>
          <a:prstGeom prst="roundRect">
            <a:avLst>
              <a:gd name="adj" fmla="val 10246"/>
            </a:avLst>
          </a:prstGeom>
          <a:solidFill>
            <a:srgbClr val="F2E4EE"/>
          </a:solidFill>
          <a:ln w="9525">
            <a:solidFill>
              <a:srgbClr val="E0CEDA"/>
            </a:solidFill>
            <a:prstDash val="solid"/>
          </a:ln>
        </p:spPr>
      </p:sp>
      <p:sp>
        <p:nvSpPr>
          <p:cNvPr id="58" name="Text 51"/>
          <p:cNvSpPr txBox="1"/>
          <p:nvPr/>
        </p:nvSpPr>
        <p:spPr>
          <a:xfrm>
            <a:off x="4556760" y="3807562"/>
            <a:ext cx="2947416" cy="446227"/>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Rulebook</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event-driven · nine rules</a:t>
            </a:r>
            <a:endParaRPr lang="en-US" sz="1200" dirty="0"/>
          </a:p>
        </p:txBody>
      </p:sp>
      <p:sp>
        <p:nvSpPr>
          <p:cNvPr id="59" name="Shape 52"/>
          <p:cNvSpPr/>
          <p:nvPr/>
        </p:nvSpPr>
        <p:spPr>
          <a:xfrm>
            <a:off x="4465320" y="4326941"/>
            <a:ext cx="3130296" cy="446227"/>
          </a:xfrm>
          <a:prstGeom prst="roundRect">
            <a:avLst>
              <a:gd name="adj" fmla="val 10246"/>
            </a:avLst>
          </a:prstGeom>
          <a:solidFill>
            <a:srgbClr val="F2E4EE"/>
          </a:solidFill>
          <a:ln w="9525">
            <a:solidFill>
              <a:srgbClr val="E0CEDA"/>
            </a:solidFill>
            <a:prstDash val="solid"/>
          </a:ln>
        </p:spPr>
      </p:sp>
      <p:sp>
        <p:nvSpPr>
          <p:cNvPr id="60" name="Text 53"/>
          <p:cNvSpPr txBox="1"/>
          <p:nvPr/>
        </p:nvSpPr>
        <p:spPr>
          <a:xfrm>
            <a:off x="4556760" y="4326941"/>
            <a:ext cx="2947416" cy="446227"/>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Experiment readout</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Day 30 · fund, tighten, stop</a:t>
            </a:r>
            <a:endParaRPr lang="en-US" sz="1200" dirty="0"/>
          </a:p>
        </p:txBody>
      </p:sp>
      <p:sp>
        <p:nvSpPr>
          <p:cNvPr id="61" name="Shape 54"/>
          <p:cNvSpPr/>
          <p:nvPr/>
        </p:nvSpPr>
        <p:spPr>
          <a:xfrm>
            <a:off x="7659624" y="3236976"/>
            <a:ext cx="329184" cy="548640"/>
          </a:xfrm>
          <a:prstGeom prst="rightArrow">
            <a:avLst/>
          </a:prstGeom>
          <a:solidFill>
            <a:srgbClr val="8A245E"/>
          </a:solidFill>
          <a:ln w="12700">
            <a:solidFill>
              <a:srgbClr val="8A245E"/>
            </a:solidFill>
            <a:prstDash val="solid"/>
          </a:ln>
        </p:spPr>
      </p:sp>
      <p:sp>
        <p:nvSpPr>
          <p:cNvPr id="62" name="Shape 55"/>
          <p:cNvSpPr/>
          <p:nvPr/>
        </p:nvSpPr>
        <p:spPr>
          <a:xfrm>
            <a:off x="8052816" y="1847088"/>
            <a:ext cx="3130296" cy="310896"/>
          </a:xfrm>
          <a:prstGeom prst="roundRect">
            <a:avLst>
              <a:gd name="adj" fmla="val 11765"/>
            </a:avLst>
          </a:prstGeom>
          <a:solidFill>
            <a:srgbClr val="FF9D00"/>
          </a:solidFill>
          <a:ln w="12700">
            <a:solidFill>
              <a:srgbClr val="FF9D00"/>
            </a:solidFill>
            <a:prstDash val="solid"/>
          </a:ln>
        </p:spPr>
      </p:sp>
      <p:sp>
        <p:nvSpPr>
          <p:cNvPr id="63" name="Text 56"/>
          <p:cNvSpPr txBox="1"/>
          <p:nvPr/>
        </p:nvSpPr>
        <p:spPr>
          <a:xfrm>
            <a:off x="8052816" y="1847088"/>
            <a:ext cx="3130296" cy="310896"/>
          </a:xfrm>
          <a:prstGeom prst="rect">
            <a:avLst/>
          </a:prstGeom>
          <a:noFill/>
          <a:ln/>
        </p:spPr>
        <p:txBody>
          <a:bodyPr wrap="square" lIns="0" tIns="0" rIns="0" bIns="0" rtlCol="0" anchor="ctr"/>
          <a:lstStyle/>
          <a:p>
            <a:pPr algn="ctr" indent="0" marL="0">
              <a:lnSpc>
                <a:spcPct val="100000"/>
              </a:lnSpc>
              <a:buNone/>
            </a:pPr>
            <a:r>
              <a:rPr lang="en-US" sz="1050" b="1" dirty="0">
                <a:solidFill>
                  <a:srgbClr val="560547"/>
                </a:solidFill>
                <a:latin typeface="Arial" pitchFamily="34" charset="0"/>
                <a:ea typeface="Arial" pitchFamily="34" charset="-122"/>
                <a:cs typeface="Arial" pitchFamily="34" charset="-120"/>
              </a:rPr>
              <a:t>SURFACES</a:t>
            </a:r>
            <a:endParaRPr lang="en-US" sz="1050" dirty="0"/>
          </a:p>
        </p:txBody>
      </p:sp>
      <p:sp>
        <p:nvSpPr>
          <p:cNvPr id="64" name="Shape 57"/>
          <p:cNvSpPr/>
          <p:nvPr/>
        </p:nvSpPr>
        <p:spPr>
          <a:xfrm>
            <a:off x="8052816" y="2249424"/>
            <a:ext cx="3130296" cy="576072"/>
          </a:xfrm>
          <a:prstGeom prst="roundRect">
            <a:avLst>
              <a:gd name="adj" fmla="val 7937"/>
            </a:avLst>
          </a:prstGeom>
          <a:solidFill>
            <a:srgbClr val="F7F3F6"/>
          </a:solidFill>
          <a:ln w="9525">
            <a:solidFill>
              <a:srgbClr val="E0CEDA"/>
            </a:solidFill>
            <a:prstDash val="solid"/>
          </a:ln>
        </p:spPr>
      </p:sp>
      <p:sp>
        <p:nvSpPr>
          <p:cNvPr id="65" name="Text 58"/>
          <p:cNvSpPr txBox="1"/>
          <p:nvPr/>
        </p:nvSpPr>
        <p:spPr>
          <a:xfrm>
            <a:off x="8144256" y="2249424"/>
            <a:ext cx="2947416" cy="576072"/>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Search ranking + badge</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capped at 20% of impressions</a:t>
            </a:r>
            <a:endParaRPr lang="en-US" sz="1200" dirty="0"/>
          </a:p>
        </p:txBody>
      </p:sp>
      <p:sp>
        <p:nvSpPr>
          <p:cNvPr id="66" name="Shape 59"/>
          <p:cNvSpPr/>
          <p:nvPr/>
        </p:nvSpPr>
        <p:spPr>
          <a:xfrm>
            <a:off x="8052816" y="2898648"/>
            <a:ext cx="3130296" cy="576072"/>
          </a:xfrm>
          <a:prstGeom prst="roundRect">
            <a:avLst>
              <a:gd name="adj" fmla="val 7937"/>
            </a:avLst>
          </a:prstGeom>
          <a:solidFill>
            <a:srgbClr val="F7F3F6"/>
          </a:solidFill>
          <a:ln w="9525">
            <a:solidFill>
              <a:srgbClr val="E0CEDA"/>
            </a:solidFill>
            <a:prstDash val="solid"/>
          </a:ln>
        </p:spPr>
      </p:sp>
      <p:sp>
        <p:nvSpPr>
          <p:cNvPr id="67" name="Text 60"/>
          <p:cNvSpPr txBox="1"/>
          <p:nvPr/>
        </p:nvSpPr>
        <p:spPr>
          <a:xfrm>
            <a:off x="8144256" y="2898648"/>
            <a:ext cx="2947416" cy="576072"/>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Supplier panel + WhatsApp</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brief, batch, one-tap commit</a:t>
            </a:r>
            <a:endParaRPr lang="en-US" sz="1200" dirty="0"/>
          </a:p>
        </p:txBody>
      </p:sp>
      <p:sp>
        <p:nvSpPr>
          <p:cNvPr id="68" name="Shape 61"/>
          <p:cNvSpPr/>
          <p:nvPr/>
        </p:nvSpPr>
        <p:spPr>
          <a:xfrm>
            <a:off x="8052816" y="3547872"/>
            <a:ext cx="3130296" cy="576072"/>
          </a:xfrm>
          <a:prstGeom prst="roundRect">
            <a:avLst>
              <a:gd name="adj" fmla="val 7937"/>
            </a:avLst>
          </a:prstGeom>
          <a:solidFill>
            <a:srgbClr val="F7F3F6"/>
          </a:solidFill>
          <a:ln w="9525">
            <a:solidFill>
              <a:srgbClr val="E0CEDA"/>
            </a:solidFill>
            <a:prstDash val="solid"/>
          </a:ln>
        </p:spPr>
      </p:sp>
      <p:sp>
        <p:nvSpPr>
          <p:cNvPr id="69" name="Text 62"/>
          <p:cNvSpPr txBox="1"/>
          <p:nvPr/>
        </p:nvSpPr>
        <p:spPr>
          <a:xfrm>
            <a:off x="8144256" y="3547872"/>
            <a:ext cx="2947416" cy="576072"/>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Valmo Factory Node</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bulk in, unit orders out</a:t>
            </a:r>
            <a:endParaRPr lang="en-US" sz="1200" dirty="0"/>
          </a:p>
        </p:txBody>
      </p:sp>
      <p:sp>
        <p:nvSpPr>
          <p:cNvPr id="70" name="Shape 63"/>
          <p:cNvSpPr/>
          <p:nvPr/>
        </p:nvSpPr>
        <p:spPr>
          <a:xfrm>
            <a:off x="8052816" y="4197096"/>
            <a:ext cx="3130296" cy="576072"/>
          </a:xfrm>
          <a:prstGeom prst="roundRect">
            <a:avLst>
              <a:gd name="adj" fmla="val 7937"/>
            </a:avLst>
          </a:prstGeom>
          <a:solidFill>
            <a:srgbClr val="F7F3F6"/>
          </a:solidFill>
          <a:ln w="9525">
            <a:solidFill>
              <a:srgbClr val="E0CEDA"/>
            </a:solidFill>
            <a:prstDash val="solid"/>
          </a:ln>
        </p:spPr>
      </p:sp>
      <p:sp>
        <p:nvSpPr>
          <p:cNvPr id="71" name="Text 64"/>
          <p:cNvSpPr txBox="1"/>
          <p:nvPr/>
        </p:nvSpPr>
        <p:spPr>
          <a:xfrm>
            <a:off x="8144256" y="4197096"/>
            <a:ext cx="2947416" cy="576072"/>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Category-manager queue</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exceptions only</a:t>
            </a:r>
            <a:endParaRPr lang="en-US" sz="1200" dirty="0"/>
          </a:p>
        </p:txBody>
      </p:sp>
      <p:sp>
        <p:nvSpPr>
          <p:cNvPr id="72" name="Text 65"/>
          <p:cNvSpPr txBox="1"/>
          <p:nvPr/>
        </p:nvSpPr>
        <p:spPr>
          <a:xfrm>
            <a:off x="877824" y="4828032"/>
            <a:ext cx="10305288" cy="411480"/>
          </a:xfrm>
          <a:prstGeom prst="rect">
            <a:avLst/>
          </a:prstGeom>
          <a:noFill/>
          <a:ln/>
        </p:spPr>
        <p:txBody>
          <a:bodyPr wrap="square" lIns="0" tIns="0" rIns="0" bIns="0" rtlCol="0" anchor="t"/>
          <a:lstStyle/>
          <a:p>
            <a:pPr algn="l" indent="0" marL="0">
              <a:lnSpc>
                <a:spcPct val="100000"/>
              </a:lnSpc>
              <a:buNone/>
            </a:pPr>
            <a:r>
              <a:rPr lang="en-US" sz="1050" b="1" dirty="0">
                <a:solidFill>
                  <a:srgbClr val="560547"/>
                </a:solidFill>
                <a:latin typeface="Calibri" pitchFamily="34" charset="0"/>
                <a:ea typeface="Calibri" pitchFamily="34" charset="-122"/>
                <a:cs typeface="Calibri" pitchFamily="34" charset="-120"/>
              </a:rPr>
              <a:t>New build: </a:t>
            </a:r>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four scheduled jobs and one rules engine on tables Meesho already has. No new data integration; the prototype runs all five.</a:t>
            </a:r>
            <a:endParaRPr lang="en-US" sz="1050" dirty="0"/>
          </a:p>
        </p:txBody>
      </p:sp>
      <p:sp>
        <p:nvSpPr>
          <p:cNvPr id="73" name="Shape 66"/>
          <p:cNvSpPr/>
          <p:nvPr/>
        </p:nvSpPr>
        <p:spPr>
          <a:xfrm>
            <a:off x="11439144" y="1426464"/>
            <a:ext cx="6620256" cy="3931920"/>
          </a:xfrm>
          <a:prstGeom prst="rect">
            <a:avLst/>
          </a:prstGeom>
          <a:solidFill>
            <a:srgbClr val="FFFFFF"/>
          </a:solidFill>
          <a:ln w="9525">
            <a:solidFill>
              <a:srgbClr val="E0CEDA"/>
            </a:solidFill>
            <a:prstDash val="solid"/>
          </a:ln>
        </p:spPr>
      </p:sp>
      <p:sp>
        <p:nvSpPr>
          <p:cNvPr id="74" name="Shape 67"/>
          <p:cNvSpPr/>
          <p:nvPr/>
        </p:nvSpPr>
        <p:spPr>
          <a:xfrm>
            <a:off x="11439144" y="1426464"/>
            <a:ext cx="6620256" cy="329184"/>
          </a:xfrm>
          <a:prstGeom prst="rect">
            <a:avLst/>
          </a:prstGeom>
          <a:solidFill>
            <a:srgbClr val="560547"/>
          </a:solidFill>
          <a:ln w="12700">
            <a:solidFill>
              <a:srgbClr val="560547"/>
            </a:solidFill>
            <a:prstDash val="solid"/>
          </a:ln>
        </p:spPr>
      </p:sp>
      <p:pic>
        <p:nvPicPr>
          <p:cNvPr id="75" name="Image 4" descr="/private/tmp/claude-501/-Users-prathmeshwalimbe-Downloads-Meesho/dfec39d5-f971-4a3a-8cfb-761f4ef1fedb/scratchpad/deck/assets/icons/FaUserTie_w.png">    </p:cNvPr>
          <p:cNvPicPr>
            <a:picLocks noChangeAspect="1"/>
          </p:cNvPicPr>
          <p:nvPr/>
        </p:nvPicPr>
        <p:blipFill>
          <a:blip r:embed="rId5"/>
          <a:stretch>
            <a:fillRect/>
          </a:stretch>
        </p:blipFill>
        <p:spPr>
          <a:xfrm>
            <a:off x="11548872" y="1490472"/>
            <a:ext cx="201168" cy="201168"/>
          </a:xfrm>
          <a:prstGeom prst="rect">
            <a:avLst/>
          </a:prstGeom>
        </p:spPr>
      </p:pic>
      <p:sp>
        <p:nvSpPr>
          <p:cNvPr id="76" name="Text 68"/>
          <p:cNvSpPr txBox="1"/>
          <p:nvPr/>
        </p:nvSpPr>
        <p:spPr>
          <a:xfrm>
            <a:off x="11823192" y="1426464"/>
            <a:ext cx="610819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TEAM AND OWNERSHIP · PROPOSED</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1567160" y="1847088"/>
          <a:ext cx="6364224" cy="914400"/>
        </p:xfrm>
        <a:graphic>
          <a:graphicData uri="http://schemas.openxmlformats.org/drawingml/2006/table">
            <a:tbl>
              <a:tblPr/>
              <a:tblGrid>
                <a:gridCol w="2514600"/>
                <a:gridCol w="2011680"/>
                <a:gridCol w="777240"/>
                <a:gridCol w="1060704"/>
              </a:tblGrid>
              <a:tr h="329184">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Workstream</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Owner</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Pilot</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Wave 2</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Price Truth Index, badge, experiment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Pricing + data science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Demand Brief, Health Score, rulebook</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Data science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Supplier panel + WhatsApp flows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Supplier product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Cluster partnerships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Category (1 per cluster)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Factory Node operations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Valmo + partner warehouse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Prepayment via lending partner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Finance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0.5</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Total people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8.5</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78" name="Text 69"/>
          <p:cNvSpPr txBox="1"/>
          <p:nvPr/>
        </p:nvSpPr>
        <p:spPr>
          <a:xfrm>
            <a:off x="11567160" y="4590288"/>
            <a:ext cx="6364224" cy="640080"/>
          </a:xfrm>
          <a:prstGeom prst="rect">
            <a:avLst/>
          </a:prstGeom>
          <a:noFill/>
          <a:ln/>
        </p:spPr>
        <p:txBody>
          <a:bodyPr wrap="square" lIns="0" tIns="0" rIns="0" bIns="0" rtlCol="0" anchor="t"/>
          <a:lstStyle/>
          <a:p>
            <a:pPr algn="l" indent="0" marL="0">
              <a:lnSpc>
                <a:spcPct val="100000"/>
              </a:lnSpc>
              <a:buNone/>
            </a:pPr>
            <a:r>
              <a:rPr lang="en-US" sz="1050" b="1" dirty="0">
                <a:solidFill>
                  <a:srgbClr val="560547"/>
                </a:solidFill>
                <a:latin typeface="Calibri" pitchFamily="34" charset="0"/>
                <a:ea typeface="Calibri" pitchFamily="34" charset="-122"/>
                <a:cs typeface="Calibri" pitchFamily="34" charset="-120"/>
              </a:rPr>
              <a:t>People scale with clusters, not sellers: </a:t>
            </a:r>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escalations run at ~910 sellers per category manager, so 1,400 sellers need about two reviewers, not an account team.</a:t>
            </a:r>
            <a:endParaRPr lang="en-US" sz="1050" dirty="0"/>
          </a:p>
        </p:txBody>
      </p:sp>
      <p:sp>
        <p:nvSpPr>
          <p:cNvPr id="79" name="Shape 70"/>
          <p:cNvSpPr/>
          <p:nvPr/>
        </p:nvSpPr>
        <p:spPr>
          <a:xfrm>
            <a:off x="749808" y="5486400"/>
            <a:ext cx="6629400" cy="3529584"/>
          </a:xfrm>
          <a:prstGeom prst="rect">
            <a:avLst/>
          </a:prstGeom>
          <a:solidFill>
            <a:srgbClr val="FFFFFF"/>
          </a:solidFill>
          <a:ln w="9525">
            <a:solidFill>
              <a:srgbClr val="E0CEDA"/>
            </a:solidFill>
            <a:prstDash val="solid"/>
          </a:ln>
        </p:spPr>
      </p:sp>
      <p:sp>
        <p:nvSpPr>
          <p:cNvPr id="80" name="Shape 71"/>
          <p:cNvSpPr/>
          <p:nvPr/>
        </p:nvSpPr>
        <p:spPr>
          <a:xfrm>
            <a:off x="749808" y="5486400"/>
            <a:ext cx="6629400" cy="329184"/>
          </a:xfrm>
          <a:prstGeom prst="rect">
            <a:avLst/>
          </a:prstGeom>
          <a:solidFill>
            <a:srgbClr val="8A245E"/>
          </a:solidFill>
          <a:ln w="12700">
            <a:solidFill>
              <a:srgbClr val="8A245E"/>
            </a:solidFill>
            <a:prstDash val="solid"/>
          </a:ln>
        </p:spPr>
      </p:sp>
      <p:pic>
        <p:nvPicPr>
          <p:cNvPr id="81" name="Image 5" descr="/private/tmp/claude-501/-Users-prathmeshwalimbe-Downloads-Meesho/dfec39d5-f971-4a3a-8cfb-761f4ef1fedb/scratchpad/deck/assets/icons/FaGlobe_w.png">    </p:cNvPr>
          <p:cNvPicPr>
            <a:picLocks noChangeAspect="1"/>
          </p:cNvPicPr>
          <p:nvPr/>
        </p:nvPicPr>
        <p:blipFill>
          <a:blip r:embed="rId6"/>
          <a:stretch>
            <a:fillRect/>
          </a:stretch>
        </p:blipFill>
        <p:spPr>
          <a:xfrm>
            <a:off x="859536" y="5550408"/>
            <a:ext cx="201168" cy="201168"/>
          </a:xfrm>
          <a:prstGeom prst="rect">
            <a:avLst/>
          </a:prstGeom>
        </p:spPr>
      </p:pic>
      <p:sp>
        <p:nvSpPr>
          <p:cNvPr id="82" name="Text 72"/>
          <p:cNvSpPr txBox="1"/>
          <p:nvPr/>
        </p:nvSpPr>
        <p:spPr>
          <a:xfrm>
            <a:off x="1133856" y="5486400"/>
            <a:ext cx="611733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WHY RIVALS CANNOT COPY IT QUICKLY</a:t>
            </a:r>
            <a:endParaRPr lang="en-US" sz="125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877824" y="5907024"/>
          <a:ext cx="6373368" cy="914400"/>
        </p:xfrm>
        <a:graphic>
          <a:graphicData uri="http://schemas.openxmlformats.org/drawingml/2006/table">
            <a:tbl>
              <a:tblPr/>
              <a:tblGrid>
                <a:gridCol w="1417320"/>
                <a:gridCol w="826008"/>
                <a:gridCol w="826008"/>
                <a:gridCol w="826008"/>
                <a:gridCol w="826008"/>
                <a:gridCol w="826008"/>
                <a:gridCol w="826008"/>
              </a:tblGrid>
              <a:tr h="329184">
                <a:tc>
                  <a:txBody>
                    <a:bodyPr/>
                    <a:lstStyle/>
                    <a:p>
                      <a:pPr algn="l" indent="0" marL="0">
                        <a:buNone/>
                      </a:pPr>
                      <a:endParaRPr lang="en-US" sz="9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Value demand ₹200–300</a:t>
                      </a:r>
                      <a:endParaRPr lang="en-US" sz="9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Tier-2+ reach</a:t>
                      </a:r>
                      <a:endParaRPr lang="en-US" sz="9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Zero fees</a:t>
                      </a:r>
                      <a:endParaRPr lang="en-US" sz="9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Bulk inbound store</a:t>
                      </a:r>
                      <a:endParaRPr lang="en-US" sz="9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Demand data to factories</a:t>
                      </a:r>
                      <a:endParaRPr lang="en-US" sz="9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Pre-order batches</a:t>
                      </a:r>
                      <a:endParaRPr lang="en-US" sz="9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329184">
                <a:tc>
                  <a:txBody>
                    <a:bodyPr/>
                    <a:lstStyle/>
                    <a:p>
                      <a:pPr algn="l" indent="0" marL="0">
                        <a:buNone/>
                      </a:pPr>
                      <a:r>
                        <a:rPr lang="en-US" sz="1050" b="1" dirty="0">
                          <a:solidFill>
                            <a:srgbClr val="560547"/>
                          </a:solidFill>
                          <a:latin typeface="Calibri" pitchFamily="34" charset="0"/>
                          <a:ea typeface="Calibri" pitchFamily="34" charset="-122"/>
                          <a:cs typeface="Calibri" pitchFamily="34" charset="-120"/>
                        </a:rPr>
                        <a:t>Meesho + C2M</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r h="329184">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Flipkart / Shopsy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r>
              <a:tr h="329184">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Amazon</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r>
              <a:tr h="329184">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IndiaMART (B2B)</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r>
              <a:tr h="329184">
                <a:tc>
                  <a:txBody>
                    <a:bodyPr/>
                    <a:lstStyle/>
                    <a:p>
                      <a:pPr algn="l" indent="0" marL="0">
                        <a:buNone/>
                      </a:pPr>
                      <a:r>
                        <a:rPr lang="en-US" sz="1050" b="1" dirty="0">
                          <a:solidFill>
                            <a:srgbClr val="2B1226"/>
                          </a:solidFill>
                          <a:latin typeface="Calibri" pitchFamily="34" charset="0"/>
                          <a:ea typeface="Calibri" pitchFamily="34" charset="-122"/>
                          <a:cs typeface="Calibri" pitchFamily="34" charset="-120"/>
                        </a:rPr>
                        <a:t>Offline distributor</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82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CEFD6"/>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c>
                  <a:txBody>
                    <a:bodyPr/>
                    <a:lstStyle/>
                    <a:p>
                      <a:pPr algn="ctr" indent="0" marL="0">
                        <a:buNone/>
                      </a:pPr>
                      <a:r>
                        <a:rPr lang="en-US" sz="1050" b="1" dirty="0">
                          <a:solidFill>
                            <a:srgbClr val="C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8E0DC"/>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E2F2E9"/>
                    </a:solidFill>
                  </a:tcPr>
                </a:tc>
              </a:tr>
            </a:tbl>
          </a:graphicData>
        </a:graphic>
      </p:graphicFrame>
      <p:sp>
        <p:nvSpPr>
          <p:cNvPr id="84" name="Text 73"/>
          <p:cNvSpPr txBox="1"/>
          <p:nvPr/>
        </p:nvSpPr>
        <p:spPr>
          <a:xfrm>
            <a:off x="877824" y="8238744"/>
            <a:ext cx="6373368" cy="640080"/>
          </a:xfrm>
          <a:prstGeom prst="rect">
            <a:avLst/>
          </a:prstGeom>
          <a:noFill/>
          <a:ln/>
        </p:spPr>
        <p:txBody>
          <a:bodyPr wrap="square" lIns="0" tIns="0" rIns="0" bIns="0" rtlCol="0" anchor="t"/>
          <a:lstStyle/>
          <a:p>
            <a:pPr algn="l" indent="0" marL="0">
              <a:lnSpc>
                <a:spcPct val="100000"/>
              </a:lnSpc>
              <a:buNone/>
            </a:pPr>
            <a:r>
              <a:rPr lang="en-US" sz="1050" b="1" dirty="0">
                <a:solidFill>
                  <a:srgbClr val="560547"/>
                </a:solidFill>
                <a:latin typeface="Calibri" pitchFamily="34" charset="0"/>
                <a:ea typeface="Calibri" pitchFamily="34" charset="-122"/>
                <a:cs typeface="Calibri" pitchFamily="34" charset="-120"/>
              </a:rPr>
              <a:t>Each rival covers one or two columns. </a:t>
            </a:r>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Only the full stack joins value demand to factory capacity. A rate card can be copied in a quarter; this takes years. ✓ yes · – partly · ✕ no.</a:t>
            </a:r>
            <a:endParaRPr lang="en-US" sz="1050" dirty="0"/>
          </a:p>
        </p:txBody>
      </p:sp>
      <p:sp>
        <p:nvSpPr>
          <p:cNvPr id="85" name="Shape 74"/>
          <p:cNvSpPr/>
          <p:nvPr/>
        </p:nvSpPr>
        <p:spPr>
          <a:xfrm>
            <a:off x="7507224" y="5486400"/>
            <a:ext cx="5897880" cy="3529584"/>
          </a:xfrm>
          <a:prstGeom prst="rect">
            <a:avLst/>
          </a:prstGeom>
          <a:solidFill>
            <a:srgbClr val="FFFFFF"/>
          </a:solidFill>
          <a:ln w="9525">
            <a:solidFill>
              <a:srgbClr val="E0CEDA"/>
            </a:solidFill>
            <a:prstDash val="solid"/>
          </a:ln>
        </p:spPr>
      </p:sp>
      <p:sp>
        <p:nvSpPr>
          <p:cNvPr id="86" name="Shape 75"/>
          <p:cNvSpPr/>
          <p:nvPr/>
        </p:nvSpPr>
        <p:spPr>
          <a:xfrm>
            <a:off x="7507224" y="5486400"/>
            <a:ext cx="5897880" cy="329184"/>
          </a:xfrm>
          <a:prstGeom prst="rect">
            <a:avLst/>
          </a:prstGeom>
          <a:solidFill>
            <a:srgbClr val="8A245E"/>
          </a:solidFill>
          <a:ln w="12700">
            <a:solidFill>
              <a:srgbClr val="8A245E"/>
            </a:solidFill>
            <a:prstDash val="solid"/>
          </a:ln>
        </p:spPr>
      </p:sp>
      <p:pic>
        <p:nvPicPr>
          <p:cNvPr id="87" name="Image 6" descr="/private/tmp/claude-501/-Users-prathmeshwalimbe-Downloads-Meesho/dfec39d5-f971-4a3a-8cfb-761f4ef1fedb/scratchpad/deck/assets/icons/FaScaleUnbalanced_w.png">    </p:cNvPr>
          <p:cNvPicPr>
            <a:picLocks noChangeAspect="1"/>
          </p:cNvPicPr>
          <p:nvPr/>
        </p:nvPicPr>
        <p:blipFill>
          <a:blip r:embed="rId7"/>
          <a:stretch>
            <a:fillRect/>
          </a:stretch>
        </p:blipFill>
        <p:spPr>
          <a:xfrm>
            <a:off x="7616952" y="5550408"/>
            <a:ext cx="201168" cy="201168"/>
          </a:xfrm>
          <a:prstGeom prst="rect">
            <a:avLst/>
          </a:prstGeom>
        </p:spPr>
      </p:pic>
      <p:sp>
        <p:nvSpPr>
          <p:cNvPr id="88" name="Text 76"/>
          <p:cNvSpPr txBox="1"/>
          <p:nvPr/>
        </p:nvSpPr>
        <p:spPr>
          <a:xfrm>
            <a:off x="7891272" y="5486400"/>
            <a:ext cx="538581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STRESS TEST · KAVIN KNIT MILLS PRICE GAP</a:t>
            </a:r>
            <a:endParaRPr lang="en-US" sz="1250" dirty="0"/>
          </a:p>
        </p:txBody>
      </p:sp>
      <p:sp>
        <p:nvSpPr>
          <p:cNvPr id="89" name="Text 77"/>
          <p:cNvSpPr txBox="1"/>
          <p:nvPr/>
        </p:nvSpPr>
        <p:spPr>
          <a:xfrm>
            <a:off x="9235440" y="5907024"/>
            <a:ext cx="457200" cy="201168"/>
          </a:xfrm>
          <a:prstGeom prst="rect">
            <a:avLst/>
          </a:prstGeom>
          <a:noFill/>
          <a:ln/>
        </p:spPr>
        <p:txBody>
          <a:bodyPr wrap="square" lIns="0" tIns="0" rIns="0" bIns="0" rtlCol="0" anchor="t"/>
          <a:lstStyle/>
          <a:p>
            <a:pPr algn="ctr" indent="0" marL="0">
              <a:lnSpc>
                <a:spcPct val="100000"/>
              </a:lnSpc>
              <a:buNone/>
            </a:pPr>
            <a:r>
              <a:rPr lang="en-US" sz="950" dirty="0">
                <a:solidFill>
                  <a:srgbClr val="7A6470"/>
                </a:solidFill>
                <a:latin typeface="Calibri" pitchFamily="34" charset="0"/>
                <a:ea typeface="Calibri" pitchFamily="34" charset="-122"/>
                <a:cs typeface="Calibri" pitchFamily="34" charset="-120"/>
              </a:rPr>
              <a:t>0%</a:t>
            </a:r>
            <a:endParaRPr lang="en-US" sz="950" dirty="0"/>
          </a:p>
        </p:txBody>
      </p:sp>
      <p:sp>
        <p:nvSpPr>
          <p:cNvPr id="90" name="Text 78"/>
          <p:cNvSpPr txBox="1"/>
          <p:nvPr/>
        </p:nvSpPr>
        <p:spPr>
          <a:xfrm>
            <a:off x="10154412" y="5907024"/>
            <a:ext cx="457200" cy="201168"/>
          </a:xfrm>
          <a:prstGeom prst="rect">
            <a:avLst/>
          </a:prstGeom>
          <a:noFill/>
          <a:ln/>
        </p:spPr>
        <p:txBody>
          <a:bodyPr wrap="square" lIns="0" tIns="0" rIns="0" bIns="0" rtlCol="0" anchor="t"/>
          <a:lstStyle/>
          <a:p>
            <a:pPr algn="ctr" indent="0" marL="0">
              <a:lnSpc>
                <a:spcPct val="100000"/>
              </a:lnSpc>
              <a:buNone/>
            </a:pPr>
            <a:r>
              <a:rPr lang="en-US" sz="950" dirty="0">
                <a:solidFill>
                  <a:srgbClr val="7A6470"/>
                </a:solidFill>
                <a:latin typeface="Calibri" pitchFamily="34" charset="0"/>
                <a:ea typeface="Calibri" pitchFamily="34" charset="-122"/>
                <a:cs typeface="Calibri" pitchFamily="34" charset="-120"/>
              </a:rPr>
              <a:t>4%</a:t>
            </a:r>
            <a:endParaRPr lang="en-US" sz="950" dirty="0"/>
          </a:p>
        </p:txBody>
      </p:sp>
      <p:sp>
        <p:nvSpPr>
          <p:cNvPr id="91" name="Text 79"/>
          <p:cNvSpPr txBox="1"/>
          <p:nvPr/>
        </p:nvSpPr>
        <p:spPr>
          <a:xfrm>
            <a:off x="11073384" y="5907024"/>
            <a:ext cx="457200" cy="201168"/>
          </a:xfrm>
          <a:prstGeom prst="rect">
            <a:avLst/>
          </a:prstGeom>
          <a:noFill/>
          <a:ln/>
        </p:spPr>
        <p:txBody>
          <a:bodyPr wrap="square" lIns="0" tIns="0" rIns="0" bIns="0" rtlCol="0" anchor="t"/>
          <a:lstStyle/>
          <a:p>
            <a:pPr algn="ctr" indent="0" marL="0">
              <a:lnSpc>
                <a:spcPct val="100000"/>
              </a:lnSpc>
              <a:buNone/>
            </a:pPr>
            <a:r>
              <a:rPr lang="en-US" sz="950" dirty="0">
                <a:solidFill>
                  <a:srgbClr val="7A6470"/>
                </a:solidFill>
                <a:latin typeface="Calibri" pitchFamily="34" charset="0"/>
                <a:ea typeface="Calibri" pitchFamily="34" charset="-122"/>
                <a:cs typeface="Calibri" pitchFamily="34" charset="-120"/>
              </a:rPr>
              <a:t>8%</a:t>
            </a:r>
            <a:endParaRPr lang="en-US" sz="950" dirty="0"/>
          </a:p>
        </p:txBody>
      </p:sp>
      <p:sp>
        <p:nvSpPr>
          <p:cNvPr id="92" name="Text 80"/>
          <p:cNvSpPr txBox="1"/>
          <p:nvPr/>
        </p:nvSpPr>
        <p:spPr>
          <a:xfrm>
            <a:off x="11992356" y="5907024"/>
            <a:ext cx="457200" cy="201168"/>
          </a:xfrm>
          <a:prstGeom prst="rect">
            <a:avLst/>
          </a:prstGeom>
          <a:noFill/>
          <a:ln/>
        </p:spPr>
        <p:txBody>
          <a:bodyPr wrap="square" lIns="0" tIns="0" rIns="0" bIns="0" rtlCol="0" anchor="t"/>
          <a:lstStyle/>
          <a:p>
            <a:pPr algn="ctr" indent="0" marL="0">
              <a:lnSpc>
                <a:spcPct val="100000"/>
              </a:lnSpc>
              <a:buNone/>
            </a:pPr>
            <a:r>
              <a:rPr lang="en-US" sz="950" dirty="0">
                <a:solidFill>
                  <a:srgbClr val="7A6470"/>
                </a:solidFill>
                <a:latin typeface="Calibri" pitchFamily="34" charset="0"/>
                <a:ea typeface="Calibri" pitchFamily="34" charset="-122"/>
                <a:cs typeface="Calibri" pitchFamily="34" charset="-120"/>
              </a:rPr>
              <a:t>12%</a:t>
            </a:r>
            <a:endParaRPr lang="en-US" sz="950" dirty="0"/>
          </a:p>
        </p:txBody>
      </p:sp>
      <p:sp>
        <p:nvSpPr>
          <p:cNvPr id="93" name="Text 81"/>
          <p:cNvSpPr txBox="1"/>
          <p:nvPr/>
        </p:nvSpPr>
        <p:spPr>
          <a:xfrm>
            <a:off x="12911328" y="5907024"/>
            <a:ext cx="457200" cy="201168"/>
          </a:xfrm>
          <a:prstGeom prst="rect">
            <a:avLst/>
          </a:prstGeom>
          <a:noFill/>
          <a:ln/>
        </p:spPr>
        <p:txBody>
          <a:bodyPr wrap="square" lIns="0" tIns="0" rIns="0" bIns="0" rtlCol="0" anchor="t"/>
          <a:lstStyle/>
          <a:p>
            <a:pPr algn="ctr" indent="0" marL="0">
              <a:lnSpc>
                <a:spcPct val="100000"/>
              </a:lnSpc>
              <a:buNone/>
            </a:pPr>
            <a:r>
              <a:rPr lang="en-US" sz="950" dirty="0">
                <a:solidFill>
                  <a:srgbClr val="7A6470"/>
                </a:solidFill>
                <a:latin typeface="Calibri" pitchFamily="34" charset="0"/>
                <a:ea typeface="Calibri" pitchFamily="34" charset="-122"/>
                <a:cs typeface="Calibri" pitchFamily="34" charset="-120"/>
              </a:rPr>
              <a:t>16%</a:t>
            </a:r>
            <a:endParaRPr lang="en-US" sz="950" dirty="0"/>
          </a:p>
        </p:txBody>
      </p:sp>
      <p:sp>
        <p:nvSpPr>
          <p:cNvPr id="94" name="Text 82"/>
          <p:cNvSpPr txBox="1"/>
          <p:nvPr/>
        </p:nvSpPr>
        <p:spPr>
          <a:xfrm>
            <a:off x="7635240" y="6163056"/>
            <a:ext cx="1755648" cy="301752"/>
          </a:xfrm>
          <a:prstGeom prst="rect">
            <a:avLst/>
          </a:prstGeom>
          <a:noFill/>
          <a:ln/>
        </p:spPr>
        <p:txBody>
          <a:bodyPr wrap="square" lIns="0" tIns="0" rIns="0" bIns="0" rtlCol="0" anchor="ctr"/>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Margin 9% → 12%</a:t>
            </a:r>
            <a:endParaRPr lang="en-US" sz="1050" dirty="0"/>
          </a:p>
        </p:txBody>
      </p:sp>
      <p:sp>
        <p:nvSpPr>
          <p:cNvPr id="95" name="Shape 83"/>
          <p:cNvSpPr/>
          <p:nvPr/>
        </p:nvSpPr>
        <p:spPr>
          <a:xfrm>
            <a:off x="11829011" y="6227064"/>
            <a:ext cx="679428" cy="173736"/>
          </a:xfrm>
          <a:prstGeom prst="rect">
            <a:avLst/>
          </a:prstGeom>
          <a:solidFill>
            <a:srgbClr val="8A245E"/>
          </a:solidFill>
          <a:ln w="12700">
            <a:solidFill>
              <a:srgbClr val="8A245E"/>
            </a:solidFill>
            <a:prstDash val="solid"/>
          </a:ln>
        </p:spPr>
      </p:sp>
      <p:sp>
        <p:nvSpPr>
          <p:cNvPr id="96" name="Text 84"/>
          <p:cNvSpPr txBox="1"/>
          <p:nvPr/>
        </p:nvSpPr>
        <p:spPr>
          <a:xfrm>
            <a:off x="11262083" y="6163056"/>
            <a:ext cx="530352" cy="301752"/>
          </a:xfrm>
          <a:prstGeom prst="rect">
            <a:avLst/>
          </a:prstGeom>
          <a:noFill/>
          <a:ln/>
        </p:spPr>
        <p:txBody>
          <a:bodyPr wrap="square" lIns="0" tIns="0" rIns="0" bIns="0" rtlCol="0" anchor="ctr"/>
          <a:lstStyle/>
          <a:p>
            <a:pPr algn="r" indent="0" marL="0">
              <a:lnSpc>
                <a:spcPct val="100000"/>
              </a:lnSpc>
              <a:buNone/>
            </a:pPr>
            <a:r>
              <a:rPr lang="en-US" sz="1000" b="1" dirty="0">
                <a:solidFill>
                  <a:srgbClr val="2B1226"/>
                </a:solidFill>
                <a:latin typeface="Calibri" pitchFamily="34" charset="0"/>
                <a:ea typeface="Calibri" pitchFamily="34" charset="-122"/>
                <a:cs typeface="Calibri" pitchFamily="34" charset="-120"/>
              </a:rPr>
              <a:t>10.3%</a:t>
            </a:r>
            <a:endParaRPr lang="en-US" sz="1000" dirty="0"/>
          </a:p>
        </p:txBody>
      </p:sp>
      <p:sp>
        <p:nvSpPr>
          <p:cNvPr id="97" name="Text 85"/>
          <p:cNvSpPr txBox="1"/>
          <p:nvPr/>
        </p:nvSpPr>
        <p:spPr>
          <a:xfrm>
            <a:off x="7635240" y="6464808"/>
            <a:ext cx="1755648" cy="301752"/>
          </a:xfrm>
          <a:prstGeom prst="rect">
            <a:avLst/>
          </a:prstGeom>
          <a:noFill/>
          <a:ln/>
        </p:spPr>
        <p:txBody>
          <a:bodyPr wrap="square" lIns="0" tIns="0" rIns="0" bIns="0" rtlCol="0" anchor="ctr"/>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Return fee ₹70 → ₹150</a:t>
            </a:r>
            <a:endParaRPr lang="en-US" sz="1050" dirty="0"/>
          </a:p>
        </p:txBody>
      </p:sp>
      <p:sp>
        <p:nvSpPr>
          <p:cNvPr id="98" name="Shape 86"/>
          <p:cNvSpPr/>
          <p:nvPr/>
        </p:nvSpPr>
        <p:spPr>
          <a:xfrm>
            <a:off x="11791592" y="6528816"/>
            <a:ext cx="716848" cy="173736"/>
          </a:xfrm>
          <a:prstGeom prst="rect">
            <a:avLst/>
          </a:prstGeom>
          <a:solidFill>
            <a:srgbClr val="8A245E"/>
          </a:solidFill>
          <a:ln w="12700">
            <a:solidFill>
              <a:srgbClr val="8A245E"/>
            </a:solidFill>
            <a:prstDash val="solid"/>
          </a:ln>
        </p:spPr>
      </p:sp>
      <p:sp>
        <p:nvSpPr>
          <p:cNvPr id="99" name="Text 87"/>
          <p:cNvSpPr txBox="1"/>
          <p:nvPr/>
        </p:nvSpPr>
        <p:spPr>
          <a:xfrm>
            <a:off x="11224664" y="6464808"/>
            <a:ext cx="530352" cy="301752"/>
          </a:xfrm>
          <a:prstGeom prst="rect">
            <a:avLst/>
          </a:prstGeom>
          <a:noFill/>
          <a:ln/>
        </p:spPr>
        <p:txBody>
          <a:bodyPr wrap="square" lIns="0" tIns="0" rIns="0" bIns="0" rtlCol="0" anchor="ctr"/>
          <a:lstStyle/>
          <a:p>
            <a:pPr algn="r" indent="0" marL="0">
              <a:lnSpc>
                <a:spcPct val="100000"/>
              </a:lnSpc>
              <a:buNone/>
            </a:pPr>
            <a:r>
              <a:rPr lang="en-US" sz="1000" b="1" dirty="0">
                <a:solidFill>
                  <a:srgbClr val="2B1226"/>
                </a:solidFill>
                <a:latin typeface="Calibri" pitchFamily="34" charset="0"/>
                <a:ea typeface="Calibri" pitchFamily="34" charset="-122"/>
                <a:cs typeface="Calibri" pitchFamily="34" charset="-120"/>
              </a:rPr>
              <a:t>10.1%</a:t>
            </a:r>
            <a:endParaRPr lang="en-US" sz="1000" dirty="0"/>
          </a:p>
        </p:txBody>
      </p:sp>
      <p:sp>
        <p:nvSpPr>
          <p:cNvPr id="100" name="Text 88"/>
          <p:cNvSpPr txBox="1"/>
          <p:nvPr/>
        </p:nvSpPr>
        <p:spPr>
          <a:xfrm>
            <a:off x="7635240" y="6766560"/>
            <a:ext cx="1755648" cy="301752"/>
          </a:xfrm>
          <a:prstGeom prst="rect">
            <a:avLst/>
          </a:prstGeom>
          <a:noFill/>
          <a:ln/>
        </p:spPr>
        <p:txBody>
          <a:bodyPr wrap="square" lIns="0" tIns="0" rIns="0" bIns="0" rtlCol="0" anchor="ctr"/>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Returns 8% → 12%</a:t>
            </a:r>
            <a:endParaRPr lang="en-US" sz="1050" dirty="0"/>
          </a:p>
        </p:txBody>
      </p:sp>
      <p:sp>
        <p:nvSpPr>
          <p:cNvPr id="101" name="Shape 89"/>
          <p:cNvSpPr/>
          <p:nvPr/>
        </p:nvSpPr>
        <p:spPr>
          <a:xfrm>
            <a:off x="11664831" y="6830568"/>
            <a:ext cx="843608" cy="173736"/>
          </a:xfrm>
          <a:prstGeom prst="rect">
            <a:avLst/>
          </a:prstGeom>
          <a:solidFill>
            <a:srgbClr val="8A245E"/>
          </a:solidFill>
          <a:ln w="12700">
            <a:solidFill>
              <a:srgbClr val="8A245E"/>
            </a:solidFill>
            <a:prstDash val="solid"/>
          </a:ln>
        </p:spPr>
      </p:sp>
      <p:sp>
        <p:nvSpPr>
          <p:cNvPr id="102" name="Text 90"/>
          <p:cNvSpPr txBox="1"/>
          <p:nvPr/>
        </p:nvSpPr>
        <p:spPr>
          <a:xfrm>
            <a:off x="11097903" y="6766560"/>
            <a:ext cx="530352" cy="301752"/>
          </a:xfrm>
          <a:prstGeom prst="rect">
            <a:avLst/>
          </a:prstGeom>
          <a:noFill/>
          <a:ln/>
        </p:spPr>
        <p:txBody>
          <a:bodyPr wrap="square" lIns="0" tIns="0" rIns="0" bIns="0" rtlCol="0" anchor="ctr"/>
          <a:lstStyle/>
          <a:p>
            <a:pPr algn="r" indent="0" marL="0">
              <a:lnSpc>
                <a:spcPct val="100000"/>
              </a:lnSpc>
              <a:buNone/>
            </a:pPr>
            <a:r>
              <a:rPr lang="en-US" sz="1000" b="1" dirty="0">
                <a:solidFill>
                  <a:srgbClr val="2B1226"/>
                </a:solidFill>
                <a:latin typeface="Calibri" pitchFamily="34" charset="0"/>
                <a:ea typeface="Calibri" pitchFamily="34" charset="-122"/>
                <a:cs typeface="Calibri" pitchFamily="34" charset="-120"/>
              </a:rPr>
              <a:t>9.6%</a:t>
            </a:r>
            <a:endParaRPr lang="en-US" sz="1000" dirty="0"/>
          </a:p>
        </p:txBody>
      </p:sp>
      <p:sp>
        <p:nvSpPr>
          <p:cNvPr id="103" name="Text 91"/>
          <p:cNvSpPr txBox="1"/>
          <p:nvPr/>
        </p:nvSpPr>
        <p:spPr>
          <a:xfrm>
            <a:off x="7635240" y="7068312"/>
            <a:ext cx="1755648" cy="301752"/>
          </a:xfrm>
          <a:prstGeom prst="rect">
            <a:avLst/>
          </a:prstGeom>
          <a:noFill/>
          <a:ln/>
        </p:spPr>
        <p:txBody>
          <a:bodyPr wrap="square" lIns="0" tIns="0" rIns="0" bIns="0" rtlCol="0" anchor="ctr"/>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Market median −5%</a:t>
            </a:r>
            <a:endParaRPr lang="en-US" sz="1050" dirty="0"/>
          </a:p>
        </p:txBody>
      </p:sp>
      <p:sp>
        <p:nvSpPr>
          <p:cNvPr id="104" name="Shape 92"/>
          <p:cNvSpPr/>
          <p:nvPr/>
        </p:nvSpPr>
        <p:spPr>
          <a:xfrm>
            <a:off x="11459497" y="7132320"/>
            <a:ext cx="1048942" cy="173736"/>
          </a:xfrm>
          <a:prstGeom prst="rect">
            <a:avLst/>
          </a:prstGeom>
          <a:solidFill>
            <a:srgbClr val="8A245E"/>
          </a:solidFill>
          <a:ln w="12700">
            <a:solidFill>
              <a:srgbClr val="8A245E"/>
            </a:solidFill>
            <a:prstDash val="solid"/>
          </a:ln>
        </p:spPr>
      </p:sp>
      <p:sp>
        <p:nvSpPr>
          <p:cNvPr id="105" name="Text 93"/>
          <p:cNvSpPr txBox="1"/>
          <p:nvPr/>
        </p:nvSpPr>
        <p:spPr>
          <a:xfrm>
            <a:off x="10892569" y="7068312"/>
            <a:ext cx="530352" cy="301752"/>
          </a:xfrm>
          <a:prstGeom prst="rect">
            <a:avLst/>
          </a:prstGeom>
          <a:noFill/>
          <a:ln/>
        </p:spPr>
        <p:txBody>
          <a:bodyPr wrap="square" lIns="0" tIns="0" rIns="0" bIns="0" rtlCol="0" anchor="ctr"/>
          <a:lstStyle/>
          <a:p>
            <a:pPr algn="r" indent="0" marL="0">
              <a:lnSpc>
                <a:spcPct val="100000"/>
              </a:lnSpc>
              <a:buNone/>
            </a:pPr>
            <a:r>
              <a:rPr lang="en-US" sz="1000" b="1" dirty="0">
                <a:solidFill>
                  <a:srgbClr val="2B1226"/>
                </a:solidFill>
                <a:latin typeface="Calibri" pitchFamily="34" charset="0"/>
                <a:ea typeface="Calibri" pitchFamily="34" charset="-122"/>
                <a:cs typeface="Calibri" pitchFamily="34" charset="-120"/>
              </a:rPr>
              <a:t>8.7%</a:t>
            </a:r>
            <a:endParaRPr lang="en-US" sz="1000" dirty="0"/>
          </a:p>
        </p:txBody>
      </p:sp>
      <p:sp>
        <p:nvSpPr>
          <p:cNvPr id="106" name="Text 94"/>
          <p:cNvSpPr txBox="1"/>
          <p:nvPr/>
        </p:nvSpPr>
        <p:spPr>
          <a:xfrm>
            <a:off x="7635240" y="7370064"/>
            <a:ext cx="1755648" cy="301752"/>
          </a:xfrm>
          <a:prstGeom prst="rect">
            <a:avLst/>
          </a:prstGeom>
          <a:noFill/>
          <a:ln/>
        </p:spPr>
        <p:txBody>
          <a:bodyPr wrap="square" lIns="0" tIns="0" rIns="0" bIns="0" rtlCol="0" anchor="ctr"/>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Making cost +10%</a:t>
            </a:r>
            <a:endParaRPr lang="en-US" sz="1050" dirty="0"/>
          </a:p>
        </p:txBody>
      </p:sp>
      <p:sp>
        <p:nvSpPr>
          <p:cNvPr id="107" name="Shape 95"/>
          <p:cNvSpPr/>
          <p:nvPr/>
        </p:nvSpPr>
        <p:spPr>
          <a:xfrm>
            <a:off x="11458604" y="7434072"/>
            <a:ext cx="1049835" cy="173736"/>
          </a:xfrm>
          <a:prstGeom prst="rect">
            <a:avLst/>
          </a:prstGeom>
          <a:solidFill>
            <a:srgbClr val="8A245E"/>
          </a:solidFill>
          <a:ln w="12700">
            <a:solidFill>
              <a:srgbClr val="8A245E"/>
            </a:solidFill>
            <a:prstDash val="solid"/>
          </a:ln>
        </p:spPr>
      </p:sp>
      <p:sp>
        <p:nvSpPr>
          <p:cNvPr id="108" name="Text 96"/>
          <p:cNvSpPr txBox="1"/>
          <p:nvPr/>
        </p:nvSpPr>
        <p:spPr>
          <a:xfrm>
            <a:off x="10891676" y="7370064"/>
            <a:ext cx="530352" cy="301752"/>
          </a:xfrm>
          <a:prstGeom prst="rect">
            <a:avLst/>
          </a:prstGeom>
          <a:noFill/>
          <a:ln/>
        </p:spPr>
        <p:txBody>
          <a:bodyPr wrap="square" lIns="0" tIns="0" rIns="0" bIns="0" rtlCol="0" anchor="ctr"/>
          <a:lstStyle/>
          <a:p>
            <a:pPr algn="r" indent="0" marL="0">
              <a:lnSpc>
                <a:spcPct val="100000"/>
              </a:lnSpc>
              <a:buNone/>
            </a:pPr>
            <a:r>
              <a:rPr lang="en-US" sz="1000" b="1" dirty="0">
                <a:solidFill>
                  <a:srgbClr val="2B1226"/>
                </a:solidFill>
                <a:latin typeface="Calibri" pitchFamily="34" charset="0"/>
                <a:ea typeface="Calibri" pitchFamily="34" charset="-122"/>
                <a:cs typeface="Calibri" pitchFamily="34" charset="-120"/>
              </a:rPr>
              <a:t>8.7%</a:t>
            </a:r>
            <a:endParaRPr lang="en-US" sz="1000" dirty="0"/>
          </a:p>
        </p:txBody>
      </p:sp>
      <p:sp>
        <p:nvSpPr>
          <p:cNvPr id="109" name="Text 97"/>
          <p:cNvSpPr txBox="1"/>
          <p:nvPr/>
        </p:nvSpPr>
        <p:spPr>
          <a:xfrm>
            <a:off x="7635240" y="7671816"/>
            <a:ext cx="1755648" cy="301752"/>
          </a:xfrm>
          <a:prstGeom prst="rect">
            <a:avLst/>
          </a:prstGeom>
          <a:noFill/>
          <a:ln/>
        </p:spPr>
        <p:txBody>
          <a:bodyPr wrap="square" lIns="0" tIns="0" rIns="0" bIns="0" rtlCol="0" anchor="ctr"/>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RTO 14% → 20%</a:t>
            </a:r>
            <a:endParaRPr lang="en-US" sz="1050" dirty="0"/>
          </a:p>
        </p:txBody>
      </p:sp>
      <p:sp>
        <p:nvSpPr>
          <p:cNvPr id="110" name="Shape 98"/>
          <p:cNvSpPr/>
          <p:nvPr/>
        </p:nvSpPr>
        <p:spPr>
          <a:xfrm>
            <a:off x="11368503" y="7735824"/>
            <a:ext cx="1139936" cy="173736"/>
          </a:xfrm>
          <a:prstGeom prst="rect">
            <a:avLst/>
          </a:prstGeom>
          <a:solidFill>
            <a:srgbClr val="8A245E"/>
          </a:solidFill>
          <a:ln w="12700">
            <a:solidFill>
              <a:srgbClr val="8A245E"/>
            </a:solidFill>
            <a:prstDash val="solid"/>
          </a:ln>
        </p:spPr>
      </p:sp>
      <p:sp>
        <p:nvSpPr>
          <p:cNvPr id="111" name="Text 99"/>
          <p:cNvSpPr txBox="1"/>
          <p:nvPr/>
        </p:nvSpPr>
        <p:spPr>
          <a:xfrm>
            <a:off x="10801575" y="7671816"/>
            <a:ext cx="530352" cy="301752"/>
          </a:xfrm>
          <a:prstGeom prst="rect">
            <a:avLst/>
          </a:prstGeom>
          <a:noFill/>
          <a:ln/>
        </p:spPr>
        <p:txBody>
          <a:bodyPr wrap="square" lIns="0" tIns="0" rIns="0" bIns="0" rtlCol="0" anchor="ctr"/>
          <a:lstStyle/>
          <a:p>
            <a:pPr algn="r" indent="0" marL="0">
              <a:lnSpc>
                <a:spcPct val="100000"/>
              </a:lnSpc>
              <a:buNone/>
            </a:pPr>
            <a:r>
              <a:rPr lang="en-US" sz="1000" b="1" dirty="0">
                <a:solidFill>
                  <a:srgbClr val="2B1226"/>
                </a:solidFill>
                <a:latin typeface="Calibri" pitchFamily="34" charset="0"/>
                <a:ea typeface="Calibri" pitchFamily="34" charset="-122"/>
                <a:cs typeface="Calibri" pitchFamily="34" charset="-120"/>
              </a:rPr>
              <a:t>8.3%</a:t>
            </a:r>
            <a:endParaRPr lang="en-US" sz="1000" dirty="0"/>
          </a:p>
        </p:txBody>
      </p:sp>
      <p:sp>
        <p:nvSpPr>
          <p:cNvPr id="112" name="Text 100"/>
          <p:cNvSpPr txBox="1"/>
          <p:nvPr/>
        </p:nvSpPr>
        <p:spPr>
          <a:xfrm>
            <a:off x="7635240" y="7973568"/>
            <a:ext cx="1755648" cy="301752"/>
          </a:xfrm>
          <a:prstGeom prst="rect">
            <a:avLst/>
          </a:prstGeom>
          <a:noFill/>
          <a:ln/>
        </p:spPr>
        <p:txBody>
          <a:bodyPr wrap="square" lIns="0" tIns="0" rIns="0" bIns="0" rtlCol="0" anchor="ctr"/>
          <a:lstStyle/>
          <a:p>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Forward freight ₹42 → ₹55</a:t>
            </a:r>
            <a:endParaRPr lang="en-US" sz="1050" dirty="0"/>
          </a:p>
        </p:txBody>
      </p:sp>
      <p:sp>
        <p:nvSpPr>
          <p:cNvPr id="113" name="Shape 101"/>
          <p:cNvSpPr/>
          <p:nvPr/>
        </p:nvSpPr>
        <p:spPr>
          <a:xfrm>
            <a:off x="10815303" y="8037576"/>
            <a:ext cx="1693136" cy="173736"/>
          </a:xfrm>
          <a:prstGeom prst="rect">
            <a:avLst/>
          </a:prstGeom>
          <a:solidFill>
            <a:srgbClr val="C0392B"/>
          </a:solidFill>
          <a:ln w="12700">
            <a:solidFill>
              <a:srgbClr val="C0392B"/>
            </a:solidFill>
            <a:prstDash val="solid"/>
          </a:ln>
        </p:spPr>
      </p:sp>
      <p:sp>
        <p:nvSpPr>
          <p:cNvPr id="114" name="Text 102"/>
          <p:cNvSpPr txBox="1"/>
          <p:nvPr/>
        </p:nvSpPr>
        <p:spPr>
          <a:xfrm>
            <a:off x="10248375" y="7973568"/>
            <a:ext cx="530352" cy="301752"/>
          </a:xfrm>
          <a:prstGeom prst="rect">
            <a:avLst/>
          </a:prstGeom>
          <a:noFill/>
          <a:ln/>
        </p:spPr>
        <p:txBody>
          <a:bodyPr wrap="square" lIns="0" tIns="0" rIns="0" bIns="0" rtlCol="0" anchor="ctr"/>
          <a:lstStyle/>
          <a:p>
            <a:pPr algn="r" indent="0" marL="0">
              <a:lnSpc>
                <a:spcPct val="100000"/>
              </a:lnSpc>
              <a:buNone/>
            </a:pPr>
            <a:r>
              <a:rPr lang="en-US" sz="1000" b="1" dirty="0">
                <a:solidFill>
                  <a:srgbClr val="C0392B"/>
                </a:solidFill>
                <a:latin typeface="Calibri" pitchFamily="34" charset="0"/>
                <a:ea typeface="Calibri" pitchFamily="34" charset="-122"/>
                <a:cs typeface="Calibri" pitchFamily="34" charset="-120"/>
              </a:rPr>
              <a:t>5.9%</a:t>
            </a:r>
            <a:endParaRPr lang="en-US" sz="1000" dirty="0"/>
          </a:p>
        </p:txBody>
      </p:sp>
      <p:sp>
        <p:nvSpPr>
          <p:cNvPr id="115" name="Shape 103"/>
          <p:cNvSpPr/>
          <p:nvPr/>
        </p:nvSpPr>
        <p:spPr>
          <a:xfrm>
            <a:off x="12508439" y="6126480"/>
            <a:ext cx="914" cy="2167128"/>
          </a:xfrm>
          <a:prstGeom prst="line">
            <a:avLst/>
          </a:prstGeom>
          <a:noFill/>
          <a:ln w="12700">
            <a:solidFill>
              <a:srgbClr val="2B1226"/>
            </a:solidFill>
            <a:prstDash val="solid"/>
          </a:ln>
        </p:spPr>
      </p:sp>
      <p:sp>
        <p:nvSpPr>
          <p:cNvPr id="116" name="Shape 104"/>
          <p:cNvSpPr/>
          <p:nvPr/>
        </p:nvSpPr>
        <p:spPr>
          <a:xfrm>
            <a:off x="11301984" y="6126480"/>
            <a:ext cx="914" cy="2167128"/>
          </a:xfrm>
          <a:prstGeom prst="line">
            <a:avLst/>
          </a:prstGeom>
          <a:noFill/>
          <a:ln w="19050">
            <a:solidFill>
              <a:srgbClr val="C0392B"/>
            </a:solidFill>
            <a:prstDash val="solid"/>
          </a:ln>
        </p:spPr>
      </p:sp>
      <p:sp>
        <p:nvSpPr>
          <p:cNvPr id="117" name="Text 105"/>
          <p:cNvSpPr txBox="1"/>
          <p:nvPr/>
        </p:nvSpPr>
        <p:spPr>
          <a:xfrm>
            <a:off x="11959799" y="8302752"/>
            <a:ext cx="1097280" cy="201168"/>
          </a:xfrm>
          <a:prstGeom prst="rect">
            <a:avLst/>
          </a:prstGeom>
          <a:noFill/>
          <a:ln/>
        </p:spPr>
        <p:txBody>
          <a:bodyPr wrap="square" lIns="0" tIns="0" rIns="0" bIns="0" rtlCol="0" anchor="t"/>
          <a:lstStyle/>
          <a:p>
            <a:pPr algn="ctr" indent="0" marL="0">
              <a:lnSpc>
                <a:spcPct val="100000"/>
              </a:lnSpc>
              <a:buNone/>
            </a:pPr>
            <a:r>
              <a:rPr lang="en-US" sz="1000" b="1" dirty="0">
                <a:solidFill>
                  <a:srgbClr val="2B1226"/>
                </a:solidFill>
                <a:latin typeface="Calibri" pitchFamily="34" charset="0"/>
                <a:ea typeface="Calibri" pitchFamily="34" charset="-122"/>
                <a:cs typeface="Calibri" pitchFamily="34" charset="-120"/>
              </a:rPr>
              <a:t>base 13.3%</a:t>
            </a:r>
            <a:endParaRPr lang="en-US" sz="1000" dirty="0"/>
          </a:p>
        </p:txBody>
      </p:sp>
      <p:sp>
        <p:nvSpPr>
          <p:cNvPr id="118" name="Text 106"/>
          <p:cNvSpPr txBox="1"/>
          <p:nvPr/>
        </p:nvSpPr>
        <p:spPr>
          <a:xfrm>
            <a:off x="10844784" y="8302752"/>
            <a:ext cx="914400" cy="201168"/>
          </a:xfrm>
          <a:prstGeom prst="rect">
            <a:avLst/>
          </a:prstGeom>
          <a:noFill/>
          <a:ln/>
        </p:spPr>
        <p:txBody>
          <a:bodyPr wrap="square" lIns="0" tIns="0" rIns="0" bIns="0" rtlCol="0" anchor="t"/>
          <a:lstStyle/>
          <a:p>
            <a:pPr algn="ctr" indent="0" marL="0">
              <a:lnSpc>
                <a:spcPct val="100000"/>
              </a:lnSpc>
              <a:buNone/>
            </a:pPr>
            <a:r>
              <a:rPr lang="en-US" sz="1000" b="1" dirty="0">
                <a:solidFill>
                  <a:srgbClr val="C0392B"/>
                </a:solidFill>
                <a:latin typeface="Calibri" pitchFamily="34" charset="0"/>
                <a:ea typeface="Calibri" pitchFamily="34" charset="-122"/>
                <a:cs typeface="Calibri" pitchFamily="34" charset="-120"/>
              </a:rPr>
              <a:t>gate 8%</a:t>
            </a:r>
            <a:endParaRPr lang="en-US" sz="1000" dirty="0"/>
          </a:p>
        </p:txBody>
      </p:sp>
      <p:sp>
        <p:nvSpPr>
          <p:cNvPr id="119" name="Text 107"/>
          <p:cNvSpPr txBox="1"/>
          <p:nvPr/>
        </p:nvSpPr>
        <p:spPr>
          <a:xfrm>
            <a:off x="7635240" y="8567928"/>
            <a:ext cx="5641848" cy="502920"/>
          </a:xfrm>
          <a:prstGeom prst="rect">
            <a:avLst/>
          </a:prstGeom>
          <a:noFill/>
          <a:ln/>
        </p:spPr>
        <p:txBody>
          <a:bodyPr wrap="square" lIns="0" tIns="0" rIns="0" bIns="0" rtlCol="0" anchor="t"/>
          <a:lstStyle/>
          <a:p>
            <a:pPr algn="l" indent="0" marL="0">
              <a:lnSpc>
                <a:spcPct val="100000"/>
              </a:lnSpc>
              <a:buNone/>
            </a:pPr>
            <a:r>
              <a:rPr lang="en-US" sz="1050" b="1" dirty="0">
                <a:solidFill>
                  <a:srgbClr val="560547"/>
                </a:solidFill>
                <a:latin typeface="Calibri" pitchFamily="34" charset="0"/>
                <a:ea typeface="Calibri" pitchFamily="34" charset="-122"/>
                <a:cs typeface="Calibri" pitchFamily="34" charset="-120"/>
              </a:rPr>
              <a:t>Clears the gate in 6 of 7 single-factor stresses. </a:t>
            </a:r>
            <a:pPr algn="l" indent="0" marL="0">
              <a:lnSpc>
                <a:spcPct val="100000"/>
              </a:lnSpc>
              <a:buNone/>
            </a:pPr>
            <a:r>
              <a:rPr lang="en-US" sz="1050" dirty="0">
                <a:solidFill>
                  <a:srgbClr val="2B1226"/>
                </a:solidFill>
                <a:latin typeface="Calibri" pitchFamily="34" charset="0"/>
                <a:ea typeface="Calibri" pitchFamily="34" charset="-122"/>
                <a:cs typeface="Calibri" pitchFamily="34" charset="-120"/>
              </a:rPr>
              <a:t>Freight is the thin spot, so partner-node quotes (Day 45) come before any node capex.</a:t>
            </a:r>
            <a:endParaRPr lang="en-US" sz="1050" dirty="0"/>
          </a:p>
        </p:txBody>
      </p:sp>
      <p:sp>
        <p:nvSpPr>
          <p:cNvPr id="120" name="Shape 108"/>
          <p:cNvSpPr/>
          <p:nvPr/>
        </p:nvSpPr>
        <p:spPr>
          <a:xfrm>
            <a:off x="13533120" y="5486400"/>
            <a:ext cx="4526280" cy="3529584"/>
          </a:xfrm>
          <a:prstGeom prst="rect">
            <a:avLst/>
          </a:prstGeom>
          <a:solidFill>
            <a:srgbClr val="FFFFFF"/>
          </a:solidFill>
          <a:ln w="9525">
            <a:solidFill>
              <a:srgbClr val="E0CEDA"/>
            </a:solidFill>
            <a:prstDash val="solid"/>
          </a:ln>
        </p:spPr>
      </p:sp>
      <p:sp>
        <p:nvSpPr>
          <p:cNvPr id="121" name="Shape 109"/>
          <p:cNvSpPr/>
          <p:nvPr/>
        </p:nvSpPr>
        <p:spPr>
          <a:xfrm>
            <a:off x="13533120" y="5486400"/>
            <a:ext cx="4526280" cy="329184"/>
          </a:xfrm>
          <a:prstGeom prst="rect">
            <a:avLst/>
          </a:prstGeom>
          <a:solidFill>
            <a:srgbClr val="8A245E"/>
          </a:solidFill>
          <a:ln w="12700">
            <a:solidFill>
              <a:srgbClr val="8A245E"/>
            </a:solidFill>
            <a:prstDash val="solid"/>
          </a:ln>
        </p:spPr>
      </p:sp>
      <p:pic>
        <p:nvPicPr>
          <p:cNvPr id="122" name="Image 7" descr="/private/tmp/claude-501/-Users-prathmeshwalimbe-Downloads-Meesho/dfec39d5-f971-4a3a-8cfb-761f4ef1fedb/scratchpad/deck/assets/icons/FaCircleCheck_w.png">    </p:cNvPr>
          <p:cNvPicPr>
            <a:picLocks noChangeAspect="1"/>
          </p:cNvPicPr>
          <p:nvPr/>
        </p:nvPicPr>
        <p:blipFill>
          <a:blip r:embed="rId8"/>
          <a:stretch>
            <a:fillRect/>
          </a:stretch>
        </p:blipFill>
        <p:spPr>
          <a:xfrm>
            <a:off x="13642848" y="5550408"/>
            <a:ext cx="201168" cy="201168"/>
          </a:xfrm>
          <a:prstGeom prst="rect">
            <a:avLst/>
          </a:prstGeom>
        </p:spPr>
      </p:pic>
      <p:sp>
        <p:nvSpPr>
          <p:cNvPr id="123" name="Text 110"/>
          <p:cNvSpPr txBox="1"/>
          <p:nvPr/>
        </p:nvSpPr>
        <p:spPr>
          <a:xfrm>
            <a:off x="13917168" y="5486400"/>
            <a:ext cx="4014216"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BUILT ON WHAT MEESHO RUNS</a:t>
            </a:r>
            <a:endParaRPr lang="en-US" sz="1250" dirty="0"/>
          </a:p>
        </p:txBody>
      </p:sp>
      <p:sp>
        <p:nvSpPr>
          <p:cNvPr id="124" name="Shape 111"/>
          <p:cNvSpPr/>
          <p:nvPr/>
        </p:nvSpPr>
        <p:spPr>
          <a:xfrm>
            <a:off x="13661136" y="5943600"/>
            <a:ext cx="402336" cy="402336"/>
          </a:xfrm>
          <a:prstGeom prst="ellipse">
            <a:avLst/>
          </a:prstGeom>
          <a:solidFill>
            <a:srgbClr val="560547"/>
          </a:solidFill>
          <a:ln w="12700">
            <a:solidFill>
              <a:srgbClr val="560547"/>
            </a:solidFill>
            <a:prstDash val="solid"/>
          </a:ln>
        </p:spPr>
      </p:sp>
      <p:pic>
        <p:nvPicPr>
          <p:cNvPr id="125" name="Image 8" descr="/private/tmp/claude-501/-Users-prathmeshwalimbe-Downloads-Meesho/dfec39d5-f971-4a3a-8cfb-761f4ef1fedb/scratchpad/deck/assets/icons/FaTruckFast_w.png">    </p:cNvPr>
          <p:cNvPicPr>
            <a:picLocks noChangeAspect="1"/>
          </p:cNvPicPr>
          <p:nvPr/>
        </p:nvPicPr>
        <p:blipFill>
          <a:blip r:embed="rId9"/>
          <a:stretch>
            <a:fillRect/>
          </a:stretch>
        </p:blipFill>
        <p:spPr>
          <a:xfrm>
            <a:off x="13757697" y="6040161"/>
            <a:ext cx="209215" cy="209215"/>
          </a:xfrm>
          <a:prstGeom prst="rect">
            <a:avLst/>
          </a:prstGeom>
        </p:spPr>
      </p:pic>
      <p:sp>
        <p:nvSpPr>
          <p:cNvPr id="126" name="Text 112"/>
          <p:cNvSpPr txBox="1"/>
          <p:nvPr/>
        </p:nvSpPr>
        <p:spPr>
          <a:xfrm>
            <a:off x="14154912" y="5907024"/>
            <a:ext cx="3776472" cy="548640"/>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Valmo</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handles 50–55% of deliveries; a node is one more lane</a:t>
            </a:r>
            <a:endParaRPr lang="en-US" sz="1200" dirty="0"/>
          </a:p>
        </p:txBody>
      </p:sp>
      <p:sp>
        <p:nvSpPr>
          <p:cNvPr id="127" name="Shape 113"/>
          <p:cNvSpPr/>
          <p:nvPr/>
        </p:nvSpPr>
        <p:spPr>
          <a:xfrm>
            <a:off x="13661136" y="6528816"/>
            <a:ext cx="402336" cy="402336"/>
          </a:xfrm>
          <a:prstGeom prst="ellipse">
            <a:avLst/>
          </a:prstGeom>
          <a:solidFill>
            <a:srgbClr val="560547"/>
          </a:solidFill>
          <a:ln w="12700">
            <a:solidFill>
              <a:srgbClr val="560547"/>
            </a:solidFill>
            <a:prstDash val="solid"/>
          </a:ln>
        </p:spPr>
      </p:sp>
      <p:pic>
        <p:nvPicPr>
          <p:cNvPr id="128" name="Image 9" descr="/private/tmp/claude-501/-Users-prathmeshwalimbe-Downloads-Meesho/dfec39d5-f971-4a3a-8cfb-761f4ef1fedb/scratchpad/deck/assets/icons/FaGlobe_w.png">    </p:cNvPr>
          <p:cNvPicPr>
            <a:picLocks noChangeAspect="1"/>
          </p:cNvPicPr>
          <p:nvPr/>
        </p:nvPicPr>
        <p:blipFill>
          <a:blip r:embed="rId10"/>
          <a:stretch>
            <a:fillRect/>
          </a:stretch>
        </p:blipFill>
        <p:spPr>
          <a:xfrm>
            <a:off x="13757697" y="6625377"/>
            <a:ext cx="209215" cy="209215"/>
          </a:xfrm>
          <a:prstGeom prst="rect">
            <a:avLst/>
          </a:prstGeom>
        </p:spPr>
      </p:pic>
      <p:sp>
        <p:nvSpPr>
          <p:cNvPr id="129" name="Text 114"/>
          <p:cNvSpPr txBox="1"/>
          <p:nvPr/>
        </p:nvSpPr>
        <p:spPr>
          <a:xfrm>
            <a:off x="14154912" y="6492240"/>
            <a:ext cx="3776472" cy="548640"/>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264 mn buyers</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the demand signal behind every brief</a:t>
            </a:r>
            <a:endParaRPr lang="en-US" sz="1200" dirty="0"/>
          </a:p>
        </p:txBody>
      </p:sp>
      <p:sp>
        <p:nvSpPr>
          <p:cNvPr id="130" name="Shape 115"/>
          <p:cNvSpPr/>
          <p:nvPr/>
        </p:nvSpPr>
        <p:spPr>
          <a:xfrm>
            <a:off x="13661136" y="7114032"/>
            <a:ext cx="402336" cy="402336"/>
          </a:xfrm>
          <a:prstGeom prst="ellipse">
            <a:avLst/>
          </a:prstGeom>
          <a:solidFill>
            <a:srgbClr val="560547"/>
          </a:solidFill>
          <a:ln w="12700">
            <a:solidFill>
              <a:srgbClr val="560547"/>
            </a:solidFill>
            <a:prstDash val="solid"/>
          </a:ln>
        </p:spPr>
      </p:sp>
      <p:pic>
        <p:nvPicPr>
          <p:cNvPr id="131" name="Image 10" descr="/private/tmp/claude-501/-Users-prathmeshwalimbe-Downloads-Meesho/dfec39d5-f971-4a3a-8cfb-761f4ef1fedb/scratchpad/deck/assets/icons/FaBolt_w.png">    </p:cNvPr>
          <p:cNvPicPr>
            <a:picLocks noChangeAspect="1"/>
          </p:cNvPicPr>
          <p:nvPr/>
        </p:nvPicPr>
        <p:blipFill>
          <a:blip r:embed="rId11"/>
          <a:stretch>
            <a:fillRect/>
          </a:stretch>
        </p:blipFill>
        <p:spPr>
          <a:xfrm>
            <a:off x="13757697" y="7210593"/>
            <a:ext cx="209215" cy="209215"/>
          </a:xfrm>
          <a:prstGeom prst="rect">
            <a:avLst/>
          </a:prstGeom>
        </p:spPr>
      </p:pic>
      <p:sp>
        <p:nvSpPr>
          <p:cNvPr id="132" name="Text 116"/>
          <p:cNvSpPr txBox="1"/>
          <p:nvPr/>
        </p:nvSpPr>
        <p:spPr>
          <a:xfrm>
            <a:off x="14154912" y="7077456"/>
            <a:ext cx="3776472" cy="548640"/>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Ads engine</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impression inventory for grants; ad catalog +40% YoY</a:t>
            </a:r>
            <a:endParaRPr lang="en-US" sz="1200" dirty="0"/>
          </a:p>
        </p:txBody>
      </p:sp>
      <p:sp>
        <p:nvSpPr>
          <p:cNvPr id="133" name="Shape 117"/>
          <p:cNvSpPr/>
          <p:nvPr/>
        </p:nvSpPr>
        <p:spPr>
          <a:xfrm>
            <a:off x="13661136" y="7699248"/>
            <a:ext cx="402336" cy="402336"/>
          </a:xfrm>
          <a:prstGeom prst="ellipse">
            <a:avLst/>
          </a:prstGeom>
          <a:solidFill>
            <a:srgbClr val="560547"/>
          </a:solidFill>
          <a:ln w="12700">
            <a:solidFill>
              <a:srgbClr val="560547"/>
            </a:solidFill>
            <a:prstDash val="solid"/>
          </a:ln>
        </p:spPr>
      </p:sp>
      <p:pic>
        <p:nvPicPr>
          <p:cNvPr id="134" name="Image 11" descr="/private/tmp/claude-501/-Users-prathmeshwalimbe-Downloads-Meesho/dfec39d5-f971-4a3a-8cfb-761f4ef1fedb/scratchpad/deck/assets/icons/FaIndianRupeeSign_w.png">    </p:cNvPr>
          <p:cNvPicPr>
            <a:picLocks noChangeAspect="1"/>
          </p:cNvPicPr>
          <p:nvPr/>
        </p:nvPicPr>
        <p:blipFill>
          <a:blip r:embed="rId12"/>
          <a:stretch>
            <a:fillRect/>
          </a:stretch>
        </p:blipFill>
        <p:spPr>
          <a:xfrm>
            <a:off x="13757697" y="7795809"/>
            <a:ext cx="209215" cy="209215"/>
          </a:xfrm>
          <a:prstGeom prst="rect">
            <a:avLst/>
          </a:prstGeom>
        </p:spPr>
      </p:pic>
      <p:sp>
        <p:nvSpPr>
          <p:cNvPr id="135" name="Text 118"/>
          <p:cNvSpPr txBox="1"/>
          <p:nvPr/>
        </p:nvSpPr>
        <p:spPr>
          <a:xfrm>
            <a:off x="14154912" y="7662672"/>
            <a:ext cx="3776472" cy="548640"/>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0% commission</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no fee change needed to make C2M pay</a:t>
            </a:r>
            <a:endParaRPr lang="en-US" sz="1200" dirty="0"/>
          </a:p>
        </p:txBody>
      </p:sp>
      <p:sp>
        <p:nvSpPr>
          <p:cNvPr id="136" name="Shape 119"/>
          <p:cNvSpPr/>
          <p:nvPr/>
        </p:nvSpPr>
        <p:spPr>
          <a:xfrm>
            <a:off x="13661136" y="8284464"/>
            <a:ext cx="402336" cy="402336"/>
          </a:xfrm>
          <a:prstGeom prst="ellipse">
            <a:avLst/>
          </a:prstGeom>
          <a:solidFill>
            <a:srgbClr val="560547"/>
          </a:solidFill>
          <a:ln w="12700">
            <a:solidFill>
              <a:srgbClr val="560547"/>
            </a:solidFill>
            <a:prstDash val="solid"/>
          </a:ln>
        </p:spPr>
      </p:sp>
      <p:pic>
        <p:nvPicPr>
          <p:cNvPr id="137" name="Image 12" descr="/private/tmp/claude-501/-Users-prathmeshwalimbe-Downloads-Meesho/dfec39d5-f971-4a3a-8cfb-761f4ef1fedb/scratchpad/deck/assets/icons/FaStore_w.png">    </p:cNvPr>
          <p:cNvPicPr>
            <a:picLocks noChangeAspect="1"/>
          </p:cNvPicPr>
          <p:nvPr/>
        </p:nvPicPr>
        <p:blipFill>
          <a:blip r:embed="rId13"/>
          <a:stretch>
            <a:fillRect/>
          </a:stretch>
        </p:blipFill>
        <p:spPr>
          <a:xfrm>
            <a:off x="13757697" y="8381025"/>
            <a:ext cx="209215" cy="209215"/>
          </a:xfrm>
          <a:prstGeom prst="rect">
            <a:avLst/>
          </a:prstGeom>
        </p:spPr>
      </p:pic>
      <p:sp>
        <p:nvSpPr>
          <p:cNvPr id="138" name="Text 120"/>
          <p:cNvSpPr txBox="1"/>
          <p:nvPr/>
        </p:nvSpPr>
        <p:spPr>
          <a:xfrm>
            <a:off x="14154912" y="8247888"/>
            <a:ext cx="3776472" cy="548640"/>
          </a:xfrm>
          <a:prstGeom prst="rect">
            <a:avLst/>
          </a:prstGeom>
          <a:noFill/>
          <a:ln/>
        </p:spPr>
        <p:txBody>
          <a:bodyPr wrap="square" lIns="0" tIns="0" rIns="0" bIns="0" rtlCol="0" anchor="ctr"/>
          <a:lstStyle/>
          <a:p>
            <a:pPr algn="l" indent="0" marL="0">
              <a:lnSpc>
                <a:spcPct val="100000"/>
              </a:lnSpc>
              <a:buNone/>
            </a:pPr>
            <a:r>
              <a:rPr lang="en-US" sz="1200" b="1" dirty="0">
                <a:solidFill>
                  <a:srgbClr val="560547"/>
                </a:solidFill>
                <a:latin typeface="Calibri" pitchFamily="34" charset="0"/>
                <a:ea typeface="Calibri" pitchFamily="34" charset="-122"/>
                <a:cs typeface="Calibri" pitchFamily="34" charset="-120"/>
              </a:rPr>
              <a:t>Meesho Mall</a:t>
            </a:r>
            <a:endParaRPr lang="en-US" sz="1200" dirty="0"/>
          </a:p>
          <a:p>
            <a:pPr algn="l" indent="0" marL="0">
              <a:lnSpc>
                <a:spcPct val="100000"/>
              </a:lnSpc>
              <a:buNone/>
            </a:pPr>
            <a:r>
              <a:rPr lang="en-US" sz="1200" dirty="0">
                <a:solidFill>
                  <a:srgbClr val="2B1226"/>
                </a:solidFill>
                <a:latin typeface="Calibri" pitchFamily="34" charset="0"/>
                <a:ea typeface="Calibri" pitchFamily="34" charset="-122"/>
                <a:cs typeface="Calibri" pitchFamily="34" charset="-120"/>
              </a:rPr>
              <a:t>the graduation path for factory brands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868680"/>
          </a:xfrm>
          <a:prstGeom prst="rect">
            <a:avLst/>
          </a:prstGeom>
          <a:solidFill>
            <a:srgbClr val="FFF3D8"/>
          </a:solidFill>
          <a:ln w="12700">
            <a:solidFill>
              <a:srgbClr val="FFF3D8"/>
            </a:solidFill>
            <a:prstDash val="solid"/>
          </a:ln>
        </p:spPr>
      </p:sp>
      <p:pic>
        <p:nvPicPr>
          <p:cNvPr id="3" name="Image 0" descr="/private/tmp/claude-501/-Users-prathmeshwalimbe-Downloads-Meesho/dfec39d5-f971-4a3a-8cfb-761f4ef1fedb/scratchpad/deck/assets/dice_logo.png">    </p:cNvPr>
          <p:cNvPicPr>
            <a:picLocks noChangeAspect="1"/>
          </p:cNvPicPr>
          <p:nvPr/>
        </p:nvPicPr>
        <p:blipFill>
          <a:blip r:embed="rId1"/>
          <a:stretch>
            <a:fillRect/>
          </a:stretch>
        </p:blipFill>
        <p:spPr>
          <a:xfrm>
            <a:off x="274320" y="91440"/>
            <a:ext cx="1380744" cy="685800"/>
          </a:xfrm>
          <a:prstGeom prst="rect">
            <a:avLst/>
          </a:prstGeom>
        </p:spPr>
      </p:pic>
      <p:pic>
        <p:nvPicPr>
          <p:cNvPr id="4" name="Image 1" descr="/private/tmp/claude-501/-Users-prathmeshwalimbe-Downloads-Meesho/dfec39d5-f971-4a3a-8cfb-761f4ef1fedb/scratchpad/deck/assets/header_stripes.png">    </p:cNvPr>
          <p:cNvPicPr>
            <a:picLocks noChangeAspect="1"/>
          </p:cNvPicPr>
          <p:nvPr/>
        </p:nvPicPr>
        <p:blipFill>
          <a:blip r:embed="rId2"/>
          <a:stretch>
            <a:fillRect/>
          </a:stretch>
        </p:blipFill>
        <p:spPr>
          <a:xfrm>
            <a:off x="16636594" y="0"/>
            <a:ext cx="1651406" cy="868680"/>
          </a:xfrm>
          <a:prstGeom prst="rect">
            <a:avLst/>
          </a:prstGeom>
        </p:spPr>
      </p:pic>
      <p:sp>
        <p:nvSpPr>
          <p:cNvPr id="5" name="Shape 1"/>
          <p:cNvSpPr/>
          <p:nvPr/>
        </p:nvSpPr>
        <p:spPr>
          <a:xfrm>
            <a:off x="1828800" y="182880"/>
            <a:ext cx="1413662" cy="502920"/>
          </a:xfrm>
          <a:prstGeom prst="roundRect">
            <a:avLst>
              <a:gd name="adj" fmla="val 14545"/>
            </a:avLst>
          </a:prstGeom>
          <a:solidFill>
            <a:srgbClr val="FFFFFF"/>
          </a:solidFill>
          <a:ln w="9525">
            <a:solidFill>
              <a:srgbClr val="E0CEDA"/>
            </a:solidFill>
            <a:prstDash val="solid"/>
          </a:ln>
        </p:spPr>
      </p:sp>
      <p:sp>
        <p:nvSpPr>
          <p:cNvPr id="6" name="Text 2"/>
          <p:cNvSpPr txBox="1"/>
          <p:nvPr/>
        </p:nvSpPr>
        <p:spPr>
          <a:xfrm>
            <a:off x="1865376"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1 · SEGMENTATION</a:t>
            </a:r>
            <a:endParaRPr lang="en-US" sz="950" dirty="0"/>
          </a:p>
        </p:txBody>
      </p:sp>
      <p:sp>
        <p:nvSpPr>
          <p:cNvPr id="7" name="Shape 3"/>
          <p:cNvSpPr/>
          <p:nvPr/>
        </p:nvSpPr>
        <p:spPr>
          <a:xfrm>
            <a:off x="3297326" y="182880"/>
            <a:ext cx="1413662" cy="502920"/>
          </a:xfrm>
          <a:prstGeom prst="roundRect">
            <a:avLst>
              <a:gd name="adj" fmla="val 14545"/>
            </a:avLst>
          </a:prstGeom>
          <a:solidFill>
            <a:srgbClr val="FFFFFF"/>
          </a:solidFill>
          <a:ln w="9525">
            <a:solidFill>
              <a:srgbClr val="E0CEDA"/>
            </a:solidFill>
            <a:prstDash val="solid"/>
          </a:ln>
        </p:spPr>
      </p:sp>
      <p:sp>
        <p:nvSpPr>
          <p:cNvPr id="8" name="Text 4"/>
          <p:cNvSpPr txBox="1"/>
          <p:nvPr/>
        </p:nvSpPr>
        <p:spPr>
          <a:xfrm>
            <a:off x="333390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2 · MARKET SIZING</a:t>
            </a:r>
            <a:endParaRPr lang="en-US" sz="950" dirty="0"/>
          </a:p>
        </p:txBody>
      </p:sp>
      <p:sp>
        <p:nvSpPr>
          <p:cNvPr id="9" name="Shape 5"/>
          <p:cNvSpPr/>
          <p:nvPr/>
        </p:nvSpPr>
        <p:spPr>
          <a:xfrm>
            <a:off x="4765853" y="182880"/>
            <a:ext cx="1413662" cy="502920"/>
          </a:xfrm>
          <a:prstGeom prst="roundRect">
            <a:avLst>
              <a:gd name="adj" fmla="val 14545"/>
            </a:avLst>
          </a:prstGeom>
          <a:solidFill>
            <a:srgbClr val="FFFFFF"/>
          </a:solidFill>
          <a:ln w="9525">
            <a:solidFill>
              <a:srgbClr val="E0CEDA"/>
            </a:solidFill>
            <a:prstDash val="solid"/>
          </a:ln>
        </p:spPr>
      </p:sp>
      <p:sp>
        <p:nvSpPr>
          <p:cNvPr id="10" name="Text 6"/>
          <p:cNvSpPr txBox="1"/>
          <p:nvPr/>
        </p:nvSpPr>
        <p:spPr>
          <a:xfrm>
            <a:off x="4802429"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3 · PRICE SCREEN</a:t>
            </a:r>
            <a:endParaRPr lang="en-US" sz="950" dirty="0"/>
          </a:p>
        </p:txBody>
      </p:sp>
      <p:sp>
        <p:nvSpPr>
          <p:cNvPr id="11" name="Shape 7"/>
          <p:cNvSpPr/>
          <p:nvPr/>
        </p:nvSpPr>
        <p:spPr>
          <a:xfrm>
            <a:off x="6234379" y="182880"/>
            <a:ext cx="1413662" cy="502920"/>
          </a:xfrm>
          <a:prstGeom prst="roundRect">
            <a:avLst>
              <a:gd name="adj" fmla="val 14545"/>
            </a:avLst>
          </a:prstGeom>
          <a:solidFill>
            <a:srgbClr val="FFFFFF"/>
          </a:solidFill>
          <a:ln w="9525">
            <a:solidFill>
              <a:srgbClr val="E0CEDA"/>
            </a:solidFill>
            <a:prstDash val="solid"/>
          </a:ln>
        </p:spPr>
      </p:sp>
      <p:sp>
        <p:nvSpPr>
          <p:cNvPr id="12" name="Text 8"/>
          <p:cNvSpPr txBox="1"/>
          <p:nvPr/>
        </p:nvSpPr>
        <p:spPr>
          <a:xfrm>
            <a:off x="6270955"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4 · ONBOARDING</a:t>
            </a:r>
            <a:endParaRPr lang="en-US" sz="950" dirty="0"/>
          </a:p>
        </p:txBody>
      </p:sp>
      <p:sp>
        <p:nvSpPr>
          <p:cNvPr id="13" name="Shape 9"/>
          <p:cNvSpPr/>
          <p:nvPr/>
        </p:nvSpPr>
        <p:spPr>
          <a:xfrm>
            <a:off x="7702906" y="182880"/>
            <a:ext cx="1413662" cy="502920"/>
          </a:xfrm>
          <a:prstGeom prst="roundRect">
            <a:avLst>
              <a:gd name="adj" fmla="val 14545"/>
            </a:avLst>
          </a:prstGeom>
          <a:solidFill>
            <a:srgbClr val="FFFFFF"/>
          </a:solidFill>
          <a:ln w="9525">
            <a:solidFill>
              <a:srgbClr val="E0CEDA"/>
            </a:solidFill>
            <a:prstDash val="solid"/>
          </a:ln>
        </p:spPr>
      </p:sp>
      <p:sp>
        <p:nvSpPr>
          <p:cNvPr id="14" name="Text 10"/>
          <p:cNvSpPr txBox="1"/>
          <p:nvPr/>
        </p:nvSpPr>
        <p:spPr>
          <a:xfrm>
            <a:off x="7739482"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5 · SCALE-UP</a:t>
            </a:r>
            <a:endParaRPr lang="en-US" sz="950" dirty="0"/>
          </a:p>
        </p:txBody>
      </p:sp>
      <p:sp>
        <p:nvSpPr>
          <p:cNvPr id="15" name="Shape 11"/>
          <p:cNvSpPr/>
          <p:nvPr/>
        </p:nvSpPr>
        <p:spPr>
          <a:xfrm>
            <a:off x="9171432" y="182880"/>
            <a:ext cx="1413662" cy="502920"/>
          </a:xfrm>
          <a:prstGeom prst="roundRect">
            <a:avLst>
              <a:gd name="adj" fmla="val 14545"/>
            </a:avLst>
          </a:prstGeom>
          <a:solidFill>
            <a:srgbClr val="FFFFFF"/>
          </a:solidFill>
          <a:ln w="9525">
            <a:solidFill>
              <a:srgbClr val="E0CEDA"/>
            </a:solidFill>
            <a:prstDash val="solid"/>
          </a:ln>
        </p:spPr>
      </p:sp>
      <p:sp>
        <p:nvSpPr>
          <p:cNvPr id="16" name="Text 12"/>
          <p:cNvSpPr txBox="1"/>
          <p:nvPr/>
        </p:nvSpPr>
        <p:spPr>
          <a:xfrm>
            <a:off x="9208008"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6 · METRICS &amp; KPIs</a:t>
            </a:r>
            <a:endParaRPr lang="en-US" sz="950" dirty="0"/>
          </a:p>
        </p:txBody>
      </p:sp>
      <p:sp>
        <p:nvSpPr>
          <p:cNvPr id="17" name="Shape 13"/>
          <p:cNvSpPr/>
          <p:nvPr/>
        </p:nvSpPr>
        <p:spPr>
          <a:xfrm>
            <a:off x="10639958" y="182880"/>
            <a:ext cx="1413662" cy="502920"/>
          </a:xfrm>
          <a:prstGeom prst="roundRect">
            <a:avLst>
              <a:gd name="adj" fmla="val 14545"/>
            </a:avLst>
          </a:prstGeom>
          <a:solidFill>
            <a:srgbClr val="FFFFFF"/>
          </a:solidFill>
          <a:ln w="9525">
            <a:solidFill>
              <a:srgbClr val="E0CEDA"/>
            </a:solidFill>
            <a:prstDash val="solid"/>
          </a:ln>
        </p:spPr>
      </p:sp>
      <p:sp>
        <p:nvSpPr>
          <p:cNvPr id="18" name="Text 14"/>
          <p:cNvSpPr txBox="1"/>
          <p:nvPr/>
        </p:nvSpPr>
        <p:spPr>
          <a:xfrm>
            <a:off x="1067653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7 · ROADMAP</a:t>
            </a:r>
            <a:endParaRPr lang="en-US" sz="950" dirty="0"/>
          </a:p>
        </p:txBody>
      </p:sp>
      <p:sp>
        <p:nvSpPr>
          <p:cNvPr id="19" name="Shape 15"/>
          <p:cNvSpPr/>
          <p:nvPr/>
        </p:nvSpPr>
        <p:spPr>
          <a:xfrm>
            <a:off x="12108485" y="182880"/>
            <a:ext cx="1413662" cy="502920"/>
          </a:xfrm>
          <a:prstGeom prst="roundRect">
            <a:avLst>
              <a:gd name="adj" fmla="val 14545"/>
            </a:avLst>
          </a:prstGeom>
          <a:solidFill>
            <a:srgbClr val="FFFFFF"/>
          </a:solidFill>
          <a:ln w="9525">
            <a:solidFill>
              <a:srgbClr val="E0CEDA"/>
            </a:solidFill>
            <a:prstDash val="solid"/>
          </a:ln>
        </p:spPr>
      </p:sp>
      <p:sp>
        <p:nvSpPr>
          <p:cNvPr id="20" name="Text 16"/>
          <p:cNvSpPr txBox="1"/>
          <p:nvPr/>
        </p:nvSpPr>
        <p:spPr>
          <a:xfrm>
            <a:off x="12145061"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8 · RISKS &amp; GUARDRAILS</a:t>
            </a:r>
            <a:endParaRPr lang="en-US" sz="950" dirty="0"/>
          </a:p>
        </p:txBody>
      </p:sp>
      <p:sp>
        <p:nvSpPr>
          <p:cNvPr id="21" name="Shape 17"/>
          <p:cNvSpPr/>
          <p:nvPr/>
        </p:nvSpPr>
        <p:spPr>
          <a:xfrm>
            <a:off x="13577011" y="182880"/>
            <a:ext cx="1413662" cy="502920"/>
          </a:xfrm>
          <a:prstGeom prst="roundRect">
            <a:avLst>
              <a:gd name="adj" fmla="val 14545"/>
            </a:avLst>
          </a:prstGeom>
          <a:solidFill>
            <a:srgbClr val="FFFFFF"/>
          </a:solidFill>
          <a:ln w="9525">
            <a:solidFill>
              <a:srgbClr val="E0CEDA"/>
            </a:solidFill>
            <a:prstDash val="solid"/>
          </a:ln>
        </p:spPr>
      </p:sp>
      <p:sp>
        <p:nvSpPr>
          <p:cNvPr id="22" name="Text 18"/>
          <p:cNvSpPr txBox="1"/>
          <p:nvPr/>
        </p:nvSpPr>
        <p:spPr>
          <a:xfrm>
            <a:off x="13613587"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6E1251"/>
                </a:solidFill>
                <a:latin typeface="Arial" pitchFamily="34" charset="0"/>
                <a:ea typeface="Arial" pitchFamily="34" charset="-122"/>
                <a:cs typeface="Arial" pitchFamily="34" charset="-120"/>
              </a:rPr>
              <a:t>9 · OPERATING MODEL</a:t>
            </a:r>
            <a:endParaRPr lang="en-US" sz="950" dirty="0"/>
          </a:p>
        </p:txBody>
      </p:sp>
      <p:sp>
        <p:nvSpPr>
          <p:cNvPr id="23" name="Shape 19"/>
          <p:cNvSpPr/>
          <p:nvPr/>
        </p:nvSpPr>
        <p:spPr>
          <a:xfrm>
            <a:off x="15045538" y="182880"/>
            <a:ext cx="1413662" cy="502920"/>
          </a:xfrm>
          <a:prstGeom prst="roundRect">
            <a:avLst>
              <a:gd name="adj" fmla="val 14545"/>
            </a:avLst>
          </a:prstGeom>
          <a:solidFill>
            <a:srgbClr val="560547"/>
          </a:solidFill>
          <a:ln w="9525">
            <a:solidFill>
              <a:srgbClr val="560547"/>
            </a:solidFill>
            <a:prstDash val="solid"/>
          </a:ln>
        </p:spPr>
      </p:sp>
      <p:sp>
        <p:nvSpPr>
          <p:cNvPr id="24" name="Text 20"/>
          <p:cNvSpPr txBox="1"/>
          <p:nvPr/>
        </p:nvSpPr>
        <p:spPr>
          <a:xfrm>
            <a:off x="15082114" y="182880"/>
            <a:ext cx="1340510"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10 · PROTOTYPE</a:t>
            </a:r>
            <a:endParaRPr lang="en-US" sz="950" dirty="0"/>
          </a:p>
        </p:txBody>
      </p:sp>
      <p:sp>
        <p:nvSpPr>
          <p:cNvPr id="25" name="Shape 21"/>
          <p:cNvSpPr/>
          <p:nvPr/>
        </p:nvSpPr>
        <p:spPr>
          <a:xfrm>
            <a:off x="228600" y="987552"/>
            <a:ext cx="384048" cy="8083296"/>
          </a:xfrm>
          <a:prstGeom prst="rect">
            <a:avLst/>
          </a:prstGeom>
          <a:solidFill>
            <a:srgbClr val="6E1251"/>
          </a:solidFill>
          <a:ln w="12700">
            <a:solidFill>
              <a:srgbClr val="6E1251"/>
            </a:solidFill>
            <a:prstDash val="solid"/>
          </a:ln>
        </p:spPr>
      </p:sp>
      <p:sp>
        <p:nvSpPr>
          <p:cNvPr id="26" name="Text 22"/>
          <p:cNvSpPr txBox="1"/>
          <p:nvPr/>
        </p:nvSpPr>
        <p:spPr>
          <a:xfrm rot="16200000">
            <a:off x="-3621024" y="4837176"/>
            <a:ext cx="8083296" cy="384048"/>
          </a:xfrm>
          <a:prstGeom prst="rect">
            <a:avLst/>
          </a:prstGeom>
          <a:noFill/>
          <a:ln/>
        </p:spPr>
        <p:txBody>
          <a:bodyPr wrap="square" lIns="0" tIns="0" rIns="0" bIns="0" rtlCol="0" anchor="ctr"/>
          <a:lstStyle/>
          <a:p>
            <a:pPr algn="ctr" indent="0" marL="0">
              <a:lnSpc>
                <a:spcPct val="100000"/>
              </a:lnSpc>
              <a:buNone/>
            </a:pPr>
            <a:r>
              <a:rPr lang="en-US" sz="1200" b="1" spc="300" kern="0" dirty="0">
                <a:solidFill>
                  <a:srgbClr val="FFFFFF"/>
                </a:solidFill>
                <a:latin typeface="Arial" pitchFamily="34" charset="0"/>
                <a:ea typeface="Arial" pitchFamily="34" charset="-122"/>
                <a:cs typeface="Arial" pitchFamily="34" charset="-120"/>
              </a:rPr>
              <a:t>PROOF, LIVE</a:t>
            </a:r>
            <a:endParaRPr lang="en-US" sz="1200" dirty="0"/>
          </a:p>
        </p:txBody>
      </p:sp>
      <p:sp>
        <p:nvSpPr>
          <p:cNvPr id="27" name="Text 23"/>
          <p:cNvSpPr txBox="1"/>
          <p:nvPr/>
        </p:nvSpPr>
        <p:spPr>
          <a:xfrm>
            <a:off x="749808" y="969264"/>
            <a:ext cx="17309592" cy="384048"/>
          </a:xfrm>
          <a:prstGeom prst="rect">
            <a:avLst/>
          </a:prstGeom>
          <a:noFill/>
          <a:ln/>
        </p:spPr>
        <p:txBody>
          <a:bodyPr wrap="square" lIns="0" tIns="0" rIns="0" bIns="0" rtlCol="0" anchor="ctr"/>
          <a:lstStyle/>
          <a:p>
            <a:pPr algn="l" indent="0" marL="0">
              <a:lnSpc>
                <a:spcPct val="100000"/>
              </a:lnSpc>
              <a:buNone/>
            </a:pPr>
            <a:r>
              <a:rPr lang="en-US" sz="1700" b="1" dirty="0">
                <a:solidFill>
                  <a:srgbClr val="560547"/>
                </a:solidFill>
                <a:latin typeface="Arial" pitchFamily="34" charset="0"/>
                <a:ea typeface="Arial" pitchFamily="34" charset="-122"/>
                <a:cs typeface="Arial" pitchFamily="34" charset="-120"/>
              </a:rPr>
              <a:t>Q10 · Working prototype · Does it actually run? Every rule on this deck, live</a:t>
            </a:r>
            <a:endParaRPr lang="en-US" sz="1700" dirty="0"/>
          </a:p>
        </p:txBody>
      </p:sp>
      <p:sp>
        <p:nvSpPr>
          <p:cNvPr id="28" name="Text 24"/>
          <p:cNvSpPr txBox="1"/>
          <p:nvPr/>
        </p:nvSpPr>
        <p:spPr>
          <a:xfrm>
            <a:off x="749808" y="9098280"/>
            <a:ext cx="17309592" cy="256032"/>
          </a:xfrm>
          <a:prstGeom prst="rect">
            <a:avLst/>
          </a:prstGeom>
          <a:noFill/>
          <a:ln/>
        </p:spPr>
        <p:txBody>
          <a:bodyPr wrap="square" lIns="0" tIns="0" rIns="0" bIns="0" rtlCol="0" anchor="ctr"/>
          <a:lstStyle/>
          <a:p>
            <a:pPr algn="l" indent="0" marL="0">
              <a:lnSpc>
                <a:spcPct val="100000"/>
              </a:lnSpc>
              <a:buNone/>
            </a:pPr>
            <a:r>
              <a:rPr lang="en-US" sz="1000" i="1" dirty="0">
                <a:solidFill>
                  <a:srgbClr val="7A6470"/>
                </a:solidFill>
                <a:latin typeface="Calibri" pitchFamily="34" charset="0"/>
                <a:ea typeface="Calibri" pitchFamily="34" charset="-122"/>
                <a:cs typeface="Calibri" pitchFamily="34" charset="-120"/>
              </a:rPr>
              <a:t>Built for this submission: React + Recharts, static site. 261 synthetic sellers and 4,415 SKUs across 9 categories, a 60-seller pilot, fixed seed, fictional names. Four model tests run before every deploy. All assumptions live in one config file.</a:t>
            </a:r>
            <a:endParaRPr lang="en-US" sz="1000" dirty="0"/>
          </a:p>
        </p:txBody>
      </p:sp>
      <p:sp>
        <p:nvSpPr>
          <p:cNvPr id="29" name="Shape 25"/>
          <p:cNvSpPr/>
          <p:nvPr/>
        </p:nvSpPr>
        <p:spPr>
          <a:xfrm>
            <a:off x="228600" y="9400032"/>
            <a:ext cx="17830800" cy="603504"/>
          </a:xfrm>
          <a:prstGeom prst="rect">
            <a:avLst/>
          </a:prstGeom>
          <a:solidFill>
            <a:srgbClr val="560547"/>
          </a:solidFill>
          <a:ln w="12700">
            <a:solidFill>
              <a:srgbClr val="560547"/>
            </a:solidFill>
            <a:prstDash val="solid"/>
          </a:ln>
        </p:spPr>
      </p:sp>
      <p:sp>
        <p:nvSpPr>
          <p:cNvPr id="30" name="Shape 26"/>
          <p:cNvSpPr/>
          <p:nvPr/>
        </p:nvSpPr>
        <p:spPr>
          <a:xfrm>
            <a:off x="411480" y="9592056"/>
            <a:ext cx="219456" cy="219456"/>
          </a:xfrm>
          <a:prstGeom prst="rect">
            <a:avLst/>
          </a:prstGeom>
          <a:solidFill>
            <a:srgbClr val="FF9D00"/>
          </a:solidFill>
          <a:ln w="12700">
            <a:solidFill>
              <a:srgbClr val="FF9D00"/>
            </a:solidFill>
            <a:prstDash val="solid"/>
          </a:ln>
        </p:spPr>
      </p:sp>
      <p:sp>
        <p:nvSpPr>
          <p:cNvPr id="31" name="Text 27"/>
          <p:cNvSpPr txBox="1"/>
          <p:nvPr/>
        </p:nvSpPr>
        <p:spPr>
          <a:xfrm>
            <a:off x="804672" y="9400032"/>
            <a:ext cx="17117568" cy="603504"/>
          </a:xfrm>
          <a:prstGeom prst="rect">
            <a:avLst/>
          </a:prstGeom>
          <a:noFill/>
          <a:ln/>
        </p:spPr>
        <p:txBody>
          <a:bodyPr wrap="square" lIns="0" tIns="0" rIns="0" bIns="0" rtlCol="0" anchor="ctr"/>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The prototype runs the whole loop on synthetic data (screen, experiment, daily score, manufacturer app), and every rule in it would run unchanged on Meesho’s delivered-order and listing tables.</a:t>
            </a:r>
            <a:endParaRPr lang="en-US" sz="1400" dirty="0"/>
          </a:p>
        </p:txBody>
      </p:sp>
      <p:pic>
        <p:nvPicPr>
          <p:cNvPr id="32" name="Image 2" descr="/private/tmp/claude-501/-Users-prathmeshwalimbe-Downloads-Meesho/dfec39d5-f971-4a3a-8cfb-761f4ef1fedb/scratchpad/deck/assets/footer_stripe.png">    </p:cNvPr>
          <p:cNvPicPr>
            <a:picLocks noChangeAspect="1"/>
          </p:cNvPicPr>
          <p:nvPr/>
        </p:nvPicPr>
        <p:blipFill>
          <a:blip r:embed="rId3"/>
          <a:stretch>
            <a:fillRect/>
          </a:stretch>
        </p:blipFill>
        <p:spPr>
          <a:xfrm>
            <a:off x="0" y="10085832"/>
            <a:ext cx="18288000" cy="201168"/>
          </a:xfrm>
          <a:prstGeom prst="rect">
            <a:avLst/>
          </a:prstGeom>
        </p:spPr>
      </p:pic>
      <p:sp>
        <p:nvSpPr>
          <p:cNvPr id="34" name="Shape 28"/>
          <p:cNvSpPr/>
          <p:nvPr/>
        </p:nvSpPr>
        <p:spPr>
          <a:xfrm>
            <a:off x="749808" y="1426464"/>
            <a:ext cx="6954012" cy="3730752"/>
          </a:xfrm>
          <a:prstGeom prst="rect">
            <a:avLst/>
          </a:prstGeom>
          <a:solidFill>
            <a:srgbClr val="FFFFFF"/>
          </a:solidFill>
          <a:ln w="9525">
            <a:solidFill>
              <a:srgbClr val="E0CEDA"/>
            </a:solidFill>
            <a:prstDash val="solid"/>
          </a:ln>
        </p:spPr>
      </p:sp>
      <p:sp>
        <p:nvSpPr>
          <p:cNvPr id="35" name="Shape 29"/>
          <p:cNvSpPr/>
          <p:nvPr/>
        </p:nvSpPr>
        <p:spPr>
          <a:xfrm>
            <a:off x="749808" y="1426464"/>
            <a:ext cx="6954012" cy="329184"/>
          </a:xfrm>
          <a:prstGeom prst="rect">
            <a:avLst/>
          </a:prstGeom>
          <a:solidFill>
            <a:srgbClr val="560547"/>
          </a:solidFill>
          <a:ln w="12700">
            <a:solidFill>
              <a:srgbClr val="560547"/>
            </a:solidFill>
            <a:prstDash val="solid"/>
          </a:ln>
        </p:spPr>
      </p:sp>
      <p:pic>
        <p:nvPicPr>
          <p:cNvPr id="36" name="Image 3" descr="/private/tmp/claude-501/-Users-prathmeshwalimbe-Downloads-Meesho/dfec39d5-f971-4a3a-8cfb-761f4ef1fedb/scratchpad/deck/assets/icons/FaCalculator_w.png">    </p:cNvPr>
          <p:cNvPicPr>
            <a:picLocks noChangeAspect="1"/>
          </p:cNvPicPr>
          <p:nvPr/>
        </p:nvPicPr>
        <p:blipFill>
          <a:blip r:embed="rId4"/>
          <a:stretch>
            <a:fillRect/>
          </a:stretch>
        </p:blipFill>
        <p:spPr>
          <a:xfrm>
            <a:off x="859536" y="1490472"/>
            <a:ext cx="201168" cy="201168"/>
          </a:xfrm>
          <a:prstGeom prst="rect">
            <a:avLst/>
          </a:prstGeom>
        </p:spPr>
      </p:pic>
      <p:sp>
        <p:nvSpPr>
          <p:cNvPr id="37" name="Text 30"/>
          <p:cNvSpPr txBox="1"/>
          <p:nvPr/>
        </p:nvSpPr>
        <p:spPr>
          <a:xfrm>
            <a:off x="1133856" y="1426464"/>
            <a:ext cx="6441948"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1 · PRICE TRUTH INDEX</a:t>
            </a:r>
            <a:endParaRPr lang="en-US" sz="1250" dirty="0"/>
          </a:p>
        </p:txBody>
      </p:sp>
      <p:sp>
        <p:nvSpPr>
          <p:cNvPr id="38" name="Shape 31"/>
          <p:cNvSpPr/>
          <p:nvPr/>
        </p:nvSpPr>
        <p:spPr>
          <a:xfrm>
            <a:off x="2257262" y="1837944"/>
            <a:ext cx="3939105" cy="2752344"/>
          </a:xfrm>
          <a:prstGeom prst="rect">
            <a:avLst/>
          </a:prstGeom>
          <a:solidFill>
            <a:srgbClr val="FFFFFF"/>
          </a:solidFill>
          <a:ln w="9525">
            <a:solidFill>
              <a:srgbClr val="E0CEDA"/>
            </a:solidFill>
            <a:prstDash val="solid"/>
          </a:ln>
        </p:spPr>
      </p:sp>
      <p:pic>
        <p:nvPicPr>
          <p:cNvPr id="39" name="Image 4" descr="/private/tmp/claude-501/-Users-prathmeshwalimbe-Downloads-Meesho/dfec39d5-f971-4a3a-8cfb-761f4ef1fedb/scratchpad/deck/assets/shot_pti_scatter.png">    </p:cNvPr>
          <p:cNvPicPr>
            <a:picLocks noChangeAspect="1"/>
          </p:cNvPicPr>
          <p:nvPr/>
        </p:nvPicPr>
        <p:blipFill>
          <a:blip r:embed="rId5"/>
          <a:stretch>
            <a:fillRect/>
          </a:stretch>
        </p:blipFill>
        <p:spPr>
          <a:xfrm>
            <a:off x="2266406" y="1847088"/>
            <a:ext cx="3920817" cy="2734056"/>
          </a:xfrm>
          <a:prstGeom prst="rect">
            <a:avLst/>
          </a:prstGeom>
        </p:spPr>
      </p:pic>
      <p:sp>
        <p:nvSpPr>
          <p:cNvPr id="40" name="Shape 32"/>
          <p:cNvSpPr/>
          <p:nvPr/>
        </p:nvSpPr>
        <p:spPr>
          <a:xfrm>
            <a:off x="877824" y="4672584"/>
            <a:ext cx="6697980" cy="457200"/>
          </a:xfrm>
          <a:prstGeom prst="roundRect">
            <a:avLst>
              <a:gd name="adj" fmla="val 8000"/>
            </a:avLst>
          </a:prstGeom>
          <a:solidFill>
            <a:srgbClr val="F2E4EE"/>
          </a:solidFill>
          <a:ln w="12700">
            <a:solidFill>
              <a:srgbClr val="F2E4EE"/>
            </a:solidFill>
            <a:prstDash val="solid"/>
          </a:ln>
        </p:spPr>
      </p:sp>
      <p:sp>
        <p:nvSpPr>
          <p:cNvPr id="41" name="Text 33"/>
          <p:cNvSpPr txBox="1"/>
          <p:nvPr/>
        </p:nvSpPr>
        <p:spPr>
          <a:xfrm>
            <a:off x="969264" y="4672584"/>
            <a:ext cx="6515100" cy="457200"/>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180 screened · 62 pass · 7 of the 10 largest fail</a:t>
            </a:r>
            <a:endParaRPr lang="en-US" sz="1100" dirty="0"/>
          </a:p>
        </p:txBody>
      </p:sp>
      <p:sp>
        <p:nvSpPr>
          <p:cNvPr id="42" name="Shape 34"/>
          <p:cNvSpPr/>
          <p:nvPr/>
        </p:nvSpPr>
        <p:spPr>
          <a:xfrm>
            <a:off x="7831836" y="1426464"/>
            <a:ext cx="6954012" cy="3730752"/>
          </a:xfrm>
          <a:prstGeom prst="rect">
            <a:avLst/>
          </a:prstGeom>
          <a:solidFill>
            <a:srgbClr val="FFFFFF"/>
          </a:solidFill>
          <a:ln w="9525">
            <a:solidFill>
              <a:srgbClr val="E0CEDA"/>
            </a:solidFill>
            <a:prstDash val="solid"/>
          </a:ln>
        </p:spPr>
      </p:sp>
      <p:sp>
        <p:nvSpPr>
          <p:cNvPr id="43" name="Shape 35"/>
          <p:cNvSpPr/>
          <p:nvPr/>
        </p:nvSpPr>
        <p:spPr>
          <a:xfrm>
            <a:off x="7831836" y="1426464"/>
            <a:ext cx="6954012" cy="329184"/>
          </a:xfrm>
          <a:prstGeom prst="rect">
            <a:avLst/>
          </a:prstGeom>
          <a:solidFill>
            <a:srgbClr val="560547"/>
          </a:solidFill>
          <a:ln w="12700">
            <a:solidFill>
              <a:srgbClr val="560547"/>
            </a:solidFill>
            <a:prstDash val="solid"/>
          </a:ln>
        </p:spPr>
      </p:sp>
      <p:pic>
        <p:nvPicPr>
          <p:cNvPr id="44" name="Image 5" descr="/private/tmp/claude-501/-Users-prathmeshwalimbe-Downloads-Meesho/dfec39d5-f971-4a3a-8cfb-761f4ef1fedb/scratchpad/deck/assets/icons/FaFlask_w.png">    </p:cNvPr>
          <p:cNvPicPr>
            <a:picLocks noChangeAspect="1"/>
          </p:cNvPicPr>
          <p:nvPr/>
        </p:nvPicPr>
        <p:blipFill>
          <a:blip r:embed="rId6"/>
          <a:stretch>
            <a:fillRect/>
          </a:stretch>
        </p:blipFill>
        <p:spPr>
          <a:xfrm>
            <a:off x="7941564" y="1490472"/>
            <a:ext cx="201168" cy="201168"/>
          </a:xfrm>
          <a:prstGeom prst="rect">
            <a:avLst/>
          </a:prstGeom>
        </p:spPr>
      </p:pic>
      <p:sp>
        <p:nvSpPr>
          <p:cNvPr id="45" name="Text 36"/>
          <p:cNvSpPr txBox="1"/>
          <p:nvPr/>
        </p:nvSpPr>
        <p:spPr>
          <a:xfrm>
            <a:off x="8215884" y="1426464"/>
            <a:ext cx="6441948"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2 · DAY-30 READOUT</a:t>
            </a:r>
            <a:endParaRPr lang="en-US" sz="1250" dirty="0"/>
          </a:p>
        </p:txBody>
      </p:sp>
      <p:sp>
        <p:nvSpPr>
          <p:cNvPr id="46" name="Shape 37"/>
          <p:cNvSpPr/>
          <p:nvPr/>
        </p:nvSpPr>
        <p:spPr>
          <a:xfrm>
            <a:off x="8907869" y="1837944"/>
            <a:ext cx="4801946" cy="2752344"/>
          </a:xfrm>
          <a:prstGeom prst="rect">
            <a:avLst/>
          </a:prstGeom>
          <a:solidFill>
            <a:srgbClr val="FFFFFF"/>
          </a:solidFill>
          <a:ln w="9525">
            <a:solidFill>
              <a:srgbClr val="E0CEDA"/>
            </a:solidFill>
            <a:prstDash val="solid"/>
          </a:ln>
        </p:spPr>
      </p:sp>
      <p:pic>
        <p:nvPicPr>
          <p:cNvPr id="47" name="Image 6" descr="/private/tmp/claude-501/-Users-prathmeshwalimbe-Downloads-Meesho/dfec39d5-f971-4a3a-8cfb-761f4ef1fedb/scratchpad/deck/assets/shot_day30.png">    </p:cNvPr>
          <p:cNvPicPr>
            <a:picLocks noChangeAspect="1"/>
          </p:cNvPicPr>
          <p:nvPr/>
        </p:nvPicPr>
        <p:blipFill>
          <a:blip r:embed="rId7"/>
          <a:stretch>
            <a:fillRect/>
          </a:stretch>
        </p:blipFill>
        <p:spPr>
          <a:xfrm>
            <a:off x="8917013" y="1847088"/>
            <a:ext cx="4783658" cy="2734056"/>
          </a:xfrm>
          <a:prstGeom prst="rect">
            <a:avLst/>
          </a:prstGeom>
        </p:spPr>
      </p:pic>
      <p:sp>
        <p:nvSpPr>
          <p:cNvPr id="48" name="Shape 38"/>
          <p:cNvSpPr/>
          <p:nvPr/>
        </p:nvSpPr>
        <p:spPr>
          <a:xfrm>
            <a:off x="7959852" y="4672584"/>
            <a:ext cx="6697980" cy="457200"/>
          </a:xfrm>
          <a:prstGeom prst="roundRect">
            <a:avLst>
              <a:gd name="adj" fmla="val 8000"/>
            </a:avLst>
          </a:prstGeom>
          <a:solidFill>
            <a:srgbClr val="F2E4EE"/>
          </a:solidFill>
          <a:ln w="12700">
            <a:solidFill>
              <a:srgbClr val="F2E4EE"/>
            </a:solidFill>
            <a:prstDash val="solid"/>
          </a:ln>
        </p:spPr>
      </p:sp>
      <p:sp>
        <p:nvSpPr>
          <p:cNvPr id="49" name="Text 39"/>
          <p:cNvSpPr txBox="1"/>
          <p:nvPr/>
        </p:nvSpPr>
        <p:spPr>
          <a:xfrm>
            <a:off x="8051292" y="4672584"/>
            <a:ext cx="6515100" cy="457200"/>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Base +18.2% (CI +15.1% to +21.5%) → fund · weak +4.7% → tighten · decay 40% retained → stop</a:t>
            </a:r>
            <a:endParaRPr lang="en-US" sz="1100" dirty="0"/>
          </a:p>
        </p:txBody>
      </p:sp>
      <p:sp>
        <p:nvSpPr>
          <p:cNvPr id="50" name="Shape 40"/>
          <p:cNvSpPr/>
          <p:nvPr/>
        </p:nvSpPr>
        <p:spPr>
          <a:xfrm>
            <a:off x="749808" y="5285232"/>
            <a:ext cx="6954012" cy="3730752"/>
          </a:xfrm>
          <a:prstGeom prst="rect">
            <a:avLst/>
          </a:prstGeom>
          <a:solidFill>
            <a:srgbClr val="FFFFFF"/>
          </a:solidFill>
          <a:ln w="9525">
            <a:solidFill>
              <a:srgbClr val="E0CEDA"/>
            </a:solidFill>
            <a:prstDash val="solid"/>
          </a:ln>
        </p:spPr>
      </p:sp>
      <p:sp>
        <p:nvSpPr>
          <p:cNvPr id="51" name="Shape 41"/>
          <p:cNvSpPr/>
          <p:nvPr/>
        </p:nvSpPr>
        <p:spPr>
          <a:xfrm>
            <a:off x="749808" y="5285232"/>
            <a:ext cx="6954012" cy="329184"/>
          </a:xfrm>
          <a:prstGeom prst="rect">
            <a:avLst/>
          </a:prstGeom>
          <a:solidFill>
            <a:srgbClr val="560547"/>
          </a:solidFill>
          <a:ln w="12700">
            <a:solidFill>
              <a:srgbClr val="560547"/>
            </a:solidFill>
            <a:prstDash val="solid"/>
          </a:ln>
        </p:spPr>
      </p:sp>
      <p:pic>
        <p:nvPicPr>
          <p:cNvPr id="52" name="Image 7" descr="/private/tmp/claude-501/-Users-prathmeshwalimbe-Downloads-Meesho/dfec39d5-f971-4a3a-8cfb-761f4ef1fedb/scratchpad/deck/assets/icons/FaGaugeHigh_w.png">    </p:cNvPr>
          <p:cNvPicPr>
            <a:picLocks noChangeAspect="1"/>
          </p:cNvPicPr>
          <p:nvPr/>
        </p:nvPicPr>
        <p:blipFill>
          <a:blip r:embed="rId8"/>
          <a:stretch>
            <a:fillRect/>
          </a:stretch>
        </p:blipFill>
        <p:spPr>
          <a:xfrm>
            <a:off x="859536" y="5349240"/>
            <a:ext cx="201168" cy="201168"/>
          </a:xfrm>
          <a:prstGeom prst="rect">
            <a:avLst/>
          </a:prstGeom>
        </p:spPr>
      </p:pic>
      <p:sp>
        <p:nvSpPr>
          <p:cNvPr id="53" name="Text 42"/>
          <p:cNvSpPr txBox="1"/>
          <p:nvPr/>
        </p:nvSpPr>
        <p:spPr>
          <a:xfrm>
            <a:off x="1133856" y="5285232"/>
            <a:ext cx="6441948"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3 · SELLER HEALTH</a:t>
            </a:r>
            <a:endParaRPr lang="en-US" sz="1250" dirty="0"/>
          </a:p>
        </p:txBody>
      </p:sp>
      <p:sp>
        <p:nvSpPr>
          <p:cNvPr id="54" name="Shape 43"/>
          <p:cNvSpPr/>
          <p:nvPr/>
        </p:nvSpPr>
        <p:spPr>
          <a:xfrm>
            <a:off x="2467037" y="5696712"/>
            <a:ext cx="3519554" cy="2752344"/>
          </a:xfrm>
          <a:prstGeom prst="rect">
            <a:avLst/>
          </a:prstGeom>
          <a:solidFill>
            <a:srgbClr val="FFFFFF"/>
          </a:solidFill>
          <a:ln w="9525">
            <a:solidFill>
              <a:srgbClr val="E0CEDA"/>
            </a:solidFill>
            <a:prstDash val="solid"/>
          </a:ln>
        </p:spPr>
      </p:sp>
      <p:pic>
        <p:nvPicPr>
          <p:cNvPr id="55" name="Image 8" descr="/private/tmp/claude-501/-Users-prathmeshwalimbe-Downloads-Meesho/dfec39d5-f971-4a3a-8cfb-761f4ef1fedb/scratchpad/deck/assets/shot_health_detail.png">    </p:cNvPr>
          <p:cNvPicPr>
            <a:picLocks noChangeAspect="1"/>
          </p:cNvPicPr>
          <p:nvPr/>
        </p:nvPicPr>
        <p:blipFill>
          <a:blip r:embed="rId9"/>
          <a:stretch>
            <a:fillRect/>
          </a:stretch>
        </p:blipFill>
        <p:spPr>
          <a:xfrm>
            <a:off x="2476181" y="5705856"/>
            <a:ext cx="3501266" cy="2734056"/>
          </a:xfrm>
          <a:prstGeom prst="rect">
            <a:avLst/>
          </a:prstGeom>
        </p:spPr>
      </p:pic>
      <p:sp>
        <p:nvSpPr>
          <p:cNvPr id="56" name="Shape 44"/>
          <p:cNvSpPr/>
          <p:nvPr/>
        </p:nvSpPr>
        <p:spPr>
          <a:xfrm>
            <a:off x="877824" y="8531352"/>
            <a:ext cx="6697980" cy="457200"/>
          </a:xfrm>
          <a:prstGeom prst="roundRect">
            <a:avLst>
              <a:gd name="adj" fmla="val 8000"/>
            </a:avLst>
          </a:prstGeom>
          <a:solidFill>
            <a:srgbClr val="F2E4EE"/>
          </a:solidFill>
          <a:ln w="12700">
            <a:solidFill>
              <a:srgbClr val="F2E4EE"/>
            </a:solidFill>
            <a:prstDash val="solid"/>
          </a:ln>
        </p:spPr>
      </p:sp>
      <p:sp>
        <p:nvSpPr>
          <p:cNvPr id="57" name="Text 45"/>
          <p:cNvSpPr txBox="1"/>
          <p:nvPr/>
        </p:nvSpPr>
        <p:spPr>
          <a:xfrm>
            <a:off x="969264" y="8531352"/>
            <a:ext cx="6515100" cy="457200"/>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60 sellers scored daily · 90 automated : 3 human · Kavin graduates on D37</a:t>
            </a:r>
            <a:endParaRPr lang="en-US" sz="1100" dirty="0"/>
          </a:p>
        </p:txBody>
      </p:sp>
      <p:sp>
        <p:nvSpPr>
          <p:cNvPr id="58" name="Shape 46"/>
          <p:cNvSpPr/>
          <p:nvPr/>
        </p:nvSpPr>
        <p:spPr>
          <a:xfrm>
            <a:off x="7831836" y="5285232"/>
            <a:ext cx="6954012" cy="3730752"/>
          </a:xfrm>
          <a:prstGeom prst="rect">
            <a:avLst/>
          </a:prstGeom>
          <a:solidFill>
            <a:srgbClr val="FFFFFF"/>
          </a:solidFill>
          <a:ln w="9525">
            <a:solidFill>
              <a:srgbClr val="E0CEDA"/>
            </a:solidFill>
            <a:prstDash val="solid"/>
          </a:ln>
        </p:spPr>
      </p:sp>
      <p:sp>
        <p:nvSpPr>
          <p:cNvPr id="59" name="Shape 47"/>
          <p:cNvSpPr/>
          <p:nvPr/>
        </p:nvSpPr>
        <p:spPr>
          <a:xfrm>
            <a:off x="7831836" y="5285232"/>
            <a:ext cx="6954012" cy="329184"/>
          </a:xfrm>
          <a:prstGeom prst="rect">
            <a:avLst/>
          </a:prstGeom>
          <a:solidFill>
            <a:srgbClr val="560547"/>
          </a:solidFill>
          <a:ln w="12700">
            <a:solidFill>
              <a:srgbClr val="560547"/>
            </a:solidFill>
            <a:prstDash val="solid"/>
          </a:ln>
        </p:spPr>
      </p:sp>
      <p:pic>
        <p:nvPicPr>
          <p:cNvPr id="60" name="Image 9" descr="/private/tmp/claude-501/-Users-prathmeshwalimbe-Downloads-Meesho/dfec39d5-f971-4a3a-8cfb-761f4ef1fedb/scratchpad/deck/assets/icons/FaWhatsapp_w.png">    </p:cNvPr>
          <p:cNvPicPr>
            <a:picLocks noChangeAspect="1"/>
          </p:cNvPicPr>
          <p:nvPr/>
        </p:nvPicPr>
        <p:blipFill>
          <a:blip r:embed="rId10"/>
          <a:stretch>
            <a:fillRect/>
          </a:stretch>
        </p:blipFill>
        <p:spPr>
          <a:xfrm>
            <a:off x="7941564" y="5349240"/>
            <a:ext cx="201168" cy="201168"/>
          </a:xfrm>
          <a:prstGeom prst="rect">
            <a:avLst/>
          </a:prstGeom>
        </p:spPr>
      </p:pic>
      <p:sp>
        <p:nvSpPr>
          <p:cNvPr id="61" name="Text 48"/>
          <p:cNvSpPr txBox="1"/>
          <p:nvPr/>
        </p:nvSpPr>
        <p:spPr>
          <a:xfrm>
            <a:off x="8215884" y="5285232"/>
            <a:ext cx="6441948"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4 · MANUFACTURER APP</a:t>
            </a:r>
            <a:endParaRPr lang="en-US" sz="1250" dirty="0"/>
          </a:p>
        </p:txBody>
      </p:sp>
      <p:sp>
        <p:nvSpPr>
          <p:cNvPr id="62" name="Shape 49"/>
          <p:cNvSpPr/>
          <p:nvPr/>
        </p:nvSpPr>
        <p:spPr>
          <a:xfrm>
            <a:off x="8357398" y="5696712"/>
            <a:ext cx="1376609" cy="2752344"/>
          </a:xfrm>
          <a:prstGeom prst="rect">
            <a:avLst/>
          </a:prstGeom>
          <a:solidFill>
            <a:srgbClr val="FFFFFF"/>
          </a:solidFill>
          <a:ln w="9525">
            <a:solidFill>
              <a:srgbClr val="E0CEDA"/>
            </a:solidFill>
            <a:prstDash val="solid"/>
          </a:ln>
        </p:spPr>
      </p:sp>
      <p:pic>
        <p:nvPicPr>
          <p:cNvPr id="63" name="Image 10" descr="/private/tmp/claude-501/-Users-prathmeshwalimbe-Downloads-Meesho/dfec39d5-f971-4a3a-8cfb-761f4ef1fedb/scratchpad/deck/assets/shot_phone_price.png">    </p:cNvPr>
          <p:cNvPicPr>
            <a:picLocks noChangeAspect="1"/>
          </p:cNvPicPr>
          <p:nvPr/>
        </p:nvPicPr>
        <p:blipFill>
          <a:blip r:embed="rId11"/>
          <a:stretch>
            <a:fillRect/>
          </a:stretch>
        </p:blipFill>
        <p:spPr>
          <a:xfrm>
            <a:off x="8366542" y="5705856"/>
            <a:ext cx="1358321" cy="2734056"/>
          </a:xfrm>
          <a:prstGeom prst="rect">
            <a:avLst/>
          </a:prstGeom>
        </p:spPr>
      </p:pic>
      <p:sp>
        <p:nvSpPr>
          <p:cNvPr id="64" name="Shape 50"/>
          <p:cNvSpPr/>
          <p:nvPr/>
        </p:nvSpPr>
        <p:spPr>
          <a:xfrm>
            <a:off x="10620538" y="5696712"/>
            <a:ext cx="1376609" cy="2752344"/>
          </a:xfrm>
          <a:prstGeom prst="rect">
            <a:avLst/>
          </a:prstGeom>
          <a:solidFill>
            <a:srgbClr val="FFFFFF"/>
          </a:solidFill>
          <a:ln w="9525">
            <a:solidFill>
              <a:srgbClr val="E0CEDA"/>
            </a:solidFill>
            <a:prstDash val="solid"/>
          </a:ln>
        </p:spPr>
      </p:sp>
      <p:pic>
        <p:nvPicPr>
          <p:cNvPr id="65" name="Image 11" descr="/private/tmp/claude-501/-Users-prathmeshwalimbe-Downloads-Meesho/dfec39d5-f971-4a3a-8cfb-761f4ef1fedb/scratchpad/deck/assets/shot_phone_brief.png">    </p:cNvPr>
          <p:cNvPicPr>
            <a:picLocks noChangeAspect="1"/>
          </p:cNvPicPr>
          <p:nvPr/>
        </p:nvPicPr>
        <p:blipFill>
          <a:blip r:embed="rId12"/>
          <a:stretch>
            <a:fillRect/>
          </a:stretch>
        </p:blipFill>
        <p:spPr>
          <a:xfrm>
            <a:off x="10629682" y="5705856"/>
            <a:ext cx="1358321" cy="2734056"/>
          </a:xfrm>
          <a:prstGeom prst="rect">
            <a:avLst/>
          </a:prstGeom>
        </p:spPr>
      </p:pic>
      <p:sp>
        <p:nvSpPr>
          <p:cNvPr id="66" name="Shape 51"/>
          <p:cNvSpPr/>
          <p:nvPr/>
        </p:nvSpPr>
        <p:spPr>
          <a:xfrm>
            <a:off x="12883678" y="5696712"/>
            <a:ext cx="1376609" cy="2752344"/>
          </a:xfrm>
          <a:prstGeom prst="rect">
            <a:avLst/>
          </a:prstGeom>
          <a:solidFill>
            <a:srgbClr val="FFFFFF"/>
          </a:solidFill>
          <a:ln w="9525">
            <a:solidFill>
              <a:srgbClr val="E0CEDA"/>
            </a:solidFill>
            <a:prstDash val="solid"/>
          </a:ln>
        </p:spPr>
      </p:sp>
      <p:pic>
        <p:nvPicPr>
          <p:cNvPr id="67" name="Image 12" descr="/private/tmp/claude-501/-Users-prathmeshwalimbe-Downloads-Meesho/dfec39d5-f971-4a3a-8cfb-761f4ef1fedb/scratchpad/deck/assets/shot_phone_whatsapp.png">    </p:cNvPr>
          <p:cNvPicPr>
            <a:picLocks noChangeAspect="1"/>
          </p:cNvPicPr>
          <p:nvPr/>
        </p:nvPicPr>
        <p:blipFill>
          <a:blip r:embed="rId13"/>
          <a:stretch>
            <a:fillRect/>
          </a:stretch>
        </p:blipFill>
        <p:spPr>
          <a:xfrm>
            <a:off x="12892822" y="5705856"/>
            <a:ext cx="1358321" cy="2734056"/>
          </a:xfrm>
          <a:prstGeom prst="rect">
            <a:avLst/>
          </a:prstGeom>
        </p:spPr>
      </p:pic>
      <p:sp>
        <p:nvSpPr>
          <p:cNvPr id="68" name="Shape 52"/>
          <p:cNvSpPr/>
          <p:nvPr/>
        </p:nvSpPr>
        <p:spPr>
          <a:xfrm>
            <a:off x="7959852" y="8531352"/>
            <a:ext cx="6697980" cy="457200"/>
          </a:xfrm>
          <a:prstGeom prst="roundRect">
            <a:avLst>
              <a:gd name="adj" fmla="val 8000"/>
            </a:avLst>
          </a:prstGeom>
          <a:solidFill>
            <a:srgbClr val="F2E4EE"/>
          </a:solidFill>
          <a:ln w="12700">
            <a:solidFill>
              <a:srgbClr val="F2E4EE"/>
            </a:solidFill>
            <a:prstDash val="solid"/>
          </a:ln>
        </p:spPr>
      </p:sp>
      <p:sp>
        <p:nvSpPr>
          <p:cNvPr id="69" name="Text 53"/>
          <p:cNvSpPr txBox="1"/>
          <p:nvPr/>
        </p:nvSpPr>
        <p:spPr>
          <a:xfrm>
            <a:off x="8051292" y="8531352"/>
            <a:ext cx="6515100" cy="457200"/>
          </a:xfrm>
          <a:prstGeom prst="rect">
            <a:avLst/>
          </a:prstGeom>
          <a:noFill/>
          <a:ln/>
        </p:spPr>
        <p:txBody>
          <a:bodyPr wrap="square" lIns="0" tIns="0" rIns="0" bIns="0" rtlCol="0" anchor="ctr"/>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Price check ₹213 vs ₹245 → brief → batch of 1,210 → one-tap WhatsApp commit</a:t>
            </a:r>
            <a:endParaRPr lang="en-US" sz="1100" dirty="0"/>
          </a:p>
        </p:txBody>
      </p:sp>
      <p:sp>
        <p:nvSpPr>
          <p:cNvPr id="70" name="Shape 54"/>
          <p:cNvSpPr/>
          <p:nvPr/>
        </p:nvSpPr>
        <p:spPr>
          <a:xfrm>
            <a:off x="14913864" y="1426464"/>
            <a:ext cx="3145536" cy="3730752"/>
          </a:xfrm>
          <a:prstGeom prst="rect">
            <a:avLst/>
          </a:prstGeom>
          <a:solidFill>
            <a:srgbClr val="FFFFFF"/>
          </a:solidFill>
          <a:ln w="9525">
            <a:solidFill>
              <a:srgbClr val="E0CEDA"/>
            </a:solidFill>
            <a:prstDash val="solid"/>
          </a:ln>
        </p:spPr>
      </p:sp>
      <p:sp>
        <p:nvSpPr>
          <p:cNvPr id="71" name="Shape 55"/>
          <p:cNvSpPr/>
          <p:nvPr/>
        </p:nvSpPr>
        <p:spPr>
          <a:xfrm>
            <a:off x="14913864" y="1426464"/>
            <a:ext cx="3145536" cy="329184"/>
          </a:xfrm>
          <a:prstGeom prst="rect">
            <a:avLst/>
          </a:prstGeom>
          <a:solidFill>
            <a:srgbClr val="560547"/>
          </a:solidFill>
          <a:ln w="12700">
            <a:solidFill>
              <a:srgbClr val="560547"/>
            </a:solidFill>
            <a:prstDash val="solid"/>
          </a:ln>
        </p:spPr>
      </p:sp>
      <p:pic>
        <p:nvPicPr>
          <p:cNvPr id="72" name="Image 13" descr="/private/tmp/claude-501/-Users-prathmeshwalimbe-Downloads-Meesho/dfec39d5-f971-4a3a-8cfb-761f4ef1fedb/scratchpad/deck/assets/icons/FaLink_w.png">    </p:cNvPr>
          <p:cNvPicPr>
            <a:picLocks noChangeAspect="1"/>
          </p:cNvPicPr>
          <p:nvPr/>
        </p:nvPicPr>
        <p:blipFill>
          <a:blip r:embed="rId14"/>
          <a:stretch>
            <a:fillRect/>
          </a:stretch>
        </p:blipFill>
        <p:spPr>
          <a:xfrm>
            <a:off x="15023592" y="1490472"/>
            <a:ext cx="201168" cy="201168"/>
          </a:xfrm>
          <a:prstGeom prst="rect">
            <a:avLst/>
          </a:prstGeom>
        </p:spPr>
      </p:pic>
      <p:sp>
        <p:nvSpPr>
          <p:cNvPr id="73" name="Text 56"/>
          <p:cNvSpPr txBox="1"/>
          <p:nvPr/>
        </p:nvSpPr>
        <p:spPr>
          <a:xfrm>
            <a:off x="15297912" y="1426464"/>
            <a:ext cx="263347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OPEN IT</a:t>
            </a:r>
            <a:endParaRPr lang="en-US" sz="1250" dirty="0"/>
          </a:p>
        </p:txBody>
      </p:sp>
      <p:pic>
        <p:nvPicPr>
          <p:cNvPr id="74" name="Image 14" descr="/private/tmp/claude-501/-Users-prathmeshwalimbe-Downloads-Meesho/dfec39d5-f971-4a3a-8cfb-761f4ef1fedb/scratchpad/deck/assets/qr_live.png">    </p:cNvPr>
          <p:cNvPicPr>
            <a:picLocks noChangeAspect="1"/>
          </p:cNvPicPr>
          <p:nvPr/>
        </p:nvPicPr>
        <p:blipFill>
          <a:blip r:embed="rId15"/>
          <a:stretch>
            <a:fillRect/>
          </a:stretch>
        </p:blipFill>
        <p:spPr>
          <a:xfrm>
            <a:off x="15480792" y="1865376"/>
            <a:ext cx="2011680" cy="2011680"/>
          </a:xfrm>
          <a:prstGeom prst="rect">
            <a:avLst/>
          </a:prstGeom>
        </p:spPr>
      </p:pic>
      <p:sp>
        <p:nvSpPr>
          <p:cNvPr id="75" name="Text 57"/>
          <p:cNvSpPr txBox="1"/>
          <p:nvPr/>
        </p:nvSpPr>
        <p:spPr>
          <a:xfrm>
            <a:off x="15041880" y="3950208"/>
            <a:ext cx="2889504" cy="1143000"/>
          </a:xfrm>
          <a:prstGeom prst="rect">
            <a:avLst/>
          </a:prstGeom>
          <a:noFill/>
          <a:ln/>
        </p:spPr>
        <p:txBody>
          <a:bodyPr wrap="square" lIns="0" tIns="0" rIns="0" bIns="0" rtlCol="0" anchor="t"/>
          <a:lstStyle/>
          <a:p>
            <a:pPr algn="ctr" indent="0" marL="0">
              <a:lnSpc>
                <a:spcPct val="100000"/>
              </a:lnSpc>
              <a:buNone/>
            </a:pPr>
            <a:r>
              <a:rPr lang="en-US" sz="1200" b="1" u="sng" dirty="0">
                <a:solidFill>
                  <a:srgbClr val="8A245E"/>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meesho-dice-c2m-iitb.vercel.app</a:t>
            </a:r>
            <a:endParaRPr lang="en-US" sz="1200" dirty="0"/>
          </a:p>
          <a:p>
            <a:pPr algn="ctr" indent="0" marL="0">
              <a:lnSpc>
                <a:spcPct val="100000"/>
              </a:lnSpc>
              <a:buNone/>
            </a:pPr>
            <a:r>
              <a:rPr lang="en-US" sz="1200" b="1" dirty="0">
                <a:solidFill>
                  <a:srgbClr val="7A6470"/>
                </a:solidFill>
                <a:latin typeface="Calibri" pitchFamily="34" charset="0"/>
                <a:ea typeface="Calibri" pitchFamily="34" charset="-122"/>
                <a:cs typeface="Calibri" pitchFamily="34" charset="-120"/>
              </a:rPr>
              <a:t>Mirror:</a:t>
            </a:r>
            <a:endParaRPr lang="en-US" sz="1200" dirty="0"/>
          </a:p>
          <a:p>
            <a:pPr algn="ctr" indent="0" marL="0">
              <a:lnSpc>
                <a:spcPct val="100000"/>
              </a:lnSpc>
              <a:buNone/>
            </a:pPr>
            <a:r>
              <a:rPr lang="en-US" sz="1200" dirty="0">
                <a:solidFill>
                  <a:srgbClr val="7A6470"/>
                </a:solidFill>
                <a:latin typeface="Calibri" pitchFamily="34" charset="0"/>
                <a:ea typeface="Calibri" pitchFamily="34" charset="-122"/>
                <a:cs typeface="Calibri" pitchFamily="34" charset="-120"/>
              </a:rPr>
              <a:t>prathmesh-28.github.io/c2m-control-tower</a:t>
            </a:r>
            <a:endParaRPr lang="en-US" sz="1200" dirty="0"/>
          </a:p>
          <a:p>
            <a:pPr algn="ctr" indent="0" marL="0">
              <a:lnSpc>
                <a:spcPct val="100000"/>
              </a:lnSpc>
              <a:buNone/>
            </a:pPr>
            <a:r>
              <a:rPr lang="en-US" sz="1200" dirty="0">
                <a:solidFill>
                  <a:srgbClr val="7A6470"/>
                </a:solidFill>
                <a:latin typeface="Calibri" pitchFamily="34" charset="0"/>
                <a:ea typeface="Calibri" pitchFamily="34" charset="-122"/>
                <a:cs typeface="Calibri" pitchFamily="34" charset="-120"/>
              </a:rPr>
              <a:t>Offline: one HTML file, no internet needed</a:t>
            </a:r>
            <a:endParaRPr lang="en-US" sz="1200" dirty="0"/>
          </a:p>
        </p:txBody>
      </p:sp>
      <p:sp>
        <p:nvSpPr>
          <p:cNvPr id="76" name="Shape 58"/>
          <p:cNvSpPr/>
          <p:nvPr/>
        </p:nvSpPr>
        <p:spPr>
          <a:xfrm>
            <a:off x="14913864" y="5285232"/>
            <a:ext cx="3145536" cy="3730752"/>
          </a:xfrm>
          <a:prstGeom prst="rect">
            <a:avLst/>
          </a:prstGeom>
          <a:solidFill>
            <a:srgbClr val="FFFFFF"/>
          </a:solidFill>
          <a:ln w="9525">
            <a:solidFill>
              <a:srgbClr val="E0CEDA"/>
            </a:solidFill>
            <a:prstDash val="solid"/>
          </a:ln>
        </p:spPr>
      </p:sp>
      <p:sp>
        <p:nvSpPr>
          <p:cNvPr id="77" name="Shape 59"/>
          <p:cNvSpPr/>
          <p:nvPr/>
        </p:nvSpPr>
        <p:spPr>
          <a:xfrm>
            <a:off x="14913864" y="5285232"/>
            <a:ext cx="3145536" cy="329184"/>
          </a:xfrm>
          <a:prstGeom prst="rect">
            <a:avLst/>
          </a:prstGeom>
          <a:solidFill>
            <a:srgbClr val="8A245E"/>
          </a:solidFill>
          <a:ln w="12700">
            <a:solidFill>
              <a:srgbClr val="8A245E"/>
            </a:solidFill>
            <a:prstDash val="solid"/>
          </a:ln>
        </p:spPr>
      </p:sp>
      <p:pic>
        <p:nvPicPr>
          <p:cNvPr id="78" name="Image 15" descr="/private/tmp/claude-501/-Users-prathmeshwalimbe-Downloads-Meesho/dfec39d5-f971-4a3a-8cfb-761f4ef1fedb/scratchpad/deck/assets/icons/FaWarehouse_w.png">    </p:cNvPr>
          <p:cNvPicPr>
            <a:picLocks noChangeAspect="1"/>
          </p:cNvPicPr>
          <p:nvPr/>
        </p:nvPicPr>
        <p:blipFill>
          <a:blip r:embed="rId17"/>
          <a:stretch>
            <a:fillRect/>
          </a:stretch>
        </p:blipFill>
        <p:spPr>
          <a:xfrm>
            <a:off x="15023592" y="5349240"/>
            <a:ext cx="201168" cy="201168"/>
          </a:xfrm>
          <a:prstGeom prst="rect">
            <a:avLst/>
          </a:prstGeom>
        </p:spPr>
      </p:pic>
      <p:sp>
        <p:nvSpPr>
          <p:cNvPr id="79" name="Text 60"/>
          <p:cNvSpPr txBox="1"/>
          <p:nvPr/>
        </p:nvSpPr>
        <p:spPr>
          <a:xfrm>
            <a:off x="15297912" y="5285232"/>
            <a:ext cx="2633472" cy="32918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HOW MEESHO WOULD RUN IT</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5041880" y="5705856"/>
          <a:ext cx="2889504" cy="914400"/>
        </p:xfrm>
        <a:graphic>
          <a:graphicData uri="http://schemas.openxmlformats.org/drawingml/2006/table">
            <a:tbl>
              <a:tblPr/>
              <a:tblGrid>
                <a:gridCol w="1874520"/>
                <a:gridCol w="1014984"/>
              </a:tblGrid>
              <a:tr h="475488">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Feed</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Used for</a:t>
                      </a:r>
                      <a:endParaRPr lang="en-US" sz="1050" dirty="0">
                        <a:latin typeface="Arial" charset="0"/>
                        <a:ea typeface="Arial" charset="0"/>
                        <a:cs typeface="Arial"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8A245E"/>
                    </a:solidFill>
                  </a:tcPr>
                </a:tc>
              </a:tr>
              <a:tr h="475488">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Catalogue: SKU, product type, landed price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Median, gate, badge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75488">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Orders: delivered, NMV, RTO, return reason</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Brief, experiment, quality</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75488">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Operations: dispatch time, stock</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Health Score, remedies</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r h="475488">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Exposure: impressions by pin-code</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1226"/>
                          </a:solidFill>
                          <a:latin typeface="Calibri" pitchFamily="34" charset="0"/>
                          <a:ea typeface="Calibri" pitchFamily="34" charset="-122"/>
                          <a:cs typeface="Calibri" pitchFamily="34" charset="-120"/>
                        </a:rPr>
                        <a:t>Grants, 20% cap</a:t>
                      </a:r>
                      <a:endParaRPr lang="en-US" sz="1050" dirty="0">
                        <a:latin typeface="Calibri" charset="0"/>
                        <a:ea typeface="Calibri" charset="0"/>
                        <a:cs typeface="Calibri" charset="0"/>
                      </a:endParaRPr>
                    </a:p>
                  </a:txBody>
                  <a:tcPr marL="63500" marR="63500" marT="25400" marB="25400" anchor="ctr">
                    <a:lnL w="6350" cap="flat" cmpd="sng" algn="ctr">
                      <a:solidFill>
                        <a:srgbClr val="E0CEDA"/>
                      </a:solidFill>
                      <a:prstDash val="solid"/>
                      <a:round/>
                      <a:headEnd type="none" w="med" len="med"/>
                      <a:tailEnd type="none" w="med" len="med"/>
                    </a:lnL>
                    <a:lnR w="6350" cap="flat" cmpd="sng" algn="ctr">
                      <a:solidFill>
                        <a:srgbClr val="E0CEDA"/>
                      </a:solidFill>
                      <a:prstDash val="solid"/>
                      <a:round/>
                      <a:headEnd type="none" w="med" len="med"/>
                      <a:tailEnd type="none" w="med" len="med"/>
                    </a:lnR>
                    <a:lnT w="6350" cap="flat" cmpd="sng" algn="ctr">
                      <a:solidFill>
                        <a:srgbClr val="E0CEDA"/>
                      </a:solidFill>
                      <a:prstDash val="solid"/>
                      <a:round/>
                      <a:headEnd type="none" w="med" len="med"/>
                      <a:tailEnd type="none" w="med" len="med"/>
                    </a:lnT>
                    <a:lnB w="6350" cap="flat" cmpd="sng" algn="ctr">
                      <a:solidFill>
                        <a:srgbClr val="E0CEDA"/>
                      </a:solidFill>
                      <a:prstDash val="solid"/>
                      <a:round/>
                      <a:headEnd type="none" w="med" len="med"/>
                      <a:tailEnd type="none" w="med" len="med"/>
                    </a:lnB>
                    <a:solidFill>
                      <a:srgbClr val="FFFFFF"/>
                    </a:solidFill>
                  </a:tcPr>
                </a:tc>
              </a:tr>
            </a:tbl>
          </a:graphicData>
        </a:graphic>
      </p:graphicFrame>
      <p:sp>
        <p:nvSpPr>
          <p:cNvPr id="81" name="Text 61"/>
          <p:cNvSpPr txBox="1"/>
          <p:nvPr/>
        </p:nvSpPr>
        <p:spPr>
          <a:xfrm>
            <a:off x="15041880" y="8220456"/>
            <a:ext cx="2889504" cy="548640"/>
          </a:xfrm>
          <a:prstGeom prst="rect">
            <a:avLst/>
          </a:prstGeom>
          <a:noFill/>
          <a:ln/>
        </p:spPr>
        <p:txBody>
          <a:bodyPr wrap="square" lIns="0" tIns="0" rIns="0" bIns="0" rtlCol="0" anchor="t"/>
          <a:lstStyle/>
          <a:p>
            <a:pPr algn="l" indent="0" marL="0">
              <a:lnSpc>
                <a:spcPct val="100000"/>
              </a:lnSpc>
              <a:buNone/>
            </a:pPr>
            <a:r>
              <a:rPr lang="en-US" sz="1100" b="1" dirty="0">
                <a:solidFill>
                  <a:srgbClr val="560547"/>
                </a:solidFill>
                <a:latin typeface="Calibri" pitchFamily="34" charset="0"/>
                <a:ea typeface="Calibri" pitchFamily="34" charset="-122"/>
                <a:cs typeface="Calibri" pitchFamily="34" charset="-120"/>
              </a:rPr>
              <a:t>One daily batch job plus event-driven rules. No new data integration.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Meesho's C2M Base · DICE S3 Round 2</dc:title>
  <dc:subject>PptxGenJS Presentation</dc:subject>
  <dc:creator>Team 23B0747 · IIT Bombay</dc:creator>
  <cp:lastModifiedBy>Team 23B0747 · IIT Bombay</cp:lastModifiedBy>
  <cp:revision>1</cp:revision>
  <dcterms:created xsi:type="dcterms:W3CDTF">2026-09-28T05:43:12Z</dcterms:created>
  <dcterms:modified xsi:type="dcterms:W3CDTF">2026-09-28T05:43:12Z</dcterms:modified>
</cp:coreProperties>
</file>