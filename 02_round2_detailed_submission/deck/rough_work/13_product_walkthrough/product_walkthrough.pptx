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71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352"/>
    <p:restoredTop sz="94610"/>
  </p:normalViewPr>
  <p:slideViewPr>
    <p:cSldViewPr snapToGrid="0" snapToObjects="1">
      <p:cViewPr>
        <p:scale>
          <a:sx n="129" d="100"/>
          <a:sy n="129" d="100"/>
        </p:scale>
        <p:origin x="15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8" Type="http://schemas.openxmlformats.org/officeDocument/2006/relationships/presProps" Target="presProps.xml"/><Relationship Id="rId21" Type="http://schemas.openxmlformats.org/officeDocument/2006/relationships/tableStyles" Target="tableStyles.xml"/><Relationship Id="rId17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2562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Product walkthrough. Eight screens of the manufacturer app (Price check, Demand Brief, Batch, WhatsApp), two per tab, captured from the live prototype; coral markers match the numbered lines. Screen values come from the prototype’s seeded synthetic data (Kavin Knit Mills, ₹98 making cost); the costed case in Unit Economics uses ₹80 and the ₹209 demand-weighted median.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3.xml.rels><?xml version='1.0' encoding='UTF-8' standalone='yes'?>
<Relationships xmlns="http://schemas.openxmlformats.org/package/2006/relationships"><Relationship Id="rId27" Type="http://schemas.openxmlformats.org/officeDocument/2006/relationships/hyperlink" Target="https://meesho-dice-c2m-iitb.vercel.app/#/maker" TargetMode="External"/><Relationship Id="rId1" Type="http://schemas.openxmlformats.org/officeDocument/2006/relationships/image" Target="../media/s13_image-13-1.png"/><Relationship Id="rId2" Type="http://schemas.openxmlformats.org/officeDocument/2006/relationships/image" Target="../media/s13_image-13-2.png"/><Relationship Id="rId3" Type="http://schemas.openxmlformats.org/officeDocument/2006/relationships/image" Target="../media/s13_image-13-3.png"/><Relationship Id="rId4" Type="http://schemas.openxmlformats.org/officeDocument/2006/relationships/image" Target="../media/s13_image-13-4.png"/><Relationship Id="rId5" Type="http://schemas.openxmlformats.org/officeDocument/2006/relationships/image" Target="../media/s13_image-13-5.png"/><Relationship Id="rId6" Type="http://schemas.openxmlformats.org/officeDocument/2006/relationships/image" Target="../media/s13_image-13-6.png"/><Relationship Id="rId7" Type="http://schemas.openxmlformats.org/officeDocument/2006/relationships/image" Target="../media/s13_image-13-7.png"/><Relationship Id="rId8" Type="http://schemas.openxmlformats.org/officeDocument/2006/relationships/image" Target="../media/s13_image-13-8.png"/><Relationship Id="rId9" Type="http://schemas.openxmlformats.org/officeDocument/2006/relationships/image" Target="../media/s13_image-13-9.png"/><Relationship Id="rId10" Type="http://schemas.openxmlformats.org/officeDocument/2006/relationships/image" Target="../media/s13_image-13-10.png"/><Relationship Id="rId11" Type="http://schemas.openxmlformats.org/officeDocument/2006/relationships/image" Target="../media/s13_image-13-11.png"/><Relationship Id="rId12" Type="http://schemas.openxmlformats.org/officeDocument/2006/relationships/image" Target="../media/s13_image-13-12.png"/><Relationship Id="rId13" Type="http://schemas.openxmlformats.org/officeDocument/2006/relationships/image" Target="../media/s13_image-13-13.png"/><Relationship Id="rId14" Type="http://schemas.openxmlformats.org/officeDocument/2006/relationships/image" Target="../media/s13_image-13-14.png"/><Relationship Id="rId15" Type="http://schemas.openxmlformats.org/officeDocument/2006/relationships/image" Target="../media/s13_image-13-15.png"/><Relationship Id="rId16" Type="http://schemas.openxmlformats.org/officeDocument/2006/relationships/image" Target="../media/s13_image-13-16.png"/><Relationship Id="rId17" Type="http://schemas.openxmlformats.org/officeDocument/2006/relationships/image" Target="../media/s13_image-13-17.png"/><Relationship Id="rId18" Type="http://schemas.openxmlformats.org/officeDocument/2006/relationships/image" Target="../media/s13_image-13-18.png"/><Relationship Id="rId19" Type="http://schemas.openxmlformats.org/officeDocument/2006/relationships/image" Target="../media/s13_image-13-19.png"/><Relationship Id="rId20" Type="http://schemas.openxmlformats.org/officeDocument/2006/relationships/image" Target="../media/s13_image-13-20.png"/><Relationship Id="rId21" Type="http://schemas.openxmlformats.org/officeDocument/2006/relationships/image" Target="../media/s13_image-13-21.png"/><Relationship Id="rId22" Type="http://schemas.openxmlformats.org/officeDocument/2006/relationships/image" Target="../media/s13_image-13-22.png"/><Relationship Id="rId23" Type="http://schemas.openxmlformats.org/officeDocument/2006/relationships/image" Target="../media/s13_image-13-23.png"/><Relationship Id="rId24" Type="http://schemas.openxmlformats.org/officeDocument/2006/relationships/image" Target="../media/s13_image-13-20.png"/><Relationship Id="rId25" Type="http://schemas.openxmlformats.org/officeDocument/2006/relationships/image" Target="../media/s13_image-13-25.png"/><Relationship Id="rId26" Type="http://schemas.openxmlformats.org/officeDocument/2006/relationships/image" Target="../media/s13_image-13-26.png"/><Relationship Id="rId28" Type="http://schemas.openxmlformats.org/officeDocument/2006/relationships/slideLayout" Target="../slideLayouts/slideLayout1.xml"/><Relationship Id="rId29" Type="http://schemas.openxmlformats.org/officeDocument/2006/relationships/notesSlide" Target="../notesSlides/notesSlide13.xml"/></Relationships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pic>
        <p:nvPicPr>
          <p:cNvPr id="3" name="Image 0" descr="/Users/prathmeshwalimbe/Downloads/Meesho/02_round2_detailed_submission/deck/source/assets/dic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54864"/>
            <a:ext cx="822960" cy="40965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023360" y="73152"/>
            <a:ext cx="4114800" cy="365760"/>
          </a:xfrm>
          <a:prstGeom prst="roundRect">
            <a:avLst>
              <a:gd name="adj" fmla="val 125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050792" y="73152"/>
            <a:ext cx="4059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 · Product walkthrough</a:t>
            </a:r>
            <a:endParaRPr lang="en-US" sz="1400" dirty="0"/>
          </a:p>
        </p:txBody>
      </p:sp>
      <p:pic>
        <p:nvPicPr>
          <p:cNvPr id="6" name="Image 1" descr="/Users/prathmeshwalimbe/Downloads/Meesho/02_round2_detailed_submission/deck/source/assets/meesho_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82296"/>
            <a:ext cx="347472" cy="347472"/>
          </a:xfrm>
          <a:prstGeom prst="rect">
            <a:avLst/>
          </a:prstGeom>
        </p:spPr>
      </p:pic>
      <p:pic>
        <p:nvPicPr>
          <p:cNvPr id="7" name="Image 2" descr="/Users/prathmeshwalimbe/Downloads/Meesho/02_round2_detailed_submission/deck/source/assets/iitb_logo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1712" y="54864"/>
            <a:ext cx="411480" cy="402336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228600" y="530352"/>
            <a:ext cx="11731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phone screens take a factory from “will I make money?” to a prepaid batch, with no e-commerce team</a:t>
            </a:r>
            <a:endParaRPr lang="en-US" sz="1600" dirty="0"/>
          </a:p>
        </p:txBody>
      </p:sp>
      <p:sp>
        <p:nvSpPr>
          <p:cNvPr id="9" name="Shape 4"/>
          <p:cNvSpPr/>
          <p:nvPr/>
        </p:nvSpPr>
        <p:spPr>
          <a:xfrm>
            <a:off x="228600" y="1051560"/>
            <a:ext cx="246888" cy="5074920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228600" y="1051560"/>
            <a:ext cx="246888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A</a:t>
            </a:r>
            <a:endParaRPr lang="en-US" sz="1050" dirty="0"/>
          </a:p>
        </p:txBody>
      </p:sp>
      <p:sp>
        <p:nvSpPr>
          <p:cNvPr id="11" name="Text 6"/>
          <p:cNvSpPr txBox="1"/>
          <p:nvPr/>
        </p:nvSpPr>
        <p:spPr>
          <a:xfrm>
            <a:off x="228600" y="660196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Screens: the live prototype, captured 4 Oct 2026, on seeded synthetic data; Kavin Knit Mills is fictional. Its inputs (₹98 making cost, ₹245 synthetic median) differ from the costed case (₹80 making cost, ₹209 demand-weighted median)</a:t>
            </a:r>
            <a:endParaRPr lang="en-US" sz="750" dirty="0"/>
          </a:p>
        </p:txBody>
      </p:sp>
      <p:sp>
        <p:nvSpPr>
          <p:cNvPr id="12" name="Text 7"/>
          <p:cNvSpPr txBox="1"/>
          <p:nvPr/>
        </p:nvSpPr>
        <p:spPr>
          <a:xfrm>
            <a:off x="11521440" y="660196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548640" y="1051560"/>
            <a:ext cx="2807208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12648" y="1051560"/>
            <a:ext cx="2679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Price check: will I make money?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548640" y="1298448"/>
            <a:ext cx="2807208" cy="3919576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</p:sp>
      <p:pic>
        <p:nvPicPr>
          <p:cNvPr id="16" name="Image 3" descr="/Users/prathmeshwalimbe/Downloads/Meesho/02_round2_detailed_submission/deck/source/assets/icons/FaIndianRupeeSign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7248" y="1088136"/>
            <a:ext cx="155448" cy="155448"/>
          </a:xfrm>
          <a:prstGeom prst="rect">
            <a:avLst/>
          </a:prstGeom>
        </p:spPr>
      </p:pic>
      <p:pic>
        <p:nvPicPr>
          <p:cNvPr id="17" name="Image 4" descr="/Users/prathmeshwalimbe/Downloads/Meesho/02_round2_detailed_submission/deck/source/assets/phone/phone_price_to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" y="1344168"/>
            <a:ext cx="1225296" cy="2463159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657758" y="1797066"/>
            <a:ext cx="155448" cy="155448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2"/>
          <p:cNvSpPr txBox="1"/>
          <p:nvPr/>
        </p:nvSpPr>
        <p:spPr>
          <a:xfrm>
            <a:off x="657758" y="1797066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20" name="Shape 13"/>
          <p:cNvSpPr/>
          <p:nvPr/>
        </p:nvSpPr>
        <p:spPr>
          <a:xfrm>
            <a:off x="657758" y="2836604"/>
            <a:ext cx="155448" cy="155448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657758" y="2836604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22" name="Text 15"/>
          <p:cNvSpPr txBox="1"/>
          <p:nvPr/>
        </p:nvSpPr>
        <p:spPr>
          <a:xfrm>
            <a:off x="653796" y="3825615"/>
            <a:ext cx="12984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+ verdict</a:t>
            </a:r>
            <a:endParaRPr lang="en-US" sz="700" dirty="0"/>
          </a:p>
        </p:txBody>
      </p:sp>
      <p:pic>
        <p:nvPicPr>
          <p:cNvPr id="23" name="Image 5" descr="/Users/prathmeshwalimbe/Downloads/Meesho/02_round2_detailed_submission/deck/source/assets/phone/phone_price_en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88820" y="1344168"/>
            <a:ext cx="1225296" cy="2463159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1956206" y="2236523"/>
            <a:ext cx="155448" cy="155448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7"/>
          <p:cNvSpPr txBox="1"/>
          <p:nvPr/>
        </p:nvSpPr>
        <p:spPr>
          <a:xfrm>
            <a:off x="1956206" y="2236523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26" name="Shape 18"/>
          <p:cNvSpPr/>
          <p:nvPr/>
        </p:nvSpPr>
        <p:spPr>
          <a:xfrm>
            <a:off x="1956206" y="3061634"/>
            <a:ext cx="155448" cy="155448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19"/>
          <p:cNvSpPr txBox="1"/>
          <p:nvPr/>
        </p:nvSpPr>
        <p:spPr>
          <a:xfrm>
            <a:off x="1956206" y="3061634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28" name="Text 20"/>
          <p:cNvSpPr txBox="1"/>
          <p:nvPr/>
        </p:nvSpPr>
        <p:spPr>
          <a:xfrm>
            <a:off x="1952244" y="3825615"/>
            <a:ext cx="12984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per pack + cash</a:t>
            </a:r>
            <a:endParaRPr lang="en-US" sz="700" dirty="0"/>
          </a:p>
        </p:txBody>
      </p:sp>
      <p:sp>
        <p:nvSpPr>
          <p:cNvPr id="29" name="Shape 21"/>
          <p:cNvSpPr/>
          <p:nvPr/>
        </p:nvSpPr>
        <p:spPr>
          <a:xfrm>
            <a:off x="612648" y="4008495"/>
            <a:ext cx="146304" cy="146304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612648" y="4008495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31" name="Text 23"/>
          <p:cNvSpPr txBox="1"/>
          <p:nvPr/>
        </p:nvSpPr>
        <p:spPr>
          <a:xfrm>
            <a:off x="804672" y="4008495"/>
            <a:ext cx="24871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the product, then enters making cost, the margin it needs and how orders ship.</a:t>
            </a:r>
            <a:endParaRPr lang="en-US" sz="750" dirty="0"/>
          </a:p>
        </p:txBody>
      </p:sp>
      <p:sp>
        <p:nvSpPr>
          <p:cNvPr id="32" name="Shape 24"/>
          <p:cNvSpPr/>
          <p:nvPr/>
        </p:nvSpPr>
        <p:spPr>
          <a:xfrm>
            <a:off x="612648" y="4241667"/>
            <a:ext cx="146304" cy="146304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25"/>
          <p:cNvSpPr txBox="1"/>
          <p:nvPr/>
        </p:nvSpPr>
        <p:spPr>
          <a:xfrm>
            <a:off x="612648" y="4241667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34" name="Text 26"/>
          <p:cNvSpPr txBox="1"/>
          <p:nvPr/>
        </p:nvSpPr>
        <p:spPr>
          <a:xfrm>
            <a:off x="804672" y="4241667"/>
            <a:ext cx="24871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before listing: lowest viable price vs what buyers pay; the badge needs 8% below.</a:t>
            </a:r>
            <a:endParaRPr lang="en-US" sz="750" dirty="0"/>
          </a:p>
        </p:txBody>
      </p:sp>
      <p:sp>
        <p:nvSpPr>
          <p:cNvPr id="35" name="Shape 27"/>
          <p:cNvSpPr/>
          <p:nvPr/>
        </p:nvSpPr>
        <p:spPr>
          <a:xfrm>
            <a:off x="612648" y="4474839"/>
            <a:ext cx="146304" cy="146304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28"/>
          <p:cNvSpPr txBox="1"/>
          <p:nvPr/>
        </p:nvSpPr>
        <p:spPr>
          <a:xfrm>
            <a:off x="612648" y="4474839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37" name="Text 29"/>
          <p:cNvSpPr txBox="1"/>
          <p:nvPr/>
        </p:nvSpPr>
        <p:spPr>
          <a:xfrm>
            <a:off x="804672" y="4474839"/>
            <a:ext cx="24871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pack the buyer keeps: making, shipping, returns and failed deliveries, then profit.</a:t>
            </a:r>
            <a:endParaRPr lang="en-US" sz="750" dirty="0"/>
          </a:p>
        </p:txBody>
      </p:sp>
      <p:sp>
        <p:nvSpPr>
          <p:cNvPr id="38" name="Shape 30"/>
          <p:cNvSpPr/>
          <p:nvPr/>
        </p:nvSpPr>
        <p:spPr>
          <a:xfrm>
            <a:off x="612648" y="4708011"/>
            <a:ext cx="146304" cy="146304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1"/>
          <p:cNvSpPr txBox="1"/>
          <p:nvPr/>
        </p:nvSpPr>
        <p:spPr>
          <a:xfrm>
            <a:off x="612648" y="4708011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40" name="Text 32"/>
          <p:cNvSpPr txBox="1"/>
          <p:nvPr/>
        </p:nvSpPr>
        <p:spPr>
          <a:xfrm>
            <a:off x="804672" y="4708011"/>
            <a:ext cx="24871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back in ~11 days (30% at node handover) vs 50 days on distributor terms.</a:t>
            </a:r>
            <a:endParaRPr lang="en-US" sz="750" dirty="0"/>
          </a:p>
        </p:txBody>
      </p:sp>
      <p:sp>
        <p:nvSpPr>
          <p:cNvPr id="41" name="Shape 33"/>
          <p:cNvSpPr/>
          <p:nvPr/>
        </p:nvSpPr>
        <p:spPr>
          <a:xfrm>
            <a:off x="612648" y="4998568"/>
            <a:ext cx="2679192" cy="173736"/>
          </a:xfrm>
          <a:prstGeom prst="roundRect">
            <a:avLst>
              <a:gd name="adj" fmla="val 26316"/>
            </a:avLst>
          </a:prstGeom>
          <a:solidFill>
            <a:srgbClr val="FFF5E6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42" name="Text 34"/>
          <p:cNvSpPr txBox="1"/>
          <p:nvPr/>
        </p:nvSpPr>
        <p:spPr>
          <a:xfrm>
            <a:off x="640080" y="4998568"/>
            <a:ext cx="26243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Removes: unknown margin · returns exposure · slow cash</a:t>
            </a:r>
            <a:endParaRPr lang="en-US" sz="700" dirty="0"/>
          </a:p>
        </p:txBody>
      </p:sp>
      <p:sp>
        <p:nvSpPr>
          <p:cNvPr id="43" name="Shape 35"/>
          <p:cNvSpPr/>
          <p:nvPr/>
        </p:nvSpPr>
        <p:spPr>
          <a:xfrm>
            <a:off x="3447288" y="1051560"/>
            <a:ext cx="2761488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44" name="Text 36"/>
          <p:cNvSpPr txBox="1"/>
          <p:nvPr/>
        </p:nvSpPr>
        <p:spPr>
          <a:xfrm>
            <a:off x="3511296" y="1051560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Demand Brief: is there demand?</a:t>
            </a:r>
            <a:endParaRPr lang="en-US" sz="950" dirty="0"/>
          </a:p>
        </p:txBody>
      </p:sp>
      <p:sp>
        <p:nvSpPr>
          <p:cNvPr id="45" name="Shape 37"/>
          <p:cNvSpPr/>
          <p:nvPr/>
        </p:nvSpPr>
        <p:spPr>
          <a:xfrm>
            <a:off x="3447288" y="1298448"/>
            <a:ext cx="2761488" cy="3919576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</p:sp>
      <p:pic>
        <p:nvPicPr>
          <p:cNvPr id="46" name="Image 6" descr="/Users/prathmeshwalimbe/Downloads/Meesho/02_round2_detailed_submission/deck/source/assets/icons/FaMapLocationDot_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0176" y="1088136"/>
            <a:ext cx="155448" cy="155448"/>
          </a:xfrm>
          <a:prstGeom prst="rect">
            <a:avLst/>
          </a:prstGeom>
        </p:spPr>
      </p:pic>
      <p:pic>
        <p:nvPicPr>
          <p:cNvPr id="47" name="Image 7" descr="/Users/prathmeshwalimbe/Downloads/Meesho/02_round2_detailed_submission/deck/source/assets/phone/phone_brief_to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66160" y="1344168"/>
            <a:ext cx="1225296" cy="2463159"/>
          </a:xfrm>
          <a:prstGeom prst="rect">
            <a:avLst/>
          </a:prstGeom>
        </p:spPr>
      </p:pic>
      <p:sp>
        <p:nvSpPr>
          <p:cNvPr id="48" name="Shape 38"/>
          <p:cNvSpPr/>
          <p:nvPr/>
        </p:nvSpPr>
        <p:spPr>
          <a:xfrm>
            <a:off x="3533546" y="1797066"/>
            <a:ext cx="155448" cy="155448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39"/>
          <p:cNvSpPr txBox="1"/>
          <p:nvPr/>
        </p:nvSpPr>
        <p:spPr>
          <a:xfrm>
            <a:off x="3533546" y="1797066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50" name="Shape 40"/>
          <p:cNvSpPr/>
          <p:nvPr/>
        </p:nvSpPr>
        <p:spPr>
          <a:xfrm>
            <a:off x="3533546" y="2107710"/>
            <a:ext cx="155448" cy="155448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1"/>
          <p:cNvSpPr txBox="1"/>
          <p:nvPr/>
        </p:nvSpPr>
        <p:spPr>
          <a:xfrm>
            <a:off x="3533546" y="210771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52" name="Text 42"/>
          <p:cNvSpPr txBox="1"/>
          <p:nvPr/>
        </p:nvSpPr>
        <p:spPr>
          <a:xfrm>
            <a:off x="3529584" y="3825615"/>
            <a:ext cx="12984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districts</a:t>
            </a:r>
            <a:endParaRPr lang="en-US" sz="700" dirty="0"/>
          </a:p>
        </p:txBody>
      </p:sp>
      <p:pic>
        <p:nvPicPr>
          <p:cNvPr id="53" name="Image 8" descr="/Users/prathmeshwalimbe/Downloads/Meesho/02_round2_detailed_submission/deck/source/assets/phone/phone_brief_en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64608" y="1344168"/>
            <a:ext cx="1225296" cy="2463159"/>
          </a:xfrm>
          <a:prstGeom prst="rect">
            <a:avLst/>
          </a:prstGeom>
        </p:spPr>
      </p:pic>
      <p:sp>
        <p:nvSpPr>
          <p:cNvPr id="54" name="Shape 43"/>
          <p:cNvSpPr/>
          <p:nvPr/>
        </p:nvSpPr>
        <p:spPr>
          <a:xfrm>
            <a:off x="4831994" y="2877447"/>
            <a:ext cx="155448" cy="155448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44"/>
          <p:cNvSpPr txBox="1"/>
          <p:nvPr/>
        </p:nvSpPr>
        <p:spPr>
          <a:xfrm>
            <a:off x="4831994" y="2877447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56" name="Text 45"/>
          <p:cNvSpPr txBox="1"/>
          <p:nvPr/>
        </p:nvSpPr>
        <p:spPr>
          <a:xfrm>
            <a:off x="4828032" y="3825615"/>
            <a:ext cx="12984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batch</a:t>
            </a:r>
            <a:endParaRPr lang="en-US" sz="700" dirty="0"/>
          </a:p>
        </p:txBody>
      </p:sp>
      <p:sp>
        <p:nvSpPr>
          <p:cNvPr id="57" name="Shape 46"/>
          <p:cNvSpPr/>
          <p:nvPr/>
        </p:nvSpPr>
        <p:spPr>
          <a:xfrm>
            <a:off x="3511296" y="4008495"/>
            <a:ext cx="146304" cy="146304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Text 47"/>
          <p:cNvSpPr txBox="1"/>
          <p:nvPr/>
        </p:nvSpPr>
        <p:spPr>
          <a:xfrm>
            <a:off x="3511296" y="4008495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59" name="Text 48"/>
          <p:cNvSpPr txBox="1"/>
          <p:nvPr/>
        </p:nvSpPr>
        <p:spPr>
          <a:xfrm>
            <a:off x="3703320" y="4008495"/>
            <a:ext cx="244144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exact product in the top 12 districts: 15,630 orders a week, refreshed every Monday.</a:t>
            </a:r>
            <a:endParaRPr lang="en-US" sz="750" dirty="0"/>
          </a:p>
        </p:txBody>
      </p:sp>
      <p:sp>
        <p:nvSpPr>
          <p:cNvPr id="60" name="Shape 49"/>
          <p:cNvSpPr/>
          <p:nvPr/>
        </p:nvSpPr>
        <p:spPr>
          <a:xfrm>
            <a:off x="3511296" y="4241667"/>
            <a:ext cx="146304" cy="146304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Text 50"/>
          <p:cNvSpPr txBox="1"/>
          <p:nvPr/>
        </p:nvSpPr>
        <p:spPr>
          <a:xfrm>
            <a:off x="3511296" y="4241667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62" name="Text 51"/>
          <p:cNvSpPr txBox="1"/>
          <p:nvPr/>
        </p:nvSpPr>
        <p:spPr>
          <a:xfrm>
            <a:off x="3703320" y="4241667"/>
            <a:ext cx="244144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district: orders a week, the price band that sells, the best-selling size and colour.</a:t>
            </a:r>
            <a:endParaRPr lang="en-US" sz="750" dirty="0"/>
          </a:p>
        </p:txBody>
      </p:sp>
      <p:sp>
        <p:nvSpPr>
          <p:cNvPr id="63" name="Shape 52"/>
          <p:cNvSpPr/>
          <p:nvPr/>
        </p:nvSpPr>
        <p:spPr>
          <a:xfrm>
            <a:off x="3511296" y="4474839"/>
            <a:ext cx="146304" cy="146304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Text 53"/>
          <p:cNvSpPr txBox="1"/>
          <p:nvPr/>
        </p:nvSpPr>
        <p:spPr>
          <a:xfrm>
            <a:off x="3511296" y="4474839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65" name="Text 54"/>
          <p:cNvSpPr txBox="1"/>
          <p:nvPr/>
        </p:nvSpPr>
        <p:spPr>
          <a:xfrm>
            <a:off x="3703320" y="4474839"/>
            <a:ext cx="244144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batch suggested: 1,900 units (6% of 14 days of demand), split by size.</a:t>
            </a:r>
            <a:endParaRPr lang="en-US" sz="750" dirty="0"/>
          </a:p>
        </p:txBody>
      </p:sp>
      <p:sp>
        <p:nvSpPr>
          <p:cNvPr id="66" name="Text 55"/>
          <p:cNvSpPr txBox="1"/>
          <p:nvPr/>
        </p:nvSpPr>
        <p:spPr>
          <a:xfrm>
            <a:off x="3511296" y="4708011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900" dirty="0"/>
          </a:p>
        </p:txBody>
      </p:sp>
      <p:sp>
        <p:nvSpPr>
          <p:cNvPr id="67" name="Text 56"/>
          <p:cNvSpPr txBox="1"/>
          <p:nvPr/>
        </p:nvSpPr>
        <p:spPr>
          <a:xfrm>
            <a:off x="3703320" y="4708011"/>
            <a:ext cx="244144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weekly from search and delivered orders, summed by district: no buyer is identifiable.</a:t>
            </a:r>
            <a:endParaRPr lang="en-US" sz="750" dirty="0"/>
          </a:p>
        </p:txBody>
      </p:sp>
      <p:sp>
        <p:nvSpPr>
          <p:cNvPr id="68" name="Shape 57"/>
          <p:cNvSpPr/>
          <p:nvPr/>
        </p:nvSpPr>
        <p:spPr>
          <a:xfrm>
            <a:off x="3511296" y="4998568"/>
            <a:ext cx="2633472" cy="173736"/>
          </a:xfrm>
          <a:prstGeom prst="roundRect">
            <a:avLst>
              <a:gd name="adj" fmla="val 26316"/>
            </a:avLst>
          </a:prstGeom>
          <a:solidFill>
            <a:srgbClr val="FFF5E6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69" name="Text 58"/>
          <p:cNvSpPr txBox="1"/>
          <p:nvPr/>
        </p:nvSpPr>
        <p:spPr>
          <a:xfrm>
            <a:off x="3538728" y="4998568"/>
            <a:ext cx="25786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Removes: unproven demand · guessing sizes and price</a:t>
            </a:r>
            <a:endParaRPr lang="en-US" sz="700" dirty="0"/>
          </a:p>
        </p:txBody>
      </p:sp>
      <p:sp>
        <p:nvSpPr>
          <p:cNvPr id="70" name="Shape 59"/>
          <p:cNvSpPr/>
          <p:nvPr/>
        </p:nvSpPr>
        <p:spPr>
          <a:xfrm>
            <a:off x="6300216" y="1051560"/>
            <a:ext cx="2761488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sp>
        <p:nvSpPr>
          <p:cNvPr id="71" name="Text 60"/>
          <p:cNvSpPr txBox="1"/>
          <p:nvPr/>
        </p:nvSpPr>
        <p:spPr>
          <a:xfrm>
            <a:off x="6364224" y="1051560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Batch: must I stock up blind?</a:t>
            </a:r>
            <a:endParaRPr lang="en-US" sz="950" dirty="0"/>
          </a:p>
        </p:txBody>
      </p:sp>
      <p:sp>
        <p:nvSpPr>
          <p:cNvPr id="72" name="Shape 61"/>
          <p:cNvSpPr/>
          <p:nvPr/>
        </p:nvSpPr>
        <p:spPr>
          <a:xfrm>
            <a:off x="6300216" y="1298448"/>
            <a:ext cx="2761488" cy="3919576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</p:sp>
      <p:pic>
        <p:nvPicPr>
          <p:cNvPr id="73" name="Image 9" descr="/Users/prathmeshwalimbe/Downloads/Meesho/02_round2_detailed_submission/deck/source/assets/icons/FaWarehouse_w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33104" y="1088136"/>
            <a:ext cx="155448" cy="155448"/>
          </a:xfrm>
          <a:prstGeom prst="rect">
            <a:avLst/>
          </a:prstGeom>
        </p:spPr>
      </p:pic>
      <p:pic>
        <p:nvPicPr>
          <p:cNvPr id="74" name="Image 10" descr="/Users/prathmeshwalimbe/Downloads/Meesho/02_round2_detailed_submission/deck/source/assets/phone/phone_batch_open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9088" y="1344168"/>
            <a:ext cx="1225296" cy="2463159"/>
          </a:xfrm>
          <a:prstGeom prst="rect">
            <a:avLst/>
          </a:prstGeom>
        </p:spPr>
      </p:pic>
      <p:sp>
        <p:nvSpPr>
          <p:cNvPr id="75" name="Shape 62"/>
          <p:cNvSpPr/>
          <p:nvPr/>
        </p:nvSpPr>
        <p:spPr>
          <a:xfrm>
            <a:off x="6386474" y="1797066"/>
            <a:ext cx="155448" cy="155448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6" name="Text 63"/>
          <p:cNvSpPr txBox="1"/>
          <p:nvPr/>
        </p:nvSpPr>
        <p:spPr>
          <a:xfrm>
            <a:off x="6386474" y="1797066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77" name="Shape 64"/>
          <p:cNvSpPr/>
          <p:nvPr/>
        </p:nvSpPr>
        <p:spPr>
          <a:xfrm>
            <a:off x="6386474" y="2481975"/>
            <a:ext cx="155448" cy="155448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8" name="Text 65"/>
          <p:cNvSpPr txBox="1"/>
          <p:nvPr/>
        </p:nvSpPr>
        <p:spPr>
          <a:xfrm>
            <a:off x="6386474" y="2481975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79" name="Shape 66"/>
          <p:cNvSpPr/>
          <p:nvPr/>
        </p:nvSpPr>
        <p:spPr>
          <a:xfrm>
            <a:off x="6386474" y="3216760"/>
            <a:ext cx="155448" cy="155448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0" name="Text 67"/>
          <p:cNvSpPr txBox="1"/>
          <p:nvPr/>
        </p:nvSpPr>
        <p:spPr>
          <a:xfrm>
            <a:off x="6386474" y="321676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81" name="Text 68"/>
          <p:cNvSpPr txBox="1"/>
          <p:nvPr/>
        </p:nvSpPr>
        <p:spPr>
          <a:xfrm>
            <a:off x="6382512" y="3825615"/>
            <a:ext cx="12984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commit</a:t>
            </a:r>
            <a:endParaRPr lang="en-US" sz="700" dirty="0"/>
          </a:p>
        </p:txBody>
      </p:sp>
      <p:pic>
        <p:nvPicPr>
          <p:cNvPr id="82" name="Image 11" descr="/Users/prathmeshwalimbe/Downloads/Meesho/02_round2_detailed_submission/deck/source/assets/phone/phone_batch_don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17536" y="1344168"/>
            <a:ext cx="1225296" cy="2463159"/>
          </a:xfrm>
          <a:prstGeom prst="rect">
            <a:avLst/>
          </a:prstGeom>
        </p:spPr>
      </p:pic>
      <p:sp>
        <p:nvSpPr>
          <p:cNvPr id="83" name="Shape 69"/>
          <p:cNvSpPr/>
          <p:nvPr/>
        </p:nvSpPr>
        <p:spPr>
          <a:xfrm>
            <a:off x="7684922" y="3153924"/>
            <a:ext cx="155448" cy="155448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4" name="Text 70"/>
          <p:cNvSpPr txBox="1"/>
          <p:nvPr/>
        </p:nvSpPr>
        <p:spPr>
          <a:xfrm>
            <a:off x="7684922" y="3153924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85" name="Text 71"/>
          <p:cNvSpPr txBox="1"/>
          <p:nvPr/>
        </p:nvSpPr>
        <p:spPr>
          <a:xfrm>
            <a:off x="7680960" y="3825615"/>
            <a:ext cx="12984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one tap</a:t>
            </a:r>
            <a:endParaRPr lang="en-US" sz="700" dirty="0"/>
          </a:p>
        </p:txBody>
      </p:sp>
      <p:sp>
        <p:nvSpPr>
          <p:cNvPr id="86" name="Shape 72"/>
          <p:cNvSpPr/>
          <p:nvPr/>
        </p:nvSpPr>
        <p:spPr>
          <a:xfrm>
            <a:off x="6364224" y="4008495"/>
            <a:ext cx="146304" cy="146304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7" name="Text 73"/>
          <p:cNvSpPr txBox="1"/>
          <p:nvPr/>
        </p:nvSpPr>
        <p:spPr>
          <a:xfrm>
            <a:off x="6364224" y="4008495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88" name="Text 74"/>
          <p:cNvSpPr txBox="1"/>
          <p:nvPr/>
        </p:nvSpPr>
        <p:spPr>
          <a:xfrm>
            <a:off x="6556248" y="4008495"/>
            <a:ext cx="244144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who accept “ships in 7 days” for a small discount prepay: 1,052 of 1,900 in a 3-day window.</a:t>
            </a:r>
            <a:endParaRPr lang="en-US" sz="750" dirty="0"/>
          </a:p>
        </p:txBody>
      </p:sp>
      <p:sp>
        <p:nvSpPr>
          <p:cNvPr id="89" name="Shape 75"/>
          <p:cNvSpPr/>
          <p:nvPr/>
        </p:nvSpPr>
        <p:spPr>
          <a:xfrm>
            <a:off x="6364224" y="4241667"/>
            <a:ext cx="146304" cy="146304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0" name="Text 76"/>
          <p:cNvSpPr txBox="1"/>
          <p:nvPr/>
        </p:nvSpPr>
        <p:spPr>
          <a:xfrm>
            <a:off x="6364224" y="4241667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91" name="Text 77"/>
          <p:cNvSpPr txBox="1"/>
          <p:nvPr/>
        </p:nvSpPr>
        <p:spPr>
          <a:xfrm>
            <a:off x="6556248" y="4241667"/>
            <a:ext cx="244144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confirmed orders + 15% buffer = 1,210 units; 30% of confirmed value is paid at handover.</a:t>
            </a:r>
            <a:endParaRPr lang="en-US" sz="750" dirty="0"/>
          </a:p>
        </p:txBody>
      </p:sp>
      <p:sp>
        <p:nvSpPr>
          <p:cNvPr id="92" name="Shape 78"/>
          <p:cNvSpPr/>
          <p:nvPr/>
        </p:nvSpPr>
        <p:spPr>
          <a:xfrm>
            <a:off x="6364224" y="4474839"/>
            <a:ext cx="146304" cy="146304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3" name="Text 79"/>
          <p:cNvSpPr txBox="1"/>
          <p:nvPr/>
        </p:nvSpPr>
        <p:spPr>
          <a:xfrm>
            <a:off x="6364224" y="4474839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94" name="Text 80"/>
          <p:cNvSpPr txBox="1"/>
          <p:nvPr/>
        </p:nvSpPr>
        <p:spPr>
          <a:xfrm>
            <a:off x="6556248" y="4474839"/>
            <a:ext cx="244144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commits the batch; nothing beyond it is made.</a:t>
            </a:r>
            <a:endParaRPr lang="en-US" sz="750" dirty="0"/>
          </a:p>
        </p:txBody>
      </p:sp>
      <p:sp>
        <p:nvSpPr>
          <p:cNvPr id="95" name="Shape 81"/>
          <p:cNvSpPr/>
          <p:nvPr/>
        </p:nvSpPr>
        <p:spPr>
          <a:xfrm>
            <a:off x="6364224" y="4708011"/>
            <a:ext cx="146304" cy="146304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6" name="Text 82"/>
          <p:cNvSpPr txBox="1"/>
          <p:nvPr/>
        </p:nvSpPr>
        <p:spPr>
          <a:xfrm>
            <a:off x="6364224" y="4708011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97" name="Text 83"/>
          <p:cNvSpPr txBox="1"/>
          <p:nvPr/>
        </p:nvSpPr>
        <p:spPr>
          <a:xfrm>
            <a:off x="6556248" y="4708011"/>
            <a:ext cx="244144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bulk handover at the Tiruppur node; Days 4-8 the node ships; Day 15 the balance is paid.</a:t>
            </a:r>
            <a:endParaRPr lang="en-US" sz="750" dirty="0"/>
          </a:p>
        </p:txBody>
      </p:sp>
      <p:sp>
        <p:nvSpPr>
          <p:cNvPr id="98" name="Shape 84"/>
          <p:cNvSpPr/>
          <p:nvPr/>
        </p:nvSpPr>
        <p:spPr>
          <a:xfrm>
            <a:off x="6364224" y="4998568"/>
            <a:ext cx="2633472" cy="173736"/>
          </a:xfrm>
          <a:prstGeom prst="roundRect">
            <a:avLst>
              <a:gd name="adj" fmla="val 26316"/>
            </a:avLst>
          </a:prstGeom>
          <a:solidFill>
            <a:srgbClr val="FFF5E6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99" name="Text 85"/>
          <p:cNvSpPr txBox="1"/>
          <p:nvPr/>
        </p:nvSpPr>
        <p:spPr>
          <a:xfrm>
            <a:off x="6391656" y="4998568"/>
            <a:ext cx="25786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Removes: build-to-stock risk · unit shipping · cash gap</a:t>
            </a:r>
            <a:endParaRPr lang="en-US" sz="700" dirty="0"/>
          </a:p>
        </p:txBody>
      </p:sp>
      <p:sp>
        <p:nvSpPr>
          <p:cNvPr id="100" name="Shape 86"/>
          <p:cNvSpPr/>
          <p:nvPr/>
        </p:nvSpPr>
        <p:spPr>
          <a:xfrm>
            <a:off x="9153144" y="1051560"/>
            <a:ext cx="2807208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101" name="Text 87"/>
          <p:cNvSpPr txBox="1"/>
          <p:nvPr/>
        </p:nvSpPr>
        <p:spPr>
          <a:xfrm>
            <a:off x="9217152" y="1051560"/>
            <a:ext cx="2679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WhatsApp: no app, no manager</a:t>
            </a:r>
            <a:endParaRPr lang="en-US" sz="950" dirty="0"/>
          </a:p>
        </p:txBody>
      </p:sp>
      <p:sp>
        <p:nvSpPr>
          <p:cNvPr id="102" name="Shape 88"/>
          <p:cNvSpPr/>
          <p:nvPr/>
        </p:nvSpPr>
        <p:spPr>
          <a:xfrm>
            <a:off x="9153144" y="1298448"/>
            <a:ext cx="2807208" cy="3919576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</p:sp>
      <p:pic>
        <p:nvPicPr>
          <p:cNvPr id="103" name="Image 12" descr="/Users/prathmeshwalimbe/Downloads/Meesho/02_round2_detailed_submission/deck/source/assets/icons/FaWhatsapp_w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731752" y="1088136"/>
            <a:ext cx="155448" cy="155448"/>
          </a:xfrm>
          <a:prstGeom prst="rect">
            <a:avLst/>
          </a:prstGeom>
        </p:spPr>
      </p:pic>
      <p:pic>
        <p:nvPicPr>
          <p:cNvPr id="104" name="Image 13" descr="/Users/prathmeshwalimbe/Downloads/Meesho/02_round2_detailed_submission/deck/source/assets/phone/phone_wa_brief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94876" y="1344168"/>
            <a:ext cx="1225296" cy="2463159"/>
          </a:xfrm>
          <a:prstGeom prst="rect">
            <a:avLst/>
          </a:prstGeom>
        </p:spPr>
      </p:pic>
      <p:sp>
        <p:nvSpPr>
          <p:cNvPr id="105" name="Shape 89"/>
          <p:cNvSpPr/>
          <p:nvPr/>
        </p:nvSpPr>
        <p:spPr>
          <a:xfrm>
            <a:off x="9262262" y="1797066"/>
            <a:ext cx="155448" cy="155448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6" name="Text 90"/>
          <p:cNvSpPr txBox="1"/>
          <p:nvPr/>
        </p:nvSpPr>
        <p:spPr>
          <a:xfrm>
            <a:off x="9262262" y="1797066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107" name="Shape 91"/>
          <p:cNvSpPr/>
          <p:nvPr/>
        </p:nvSpPr>
        <p:spPr>
          <a:xfrm>
            <a:off x="9262262" y="2737245"/>
            <a:ext cx="155448" cy="155448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8" name="Text 92"/>
          <p:cNvSpPr txBox="1"/>
          <p:nvPr/>
        </p:nvSpPr>
        <p:spPr>
          <a:xfrm>
            <a:off x="9262262" y="2737245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109" name="Text 93"/>
          <p:cNvSpPr txBox="1"/>
          <p:nvPr/>
        </p:nvSpPr>
        <p:spPr>
          <a:xfrm>
            <a:off x="9258300" y="3825615"/>
            <a:ext cx="12984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brief</a:t>
            </a:r>
            <a:endParaRPr lang="en-US" sz="700" dirty="0"/>
          </a:p>
        </p:txBody>
      </p:sp>
      <p:pic>
        <p:nvPicPr>
          <p:cNvPr id="110" name="Image 14" descr="/Users/prathmeshwalimbe/Downloads/Meesho/02_round2_detailed_submission/deck/source/assets/phone/phone_wa_reply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593324" y="1344168"/>
            <a:ext cx="1225296" cy="2463159"/>
          </a:xfrm>
          <a:prstGeom prst="rect">
            <a:avLst/>
          </a:prstGeom>
        </p:spPr>
      </p:pic>
      <p:sp>
        <p:nvSpPr>
          <p:cNvPr id="111" name="Shape 94"/>
          <p:cNvSpPr/>
          <p:nvPr/>
        </p:nvSpPr>
        <p:spPr>
          <a:xfrm>
            <a:off x="11470754" y="2737245"/>
            <a:ext cx="155448" cy="155448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2" name="Text 95"/>
          <p:cNvSpPr txBox="1"/>
          <p:nvPr/>
        </p:nvSpPr>
        <p:spPr>
          <a:xfrm>
            <a:off x="11470754" y="2737245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113" name="Shape 96"/>
          <p:cNvSpPr/>
          <p:nvPr/>
        </p:nvSpPr>
        <p:spPr>
          <a:xfrm>
            <a:off x="10560710" y="2873912"/>
            <a:ext cx="155448" cy="155448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4" name="Text 97"/>
          <p:cNvSpPr txBox="1"/>
          <p:nvPr/>
        </p:nvSpPr>
        <p:spPr>
          <a:xfrm>
            <a:off x="10560710" y="2873912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115" name="Text 98"/>
          <p:cNvSpPr txBox="1"/>
          <p:nvPr/>
        </p:nvSpPr>
        <p:spPr>
          <a:xfrm>
            <a:off x="10556748" y="3825615"/>
            <a:ext cx="12984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1: committed</a:t>
            </a:r>
            <a:endParaRPr lang="en-US" sz="700" dirty="0"/>
          </a:p>
        </p:txBody>
      </p:sp>
      <p:sp>
        <p:nvSpPr>
          <p:cNvPr id="116" name="Shape 99"/>
          <p:cNvSpPr/>
          <p:nvPr/>
        </p:nvSpPr>
        <p:spPr>
          <a:xfrm>
            <a:off x="9217152" y="4008495"/>
            <a:ext cx="146304" cy="146304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7" name="Text 100"/>
          <p:cNvSpPr txBox="1"/>
          <p:nvPr/>
        </p:nvSpPr>
        <p:spPr>
          <a:xfrm>
            <a:off x="9217152" y="4008495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118" name="Text 101"/>
          <p:cNvSpPr txBox="1"/>
          <p:nvPr/>
        </p:nvSpPr>
        <p:spPr>
          <a:xfrm>
            <a:off x="9409176" y="4008495"/>
            <a:ext cx="24871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brief every week on WhatsApp: top districts, price bands, suggested batch, pre-orders.</a:t>
            </a:r>
            <a:endParaRPr lang="en-US" sz="750" dirty="0"/>
          </a:p>
        </p:txBody>
      </p:sp>
      <p:sp>
        <p:nvSpPr>
          <p:cNvPr id="119" name="Shape 102"/>
          <p:cNvSpPr/>
          <p:nvPr/>
        </p:nvSpPr>
        <p:spPr>
          <a:xfrm>
            <a:off x="9217152" y="4241667"/>
            <a:ext cx="146304" cy="146304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0" name="Text 103"/>
          <p:cNvSpPr txBox="1"/>
          <p:nvPr/>
        </p:nvSpPr>
        <p:spPr>
          <a:xfrm>
            <a:off x="9217152" y="4241667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121" name="Text 104"/>
          <p:cNvSpPr txBox="1"/>
          <p:nvPr/>
        </p:nvSpPr>
        <p:spPr>
          <a:xfrm>
            <a:off x="9409176" y="4241667"/>
            <a:ext cx="24871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replies: 1 commits the batch, 2 opens the size mix, 3 asks for a callback.</a:t>
            </a:r>
            <a:endParaRPr lang="en-US" sz="750" dirty="0"/>
          </a:p>
        </p:txBody>
      </p:sp>
      <p:sp>
        <p:nvSpPr>
          <p:cNvPr id="122" name="Shape 105"/>
          <p:cNvSpPr/>
          <p:nvPr/>
        </p:nvSpPr>
        <p:spPr>
          <a:xfrm>
            <a:off x="9217152" y="4474839"/>
            <a:ext cx="146304" cy="146304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3" name="Text 106"/>
          <p:cNvSpPr txBox="1"/>
          <p:nvPr/>
        </p:nvSpPr>
        <p:spPr>
          <a:xfrm>
            <a:off x="9217152" y="4474839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124" name="Text 107"/>
          <p:cNvSpPr txBox="1"/>
          <p:nvPr/>
        </p:nvSpPr>
        <p:spPr>
          <a:xfrm>
            <a:off x="9409176" y="4474839"/>
            <a:ext cx="24871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owner replies “1”: no app install, no login, no account manager.</a:t>
            </a:r>
            <a:endParaRPr lang="en-US" sz="750" dirty="0"/>
          </a:p>
        </p:txBody>
      </p:sp>
      <p:sp>
        <p:nvSpPr>
          <p:cNvPr id="125" name="Shape 108"/>
          <p:cNvSpPr/>
          <p:nvPr/>
        </p:nvSpPr>
        <p:spPr>
          <a:xfrm>
            <a:off x="9217152" y="4708011"/>
            <a:ext cx="146304" cy="146304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6" name="Text 109"/>
          <p:cNvSpPr txBox="1"/>
          <p:nvPr/>
        </p:nvSpPr>
        <p:spPr>
          <a:xfrm>
            <a:off x="9217152" y="4708011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127" name="Text 110"/>
          <p:cNvSpPr txBox="1"/>
          <p:nvPr/>
        </p:nvSpPr>
        <p:spPr>
          <a:xfrm>
            <a:off x="9409176" y="4708011"/>
            <a:ext cx="24871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Confirmation: units to make, the node to drop them at, and the cash paid at handover.</a:t>
            </a:r>
            <a:endParaRPr lang="en-US" sz="750" dirty="0"/>
          </a:p>
        </p:txBody>
      </p:sp>
      <p:sp>
        <p:nvSpPr>
          <p:cNvPr id="128" name="Shape 111"/>
          <p:cNvSpPr/>
          <p:nvPr/>
        </p:nvSpPr>
        <p:spPr>
          <a:xfrm>
            <a:off x="9217152" y="4998568"/>
            <a:ext cx="2679192" cy="173736"/>
          </a:xfrm>
          <a:prstGeom prst="roundRect">
            <a:avLst>
              <a:gd name="adj" fmla="val 26316"/>
            </a:avLst>
          </a:prstGeom>
          <a:solidFill>
            <a:srgbClr val="FFF5E6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129" name="Text 112"/>
          <p:cNvSpPr txBox="1"/>
          <p:nvPr/>
        </p:nvSpPr>
        <p:spPr>
          <a:xfrm>
            <a:off x="9244584" y="4998568"/>
            <a:ext cx="26243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Removes: tech know-how · dashboards · account managers</a:t>
            </a:r>
            <a:endParaRPr lang="en-US" sz="700" dirty="0"/>
          </a:p>
        </p:txBody>
      </p:sp>
      <p:sp>
        <p:nvSpPr>
          <p:cNvPr id="130" name="Shape 113"/>
          <p:cNvSpPr/>
          <p:nvPr/>
        </p:nvSpPr>
        <p:spPr>
          <a:xfrm>
            <a:off x="548640" y="5309464"/>
            <a:ext cx="5317785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sp>
        <p:nvSpPr>
          <p:cNvPr id="131" name="Text 114"/>
          <p:cNvSpPr txBox="1"/>
          <p:nvPr/>
        </p:nvSpPr>
        <p:spPr>
          <a:xfrm>
            <a:off x="612648" y="5309464"/>
            <a:ext cx="51897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Meesho’s side: the control tower (desktop, same link)</a:t>
            </a:r>
            <a:endParaRPr lang="en-US" sz="950" dirty="0"/>
          </a:p>
        </p:txBody>
      </p:sp>
      <p:sp>
        <p:nvSpPr>
          <p:cNvPr id="132" name="Shape 115"/>
          <p:cNvSpPr/>
          <p:nvPr/>
        </p:nvSpPr>
        <p:spPr>
          <a:xfrm>
            <a:off x="548640" y="5556352"/>
            <a:ext cx="5317785" cy="570128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</p:sp>
      <p:pic>
        <p:nvPicPr>
          <p:cNvPr id="133" name="Image 15" descr="/Users/prathmeshwalimbe/Downloads/Meesho/02_round2_detailed_submission/deck/source/assets/icons/FaGaugeHigh_w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637825" y="5346040"/>
            <a:ext cx="155448" cy="155448"/>
          </a:xfrm>
          <a:prstGeom prst="rect">
            <a:avLst/>
          </a:prstGeom>
        </p:spPr>
      </p:pic>
      <p:pic>
        <p:nvPicPr>
          <p:cNvPr id="134" name="Image 16" descr="/Users/prathmeshwalimbe/Downloads/Meesho/02_round2_detailed_submission/deck/source/assets/shot_pti_scatter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12648" y="5602072"/>
            <a:ext cx="686471" cy="478688"/>
          </a:xfrm>
          <a:prstGeom prst="rect">
            <a:avLst/>
          </a:prstGeom>
        </p:spPr>
      </p:pic>
      <p:sp>
        <p:nvSpPr>
          <p:cNvPr id="135" name="Text 116"/>
          <p:cNvSpPr txBox="1"/>
          <p:nvPr/>
        </p:nvSpPr>
        <p:spPr>
          <a:xfrm>
            <a:off x="1353983" y="5602072"/>
            <a:ext cx="840377" cy="47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Truth Index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seller above ₹5 cr scored; 7 of the 10 largest fail</a:t>
            </a:r>
            <a:endParaRPr lang="en-US" sz="750" dirty="0"/>
          </a:p>
        </p:txBody>
      </p:sp>
      <p:pic>
        <p:nvPicPr>
          <p:cNvPr id="136" name="Image 17" descr="/Users/prathmeshwalimbe/Downloads/Meesho/02_round2_detailed_submission/deck/source/assets/shot_day30_chart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285799" y="5602072"/>
            <a:ext cx="911954" cy="478688"/>
          </a:xfrm>
          <a:prstGeom prst="rect">
            <a:avLst/>
          </a:prstGeom>
        </p:spPr>
      </p:pic>
      <p:sp>
        <p:nvSpPr>
          <p:cNvPr id="137" name="Text 117"/>
          <p:cNvSpPr txBox="1"/>
          <p:nvPr/>
        </p:nvSpPr>
        <p:spPr>
          <a:xfrm>
            <a:off x="3252617" y="5602072"/>
            <a:ext cx="840377" cy="47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Day-30 readout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vs holdout: +18.2% → fund</a:t>
            </a:r>
            <a:endParaRPr lang="en-US" sz="750" dirty="0"/>
          </a:p>
        </p:txBody>
      </p:sp>
      <p:pic>
        <p:nvPicPr>
          <p:cNvPr id="138" name="Image 18" descr="/Users/prathmeshwalimbe/Downloads/Meesho/02_round2_detailed_submission/deck/source/assets/shot_health_detail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184434" y="5602072"/>
            <a:ext cx="613014" cy="478688"/>
          </a:xfrm>
          <a:prstGeom prst="rect">
            <a:avLst/>
          </a:prstGeom>
        </p:spPr>
      </p:pic>
      <p:sp>
        <p:nvSpPr>
          <p:cNvPr id="139" name="Text 118"/>
          <p:cNvSpPr txBox="1"/>
          <p:nvPr/>
        </p:nvSpPr>
        <p:spPr>
          <a:xfrm>
            <a:off x="4852312" y="5602072"/>
            <a:ext cx="840377" cy="47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Health Score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signals, the rule that fired, the next action</a:t>
            </a:r>
            <a:endParaRPr lang="en-US" sz="750" dirty="0"/>
          </a:p>
        </p:txBody>
      </p:sp>
      <p:sp>
        <p:nvSpPr>
          <p:cNvPr id="140" name="Shape 119"/>
          <p:cNvSpPr/>
          <p:nvPr/>
        </p:nvSpPr>
        <p:spPr>
          <a:xfrm>
            <a:off x="5957865" y="5309464"/>
            <a:ext cx="3332074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141" name="Text 120"/>
          <p:cNvSpPr txBox="1"/>
          <p:nvPr/>
        </p:nvSpPr>
        <p:spPr>
          <a:xfrm>
            <a:off x="6021873" y="5309464"/>
            <a:ext cx="3204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prototype runs on</a:t>
            </a:r>
            <a:endParaRPr lang="en-US" sz="950" dirty="0"/>
          </a:p>
        </p:txBody>
      </p:sp>
      <p:sp>
        <p:nvSpPr>
          <p:cNvPr id="142" name="Shape 121"/>
          <p:cNvSpPr/>
          <p:nvPr/>
        </p:nvSpPr>
        <p:spPr>
          <a:xfrm>
            <a:off x="5957865" y="5556352"/>
            <a:ext cx="3332074" cy="570128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</p:sp>
      <p:pic>
        <p:nvPicPr>
          <p:cNvPr id="143" name="Image 19" descr="/Users/prathmeshwalimbe/Downloads/Meesho/02_round2_detailed_submission/deck/source/assets/icons/FaFlask_w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061338" y="5346040"/>
            <a:ext cx="155448" cy="155448"/>
          </a:xfrm>
          <a:prstGeom prst="rect">
            <a:avLst/>
          </a:prstGeom>
        </p:spPr>
      </p:pic>
      <p:sp>
        <p:nvSpPr>
          <p:cNvPr id="144" name="Shape 122"/>
          <p:cNvSpPr/>
          <p:nvPr/>
        </p:nvSpPr>
        <p:spPr>
          <a:xfrm>
            <a:off x="6021873" y="5602072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</p:sp>
      <p:pic>
        <p:nvPicPr>
          <p:cNvPr id="145" name="Image 20" descr="/Users/prathmeshwalimbe/Downloads/Meesho/02_round2_detailed_submission/deck/source/assets/icons/FaIndustry_w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058449" y="5638648"/>
            <a:ext cx="146304" cy="146304"/>
          </a:xfrm>
          <a:prstGeom prst="rect">
            <a:avLst/>
          </a:prstGeom>
        </p:spPr>
      </p:pic>
      <p:sp>
        <p:nvSpPr>
          <p:cNvPr id="146" name="Text 123"/>
          <p:cNvSpPr txBox="1"/>
          <p:nvPr/>
        </p:nvSpPr>
        <p:spPr>
          <a:xfrm>
            <a:off x="6277905" y="5583784"/>
            <a:ext cx="5038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4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261</a:t>
            </a:r>
            <a:endParaRPr lang="en-US" sz="1100" dirty="0"/>
          </a:p>
        </p:txBody>
      </p:sp>
      <p:sp>
        <p:nvSpPr>
          <p:cNvPr id="147" name="Text 124"/>
          <p:cNvSpPr txBox="1"/>
          <p:nvPr/>
        </p:nvSpPr>
        <p:spPr>
          <a:xfrm>
            <a:off x="6021873" y="5848960"/>
            <a:ext cx="759866" cy="2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sellers</a:t>
            </a:r>
            <a:endParaRPr lang="en-US" sz="700" dirty="0"/>
          </a:p>
        </p:txBody>
      </p:sp>
      <p:sp>
        <p:nvSpPr>
          <p:cNvPr id="148" name="Shape 125"/>
          <p:cNvSpPr/>
          <p:nvPr/>
        </p:nvSpPr>
        <p:spPr>
          <a:xfrm>
            <a:off x="6836603" y="5602072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pic>
        <p:nvPicPr>
          <p:cNvPr id="149" name="Image 21" descr="/Users/prathmeshwalimbe/Downloads/Meesho/02_round2_detailed_submission/deck/source/assets/icons/FaStore_w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873179" y="5638648"/>
            <a:ext cx="146304" cy="146304"/>
          </a:xfrm>
          <a:prstGeom prst="rect">
            <a:avLst/>
          </a:prstGeom>
        </p:spPr>
      </p:pic>
      <p:sp>
        <p:nvSpPr>
          <p:cNvPr id="150" name="Text 126"/>
          <p:cNvSpPr txBox="1"/>
          <p:nvPr/>
        </p:nvSpPr>
        <p:spPr>
          <a:xfrm>
            <a:off x="7092635" y="5583784"/>
            <a:ext cx="5038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7C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4,415</a:t>
            </a:r>
            <a:endParaRPr lang="en-US" sz="1100" dirty="0"/>
          </a:p>
        </p:txBody>
      </p:sp>
      <p:sp>
        <p:nvSpPr>
          <p:cNvPr id="151" name="Text 127"/>
          <p:cNvSpPr txBox="1"/>
          <p:nvPr/>
        </p:nvSpPr>
        <p:spPr>
          <a:xfrm>
            <a:off x="6836603" y="5848960"/>
            <a:ext cx="759866" cy="2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SKUs listed</a:t>
            </a:r>
            <a:endParaRPr lang="en-US" sz="700" dirty="0"/>
          </a:p>
        </p:txBody>
      </p:sp>
      <p:sp>
        <p:nvSpPr>
          <p:cNvPr id="152" name="Shape 128"/>
          <p:cNvSpPr/>
          <p:nvPr/>
        </p:nvSpPr>
        <p:spPr>
          <a:xfrm>
            <a:off x="7651333" y="5602072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pic>
        <p:nvPicPr>
          <p:cNvPr id="153" name="Image 22" descr="/Users/prathmeshwalimbe/Downloads/Meesho/02_round2_detailed_submission/deck/source/assets/icons/FaClipboardCheck_w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687909" y="5638648"/>
            <a:ext cx="146304" cy="146304"/>
          </a:xfrm>
          <a:prstGeom prst="rect">
            <a:avLst/>
          </a:prstGeom>
        </p:spPr>
      </p:pic>
      <p:sp>
        <p:nvSpPr>
          <p:cNvPr id="154" name="Text 129"/>
          <p:cNvSpPr txBox="1"/>
          <p:nvPr/>
        </p:nvSpPr>
        <p:spPr>
          <a:xfrm>
            <a:off x="7907365" y="5583784"/>
            <a:ext cx="5038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  <p:sp>
        <p:nvSpPr>
          <p:cNvPr id="155" name="Text 130"/>
          <p:cNvSpPr txBox="1"/>
          <p:nvPr/>
        </p:nvSpPr>
        <p:spPr>
          <a:xfrm>
            <a:off x="7651333" y="5848960"/>
            <a:ext cx="759866" cy="2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C2M categories</a:t>
            </a:r>
            <a:endParaRPr lang="en-US" sz="700" dirty="0"/>
          </a:p>
        </p:txBody>
      </p:sp>
      <p:sp>
        <p:nvSpPr>
          <p:cNvPr id="156" name="Shape 131"/>
          <p:cNvSpPr/>
          <p:nvPr/>
        </p:nvSpPr>
        <p:spPr>
          <a:xfrm>
            <a:off x="8466064" y="5602072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2E9E5B"/>
          </a:solidFill>
          <a:ln w="9525">
            <a:solidFill>
              <a:srgbClr val="2E9E5B"/>
            </a:solidFill>
            <a:prstDash val="solid"/>
          </a:ln>
        </p:spPr>
      </p:sp>
      <p:pic>
        <p:nvPicPr>
          <p:cNvPr id="157" name="Image 23" descr="/Users/prathmeshwalimbe/Downloads/Meesho/02_round2_detailed_submission/deck/source/assets/icons/FaFlask_w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502640" y="5638648"/>
            <a:ext cx="146304" cy="146304"/>
          </a:xfrm>
          <a:prstGeom prst="rect">
            <a:avLst/>
          </a:prstGeom>
        </p:spPr>
      </p:pic>
      <p:sp>
        <p:nvSpPr>
          <p:cNvPr id="158" name="Text 132"/>
          <p:cNvSpPr txBox="1"/>
          <p:nvPr/>
        </p:nvSpPr>
        <p:spPr>
          <a:xfrm>
            <a:off x="8722096" y="5583784"/>
            <a:ext cx="5038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59" name="Text 133"/>
          <p:cNvSpPr txBox="1"/>
          <p:nvPr/>
        </p:nvSpPr>
        <p:spPr>
          <a:xfrm>
            <a:off x="8466064" y="5848960"/>
            <a:ext cx="759866" cy="2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tests before every deploy</a:t>
            </a:r>
            <a:endParaRPr lang="en-US" sz="700" dirty="0"/>
          </a:p>
        </p:txBody>
      </p:sp>
      <p:sp>
        <p:nvSpPr>
          <p:cNvPr id="160" name="Shape 134"/>
          <p:cNvSpPr/>
          <p:nvPr/>
        </p:nvSpPr>
        <p:spPr>
          <a:xfrm>
            <a:off x="9381378" y="5309464"/>
            <a:ext cx="2578974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sp>
        <p:nvSpPr>
          <p:cNvPr id="161" name="Text 135"/>
          <p:cNvSpPr txBox="1"/>
          <p:nvPr/>
        </p:nvSpPr>
        <p:spPr>
          <a:xfrm>
            <a:off x="9445386" y="5309464"/>
            <a:ext cx="24509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 live</a:t>
            </a:r>
            <a:endParaRPr lang="en-US" sz="950" dirty="0"/>
          </a:p>
        </p:txBody>
      </p:sp>
      <p:sp>
        <p:nvSpPr>
          <p:cNvPr id="162" name="Shape 136"/>
          <p:cNvSpPr/>
          <p:nvPr/>
        </p:nvSpPr>
        <p:spPr>
          <a:xfrm>
            <a:off x="9381378" y="5556352"/>
            <a:ext cx="2578974" cy="570128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</p:sp>
      <p:pic>
        <p:nvPicPr>
          <p:cNvPr id="163" name="Image 24" descr="/Users/prathmeshwalimbe/Downloads/Meesho/02_round2_detailed_submission/deck/source/assets/icons/FaLink_w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1731752" y="5346040"/>
            <a:ext cx="155448" cy="155448"/>
          </a:xfrm>
          <a:prstGeom prst="rect">
            <a:avLst/>
          </a:prstGeom>
        </p:spPr>
      </p:pic>
      <p:pic>
        <p:nvPicPr>
          <p:cNvPr id="164" name="Image 25" descr="/Users/prathmeshwalimbe/Downloads/Meesho/02_round2_detailed_submission/deck/source/assets/qr_live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445386" y="5602072"/>
            <a:ext cx="478688" cy="478688"/>
          </a:xfrm>
          <a:prstGeom prst="rect">
            <a:avLst/>
          </a:prstGeom>
        </p:spPr>
      </p:pic>
      <p:sp>
        <p:nvSpPr>
          <p:cNvPr id="165" name="Text 137"/>
          <p:cNvSpPr txBox="1"/>
          <p:nvPr/>
        </p:nvSpPr>
        <p:spPr>
          <a:xfrm>
            <a:off x="9997227" y="5602072"/>
            <a:ext cx="1899117" cy="47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u="sng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meesho-dice-c2m-iitb.vercel.app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Mirror: prathmesh-28.github.io/c2m-control-tower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Offline: one HTML file in prototype/dist-single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17DEE71-88E1-7E4C-BACD-20D3F487EBFA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54863c7a-aea1-49e5-8cc2-8e3bcc783ec7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11224</Words>
  <Application>Microsoft Macintosh PowerPoint</Application>
  <PresentationFormat>Widescreen</PresentationFormat>
  <Paragraphs>2253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Factory Direct: building Meesho’s C2M base</dc:title>
  <dc:subject>PptxGenJS Presentation</dc:subject>
  <dc:creator>Team 23B0747, IIT Bombay</dc:creator>
  <cp:lastModifiedBy>[BTECH-005-2023-24] UDAYAN PRASHANTPAWAR</cp:lastModifiedBy>
  <cp:revision>3</cp:revision>
  <dcterms:created xsi:type="dcterms:W3CDTF">2026-10-02T18:49:41Z</dcterms:created>
  <dcterms:modified xsi:type="dcterms:W3CDTF">2026-10-03T17:34:17Z</dcterms:modified>
</cp:coreProperties>
</file>