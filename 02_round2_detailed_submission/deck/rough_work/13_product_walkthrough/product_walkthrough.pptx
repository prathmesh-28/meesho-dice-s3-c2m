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592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352"/>
    <p:restoredTop sz="94610"/>
  </p:normalViewPr>
  <p:slideViewPr>
    <p:cSldViewPr snapToGrid="0" snapToObjects="1">
      <p:cViewPr>
        <p:scale>
          <a:sx n="129" d="100"/>
          <a:sy n="129" d="100"/>
        </p:scale>
        <p:origin x="15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8" Type="http://schemas.openxmlformats.org/officeDocument/2006/relationships/presProps" Target="presProps.xml"/><Relationship Id="rId21" Type="http://schemas.openxmlformats.org/officeDocument/2006/relationships/tableStyles" Target="tableStyles.xml"/><Relationship Id="rId17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19" Type="http://schemas.openxmlformats.org/officeDocument/2006/relationships/viewProps" Target="viewProps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22562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Product walkthrough. Eight screens of the manufacturer app (Price check, Demand Brief, Batch, WhatsApp), two per tab, captured from the live prototype; coral markers match the numbered lines. Bottom row: the journey KPI that judges each step in the pilot, a one-minute live demo (making cost ₹105: Ship myself misses the 8% badge, the Factory Node clears it), and the live link. Screen values come from the prototype’s seeded synthetic data (Kavin Knit Mills, ₹98 making cost); the costed case in Unit Economics uses ₹80 and the ₹209 demand-weighted median. 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20" Type="http://schemas.openxmlformats.org/officeDocument/2006/relationships/hyperlink" Target="https://meesho-dice-c2m-iitb.vercel.app/#/maker" TargetMode="External"/><Relationship Id="rId1" Type="http://schemas.openxmlformats.org/officeDocument/2006/relationships/image" Target="../media/s13_image-13-1.png"/><Relationship Id="rId2" Type="http://schemas.openxmlformats.org/officeDocument/2006/relationships/image" Target="../media/s13_image-13-2.png"/><Relationship Id="rId3" Type="http://schemas.openxmlformats.org/officeDocument/2006/relationships/image" Target="../media/s13_image-13-3.png"/><Relationship Id="rId4" Type="http://schemas.openxmlformats.org/officeDocument/2006/relationships/image" Target="../media/s13_image-13-4.png"/><Relationship Id="rId5" Type="http://schemas.openxmlformats.org/officeDocument/2006/relationships/image" Target="../media/s13_image-13-5.png"/><Relationship Id="rId6" Type="http://schemas.openxmlformats.org/officeDocument/2006/relationships/image" Target="../media/s13_image-13-6.png"/><Relationship Id="rId7" Type="http://schemas.openxmlformats.org/officeDocument/2006/relationships/image" Target="../media/s13_image-13-7.png"/><Relationship Id="rId8" Type="http://schemas.openxmlformats.org/officeDocument/2006/relationships/image" Target="../media/s13_image-13-8.png"/><Relationship Id="rId9" Type="http://schemas.openxmlformats.org/officeDocument/2006/relationships/image" Target="../media/s13_image-13-9.png"/><Relationship Id="rId10" Type="http://schemas.openxmlformats.org/officeDocument/2006/relationships/image" Target="../media/s13_image-13-10.png"/><Relationship Id="rId11" Type="http://schemas.openxmlformats.org/officeDocument/2006/relationships/image" Target="../media/s13_image-13-11.png"/><Relationship Id="rId12" Type="http://schemas.openxmlformats.org/officeDocument/2006/relationships/image" Target="../media/s13_image-13-12.png"/><Relationship Id="rId13" Type="http://schemas.openxmlformats.org/officeDocument/2006/relationships/image" Target="../media/s13_image-13-13.png"/><Relationship Id="rId14" Type="http://schemas.openxmlformats.org/officeDocument/2006/relationships/image" Target="../media/s13_image-13-14.png"/><Relationship Id="rId15" Type="http://schemas.openxmlformats.org/officeDocument/2006/relationships/image" Target="../media/s13_image-13-15.png"/><Relationship Id="rId16" Type="http://schemas.openxmlformats.org/officeDocument/2006/relationships/image" Target="../media/s13_image-13-16.png"/><Relationship Id="rId17" Type="http://schemas.openxmlformats.org/officeDocument/2006/relationships/image" Target="../media/s13_image-13-17.png"/><Relationship Id="rId18" Type="http://schemas.openxmlformats.org/officeDocument/2006/relationships/image" Target="../media/s13_image-13-18.png"/><Relationship Id="rId19" Type="http://schemas.openxmlformats.org/officeDocument/2006/relationships/image" Target="../media/s13_image-13-19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12064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pic>
        <p:nvPicPr>
          <p:cNvPr id="3" name="Image 0" descr="/Users/prathmeshwalimbe/Downloads/Meesho/02_round2_detailed_submission/deck/source/assets/dice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54864"/>
            <a:ext cx="822960" cy="4096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023360" y="73152"/>
            <a:ext cx="4114800" cy="365760"/>
          </a:xfrm>
          <a:prstGeom prst="roundRect">
            <a:avLst>
              <a:gd name="adj" fmla="val 125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4050792" y="73152"/>
            <a:ext cx="40599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· Product walkthrough</a:t>
            </a:r>
            <a:endParaRPr lang="en-US" sz="1400" dirty="0"/>
          </a:p>
        </p:txBody>
      </p:sp>
      <p:pic>
        <p:nvPicPr>
          <p:cNvPr id="6" name="Image 1" descr="/Users/prathmeshwalimbe/Downloads/Meesho/02_round2_detailed_submission/deck/source/assets/meesho_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8792" y="82296"/>
            <a:ext cx="347472" cy="347472"/>
          </a:xfrm>
          <a:prstGeom prst="rect">
            <a:avLst/>
          </a:prstGeom>
        </p:spPr>
      </p:pic>
      <p:pic>
        <p:nvPicPr>
          <p:cNvPr id="7" name="Image 2" descr="/Users/prathmeshwalimbe/Downloads/Meesho/02_round2_detailed_submission/deck/source/assets/iitb_logo_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1712" y="54864"/>
            <a:ext cx="411480" cy="40233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228600" y="530352"/>
            <a:ext cx="11731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5A0A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Eight phone screens take a factory from “will I make money?” to a prepaid batch, with no e-commerce team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228600" y="1051560"/>
            <a:ext cx="246888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</a:t>
            </a:r>
            <a:endParaRPr lang="en-US" sz="1050" dirty="0"/>
          </a:p>
        </p:txBody>
      </p:sp>
      <p:sp>
        <p:nvSpPr>
          <p:cNvPr id="11" name="Text 6"/>
          <p:cNvSpPr txBox="1"/>
          <p:nvPr/>
        </p:nvSpPr>
        <p:spPr>
          <a:xfrm>
            <a:off x="228600" y="660196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Screens: the live prototype, captured 4 Oct 2026, on seeded synthetic data; Kavin Knit Mills is fictional. Its inputs (₹98 making cost, ₹245 synthetic median) differ from the costed case (₹80 making cost, ₹209 demand-weighted median)</a:t>
            </a:r>
            <a:endParaRPr lang="en-US" sz="750" dirty="0"/>
          </a:p>
        </p:txBody>
      </p:sp>
      <p:sp>
        <p:nvSpPr>
          <p:cNvPr id="12" name="Text 7"/>
          <p:cNvSpPr txBox="1"/>
          <p:nvPr/>
        </p:nvSpPr>
        <p:spPr>
          <a:xfrm>
            <a:off x="11521440" y="6601968"/>
            <a:ext cx="438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548640" y="1051560"/>
            <a:ext cx="280720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12648" y="105156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Price check: will I make money?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548640" y="1298448"/>
            <a:ext cx="280720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6" name="Image 3" descr="/Users/prathmeshwalimbe/Downloads/Meesho/02_round2_detailed_submission/deck/source/assets/icons/FaIndianRupeeSig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1088136"/>
            <a:ext cx="155448" cy="155448"/>
          </a:xfrm>
          <a:prstGeom prst="rect">
            <a:avLst/>
          </a:prstGeom>
        </p:spPr>
      </p:pic>
      <p:pic>
        <p:nvPicPr>
          <p:cNvPr id="17" name="Image 4" descr="/Users/prathmeshwalimbe/Downloads/Meesho/02_round2_detailed_submission/deck/source/assets/phone/phone_price_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" y="1344168"/>
            <a:ext cx="1225296" cy="2463159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657758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657758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20" name="Shape 13"/>
          <p:cNvSpPr/>
          <p:nvPr/>
        </p:nvSpPr>
        <p:spPr>
          <a:xfrm>
            <a:off x="657758" y="2836604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7758" y="2836604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22" name="Text 15"/>
          <p:cNvSpPr txBox="1"/>
          <p:nvPr/>
        </p:nvSpPr>
        <p:spPr>
          <a:xfrm>
            <a:off x="653796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 + verdict</a:t>
            </a:r>
            <a:endParaRPr lang="en-US" sz="700" dirty="0"/>
          </a:p>
        </p:txBody>
      </p:sp>
      <p:pic>
        <p:nvPicPr>
          <p:cNvPr id="23" name="Image 5" descr="/Users/prathmeshwalimbe/Downloads/Meesho/02_round2_detailed_submission/deck/source/assets/phone/phone_price_en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88820" y="1344168"/>
            <a:ext cx="1225296" cy="2463159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1956206" y="2236523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1956206" y="2236523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26" name="Shape 18"/>
          <p:cNvSpPr/>
          <p:nvPr/>
        </p:nvSpPr>
        <p:spPr>
          <a:xfrm>
            <a:off x="1956206" y="3061634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1956206" y="3061634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28" name="Text 20"/>
          <p:cNvSpPr txBox="1"/>
          <p:nvPr/>
        </p:nvSpPr>
        <p:spPr>
          <a:xfrm>
            <a:off x="1952244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Profit per pack + cash</a:t>
            </a:r>
            <a:endParaRPr lang="en-US" sz="700" dirty="0"/>
          </a:p>
        </p:txBody>
      </p:sp>
      <p:sp>
        <p:nvSpPr>
          <p:cNvPr id="29" name="Shape 21"/>
          <p:cNvSpPr/>
          <p:nvPr/>
        </p:nvSpPr>
        <p:spPr>
          <a:xfrm>
            <a:off x="612648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12648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31" name="Text 23"/>
          <p:cNvSpPr txBox="1"/>
          <p:nvPr/>
        </p:nvSpPr>
        <p:spPr>
          <a:xfrm>
            <a:off x="804672" y="4008495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product, then enters making cost, the margin it needs and how orders ship.</a:t>
            </a:r>
            <a:endParaRPr lang="en-US" sz="750" dirty="0"/>
          </a:p>
        </p:txBody>
      </p:sp>
      <p:sp>
        <p:nvSpPr>
          <p:cNvPr id="32" name="Shape 24"/>
          <p:cNvSpPr/>
          <p:nvPr/>
        </p:nvSpPr>
        <p:spPr>
          <a:xfrm>
            <a:off x="612648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612648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34" name="Text 26"/>
          <p:cNvSpPr txBox="1"/>
          <p:nvPr/>
        </p:nvSpPr>
        <p:spPr>
          <a:xfrm>
            <a:off x="804672" y="4241667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 before listing: lowest viable price vs what buyers pay; the badge needs 8% below.</a:t>
            </a:r>
            <a:endParaRPr lang="en-US" sz="750" dirty="0"/>
          </a:p>
        </p:txBody>
      </p:sp>
      <p:sp>
        <p:nvSpPr>
          <p:cNvPr id="35" name="Shape 27"/>
          <p:cNvSpPr/>
          <p:nvPr/>
        </p:nvSpPr>
        <p:spPr>
          <a:xfrm>
            <a:off x="612648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612648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37" name="Text 29"/>
          <p:cNvSpPr txBox="1"/>
          <p:nvPr/>
        </p:nvSpPr>
        <p:spPr>
          <a:xfrm>
            <a:off x="804672" y="4474839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pack the buyer keeps: making, shipping, returns and failed deliveries, then profit.</a:t>
            </a:r>
            <a:endParaRPr lang="en-US" sz="750" dirty="0"/>
          </a:p>
        </p:txBody>
      </p:sp>
      <p:sp>
        <p:nvSpPr>
          <p:cNvPr id="38" name="Shape 30"/>
          <p:cNvSpPr/>
          <p:nvPr/>
        </p:nvSpPr>
        <p:spPr>
          <a:xfrm>
            <a:off x="612648" y="4708011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612648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40" name="Text 32"/>
          <p:cNvSpPr txBox="1"/>
          <p:nvPr/>
        </p:nvSpPr>
        <p:spPr>
          <a:xfrm>
            <a:off x="804672" y="4708011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back in ~11 days (30% at node handover) vs 50 days on distributor terms.</a:t>
            </a:r>
            <a:endParaRPr lang="en-US" sz="750" dirty="0"/>
          </a:p>
        </p:txBody>
      </p:sp>
      <p:sp>
        <p:nvSpPr>
          <p:cNvPr id="41" name="Shape 33"/>
          <p:cNvSpPr/>
          <p:nvPr/>
        </p:nvSpPr>
        <p:spPr>
          <a:xfrm>
            <a:off x="612648" y="4998568"/>
            <a:ext cx="267919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42" name="Text 34"/>
          <p:cNvSpPr txBox="1"/>
          <p:nvPr/>
        </p:nvSpPr>
        <p:spPr>
          <a:xfrm>
            <a:off x="640080" y="4998568"/>
            <a:ext cx="2624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unknown margin · returns exposure · slow cash</a:t>
            </a:r>
            <a:endParaRPr lang="en-US" sz="700" dirty="0"/>
          </a:p>
        </p:txBody>
      </p:sp>
      <p:sp>
        <p:nvSpPr>
          <p:cNvPr id="43" name="Shape 35"/>
          <p:cNvSpPr/>
          <p:nvPr/>
        </p:nvSpPr>
        <p:spPr>
          <a:xfrm>
            <a:off x="3447288" y="1051560"/>
            <a:ext cx="2761488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44" name="Text 36"/>
          <p:cNvSpPr txBox="1"/>
          <p:nvPr/>
        </p:nvSpPr>
        <p:spPr>
          <a:xfrm>
            <a:off x="3511296" y="105156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Demand Brief: is there demand?</a:t>
            </a:r>
            <a:endParaRPr lang="en-US" sz="950" dirty="0"/>
          </a:p>
        </p:txBody>
      </p:sp>
      <p:sp>
        <p:nvSpPr>
          <p:cNvPr id="45" name="Shape 37"/>
          <p:cNvSpPr/>
          <p:nvPr/>
        </p:nvSpPr>
        <p:spPr>
          <a:xfrm>
            <a:off x="3447288" y="1298448"/>
            <a:ext cx="276148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46" name="Image 6" descr="/Users/prathmeshwalimbe/Downloads/Meesho/02_round2_detailed_submission/deck/source/assets/icons/FaMapLocationDot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80176" y="1088136"/>
            <a:ext cx="155448" cy="155448"/>
          </a:xfrm>
          <a:prstGeom prst="rect">
            <a:avLst/>
          </a:prstGeom>
        </p:spPr>
      </p:pic>
      <p:pic>
        <p:nvPicPr>
          <p:cNvPr id="47" name="Image 7" descr="/Users/prathmeshwalimbe/Downloads/Meesho/02_round2_detailed_submission/deck/source/assets/phone/phone_brief_to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0" y="1344168"/>
            <a:ext cx="1225296" cy="2463159"/>
          </a:xfrm>
          <a:prstGeom prst="rect">
            <a:avLst/>
          </a:prstGeom>
        </p:spPr>
      </p:pic>
      <p:sp>
        <p:nvSpPr>
          <p:cNvPr id="48" name="Shape 38"/>
          <p:cNvSpPr/>
          <p:nvPr/>
        </p:nvSpPr>
        <p:spPr>
          <a:xfrm>
            <a:off x="3533546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39"/>
          <p:cNvSpPr txBox="1"/>
          <p:nvPr/>
        </p:nvSpPr>
        <p:spPr>
          <a:xfrm>
            <a:off x="3533546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50" name="Shape 40"/>
          <p:cNvSpPr/>
          <p:nvPr/>
        </p:nvSpPr>
        <p:spPr>
          <a:xfrm>
            <a:off x="3533546" y="2107710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1"/>
          <p:cNvSpPr txBox="1"/>
          <p:nvPr/>
        </p:nvSpPr>
        <p:spPr>
          <a:xfrm>
            <a:off x="3533546" y="210771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52" name="Text 42"/>
          <p:cNvSpPr txBox="1"/>
          <p:nvPr/>
        </p:nvSpPr>
        <p:spPr>
          <a:xfrm>
            <a:off x="3529584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districts</a:t>
            </a:r>
            <a:endParaRPr lang="en-US" sz="700" dirty="0"/>
          </a:p>
        </p:txBody>
      </p:sp>
      <p:pic>
        <p:nvPicPr>
          <p:cNvPr id="53" name="Image 8" descr="/Users/prathmeshwalimbe/Downloads/Meesho/02_round2_detailed_submission/deck/source/assets/phone/phone_brief_en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64608" y="1344168"/>
            <a:ext cx="1225296" cy="2463159"/>
          </a:xfrm>
          <a:prstGeom prst="rect">
            <a:avLst/>
          </a:prstGeom>
        </p:spPr>
      </p:pic>
      <p:sp>
        <p:nvSpPr>
          <p:cNvPr id="54" name="Shape 43"/>
          <p:cNvSpPr/>
          <p:nvPr/>
        </p:nvSpPr>
        <p:spPr>
          <a:xfrm>
            <a:off x="4831994" y="2877447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44"/>
          <p:cNvSpPr txBox="1"/>
          <p:nvPr/>
        </p:nvSpPr>
        <p:spPr>
          <a:xfrm>
            <a:off x="4831994" y="2877447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56" name="Text 45"/>
          <p:cNvSpPr txBox="1"/>
          <p:nvPr/>
        </p:nvSpPr>
        <p:spPr>
          <a:xfrm>
            <a:off x="4828032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batch</a:t>
            </a:r>
            <a:endParaRPr lang="en-US" sz="700" dirty="0"/>
          </a:p>
        </p:txBody>
      </p:sp>
      <p:sp>
        <p:nvSpPr>
          <p:cNvPr id="57" name="Shape 46"/>
          <p:cNvSpPr/>
          <p:nvPr/>
        </p:nvSpPr>
        <p:spPr>
          <a:xfrm>
            <a:off x="3511296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47"/>
          <p:cNvSpPr txBox="1"/>
          <p:nvPr/>
        </p:nvSpPr>
        <p:spPr>
          <a:xfrm>
            <a:off x="3511296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59" name="Text 48"/>
          <p:cNvSpPr txBox="1"/>
          <p:nvPr/>
        </p:nvSpPr>
        <p:spPr>
          <a:xfrm>
            <a:off x="3703320" y="4008495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exact product in the top 12 districts: 15,630 orders a week, refreshed every Monday.</a:t>
            </a:r>
            <a:endParaRPr lang="en-US" sz="750" dirty="0"/>
          </a:p>
        </p:txBody>
      </p:sp>
      <p:sp>
        <p:nvSpPr>
          <p:cNvPr id="60" name="Shape 49"/>
          <p:cNvSpPr/>
          <p:nvPr/>
        </p:nvSpPr>
        <p:spPr>
          <a:xfrm>
            <a:off x="3511296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0"/>
          <p:cNvSpPr txBox="1"/>
          <p:nvPr/>
        </p:nvSpPr>
        <p:spPr>
          <a:xfrm>
            <a:off x="3511296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62" name="Text 51"/>
          <p:cNvSpPr txBox="1"/>
          <p:nvPr/>
        </p:nvSpPr>
        <p:spPr>
          <a:xfrm>
            <a:off x="3703320" y="4241667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district: orders a week, the price band that sells, the best-selling size and colour.</a:t>
            </a:r>
            <a:endParaRPr lang="en-US" sz="750" dirty="0"/>
          </a:p>
        </p:txBody>
      </p:sp>
      <p:sp>
        <p:nvSpPr>
          <p:cNvPr id="63" name="Shape 52"/>
          <p:cNvSpPr/>
          <p:nvPr/>
        </p:nvSpPr>
        <p:spPr>
          <a:xfrm>
            <a:off x="3511296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3511296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65" name="Text 54"/>
          <p:cNvSpPr txBox="1"/>
          <p:nvPr/>
        </p:nvSpPr>
        <p:spPr>
          <a:xfrm>
            <a:off x="3703320" y="4474839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batch suggested: 1,900 units (6% of 14 days of demand), split by size.</a:t>
            </a:r>
            <a:endParaRPr lang="en-US" sz="750" dirty="0"/>
          </a:p>
        </p:txBody>
      </p:sp>
      <p:sp>
        <p:nvSpPr>
          <p:cNvPr id="66" name="Text 55"/>
          <p:cNvSpPr txBox="1"/>
          <p:nvPr/>
        </p:nvSpPr>
        <p:spPr>
          <a:xfrm>
            <a:off x="3511296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900" dirty="0"/>
          </a:p>
        </p:txBody>
      </p:sp>
      <p:sp>
        <p:nvSpPr>
          <p:cNvPr id="67" name="Text 56"/>
          <p:cNvSpPr txBox="1"/>
          <p:nvPr/>
        </p:nvSpPr>
        <p:spPr>
          <a:xfrm>
            <a:off x="3703320" y="4708011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weekly from search and delivered orders, summed by district: no buyer is identifiable.</a:t>
            </a:r>
            <a:endParaRPr lang="en-US" sz="750" dirty="0"/>
          </a:p>
        </p:txBody>
      </p:sp>
      <p:sp>
        <p:nvSpPr>
          <p:cNvPr id="68" name="Shape 57"/>
          <p:cNvSpPr/>
          <p:nvPr/>
        </p:nvSpPr>
        <p:spPr>
          <a:xfrm>
            <a:off x="3511296" y="4998568"/>
            <a:ext cx="263347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69" name="Text 58"/>
          <p:cNvSpPr txBox="1"/>
          <p:nvPr/>
        </p:nvSpPr>
        <p:spPr>
          <a:xfrm>
            <a:off x="3538728" y="4998568"/>
            <a:ext cx="2578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unproven demand · guessing sizes and price</a:t>
            </a:r>
            <a:endParaRPr lang="en-US" sz="700" dirty="0"/>
          </a:p>
        </p:txBody>
      </p:sp>
      <p:sp>
        <p:nvSpPr>
          <p:cNvPr id="70" name="Shape 59"/>
          <p:cNvSpPr/>
          <p:nvPr/>
        </p:nvSpPr>
        <p:spPr>
          <a:xfrm>
            <a:off x="6300216" y="1051560"/>
            <a:ext cx="2761488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71" name="Text 60"/>
          <p:cNvSpPr txBox="1"/>
          <p:nvPr/>
        </p:nvSpPr>
        <p:spPr>
          <a:xfrm>
            <a:off x="6364224" y="1051560"/>
            <a:ext cx="26334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Batch: must I stock up blind?</a:t>
            </a:r>
            <a:endParaRPr lang="en-US" sz="950" dirty="0"/>
          </a:p>
        </p:txBody>
      </p:sp>
      <p:sp>
        <p:nvSpPr>
          <p:cNvPr id="72" name="Shape 61"/>
          <p:cNvSpPr/>
          <p:nvPr/>
        </p:nvSpPr>
        <p:spPr>
          <a:xfrm>
            <a:off x="6300216" y="1298448"/>
            <a:ext cx="276148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73" name="Image 9" descr="/Users/prathmeshwalimbe/Downloads/Meesho/02_round2_detailed_submission/deck/source/assets/icons/FaWarehouse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33104" y="1088136"/>
            <a:ext cx="155448" cy="155448"/>
          </a:xfrm>
          <a:prstGeom prst="rect">
            <a:avLst/>
          </a:prstGeom>
        </p:spPr>
      </p:pic>
      <p:pic>
        <p:nvPicPr>
          <p:cNvPr id="74" name="Image 10" descr="/Users/prathmeshwalimbe/Downloads/Meesho/02_round2_detailed_submission/deck/source/assets/phone/phone_batch_ope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19088" y="1344168"/>
            <a:ext cx="1225296" cy="2463159"/>
          </a:xfrm>
          <a:prstGeom prst="rect">
            <a:avLst/>
          </a:prstGeom>
        </p:spPr>
      </p:pic>
      <p:sp>
        <p:nvSpPr>
          <p:cNvPr id="75" name="Shape 62"/>
          <p:cNvSpPr/>
          <p:nvPr/>
        </p:nvSpPr>
        <p:spPr>
          <a:xfrm>
            <a:off x="6386474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63"/>
          <p:cNvSpPr txBox="1"/>
          <p:nvPr/>
        </p:nvSpPr>
        <p:spPr>
          <a:xfrm>
            <a:off x="6386474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77" name="Shape 64"/>
          <p:cNvSpPr/>
          <p:nvPr/>
        </p:nvSpPr>
        <p:spPr>
          <a:xfrm>
            <a:off x="6386474" y="2481975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386474" y="2481975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79" name="Shape 66"/>
          <p:cNvSpPr/>
          <p:nvPr/>
        </p:nvSpPr>
        <p:spPr>
          <a:xfrm>
            <a:off x="6386474" y="3216760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6386474" y="3216760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81" name="Text 68"/>
          <p:cNvSpPr txBox="1"/>
          <p:nvPr/>
        </p:nvSpPr>
        <p:spPr>
          <a:xfrm>
            <a:off x="6382512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commit</a:t>
            </a:r>
            <a:endParaRPr lang="en-US" sz="700" dirty="0"/>
          </a:p>
        </p:txBody>
      </p:sp>
      <p:pic>
        <p:nvPicPr>
          <p:cNvPr id="82" name="Image 11" descr="/Users/prathmeshwalimbe/Downloads/Meesho/02_round2_detailed_submission/deck/source/assets/phone/phone_batch_done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17536" y="1344168"/>
            <a:ext cx="1225296" cy="2463159"/>
          </a:xfrm>
          <a:prstGeom prst="rect">
            <a:avLst/>
          </a:prstGeom>
        </p:spPr>
      </p:pic>
      <p:sp>
        <p:nvSpPr>
          <p:cNvPr id="83" name="Shape 69"/>
          <p:cNvSpPr/>
          <p:nvPr/>
        </p:nvSpPr>
        <p:spPr>
          <a:xfrm>
            <a:off x="7684922" y="3153924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4" name="Text 70"/>
          <p:cNvSpPr txBox="1"/>
          <p:nvPr/>
        </p:nvSpPr>
        <p:spPr>
          <a:xfrm>
            <a:off x="7684922" y="3153924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85" name="Text 71"/>
          <p:cNvSpPr txBox="1"/>
          <p:nvPr/>
        </p:nvSpPr>
        <p:spPr>
          <a:xfrm>
            <a:off x="7680960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one tap</a:t>
            </a:r>
            <a:endParaRPr lang="en-US" sz="700" dirty="0"/>
          </a:p>
        </p:txBody>
      </p:sp>
      <p:sp>
        <p:nvSpPr>
          <p:cNvPr id="86" name="Shape 72"/>
          <p:cNvSpPr/>
          <p:nvPr/>
        </p:nvSpPr>
        <p:spPr>
          <a:xfrm>
            <a:off x="6364224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7" name="Text 73"/>
          <p:cNvSpPr txBox="1"/>
          <p:nvPr/>
        </p:nvSpPr>
        <p:spPr>
          <a:xfrm>
            <a:off x="6364224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88" name="Text 74"/>
          <p:cNvSpPr txBox="1"/>
          <p:nvPr/>
        </p:nvSpPr>
        <p:spPr>
          <a:xfrm>
            <a:off x="6556248" y="4008495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who accept “ships in 7 days” for a small discount prepay: 1,052 of 1,900 in a 3-day window.</a:t>
            </a:r>
            <a:endParaRPr lang="en-US" sz="750" dirty="0"/>
          </a:p>
        </p:txBody>
      </p:sp>
      <p:sp>
        <p:nvSpPr>
          <p:cNvPr id="89" name="Shape 75"/>
          <p:cNvSpPr/>
          <p:nvPr/>
        </p:nvSpPr>
        <p:spPr>
          <a:xfrm>
            <a:off x="6364224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76"/>
          <p:cNvSpPr txBox="1"/>
          <p:nvPr/>
        </p:nvSpPr>
        <p:spPr>
          <a:xfrm>
            <a:off x="6364224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91" name="Text 77"/>
          <p:cNvSpPr txBox="1"/>
          <p:nvPr/>
        </p:nvSpPr>
        <p:spPr>
          <a:xfrm>
            <a:off x="6556248" y="4241667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confirmed orders + 15% buffer = 1,210 units; 30% of confirmed value is paid at handover.</a:t>
            </a:r>
            <a:endParaRPr lang="en-US" sz="750" dirty="0"/>
          </a:p>
        </p:txBody>
      </p:sp>
      <p:sp>
        <p:nvSpPr>
          <p:cNvPr id="92" name="Shape 78"/>
          <p:cNvSpPr/>
          <p:nvPr/>
        </p:nvSpPr>
        <p:spPr>
          <a:xfrm>
            <a:off x="6364224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3" name="Text 79"/>
          <p:cNvSpPr txBox="1"/>
          <p:nvPr/>
        </p:nvSpPr>
        <p:spPr>
          <a:xfrm>
            <a:off x="6364224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94" name="Text 80"/>
          <p:cNvSpPr txBox="1"/>
          <p:nvPr/>
        </p:nvSpPr>
        <p:spPr>
          <a:xfrm>
            <a:off x="6556248" y="4474839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commits the batch; nothing beyond it is made.</a:t>
            </a:r>
            <a:endParaRPr lang="en-US" sz="750" dirty="0"/>
          </a:p>
        </p:txBody>
      </p:sp>
      <p:sp>
        <p:nvSpPr>
          <p:cNvPr id="95" name="Shape 81"/>
          <p:cNvSpPr/>
          <p:nvPr/>
        </p:nvSpPr>
        <p:spPr>
          <a:xfrm>
            <a:off x="6364224" y="4708011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82"/>
          <p:cNvSpPr txBox="1"/>
          <p:nvPr/>
        </p:nvSpPr>
        <p:spPr>
          <a:xfrm>
            <a:off x="6364224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97" name="Text 83"/>
          <p:cNvSpPr txBox="1"/>
          <p:nvPr/>
        </p:nvSpPr>
        <p:spPr>
          <a:xfrm>
            <a:off x="6556248" y="4708011"/>
            <a:ext cx="244144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bulk handover at the Tiruppur node; Days 4-8 the node ships; Day 15 the balance is paid.</a:t>
            </a:r>
            <a:endParaRPr lang="en-US" sz="750" dirty="0"/>
          </a:p>
        </p:txBody>
      </p:sp>
      <p:sp>
        <p:nvSpPr>
          <p:cNvPr id="98" name="Shape 84"/>
          <p:cNvSpPr/>
          <p:nvPr/>
        </p:nvSpPr>
        <p:spPr>
          <a:xfrm>
            <a:off x="6364224" y="4998568"/>
            <a:ext cx="263347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99" name="Text 85"/>
          <p:cNvSpPr txBox="1"/>
          <p:nvPr/>
        </p:nvSpPr>
        <p:spPr>
          <a:xfrm>
            <a:off x="6391656" y="4998568"/>
            <a:ext cx="25786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build-to-stock risk · unit shipping · cash gap</a:t>
            </a:r>
            <a:endParaRPr lang="en-US" sz="700" dirty="0"/>
          </a:p>
        </p:txBody>
      </p:sp>
      <p:sp>
        <p:nvSpPr>
          <p:cNvPr id="100" name="Shape 86"/>
          <p:cNvSpPr/>
          <p:nvPr/>
        </p:nvSpPr>
        <p:spPr>
          <a:xfrm>
            <a:off x="9153144" y="1051560"/>
            <a:ext cx="2807208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01" name="Text 87"/>
          <p:cNvSpPr txBox="1"/>
          <p:nvPr/>
        </p:nvSpPr>
        <p:spPr>
          <a:xfrm>
            <a:off x="9217152" y="1051560"/>
            <a:ext cx="2679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WhatsApp: no app, no manager</a:t>
            </a:r>
            <a:endParaRPr lang="en-US" sz="950" dirty="0"/>
          </a:p>
        </p:txBody>
      </p:sp>
      <p:sp>
        <p:nvSpPr>
          <p:cNvPr id="102" name="Shape 88"/>
          <p:cNvSpPr/>
          <p:nvPr/>
        </p:nvSpPr>
        <p:spPr>
          <a:xfrm>
            <a:off x="9153144" y="1298448"/>
            <a:ext cx="2807208" cy="3919576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03" name="Image 12" descr="/Users/prathmeshwalimbe/Downloads/Meesho/02_round2_detailed_submission/deck/source/assets/icons/FaWhatsapp_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731752" y="1088136"/>
            <a:ext cx="155448" cy="155448"/>
          </a:xfrm>
          <a:prstGeom prst="rect">
            <a:avLst/>
          </a:prstGeom>
        </p:spPr>
      </p:pic>
      <p:pic>
        <p:nvPicPr>
          <p:cNvPr id="104" name="Image 13" descr="/Users/prathmeshwalimbe/Downloads/Meesho/02_round2_detailed_submission/deck/source/assets/phone/phone_wa_brief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94876" y="1344168"/>
            <a:ext cx="1225296" cy="2463159"/>
          </a:xfrm>
          <a:prstGeom prst="rect">
            <a:avLst/>
          </a:prstGeom>
        </p:spPr>
      </p:pic>
      <p:sp>
        <p:nvSpPr>
          <p:cNvPr id="105" name="Shape 89"/>
          <p:cNvSpPr/>
          <p:nvPr/>
        </p:nvSpPr>
        <p:spPr>
          <a:xfrm>
            <a:off x="9262262" y="1797066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6" name="Text 90"/>
          <p:cNvSpPr txBox="1"/>
          <p:nvPr/>
        </p:nvSpPr>
        <p:spPr>
          <a:xfrm>
            <a:off x="9262262" y="179706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07" name="Shape 91"/>
          <p:cNvSpPr/>
          <p:nvPr/>
        </p:nvSpPr>
        <p:spPr>
          <a:xfrm>
            <a:off x="9262262" y="2737245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Text 92"/>
          <p:cNvSpPr txBox="1"/>
          <p:nvPr/>
        </p:nvSpPr>
        <p:spPr>
          <a:xfrm>
            <a:off x="9262262" y="2737245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109" name="Text 93"/>
          <p:cNvSpPr txBox="1"/>
          <p:nvPr/>
        </p:nvSpPr>
        <p:spPr>
          <a:xfrm>
            <a:off x="9258300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brief</a:t>
            </a:r>
            <a:endParaRPr lang="en-US" sz="700" dirty="0"/>
          </a:p>
        </p:txBody>
      </p:sp>
      <p:pic>
        <p:nvPicPr>
          <p:cNvPr id="110" name="Image 14" descr="/Users/prathmeshwalimbe/Downloads/Meesho/02_round2_detailed_submission/deck/source/assets/phone/phone_wa_reply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93324" y="1344168"/>
            <a:ext cx="1225296" cy="2463159"/>
          </a:xfrm>
          <a:prstGeom prst="rect">
            <a:avLst/>
          </a:prstGeom>
        </p:spPr>
      </p:pic>
      <p:sp>
        <p:nvSpPr>
          <p:cNvPr id="111" name="Shape 94"/>
          <p:cNvSpPr/>
          <p:nvPr/>
        </p:nvSpPr>
        <p:spPr>
          <a:xfrm>
            <a:off x="11470754" y="2737245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2" name="Text 95"/>
          <p:cNvSpPr txBox="1"/>
          <p:nvPr/>
        </p:nvSpPr>
        <p:spPr>
          <a:xfrm>
            <a:off x="11470754" y="2737245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13" name="Shape 96"/>
          <p:cNvSpPr/>
          <p:nvPr/>
        </p:nvSpPr>
        <p:spPr>
          <a:xfrm>
            <a:off x="10560710" y="2873912"/>
            <a:ext cx="155448" cy="155448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97"/>
          <p:cNvSpPr txBox="1"/>
          <p:nvPr/>
        </p:nvSpPr>
        <p:spPr>
          <a:xfrm>
            <a:off x="10560710" y="2873912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115" name="Text 98"/>
          <p:cNvSpPr txBox="1"/>
          <p:nvPr/>
        </p:nvSpPr>
        <p:spPr>
          <a:xfrm>
            <a:off x="10556748" y="3825615"/>
            <a:ext cx="129844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1: committed</a:t>
            </a:r>
            <a:endParaRPr lang="en-US" sz="700" dirty="0"/>
          </a:p>
        </p:txBody>
      </p:sp>
      <p:sp>
        <p:nvSpPr>
          <p:cNvPr id="116" name="Shape 99"/>
          <p:cNvSpPr/>
          <p:nvPr/>
        </p:nvSpPr>
        <p:spPr>
          <a:xfrm>
            <a:off x="9217152" y="4008495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Text 100"/>
          <p:cNvSpPr txBox="1"/>
          <p:nvPr/>
        </p:nvSpPr>
        <p:spPr>
          <a:xfrm>
            <a:off x="9217152" y="4008495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18" name="Text 101"/>
          <p:cNvSpPr txBox="1"/>
          <p:nvPr/>
        </p:nvSpPr>
        <p:spPr>
          <a:xfrm>
            <a:off x="9409176" y="4008495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brief every week on WhatsApp: top districts, price bands, suggested batch, pre-orders.</a:t>
            </a:r>
            <a:endParaRPr lang="en-US" sz="750" dirty="0"/>
          </a:p>
        </p:txBody>
      </p:sp>
      <p:sp>
        <p:nvSpPr>
          <p:cNvPr id="119" name="Shape 102"/>
          <p:cNvSpPr/>
          <p:nvPr/>
        </p:nvSpPr>
        <p:spPr>
          <a:xfrm>
            <a:off x="9217152" y="4241667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Text 103"/>
          <p:cNvSpPr txBox="1"/>
          <p:nvPr/>
        </p:nvSpPr>
        <p:spPr>
          <a:xfrm>
            <a:off x="9217152" y="4241667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121" name="Text 104"/>
          <p:cNvSpPr txBox="1"/>
          <p:nvPr/>
        </p:nvSpPr>
        <p:spPr>
          <a:xfrm>
            <a:off x="9409176" y="4241667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replies: 1 commits the batch, 2 opens the size mix, 3 asks for a callback.</a:t>
            </a:r>
            <a:endParaRPr lang="en-US" sz="750" dirty="0"/>
          </a:p>
        </p:txBody>
      </p:sp>
      <p:sp>
        <p:nvSpPr>
          <p:cNvPr id="122" name="Shape 105"/>
          <p:cNvSpPr/>
          <p:nvPr/>
        </p:nvSpPr>
        <p:spPr>
          <a:xfrm>
            <a:off x="9217152" y="4474839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3" name="Text 106"/>
          <p:cNvSpPr txBox="1"/>
          <p:nvPr/>
        </p:nvSpPr>
        <p:spPr>
          <a:xfrm>
            <a:off x="9217152" y="4474839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24" name="Text 107"/>
          <p:cNvSpPr txBox="1"/>
          <p:nvPr/>
        </p:nvSpPr>
        <p:spPr>
          <a:xfrm>
            <a:off x="9409176" y="4474839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replies “1”: no app install, no login, no account manager.</a:t>
            </a:r>
            <a:endParaRPr lang="en-US" sz="750" dirty="0"/>
          </a:p>
        </p:txBody>
      </p:sp>
      <p:sp>
        <p:nvSpPr>
          <p:cNvPr id="125" name="Shape 108"/>
          <p:cNvSpPr/>
          <p:nvPr/>
        </p:nvSpPr>
        <p:spPr>
          <a:xfrm>
            <a:off x="9217152" y="4708011"/>
            <a:ext cx="146304" cy="146304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6" name="Text 109"/>
          <p:cNvSpPr txBox="1"/>
          <p:nvPr/>
        </p:nvSpPr>
        <p:spPr>
          <a:xfrm>
            <a:off x="9217152" y="4708011"/>
            <a:ext cx="1463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50" dirty="0"/>
          </a:p>
        </p:txBody>
      </p:sp>
      <p:sp>
        <p:nvSpPr>
          <p:cNvPr id="127" name="Text 110"/>
          <p:cNvSpPr txBox="1"/>
          <p:nvPr/>
        </p:nvSpPr>
        <p:spPr>
          <a:xfrm>
            <a:off x="9409176" y="4708011"/>
            <a:ext cx="2487168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Confirmation: units to make, the node to drop them at, and the cash paid at handover.</a:t>
            </a:r>
            <a:endParaRPr lang="en-US" sz="750" dirty="0"/>
          </a:p>
        </p:txBody>
      </p:sp>
      <p:sp>
        <p:nvSpPr>
          <p:cNvPr id="128" name="Shape 111"/>
          <p:cNvSpPr/>
          <p:nvPr/>
        </p:nvSpPr>
        <p:spPr>
          <a:xfrm>
            <a:off x="9217152" y="4998568"/>
            <a:ext cx="2679192" cy="173736"/>
          </a:xfrm>
          <a:prstGeom prst="roundRect">
            <a:avLst>
              <a:gd name="adj" fmla="val 26316"/>
            </a:avLst>
          </a:prstGeom>
          <a:solidFill>
            <a:srgbClr val="FFF5E6"/>
          </a:solidFill>
          <a:ln w="9525">
            <a:solidFill>
              <a:srgbClr val="F7A21B"/>
            </a:solidFill>
            <a:prstDash val="solid"/>
          </a:ln>
        </p:spPr>
      </p:sp>
      <p:sp>
        <p:nvSpPr>
          <p:cNvPr id="129" name="Text 112"/>
          <p:cNvSpPr txBox="1"/>
          <p:nvPr/>
        </p:nvSpPr>
        <p:spPr>
          <a:xfrm>
            <a:off x="9244584" y="4998568"/>
            <a:ext cx="2624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Removes: tech know-how · dashboards · account managers</a:t>
            </a:r>
            <a:endParaRPr lang="en-US" sz="700" dirty="0"/>
          </a:p>
        </p:txBody>
      </p:sp>
      <p:sp>
        <p:nvSpPr>
          <p:cNvPr id="130" name="Shape 113"/>
          <p:cNvSpPr/>
          <p:nvPr/>
        </p:nvSpPr>
        <p:spPr>
          <a:xfrm>
            <a:off x="548640" y="5309464"/>
            <a:ext cx="5317785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31" name="Text 114"/>
          <p:cNvSpPr txBox="1"/>
          <p:nvPr/>
        </p:nvSpPr>
        <p:spPr>
          <a:xfrm>
            <a:off x="612648" y="5309464"/>
            <a:ext cx="51897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KPI per step: how the pilot proves the app works</a:t>
            </a:r>
            <a:endParaRPr lang="en-US" sz="950" dirty="0"/>
          </a:p>
        </p:txBody>
      </p:sp>
      <p:sp>
        <p:nvSpPr>
          <p:cNvPr id="132" name="Shape 115"/>
          <p:cNvSpPr/>
          <p:nvPr/>
        </p:nvSpPr>
        <p:spPr>
          <a:xfrm>
            <a:off x="548640" y="5556352"/>
            <a:ext cx="5317785" cy="5701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33" name="Image 15" descr="/Users/prathmeshwalimbe/Downloads/Meesho/02_round2_detailed_submission/deck/source/assets/icons/FaFlagCheckered_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37825" y="5346040"/>
            <a:ext cx="155448" cy="155448"/>
          </a:xfrm>
          <a:prstGeom prst="rect">
            <a:avLst/>
          </a:prstGeom>
        </p:spPr>
      </p:pic>
      <p:sp>
        <p:nvSpPr>
          <p:cNvPr id="134" name="Shape 116"/>
          <p:cNvSpPr/>
          <p:nvPr/>
        </p:nvSpPr>
        <p:spPr>
          <a:xfrm>
            <a:off x="612648" y="5602072"/>
            <a:ext cx="1270010" cy="478688"/>
          </a:xfrm>
          <a:prstGeom prst="homePlate">
            <a:avLst/>
          </a:prstGeom>
          <a:solidFill>
            <a:srgbClr val="5A0A4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5" name="Text 117"/>
          <p:cNvSpPr txBox="1"/>
          <p:nvPr/>
        </p:nvSpPr>
        <p:spPr>
          <a:xfrm>
            <a:off x="676656" y="5602072"/>
            <a:ext cx="986546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check → listed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50% list within 30 days</a:t>
            </a:r>
            <a:endParaRPr lang="en-US" sz="750" dirty="0"/>
          </a:p>
        </p:txBody>
      </p:sp>
      <p:sp>
        <p:nvSpPr>
          <p:cNvPr id="136" name="Shape 118"/>
          <p:cNvSpPr/>
          <p:nvPr/>
        </p:nvSpPr>
        <p:spPr>
          <a:xfrm>
            <a:off x="1919234" y="5602072"/>
            <a:ext cx="1270010" cy="478688"/>
          </a:xfrm>
          <a:prstGeom prst="homePlate">
            <a:avLst/>
          </a:prstGeom>
          <a:solidFill>
            <a:srgbClr val="7B2A6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7" name="Text 119"/>
          <p:cNvSpPr txBox="1"/>
          <p:nvPr/>
        </p:nvSpPr>
        <p:spPr>
          <a:xfrm>
            <a:off x="1983242" y="5602072"/>
            <a:ext cx="986546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Brief → batch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prepaid batch ≤ 14 days</a:t>
            </a:r>
            <a:endParaRPr lang="en-US" sz="750" dirty="0"/>
          </a:p>
        </p:txBody>
      </p:sp>
      <p:sp>
        <p:nvSpPr>
          <p:cNvPr id="138" name="Shape 120"/>
          <p:cNvSpPr/>
          <p:nvPr/>
        </p:nvSpPr>
        <p:spPr>
          <a:xfrm>
            <a:off x="3225820" y="5602072"/>
            <a:ext cx="1270010" cy="478688"/>
          </a:xfrm>
          <a:prstGeom prst="homePlat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9" name="Text 121"/>
          <p:cNvSpPr txBox="1"/>
          <p:nvPr/>
        </p:nvSpPr>
        <p:spPr>
          <a:xfrm>
            <a:off x="3289828" y="5602072"/>
            <a:ext cx="986546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→ first orders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60% of cohort orders at D7, D14</a:t>
            </a:r>
            <a:endParaRPr lang="en-US" sz="750" dirty="0"/>
          </a:p>
        </p:txBody>
      </p:sp>
      <p:sp>
        <p:nvSpPr>
          <p:cNvPr id="140" name="Shape 122"/>
          <p:cNvSpPr/>
          <p:nvPr/>
        </p:nvSpPr>
        <p:spPr>
          <a:xfrm>
            <a:off x="4532406" y="5602072"/>
            <a:ext cx="1270010" cy="478688"/>
          </a:xfrm>
          <a:prstGeom prst="homePlate">
            <a:avLst/>
          </a:prstGeom>
          <a:solidFill>
            <a:srgbClr val="F7A21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1" name="Text 123"/>
          <p:cNvSpPr txBox="1"/>
          <p:nvPr/>
        </p:nvSpPr>
        <p:spPr>
          <a:xfrm>
            <a:off x="4596414" y="5602072"/>
            <a:ext cx="986546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→ repeat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A0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at D90 ≥ 75%</a:t>
            </a:r>
            <a:endParaRPr lang="en-US" sz="750" dirty="0"/>
          </a:p>
        </p:txBody>
      </p:sp>
      <p:sp>
        <p:nvSpPr>
          <p:cNvPr id="142" name="Shape 124"/>
          <p:cNvSpPr/>
          <p:nvPr/>
        </p:nvSpPr>
        <p:spPr>
          <a:xfrm>
            <a:off x="5957865" y="5309464"/>
            <a:ext cx="3332074" cy="228600"/>
          </a:xfrm>
          <a:prstGeom prst="roundRect">
            <a:avLst>
              <a:gd name="adj" fmla="val 20000"/>
            </a:avLst>
          </a:prstGeom>
          <a:solidFill>
            <a:srgbClr val="E8434F"/>
          </a:solidFill>
          <a:ln w="9525">
            <a:solidFill>
              <a:srgbClr val="E8434F"/>
            </a:solidFill>
            <a:prstDash val="solid"/>
          </a:ln>
        </p:spPr>
      </p:sp>
      <p:sp>
        <p:nvSpPr>
          <p:cNvPr id="143" name="Text 125"/>
          <p:cNvSpPr txBox="1"/>
          <p:nvPr/>
        </p:nvSpPr>
        <p:spPr>
          <a:xfrm>
            <a:off x="6021873" y="5309464"/>
            <a:ext cx="32040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in 60 seconds</a:t>
            </a:r>
            <a:endParaRPr lang="en-US" sz="950" dirty="0"/>
          </a:p>
        </p:txBody>
      </p:sp>
      <p:sp>
        <p:nvSpPr>
          <p:cNvPr id="144" name="Shape 126"/>
          <p:cNvSpPr/>
          <p:nvPr/>
        </p:nvSpPr>
        <p:spPr>
          <a:xfrm>
            <a:off x="5957865" y="5556352"/>
            <a:ext cx="3332074" cy="5701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45" name="Image 16" descr="/Users/prathmeshwalimbe/Downloads/Meesho/02_round2_detailed_submission/deck/source/assets/icons/FaBolt_w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61338" y="5346040"/>
            <a:ext cx="155448" cy="155448"/>
          </a:xfrm>
          <a:prstGeom prst="rect">
            <a:avLst/>
          </a:prstGeom>
        </p:spPr>
      </p:pic>
      <p:sp>
        <p:nvSpPr>
          <p:cNvPr id="146" name="Shape 127"/>
          <p:cNvSpPr/>
          <p:nvPr/>
        </p:nvSpPr>
        <p:spPr>
          <a:xfrm>
            <a:off x="6026445" y="5602072"/>
            <a:ext cx="137160" cy="1371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7" name="Text 128"/>
          <p:cNvSpPr txBox="1"/>
          <p:nvPr/>
        </p:nvSpPr>
        <p:spPr>
          <a:xfrm>
            <a:off x="6026445" y="56020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50" dirty="0"/>
          </a:p>
        </p:txBody>
      </p:sp>
      <p:sp>
        <p:nvSpPr>
          <p:cNvPr id="148" name="Text 129"/>
          <p:cNvSpPr txBox="1"/>
          <p:nvPr/>
        </p:nvSpPr>
        <p:spPr>
          <a:xfrm>
            <a:off x="6213897" y="5602072"/>
            <a:ext cx="30120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the QR and open the Manufacturer app tab.</a:t>
            </a:r>
            <a:endParaRPr lang="en-US" sz="750" dirty="0"/>
          </a:p>
        </p:txBody>
      </p:sp>
      <p:sp>
        <p:nvSpPr>
          <p:cNvPr id="149" name="Shape 130"/>
          <p:cNvSpPr/>
          <p:nvPr/>
        </p:nvSpPr>
        <p:spPr>
          <a:xfrm>
            <a:off x="6026445" y="5739232"/>
            <a:ext cx="137160" cy="1371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0" name="Text 131"/>
          <p:cNvSpPr txBox="1"/>
          <p:nvPr/>
        </p:nvSpPr>
        <p:spPr>
          <a:xfrm>
            <a:off x="6026445" y="57392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50" dirty="0"/>
          </a:p>
        </p:txBody>
      </p:sp>
      <p:sp>
        <p:nvSpPr>
          <p:cNvPr id="151" name="Text 132"/>
          <p:cNvSpPr txBox="1"/>
          <p:nvPr/>
        </p:nvSpPr>
        <p:spPr>
          <a:xfrm>
            <a:off x="6213897" y="5739232"/>
            <a:ext cx="3012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making cost to ₹105 and pick Ship myself: Not yet, 7.5% below the market (the badge needs 8%).</a:t>
            </a:r>
            <a:endParaRPr lang="en-US" sz="750" dirty="0"/>
          </a:p>
        </p:txBody>
      </p:sp>
      <p:sp>
        <p:nvSpPr>
          <p:cNvPr id="152" name="Shape 133"/>
          <p:cNvSpPr/>
          <p:nvPr/>
        </p:nvSpPr>
        <p:spPr>
          <a:xfrm>
            <a:off x="6026445" y="5967832"/>
            <a:ext cx="137160" cy="137160"/>
          </a:xfrm>
          <a:prstGeom prst="ellipse">
            <a:avLst/>
          </a:prstGeom>
          <a:solidFill>
            <a:srgbClr val="E8434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3" name="Text 134"/>
          <p:cNvSpPr txBox="1"/>
          <p:nvPr/>
        </p:nvSpPr>
        <p:spPr>
          <a:xfrm>
            <a:off x="6026445" y="5967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50" dirty="0"/>
          </a:p>
        </p:txBody>
      </p:sp>
      <p:sp>
        <p:nvSpPr>
          <p:cNvPr id="154" name="Text 135"/>
          <p:cNvSpPr txBox="1"/>
          <p:nvPr/>
        </p:nvSpPr>
        <p:spPr>
          <a:xfrm>
            <a:off x="6213897" y="5967832"/>
            <a:ext cx="301203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Factory Node: Qualifies, 10.0% below.</a:t>
            </a:r>
            <a:endParaRPr lang="en-US" sz="750" dirty="0"/>
          </a:p>
        </p:txBody>
      </p:sp>
      <p:sp>
        <p:nvSpPr>
          <p:cNvPr id="155" name="Shape 136"/>
          <p:cNvSpPr/>
          <p:nvPr/>
        </p:nvSpPr>
        <p:spPr>
          <a:xfrm>
            <a:off x="9381378" y="5309464"/>
            <a:ext cx="2578974" cy="228600"/>
          </a:xfrm>
          <a:prstGeom prst="roundRect">
            <a:avLst>
              <a:gd name="adj" fmla="val 20000"/>
            </a:avLst>
          </a:prstGeom>
          <a:solidFill>
            <a:srgbClr val="5A0A46"/>
          </a:solidFill>
          <a:ln w="9525">
            <a:solidFill>
              <a:srgbClr val="5A0A46"/>
            </a:solidFill>
            <a:prstDash val="solid"/>
          </a:ln>
        </p:spPr>
      </p:sp>
      <p:sp>
        <p:nvSpPr>
          <p:cNvPr id="156" name="Text 137"/>
          <p:cNvSpPr txBox="1"/>
          <p:nvPr/>
        </p:nvSpPr>
        <p:spPr>
          <a:xfrm>
            <a:off x="9445386" y="5309464"/>
            <a:ext cx="24509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 live</a:t>
            </a:r>
            <a:endParaRPr lang="en-US" sz="950" dirty="0"/>
          </a:p>
        </p:txBody>
      </p:sp>
      <p:sp>
        <p:nvSpPr>
          <p:cNvPr id="157" name="Shape 138"/>
          <p:cNvSpPr/>
          <p:nvPr/>
        </p:nvSpPr>
        <p:spPr>
          <a:xfrm>
            <a:off x="9381378" y="5556352"/>
            <a:ext cx="2578974" cy="570128"/>
          </a:xfrm>
          <a:prstGeom prst="rect">
            <a:avLst/>
          </a:prstGeom>
          <a:solidFill>
            <a:srgbClr val="FBF3F8"/>
          </a:solidFill>
          <a:ln w="9525">
            <a:solidFill>
              <a:srgbClr val="D8C2D0"/>
            </a:solidFill>
            <a:prstDash val="solid"/>
          </a:ln>
        </p:spPr>
      </p:sp>
      <p:pic>
        <p:nvPicPr>
          <p:cNvPr id="158" name="Image 17" descr="/Users/prathmeshwalimbe/Downloads/Meesho/02_round2_detailed_submission/deck/source/assets/icons/FaLink_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731752" y="5346040"/>
            <a:ext cx="155448" cy="155448"/>
          </a:xfrm>
          <a:prstGeom prst="rect">
            <a:avLst/>
          </a:prstGeom>
        </p:spPr>
      </p:pic>
      <p:pic>
        <p:nvPicPr>
          <p:cNvPr id="159" name="Image 18" descr="/Users/prathmeshwalimbe/Downloads/Meesho/02_round2_detailed_submission/deck/source/assets/qr_live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45386" y="5602072"/>
            <a:ext cx="478688" cy="478688"/>
          </a:xfrm>
          <a:prstGeom prst="rect">
            <a:avLst/>
          </a:prstGeom>
        </p:spPr>
      </p:pic>
      <p:sp>
        <p:nvSpPr>
          <p:cNvPr id="160" name="Text 139"/>
          <p:cNvSpPr txBox="1"/>
          <p:nvPr/>
        </p:nvSpPr>
        <p:spPr>
          <a:xfrm>
            <a:off x="9988083" y="5602072"/>
            <a:ext cx="1908261" cy="478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u="sng" dirty="0">
                <a:solidFill>
                  <a:srgbClr val="E8434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meesho-dice-c2m-iitb.vercel.app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Mirror: prathmesh-28.github.io/c2m-control-tower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Meesho’s control tower: 3 more tabs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261 synthetic sellers · 4,415 SKUs · 4 model tests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17DEE71-88E1-7E4C-BACD-20D3F487EBFA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54863c7a-aea1-49e5-8cc2-8e3bcc783ec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11224</Words>
  <Application>Microsoft Macintosh PowerPoint</Application>
  <PresentationFormat>Widescreen</PresentationFormat>
  <Paragraphs>2253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Factory Direct: building Meesho’s C2M base</dc:title>
  <dc:subject>PptxGenJS Presentation</dc:subject>
  <dc:creator>Team 23B0747, IIT Bombay</dc:creator>
  <cp:lastModifiedBy>[BTECH-005-2023-24] UDAYAN PRASHANTPAWAR</cp:lastModifiedBy>
  <cp:revision>3</cp:revision>
  <dcterms:created xsi:type="dcterms:W3CDTF">2026-10-02T18:49:41Z</dcterms:created>
  <dcterms:modified xsi:type="dcterms:W3CDTF">2026-10-03T17:34:17Z</dcterms:modified>
</cp:coreProperties>
</file>